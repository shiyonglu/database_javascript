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334"/>
  </p:notesMasterIdLst>
  <p:handoutMasterIdLst>
    <p:handoutMasterId r:id="rId335"/>
  </p:handoutMasterIdLst>
  <p:sldIdLst>
    <p:sldId id="256" r:id="rId2"/>
    <p:sldId id="326" r:id="rId3"/>
    <p:sldId id="257" r:id="rId4"/>
    <p:sldId id="258" r:id="rId5"/>
    <p:sldId id="259" r:id="rId6"/>
    <p:sldId id="260" r:id="rId7"/>
    <p:sldId id="261" r:id="rId8"/>
    <p:sldId id="262" r:id="rId9"/>
    <p:sldId id="319" r:id="rId10"/>
    <p:sldId id="264" r:id="rId11"/>
    <p:sldId id="265" r:id="rId12"/>
    <p:sldId id="266" r:id="rId13"/>
    <p:sldId id="267" r:id="rId14"/>
    <p:sldId id="535" r:id="rId15"/>
    <p:sldId id="536" r:id="rId16"/>
    <p:sldId id="537" r:id="rId17"/>
    <p:sldId id="544" r:id="rId18"/>
    <p:sldId id="268" r:id="rId19"/>
    <p:sldId id="269" r:id="rId20"/>
    <p:sldId id="270" r:id="rId21"/>
    <p:sldId id="271" r:id="rId22"/>
    <p:sldId id="272" r:id="rId23"/>
    <p:sldId id="273" r:id="rId24"/>
    <p:sldId id="321" r:id="rId25"/>
    <p:sldId id="320" r:id="rId26"/>
    <p:sldId id="274" r:id="rId27"/>
    <p:sldId id="543" r:id="rId28"/>
    <p:sldId id="275" r:id="rId29"/>
    <p:sldId id="276" r:id="rId30"/>
    <p:sldId id="277" r:id="rId31"/>
    <p:sldId id="545" r:id="rId32"/>
    <p:sldId id="278" r:id="rId33"/>
    <p:sldId id="546" r:id="rId34"/>
    <p:sldId id="548" r:id="rId35"/>
    <p:sldId id="408" r:id="rId36"/>
    <p:sldId id="547" r:id="rId37"/>
    <p:sldId id="598" r:id="rId38"/>
    <p:sldId id="279" r:id="rId39"/>
    <p:sldId id="599" r:id="rId40"/>
    <p:sldId id="280" r:id="rId41"/>
    <p:sldId id="323" r:id="rId42"/>
    <p:sldId id="549" r:id="rId43"/>
    <p:sldId id="435" r:id="rId44"/>
    <p:sldId id="281" r:id="rId45"/>
    <p:sldId id="282" r:id="rId46"/>
    <p:sldId id="283" r:id="rId47"/>
    <p:sldId id="284" r:id="rId48"/>
    <p:sldId id="285" r:id="rId49"/>
    <p:sldId id="286" r:id="rId50"/>
    <p:sldId id="287" r:id="rId51"/>
    <p:sldId id="288" r:id="rId52"/>
    <p:sldId id="289" r:id="rId53"/>
    <p:sldId id="575" r:id="rId54"/>
    <p:sldId id="290" r:id="rId55"/>
    <p:sldId id="291" r:id="rId56"/>
    <p:sldId id="322" r:id="rId57"/>
    <p:sldId id="327" r:id="rId58"/>
    <p:sldId id="328" r:id="rId59"/>
    <p:sldId id="437" r:id="rId60"/>
    <p:sldId id="292" r:id="rId61"/>
    <p:sldId id="595" r:id="rId62"/>
    <p:sldId id="293" r:id="rId63"/>
    <p:sldId id="294" r:id="rId64"/>
    <p:sldId id="325" r:id="rId65"/>
    <p:sldId id="296" r:id="rId66"/>
    <p:sldId id="297" r:id="rId67"/>
    <p:sldId id="579" r:id="rId68"/>
    <p:sldId id="578" r:id="rId69"/>
    <p:sldId id="298" r:id="rId70"/>
    <p:sldId id="596" r:id="rId71"/>
    <p:sldId id="324" r:id="rId72"/>
    <p:sldId id="317" r:id="rId73"/>
    <p:sldId id="295" r:id="rId74"/>
    <p:sldId id="406" r:id="rId75"/>
    <p:sldId id="299" r:id="rId76"/>
    <p:sldId id="300" r:id="rId77"/>
    <p:sldId id="301" r:id="rId78"/>
    <p:sldId id="302" r:id="rId79"/>
    <p:sldId id="438" r:id="rId80"/>
    <p:sldId id="439" r:id="rId81"/>
    <p:sldId id="440" r:id="rId82"/>
    <p:sldId id="441" r:id="rId83"/>
    <p:sldId id="442" r:id="rId84"/>
    <p:sldId id="329" r:id="rId85"/>
    <p:sldId id="303" r:id="rId86"/>
    <p:sldId id="318" r:id="rId87"/>
    <p:sldId id="304" r:id="rId88"/>
    <p:sldId id="305" r:id="rId89"/>
    <p:sldId id="306" r:id="rId90"/>
    <p:sldId id="601" r:id="rId91"/>
    <p:sldId id="307" r:id="rId92"/>
    <p:sldId id="308" r:id="rId93"/>
    <p:sldId id="309" r:id="rId94"/>
    <p:sldId id="310" r:id="rId95"/>
    <p:sldId id="311" r:id="rId96"/>
    <p:sldId id="312" r:id="rId97"/>
    <p:sldId id="313" r:id="rId98"/>
    <p:sldId id="314" r:id="rId99"/>
    <p:sldId id="315" r:id="rId100"/>
    <p:sldId id="316" r:id="rId101"/>
    <p:sldId id="330" r:id="rId102"/>
    <p:sldId id="550" r:id="rId103"/>
    <p:sldId id="551" r:id="rId104"/>
    <p:sldId id="553" r:id="rId105"/>
    <p:sldId id="554" r:id="rId106"/>
    <p:sldId id="555" r:id="rId107"/>
    <p:sldId id="556" r:id="rId108"/>
    <p:sldId id="409" r:id="rId109"/>
    <p:sldId id="410" r:id="rId110"/>
    <p:sldId id="332" r:id="rId111"/>
    <p:sldId id="443" r:id="rId112"/>
    <p:sldId id="334" r:id="rId113"/>
    <p:sldId id="333" r:id="rId114"/>
    <p:sldId id="558" r:id="rId115"/>
    <p:sldId id="594" r:id="rId116"/>
    <p:sldId id="335" r:id="rId117"/>
    <p:sldId id="444" r:id="rId118"/>
    <p:sldId id="564" r:id="rId119"/>
    <p:sldId id="337" r:id="rId120"/>
    <p:sldId id="565" r:id="rId121"/>
    <p:sldId id="445" r:id="rId122"/>
    <p:sldId id="563" r:id="rId123"/>
    <p:sldId id="336" r:id="rId124"/>
    <p:sldId id="338" r:id="rId125"/>
    <p:sldId id="446" r:id="rId126"/>
    <p:sldId id="339" r:id="rId127"/>
    <p:sldId id="340" r:id="rId128"/>
    <p:sldId id="559" r:id="rId129"/>
    <p:sldId id="341" r:id="rId130"/>
    <p:sldId id="447" r:id="rId131"/>
    <p:sldId id="342" r:id="rId132"/>
    <p:sldId id="343" r:id="rId133"/>
    <p:sldId id="344" r:id="rId134"/>
    <p:sldId id="539" r:id="rId135"/>
    <p:sldId id="345" r:id="rId136"/>
    <p:sldId id="448" r:id="rId137"/>
    <p:sldId id="449" r:id="rId138"/>
    <p:sldId id="346" r:id="rId139"/>
    <p:sldId id="560" r:id="rId140"/>
    <p:sldId id="347" r:id="rId141"/>
    <p:sldId id="540" r:id="rId142"/>
    <p:sldId id="348" r:id="rId143"/>
    <p:sldId id="349" r:id="rId144"/>
    <p:sldId id="561" r:id="rId145"/>
    <p:sldId id="350" r:id="rId146"/>
    <p:sldId id="541" r:id="rId147"/>
    <p:sldId id="351" r:id="rId148"/>
    <p:sldId id="352" r:id="rId149"/>
    <p:sldId id="353" r:id="rId150"/>
    <p:sldId id="597" r:id="rId151"/>
    <p:sldId id="354" r:id="rId152"/>
    <p:sldId id="355" r:id="rId153"/>
    <p:sldId id="356" r:id="rId154"/>
    <p:sldId id="357" r:id="rId155"/>
    <p:sldId id="358" r:id="rId156"/>
    <p:sldId id="359" r:id="rId157"/>
    <p:sldId id="360" r:id="rId158"/>
    <p:sldId id="361" r:id="rId159"/>
    <p:sldId id="362" r:id="rId160"/>
    <p:sldId id="363" r:id="rId161"/>
    <p:sldId id="364" r:id="rId162"/>
    <p:sldId id="405" r:id="rId163"/>
    <p:sldId id="365" r:id="rId164"/>
    <p:sldId id="366" r:id="rId165"/>
    <p:sldId id="367" r:id="rId166"/>
    <p:sldId id="368" r:id="rId167"/>
    <p:sldId id="369" r:id="rId168"/>
    <p:sldId id="370" r:id="rId169"/>
    <p:sldId id="371" r:id="rId170"/>
    <p:sldId id="372" r:id="rId171"/>
    <p:sldId id="542" r:id="rId172"/>
    <p:sldId id="373" r:id="rId173"/>
    <p:sldId id="374" r:id="rId174"/>
    <p:sldId id="375" r:id="rId175"/>
    <p:sldId id="376" r:id="rId176"/>
    <p:sldId id="377" r:id="rId177"/>
    <p:sldId id="378" r:id="rId178"/>
    <p:sldId id="379" r:id="rId179"/>
    <p:sldId id="380" r:id="rId180"/>
    <p:sldId id="381" r:id="rId181"/>
    <p:sldId id="400" r:id="rId182"/>
    <p:sldId id="382" r:id="rId183"/>
    <p:sldId id="383" r:id="rId184"/>
    <p:sldId id="401" r:id="rId185"/>
    <p:sldId id="384" r:id="rId186"/>
    <p:sldId id="593" r:id="rId187"/>
    <p:sldId id="582" r:id="rId188"/>
    <p:sldId id="385" r:id="rId189"/>
    <p:sldId id="457" r:id="rId190"/>
    <p:sldId id="455" r:id="rId191"/>
    <p:sldId id="600" r:id="rId192"/>
    <p:sldId id="583" r:id="rId193"/>
    <p:sldId id="402" r:id="rId194"/>
    <p:sldId id="386" r:id="rId195"/>
    <p:sldId id="387" r:id="rId196"/>
    <p:sldId id="452" r:id="rId197"/>
    <p:sldId id="562" r:id="rId198"/>
    <p:sldId id="451" r:id="rId199"/>
    <p:sldId id="389" r:id="rId200"/>
    <p:sldId id="390" r:id="rId201"/>
    <p:sldId id="391" r:id="rId202"/>
    <p:sldId id="584" r:id="rId203"/>
    <p:sldId id="395" r:id="rId204"/>
    <p:sldId id="396" r:id="rId205"/>
    <p:sldId id="453" r:id="rId206"/>
    <p:sldId id="404" r:id="rId207"/>
    <p:sldId id="454" r:id="rId208"/>
    <p:sldId id="403" r:id="rId209"/>
    <p:sldId id="397" r:id="rId210"/>
    <p:sldId id="407" r:id="rId211"/>
    <p:sldId id="392" r:id="rId212"/>
    <p:sldId id="585" r:id="rId213"/>
    <p:sldId id="393" r:id="rId214"/>
    <p:sldId id="394" r:id="rId215"/>
    <p:sldId id="586" r:id="rId216"/>
    <p:sldId id="450" r:id="rId217"/>
    <p:sldId id="411" r:id="rId218"/>
    <p:sldId id="434" r:id="rId219"/>
    <p:sldId id="433" r:id="rId220"/>
    <p:sldId id="567" r:id="rId221"/>
    <p:sldId id="566" r:id="rId222"/>
    <p:sldId id="412" r:id="rId223"/>
    <p:sldId id="568" r:id="rId224"/>
    <p:sldId id="413" r:id="rId225"/>
    <p:sldId id="414" r:id="rId226"/>
    <p:sldId id="415" r:id="rId227"/>
    <p:sldId id="416" r:id="rId228"/>
    <p:sldId id="569" r:id="rId229"/>
    <p:sldId id="570" r:id="rId230"/>
    <p:sldId id="417" r:id="rId231"/>
    <p:sldId id="418" r:id="rId232"/>
    <p:sldId id="419" r:id="rId233"/>
    <p:sldId id="571" r:id="rId234"/>
    <p:sldId id="572" r:id="rId235"/>
    <p:sldId id="420" r:id="rId236"/>
    <p:sldId id="421" r:id="rId237"/>
    <p:sldId id="422" r:id="rId238"/>
    <p:sldId id="423" r:id="rId239"/>
    <p:sldId id="424" r:id="rId240"/>
    <p:sldId id="425" r:id="rId241"/>
    <p:sldId id="426" r:id="rId242"/>
    <p:sldId id="573" r:id="rId243"/>
    <p:sldId id="427" r:id="rId244"/>
    <p:sldId id="428" r:id="rId245"/>
    <p:sldId id="429" r:id="rId246"/>
    <p:sldId id="574" r:id="rId247"/>
    <p:sldId id="430" r:id="rId248"/>
    <p:sldId id="431" r:id="rId249"/>
    <p:sldId id="432" r:id="rId250"/>
    <p:sldId id="458" r:id="rId251"/>
    <p:sldId id="459" r:id="rId252"/>
    <p:sldId id="460" r:id="rId253"/>
    <p:sldId id="461" r:id="rId254"/>
    <p:sldId id="462" r:id="rId255"/>
    <p:sldId id="534" r:id="rId256"/>
    <p:sldId id="463" r:id="rId257"/>
    <p:sldId id="464" r:id="rId258"/>
    <p:sldId id="465" r:id="rId259"/>
    <p:sldId id="466" r:id="rId260"/>
    <p:sldId id="467" r:id="rId261"/>
    <p:sldId id="468" r:id="rId262"/>
    <p:sldId id="533" r:id="rId263"/>
    <p:sldId id="469" r:id="rId264"/>
    <p:sldId id="470" r:id="rId265"/>
    <p:sldId id="471" r:id="rId266"/>
    <p:sldId id="472" r:id="rId267"/>
    <p:sldId id="473" r:id="rId268"/>
    <p:sldId id="474" r:id="rId269"/>
    <p:sldId id="475" r:id="rId270"/>
    <p:sldId id="476" r:id="rId271"/>
    <p:sldId id="477" r:id="rId272"/>
    <p:sldId id="478" r:id="rId273"/>
    <p:sldId id="479" r:id="rId274"/>
    <p:sldId id="480" r:id="rId275"/>
    <p:sldId id="481" r:id="rId276"/>
    <p:sldId id="482" r:id="rId277"/>
    <p:sldId id="483" r:id="rId278"/>
    <p:sldId id="484" r:id="rId279"/>
    <p:sldId id="485" r:id="rId280"/>
    <p:sldId id="486" r:id="rId281"/>
    <p:sldId id="487" r:id="rId282"/>
    <p:sldId id="488" r:id="rId283"/>
    <p:sldId id="489" r:id="rId284"/>
    <p:sldId id="490" r:id="rId285"/>
    <p:sldId id="491" r:id="rId286"/>
    <p:sldId id="492" r:id="rId287"/>
    <p:sldId id="493" r:id="rId288"/>
    <p:sldId id="494" r:id="rId289"/>
    <p:sldId id="495" r:id="rId290"/>
    <p:sldId id="496" r:id="rId291"/>
    <p:sldId id="497" r:id="rId292"/>
    <p:sldId id="519" r:id="rId293"/>
    <p:sldId id="498" r:id="rId294"/>
    <p:sldId id="499" r:id="rId295"/>
    <p:sldId id="500" r:id="rId296"/>
    <p:sldId id="501" r:id="rId297"/>
    <p:sldId id="502" r:id="rId298"/>
    <p:sldId id="503" r:id="rId299"/>
    <p:sldId id="504" r:id="rId300"/>
    <p:sldId id="505" r:id="rId301"/>
    <p:sldId id="506" r:id="rId302"/>
    <p:sldId id="507" r:id="rId303"/>
    <p:sldId id="508" r:id="rId304"/>
    <p:sldId id="509" r:id="rId305"/>
    <p:sldId id="510" r:id="rId306"/>
    <p:sldId id="511" r:id="rId307"/>
    <p:sldId id="512" r:id="rId308"/>
    <p:sldId id="513" r:id="rId309"/>
    <p:sldId id="514" r:id="rId310"/>
    <p:sldId id="515" r:id="rId311"/>
    <p:sldId id="516" r:id="rId312"/>
    <p:sldId id="517" r:id="rId313"/>
    <p:sldId id="518" r:id="rId314"/>
    <p:sldId id="520" r:id="rId315"/>
    <p:sldId id="521" r:id="rId316"/>
    <p:sldId id="522" r:id="rId317"/>
    <p:sldId id="523" r:id="rId318"/>
    <p:sldId id="524" r:id="rId319"/>
    <p:sldId id="525" r:id="rId320"/>
    <p:sldId id="526" r:id="rId321"/>
    <p:sldId id="527" r:id="rId322"/>
    <p:sldId id="528" r:id="rId323"/>
    <p:sldId id="529" r:id="rId324"/>
    <p:sldId id="530" r:id="rId325"/>
    <p:sldId id="531" r:id="rId326"/>
    <p:sldId id="532" r:id="rId327"/>
    <p:sldId id="587" r:id="rId328"/>
    <p:sldId id="588" r:id="rId329"/>
    <p:sldId id="589" r:id="rId330"/>
    <p:sldId id="590" r:id="rId331"/>
    <p:sldId id="591" r:id="rId332"/>
    <p:sldId id="592" r:id="rId333"/>
  </p:sldIdLst>
  <p:sldSz cx="9144000" cy="6858000" type="screen4x3"/>
  <p:notesSz cx="6946900" cy="9220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00"/>
    <a:srgbClr val="FFFFFF"/>
    <a:srgbClr val="996633"/>
    <a:srgbClr val="000066"/>
    <a:srgbClr val="660066"/>
    <a:srgbClr val="99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79BEFF-FA2A-F64B-1347-F92F9F6B0AF9}" v="6" dt="2019-03-07T01:11:1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91" autoAdjust="0"/>
    <p:restoredTop sz="80528" autoAdjust="0"/>
  </p:normalViewPr>
  <p:slideViewPr>
    <p:cSldViewPr snapToGrid="0">
      <p:cViewPr varScale="1">
        <p:scale>
          <a:sx n="87" d="100"/>
          <a:sy n="87" d="100"/>
        </p:scale>
        <p:origin x="1166" y="8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viewProps" Target="viewProps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17" Type="http://schemas.openxmlformats.org/officeDocument/2006/relationships/slide" Target="slides/slide316.xml"/><Relationship Id="rId338" Type="http://schemas.openxmlformats.org/officeDocument/2006/relationships/theme" Target="theme/theme1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28" Type="http://schemas.openxmlformats.org/officeDocument/2006/relationships/slide" Target="slides/slide327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283" Type="http://schemas.openxmlformats.org/officeDocument/2006/relationships/slide" Target="slides/slide282.xml"/><Relationship Id="rId318" Type="http://schemas.openxmlformats.org/officeDocument/2006/relationships/slide" Target="slides/slide317.xml"/><Relationship Id="rId339" Type="http://schemas.openxmlformats.org/officeDocument/2006/relationships/tableStyles" Target="tableStyles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microsoft.com/office/2015/10/relationships/revisionInfo" Target="revisionInfo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presProps" Target="presProps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>
            <a:extLst>
              <a:ext uri="{FF2B5EF4-FFF2-40B4-BE49-F238E27FC236}">
                <a16:creationId xmlns:a16="http://schemas.microsoft.com/office/drawing/2014/main" id="{E7F92E03-1802-4675-9EF1-99632F33069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11488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4755" name="Rectangle 3">
            <a:extLst>
              <a:ext uri="{FF2B5EF4-FFF2-40B4-BE49-F238E27FC236}">
                <a16:creationId xmlns:a16="http://schemas.microsoft.com/office/drawing/2014/main" id="{5FCB0ED7-0BE9-44F5-BFE4-456EBDC3F1FF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35413" y="0"/>
            <a:ext cx="3011487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4756" name="Rectangle 4">
            <a:extLst>
              <a:ext uri="{FF2B5EF4-FFF2-40B4-BE49-F238E27FC236}">
                <a16:creationId xmlns:a16="http://schemas.microsoft.com/office/drawing/2014/main" id="{FBE91200-1738-46FC-BA2C-CC3FBEEFCB3A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758238"/>
            <a:ext cx="3011488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4757" name="Rectangle 5">
            <a:extLst>
              <a:ext uri="{FF2B5EF4-FFF2-40B4-BE49-F238E27FC236}">
                <a16:creationId xmlns:a16="http://schemas.microsoft.com/office/drawing/2014/main" id="{883F8EB1-530A-46A9-A588-7546DA0A5A2F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35413" y="8758238"/>
            <a:ext cx="3011487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060EC0B8-C141-4DEA-AEFA-17E0E8037435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9668113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49FA882C-DBDC-4CDF-BE43-26DD0A9857A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11488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4D0CB250-7C88-4902-BC2E-EC8CE1C2A24F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935413" y="0"/>
            <a:ext cx="3011487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2276" name="Rectangle 4">
            <a:extLst>
              <a:ext uri="{FF2B5EF4-FFF2-40B4-BE49-F238E27FC236}">
                <a16:creationId xmlns:a16="http://schemas.microsoft.com/office/drawing/2014/main" id="{E04EDC88-217E-4C90-9A1B-1AA927B9ABB6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68400" y="690563"/>
            <a:ext cx="4610100" cy="3457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086E61BF-B2DF-4626-A07B-19A6FD3838B8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7100" y="4379913"/>
            <a:ext cx="5092700" cy="414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E998EFD8-5CB7-43F3-8173-C458D5C2ABB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758238"/>
            <a:ext cx="3011488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827279C8-EF6F-4727-9D27-438EB730178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35413" y="8758238"/>
            <a:ext cx="3011487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5A5A017-CF8B-42E5-9C9F-EB5773FEF8EB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07166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8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5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9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3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3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3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3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3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3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3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3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3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3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3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3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3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3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3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3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3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3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3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3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3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3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3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3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3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3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3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3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3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3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3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3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3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Rectangle 7">
            <a:extLst>
              <a:ext uri="{FF2B5EF4-FFF2-40B4-BE49-F238E27FC236}">
                <a16:creationId xmlns:a16="http://schemas.microsoft.com/office/drawing/2014/main" id="{128A1266-1D97-4E29-B07A-C4C9276E527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0B45ED63-E013-463D-B572-EFEC16B9727F}" type="slidenum">
              <a:rPr lang="en-US" altLang="zh-TW" sz="1200"/>
              <a:pPr/>
              <a:t>1</a:t>
            </a:fld>
            <a:endParaRPr lang="en-US" altLang="zh-TW" sz="1200"/>
          </a:p>
        </p:txBody>
      </p:sp>
      <p:sp>
        <p:nvSpPr>
          <p:cNvPr id="183299" name="Rectangle 2">
            <a:extLst>
              <a:ext uri="{FF2B5EF4-FFF2-40B4-BE49-F238E27FC236}">
                <a16:creationId xmlns:a16="http://schemas.microsoft.com/office/drawing/2014/main" id="{3B533D9D-3FD2-4B26-99F6-0CF512071C3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300" name="Rectangle 3">
            <a:extLst>
              <a:ext uri="{FF2B5EF4-FFF2-40B4-BE49-F238E27FC236}">
                <a16:creationId xmlns:a16="http://schemas.microsoft.com/office/drawing/2014/main" id="{48749DCB-9D0A-4A4F-A6DB-D97E675AC0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2932756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7">
            <a:extLst>
              <a:ext uri="{FF2B5EF4-FFF2-40B4-BE49-F238E27FC236}">
                <a16:creationId xmlns:a16="http://schemas.microsoft.com/office/drawing/2014/main" id="{E570AFD8-A378-48CB-BC07-30E87BA23E7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DACD86A7-D0ED-4583-8D79-3FCAE9632DBC}" type="slidenum">
              <a:rPr lang="en-US" altLang="zh-TW" sz="1200"/>
              <a:pPr/>
              <a:t>2</a:t>
            </a:fld>
            <a:endParaRPr lang="en-US" altLang="zh-TW" sz="1200"/>
          </a:p>
        </p:txBody>
      </p:sp>
      <p:sp>
        <p:nvSpPr>
          <p:cNvPr id="184323" name="Rectangle 2">
            <a:extLst>
              <a:ext uri="{FF2B5EF4-FFF2-40B4-BE49-F238E27FC236}">
                <a16:creationId xmlns:a16="http://schemas.microsoft.com/office/drawing/2014/main" id="{265F759C-2944-44C1-9263-51C480FA873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24" name="Rectangle 3">
            <a:extLst>
              <a:ext uri="{FF2B5EF4-FFF2-40B4-BE49-F238E27FC236}">
                <a16:creationId xmlns:a16="http://schemas.microsoft.com/office/drawing/2014/main" id="{F0685134-5A32-4C31-ABA9-369F368BC2B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514806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Rectangle 7">
            <a:extLst>
              <a:ext uri="{FF2B5EF4-FFF2-40B4-BE49-F238E27FC236}">
                <a16:creationId xmlns:a16="http://schemas.microsoft.com/office/drawing/2014/main" id="{78BAF2EF-07A0-4CFA-B4E6-1D1096EB9F6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3B9086A9-EF80-4BE0-B120-F66B6BF1932A}" type="slidenum">
              <a:rPr lang="en-US" altLang="zh-TW" sz="1200"/>
              <a:pPr/>
              <a:t>3</a:t>
            </a:fld>
            <a:endParaRPr lang="en-US" altLang="zh-TW" sz="1200"/>
          </a:p>
        </p:txBody>
      </p:sp>
      <p:sp>
        <p:nvSpPr>
          <p:cNvPr id="185347" name="Rectangle 2">
            <a:extLst>
              <a:ext uri="{FF2B5EF4-FFF2-40B4-BE49-F238E27FC236}">
                <a16:creationId xmlns:a16="http://schemas.microsoft.com/office/drawing/2014/main" id="{B6777615-32AD-4EE9-B5B1-A964DF88C89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348" name="Rectangle 3">
            <a:extLst>
              <a:ext uri="{FF2B5EF4-FFF2-40B4-BE49-F238E27FC236}">
                <a16:creationId xmlns:a16="http://schemas.microsoft.com/office/drawing/2014/main" id="{1CD0AC86-DFED-450E-B69F-20C960F6778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531038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Rectangle 7">
            <a:extLst>
              <a:ext uri="{FF2B5EF4-FFF2-40B4-BE49-F238E27FC236}">
                <a16:creationId xmlns:a16="http://schemas.microsoft.com/office/drawing/2014/main" id="{91B0575D-811D-45A3-9155-55A55232B1D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7918E004-5F62-4A5A-BF51-C49BD403FBF8}" type="slidenum">
              <a:rPr lang="en-US" altLang="zh-TW" sz="1200"/>
              <a:pPr/>
              <a:t>4</a:t>
            </a:fld>
            <a:endParaRPr lang="en-US" altLang="zh-TW" sz="1200"/>
          </a:p>
        </p:txBody>
      </p:sp>
      <p:sp>
        <p:nvSpPr>
          <p:cNvPr id="186371" name="Rectangle 2">
            <a:extLst>
              <a:ext uri="{FF2B5EF4-FFF2-40B4-BE49-F238E27FC236}">
                <a16:creationId xmlns:a16="http://schemas.microsoft.com/office/drawing/2014/main" id="{2C547BFD-5B4C-4558-8189-6AB6E51FEAE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372" name="Rectangle 3">
            <a:extLst>
              <a:ext uri="{FF2B5EF4-FFF2-40B4-BE49-F238E27FC236}">
                <a16:creationId xmlns:a16="http://schemas.microsoft.com/office/drawing/2014/main" id="{7502218D-5A99-47BA-AF29-5A8FC63E317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1895880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4" name="Rectangle 7">
            <a:extLst>
              <a:ext uri="{FF2B5EF4-FFF2-40B4-BE49-F238E27FC236}">
                <a16:creationId xmlns:a16="http://schemas.microsoft.com/office/drawing/2014/main" id="{C55786B6-EF66-47AA-B545-3337574A95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8974B6D6-43EC-491A-BC36-5B6DFC0EE119}" type="slidenum">
              <a:rPr lang="en-US" altLang="zh-TW" sz="1200"/>
              <a:pPr/>
              <a:t>5</a:t>
            </a:fld>
            <a:endParaRPr lang="en-US" altLang="zh-TW" sz="1200"/>
          </a:p>
        </p:txBody>
      </p:sp>
      <p:sp>
        <p:nvSpPr>
          <p:cNvPr id="187395" name="Rectangle 2">
            <a:extLst>
              <a:ext uri="{FF2B5EF4-FFF2-40B4-BE49-F238E27FC236}">
                <a16:creationId xmlns:a16="http://schemas.microsoft.com/office/drawing/2014/main" id="{E3A2763C-1E31-4FD5-928F-A23A40DBD29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7396" name="Rectangle 3">
            <a:extLst>
              <a:ext uri="{FF2B5EF4-FFF2-40B4-BE49-F238E27FC236}">
                <a16:creationId xmlns:a16="http://schemas.microsoft.com/office/drawing/2014/main" id="{0E8C852B-544F-49AE-9F3B-19DB2493B37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10235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Rectangle 7">
            <a:extLst>
              <a:ext uri="{FF2B5EF4-FFF2-40B4-BE49-F238E27FC236}">
                <a16:creationId xmlns:a16="http://schemas.microsoft.com/office/drawing/2014/main" id="{ECC5E15F-D1F1-4533-8A56-87708AC6552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D5F2568F-F82F-4070-AFC1-EF16CBF056F1}" type="slidenum">
              <a:rPr lang="en-US" altLang="zh-TW" sz="1200"/>
              <a:pPr/>
              <a:t>6</a:t>
            </a:fld>
            <a:endParaRPr lang="en-US" altLang="zh-TW" sz="1200"/>
          </a:p>
        </p:txBody>
      </p:sp>
      <p:sp>
        <p:nvSpPr>
          <p:cNvPr id="188419" name="Rectangle 2">
            <a:extLst>
              <a:ext uri="{FF2B5EF4-FFF2-40B4-BE49-F238E27FC236}">
                <a16:creationId xmlns:a16="http://schemas.microsoft.com/office/drawing/2014/main" id="{24DDDB07-1E37-4A8B-AAA2-C725B7E6FEE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8420" name="Rectangle 3">
            <a:extLst>
              <a:ext uri="{FF2B5EF4-FFF2-40B4-BE49-F238E27FC236}">
                <a16:creationId xmlns:a16="http://schemas.microsoft.com/office/drawing/2014/main" id="{77ADF74E-6002-4B87-9763-CE683FD3E35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6007847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Rectangle 7">
            <a:extLst>
              <a:ext uri="{FF2B5EF4-FFF2-40B4-BE49-F238E27FC236}">
                <a16:creationId xmlns:a16="http://schemas.microsoft.com/office/drawing/2014/main" id="{69A54540-A04F-4F4B-A5ED-C2C2917D0DE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844CBE1F-F0DD-49E4-8CF1-0A4019856DAE}" type="slidenum">
              <a:rPr lang="en-US" altLang="zh-TW" sz="1200"/>
              <a:pPr/>
              <a:t>7</a:t>
            </a:fld>
            <a:endParaRPr lang="en-US" altLang="zh-TW" sz="1200"/>
          </a:p>
        </p:txBody>
      </p:sp>
      <p:sp>
        <p:nvSpPr>
          <p:cNvPr id="189443" name="Rectangle 2">
            <a:extLst>
              <a:ext uri="{FF2B5EF4-FFF2-40B4-BE49-F238E27FC236}">
                <a16:creationId xmlns:a16="http://schemas.microsoft.com/office/drawing/2014/main" id="{1AE663A0-5DD8-4453-9F78-D2EED182294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9444" name="Rectangle 3">
            <a:extLst>
              <a:ext uri="{FF2B5EF4-FFF2-40B4-BE49-F238E27FC236}">
                <a16:creationId xmlns:a16="http://schemas.microsoft.com/office/drawing/2014/main" id="{B6542E30-FC75-4BE5-AC4C-F26660BBE1C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749845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Rectangle 7">
            <a:extLst>
              <a:ext uri="{FF2B5EF4-FFF2-40B4-BE49-F238E27FC236}">
                <a16:creationId xmlns:a16="http://schemas.microsoft.com/office/drawing/2014/main" id="{BC7200A9-5C2D-42C3-83F7-7020477969E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EDBBAC6D-2A67-498B-9B6C-C353DB01C839}" type="slidenum">
              <a:rPr lang="en-US" altLang="zh-TW" sz="1200"/>
              <a:pPr/>
              <a:t>8</a:t>
            </a:fld>
            <a:endParaRPr lang="en-US" altLang="zh-TW" sz="1200"/>
          </a:p>
        </p:txBody>
      </p:sp>
      <p:sp>
        <p:nvSpPr>
          <p:cNvPr id="190467" name="Rectangle 2">
            <a:extLst>
              <a:ext uri="{FF2B5EF4-FFF2-40B4-BE49-F238E27FC236}">
                <a16:creationId xmlns:a16="http://schemas.microsoft.com/office/drawing/2014/main" id="{1B7D5EEB-3B3F-42DA-84B9-249A41FCAD9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0468" name="Rectangle 3">
            <a:extLst>
              <a:ext uri="{FF2B5EF4-FFF2-40B4-BE49-F238E27FC236}">
                <a16:creationId xmlns:a16="http://schemas.microsoft.com/office/drawing/2014/main" id="{BB1A34F4-9142-43B9-B68C-BC2CA002691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6783592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Rectangle 7">
            <a:extLst>
              <a:ext uri="{FF2B5EF4-FFF2-40B4-BE49-F238E27FC236}">
                <a16:creationId xmlns:a16="http://schemas.microsoft.com/office/drawing/2014/main" id="{45C823C0-B90A-438F-B2A7-04D08451DEB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30BDFCF3-AEA2-433C-961A-8CEB26A646AA}" type="slidenum">
              <a:rPr lang="en-US" altLang="zh-TW" sz="1200"/>
              <a:pPr/>
              <a:t>9</a:t>
            </a:fld>
            <a:endParaRPr lang="en-US" altLang="zh-TW" sz="1200"/>
          </a:p>
        </p:txBody>
      </p:sp>
      <p:sp>
        <p:nvSpPr>
          <p:cNvPr id="191491" name="Rectangle 2">
            <a:extLst>
              <a:ext uri="{FF2B5EF4-FFF2-40B4-BE49-F238E27FC236}">
                <a16:creationId xmlns:a16="http://schemas.microsoft.com/office/drawing/2014/main" id="{9E6D9039-7D4F-4165-A107-66B8D2EADB4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1492" name="Rectangle 3">
            <a:extLst>
              <a:ext uri="{FF2B5EF4-FFF2-40B4-BE49-F238E27FC236}">
                <a16:creationId xmlns:a16="http://schemas.microsoft.com/office/drawing/2014/main" id="{6AF14323-0AC5-4668-8A6D-BCEF57F6C23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7438382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Rectangle 7">
            <a:extLst>
              <a:ext uri="{FF2B5EF4-FFF2-40B4-BE49-F238E27FC236}">
                <a16:creationId xmlns:a16="http://schemas.microsoft.com/office/drawing/2014/main" id="{175E1DFA-FEEE-42C4-A902-D1A92EFFCFD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5BF085EC-CC0B-4100-9192-2C3A52F10ABF}" type="slidenum">
              <a:rPr lang="en-US" altLang="zh-TW" sz="1200"/>
              <a:pPr/>
              <a:t>10</a:t>
            </a:fld>
            <a:endParaRPr lang="en-US" altLang="zh-TW" sz="1200"/>
          </a:p>
        </p:txBody>
      </p:sp>
      <p:sp>
        <p:nvSpPr>
          <p:cNvPr id="192515" name="Rectangle 2">
            <a:extLst>
              <a:ext uri="{FF2B5EF4-FFF2-40B4-BE49-F238E27FC236}">
                <a16:creationId xmlns:a16="http://schemas.microsoft.com/office/drawing/2014/main" id="{AF3E1290-14C2-4242-A520-8190E9AC66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2516" name="Rectangle 3">
            <a:extLst>
              <a:ext uri="{FF2B5EF4-FFF2-40B4-BE49-F238E27FC236}">
                <a16:creationId xmlns:a16="http://schemas.microsoft.com/office/drawing/2014/main" id="{D42ECB8D-F433-4151-8DE4-3EEB15ABF6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9957344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38" name="Rectangle 7">
            <a:extLst>
              <a:ext uri="{FF2B5EF4-FFF2-40B4-BE49-F238E27FC236}">
                <a16:creationId xmlns:a16="http://schemas.microsoft.com/office/drawing/2014/main" id="{C68514EE-92A3-4C1F-866E-32B0D4010A2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C4548745-843D-4559-AF00-0B2F02E91818}" type="slidenum">
              <a:rPr lang="en-US" altLang="zh-TW" sz="1200"/>
              <a:pPr/>
              <a:t>11</a:t>
            </a:fld>
            <a:endParaRPr lang="en-US" altLang="zh-TW" sz="1200"/>
          </a:p>
        </p:txBody>
      </p:sp>
      <p:sp>
        <p:nvSpPr>
          <p:cNvPr id="193539" name="Rectangle 2">
            <a:extLst>
              <a:ext uri="{FF2B5EF4-FFF2-40B4-BE49-F238E27FC236}">
                <a16:creationId xmlns:a16="http://schemas.microsoft.com/office/drawing/2014/main" id="{2A51B934-1B5C-4CF9-B72E-2534CD049A1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3540" name="Rectangle 3">
            <a:extLst>
              <a:ext uri="{FF2B5EF4-FFF2-40B4-BE49-F238E27FC236}">
                <a16:creationId xmlns:a16="http://schemas.microsoft.com/office/drawing/2014/main" id="{3CB85D20-B813-46F9-A9A2-BBF4D5EB2A1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3608032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7">
            <a:extLst>
              <a:ext uri="{FF2B5EF4-FFF2-40B4-BE49-F238E27FC236}">
                <a16:creationId xmlns:a16="http://schemas.microsoft.com/office/drawing/2014/main" id="{9CC8895E-C2AE-49DC-93E3-F5241CE4FFD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E2BF4618-0406-435D-83DA-6CA28D1AD5C7}" type="slidenum">
              <a:rPr lang="en-US" altLang="zh-TW" sz="1200"/>
              <a:pPr/>
              <a:t>12</a:t>
            </a:fld>
            <a:endParaRPr lang="en-US" altLang="zh-TW" sz="1200"/>
          </a:p>
        </p:txBody>
      </p:sp>
      <p:sp>
        <p:nvSpPr>
          <p:cNvPr id="194563" name="Rectangle 2">
            <a:extLst>
              <a:ext uri="{FF2B5EF4-FFF2-40B4-BE49-F238E27FC236}">
                <a16:creationId xmlns:a16="http://schemas.microsoft.com/office/drawing/2014/main" id="{747D4B0E-1BDA-4F42-AF7F-18FBB84EFA3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564" name="Rectangle 3">
            <a:extLst>
              <a:ext uri="{FF2B5EF4-FFF2-40B4-BE49-F238E27FC236}">
                <a16:creationId xmlns:a16="http://schemas.microsoft.com/office/drawing/2014/main" id="{10F35221-DAB7-4C05-9693-81D615D6FF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7624092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7">
            <a:extLst>
              <a:ext uri="{FF2B5EF4-FFF2-40B4-BE49-F238E27FC236}">
                <a16:creationId xmlns:a16="http://schemas.microsoft.com/office/drawing/2014/main" id="{E95B2D8F-4DAD-4D97-8768-2ACD588CD7D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AA89A21-93FE-4B14-A48B-E20E97C14863}" type="slidenum">
              <a:rPr lang="en-US" altLang="zh-TW" sz="1200"/>
              <a:pPr/>
              <a:t>13</a:t>
            </a:fld>
            <a:endParaRPr lang="en-US" altLang="zh-TW" sz="1200"/>
          </a:p>
        </p:txBody>
      </p:sp>
      <p:sp>
        <p:nvSpPr>
          <p:cNvPr id="195587" name="Rectangle 2">
            <a:extLst>
              <a:ext uri="{FF2B5EF4-FFF2-40B4-BE49-F238E27FC236}">
                <a16:creationId xmlns:a16="http://schemas.microsoft.com/office/drawing/2014/main" id="{9CABD34C-9408-4B25-B4DF-2864CD5541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5588" name="Rectangle 3">
            <a:extLst>
              <a:ext uri="{FF2B5EF4-FFF2-40B4-BE49-F238E27FC236}">
                <a16:creationId xmlns:a16="http://schemas.microsoft.com/office/drawing/2014/main" id="{455478F4-3558-43CC-8C69-E4125F6AD7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3756173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7">
            <a:extLst>
              <a:ext uri="{FF2B5EF4-FFF2-40B4-BE49-F238E27FC236}">
                <a16:creationId xmlns:a16="http://schemas.microsoft.com/office/drawing/2014/main" id="{E95B2D8F-4DAD-4D97-8768-2ACD588CD7D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AA89A21-93FE-4B14-A48B-E20E97C14863}" type="slidenum">
              <a:rPr lang="en-US" altLang="zh-TW" sz="1200"/>
              <a:pPr/>
              <a:t>14</a:t>
            </a:fld>
            <a:endParaRPr lang="en-US" altLang="zh-TW" sz="1200"/>
          </a:p>
        </p:txBody>
      </p:sp>
      <p:sp>
        <p:nvSpPr>
          <p:cNvPr id="195587" name="Rectangle 2">
            <a:extLst>
              <a:ext uri="{FF2B5EF4-FFF2-40B4-BE49-F238E27FC236}">
                <a16:creationId xmlns:a16="http://schemas.microsoft.com/office/drawing/2014/main" id="{9CABD34C-9408-4B25-B4DF-2864CD5541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5588" name="Rectangle 3">
            <a:extLst>
              <a:ext uri="{FF2B5EF4-FFF2-40B4-BE49-F238E27FC236}">
                <a16:creationId xmlns:a16="http://schemas.microsoft.com/office/drawing/2014/main" id="{455478F4-3558-43CC-8C69-E4125F6AD7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5542023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7">
            <a:extLst>
              <a:ext uri="{FF2B5EF4-FFF2-40B4-BE49-F238E27FC236}">
                <a16:creationId xmlns:a16="http://schemas.microsoft.com/office/drawing/2014/main" id="{E95B2D8F-4DAD-4D97-8768-2ACD588CD7D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AA89A21-93FE-4B14-A48B-E20E97C14863}" type="slidenum">
              <a:rPr lang="en-US" altLang="zh-TW" sz="1200"/>
              <a:pPr/>
              <a:t>15</a:t>
            </a:fld>
            <a:endParaRPr lang="en-US" altLang="zh-TW" sz="1200"/>
          </a:p>
        </p:txBody>
      </p:sp>
      <p:sp>
        <p:nvSpPr>
          <p:cNvPr id="195587" name="Rectangle 2">
            <a:extLst>
              <a:ext uri="{FF2B5EF4-FFF2-40B4-BE49-F238E27FC236}">
                <a16:creationId xmlns:a16="http://schemas.microsoft.com/office/drawing/2014/main" id="{9CABD34C-9408-4B25-B4DF-2864CD5541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5588" name="Rectangle 3">
            <a:extLst>
              <a:ext uri="{FF2B5EF4-FFF2-40B4-BE49-F238E27FC236}">
                <a16:creationId xmlns:a16="http://schemas.microsoft.com/office/drawing/2014/main" id="{455478F4-3558-43CC-8C69-E4125F6AD7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792958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7">
            <a:extLst>
              <a:ext uri="{FF2B5EF4-FFF2-40B4-BE49-F238E27FC236}">
                <a16:creationId xmlns:a16="http://schemas.microsoft.com/office/drawing/2014/main" id="{E95B2D8F-4DAD-4D97-8768-2ACD588CD7D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AA89A21-93FE-4B14-A48B-E20E97C14863}" type="slidenum">
              <a:rPr lang="en-US" altLang="zh-TW" sz="1200"/>
              <a:pPr/>
              <a:t>16</a:t>
            </a:fld>
            <a:endParaRPr lang="en-US" altLang="zh-TW" sz="1200"/>
          </a:p>
        </p:txBody>
      </p:sp>
      <p:sp>
        <p:nvSpPr>
          <p:cNvPr id="195587" name="Rectangle 2">
            <a:extLst>
              <a:ext uri="{FF2B5EF4-FFF2-40B4-BE49-F238E27FC236}">
                <a16:creationId xmlns:a16="http://schemas.microsoft.com/office/drawing/2014/main" id="{9CABD34C-9408-4B25-B4DF-2864CD5541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5588" name="Rectangle 3">
            <a:extLst>
              <a:ext uri="{FF2B5EF4-FFF2-40B4-BE49-F238E27FC236}">
                <a16:creationId xmlns:a16="http://schemas.microsoft.com/office/drawing/2014/main" id="{455478F4-3558-43CC-8C69-E4125F6AD7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6231019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7">
            <a:extLst>
              <a:ext uri="{FF2B5EF4-FFF2-40B4-BE49-F238E27FC236}">
                <a16:creationId xmlns:a16="http://schemas.microsoft.com/office/drawing/2014/main" id="{E95B2D8F-4DAD-4D97-8768-2ACD588CD7D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AA89A21-93FE-4B14-A48B-E20E97C14863}" type="slidenum">
              <a:rPr lang="en-US" altLang="zh-TW" sz="1200"/>
              <a:pPr/>
              <a:t>17</a:t>
            </a:fld>
            <a:endParaRPr lang="en-US" altLang="zh-TW" sz="1200"/>
          </a:p>
        </p:txBody>
      </p:sp>
      <p:sp>
        <p:nvSpPr>
          <p:cNvPr id="195587" name="Rectangle 2">
            <a:extLst>
              <a:ext uri="{FF2B5EF4-FFF2-40B4-BE49-F238E27FC236}">
                <a16:creationId xmlns:a16="http://schemas.microsoft.com/office/drawing/2014/main" id="{9CABD34C-9408-4B25-B4DF-2864CD5541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5588" name="Rectangle 3">
            <a:extLst>
              <a:ext uri="{FF2B5EF4-FFF2-40B4-BE49-F238E27FC236}">
                <a16:creationId xmlns:a16="http://schemas.microsoft.com/office/drawing/2014/main" id="{455478F4-3558-43CC-8C69-E4125F6AD7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8859716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7">
            <a:extLst>
              <a:ext uri="{FF2B5EF4-FFF2-40B4-BE49-F238E27FC236}">
                <a16:creationId xmlns:a16="http://schemas.microsoft.com/office/drawing/2014/main" id="{61E5E2B1-76CE-438B-9167-ED505201A9E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B5564E40-2F4E-4A60-9BC9-BEB97BA6CEA2}" type="slidenum">
              <a:rPr lang="en-US" altLang="zh-TW" sz="1200"/>
              <a:pPr/>
              <a:t>18</a:t>
            </a:fld>
            <a:endParaRPr lang="en-US" altLang="zh-TW" sz="1200"/>
          </a:p>
        </p:txBody>
      </p:sp>
      <p:sp>
        <p:nvSpPr>
          <p:cNvPr id="196611" name="Rectangle 2">
            <a:extLst>
              <a:ext uri="{FF2B5EF4-FFF2-40B4-BE49-F238E27FC236}">
                <a16:creationId xmlns:a16="http://schemas.microsoft.com/office/drawing/2014/main" id="{BF3FA74B-3228-49F6-BB4C-614F3BEF6B1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6612" name="Rectangle 3">
            <a:extLst>
              <a:ext uri="{FF2B5EF4-FFF2-40B4-BE49-F238E27FC236}">
                <a16:creationId xmlns:a16="http://schemas.microsoft.com/office/drawing/2014/main" id="{0AC34BCC-70B6-413B-A7E3-AB52325E8D2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6792760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Rectangle 7">
            <a:extLst>
              <a:ext uri="{FF2B5EF4-FFF2-40B4-BE49-F238E27FC236}">
                <a16:creationId xmlns:a16="http://schemas.microsoft.com/office/drawing/2014/main" id="{5E009672-85E2-4EA9-8446-C45438D67CA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4F07B82C-B04B-4E59-B0C5-0B319A35BD52}" type="slidenum">
              <a:rPr lang="en-US" altLang="zh-TW" sz="1200"/>
              <a:pPr/>
              <a:t>19</a:t>
            </a:fld>
            <a:endParaRPr lang="en-US" altLang="zh-TW" sz="1200"/>
          </a:p>
        </p:txBody>
      </p:sp>
      <p:sp>
        <p:nvSpPr>
          <p:cNvPr id="197635" name="Rectangle 2">
            <a:extLst>
              <a:ext uri="{FF2B5EF4-FFF2-40B4-BE49-F238E27FC236}">
                <a16:creationId xmlns:a16="http://schemas.microsoft.com/office/drawing/2014/main" id="{9133336E-AB45-4385-AA93-0FEF35CD34E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7636" name="Rectangle 3">
            <a:extLst>
              <a:ext uri="{FF2B5EF4-FFF2-40B4-BE49-F238E27FC236}">
                <a16:creationId xmlns:a16="http://schemas.microsoft.com/office/drawing/2014/main" id="{BD6A179D-AB78-430B-B8C4-B7A413E5F92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3958501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Rectangle 7">
            <a:extLst>
              <a:ext uri="{FF2B5EF4-FFF2-40B4-BE49-F238E27FC236}">
                <a16:creationId xmlns:a16="http://schemas.microsoft.com/office/drawing/2014/main" id="{4F9A3B10-516C-44A2-AB5E-72764BA3DA0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7B19D29D-0E68-4015-8525-C6AB031DA674}" type="slidenum">
              <a:rPr lang="en-US" altLang="zh-TW" sz="1200"/>
              <a:pPr/>
              <a:t>20</a:t>
            </a:fld>
            <a:endParaRPr lang="en-US" altLang="zh-TW" sz="1200"/>
          </a:p>
        </p:txBody>
      </p:sp>
      <p:sp>
        <p:nvSpPr>
          <p:cNvPr id="198659" name="Rectangle 2">
            <a:extLst>
              <a:ext uri="{FF2B5EF4-FFF2-40B4-BE49-F238E27FC236}">
                <a16:creationId xmlns:a16="http://schemas.microsoft.com/office/drawing/2014/main" id="{BF9140EA-488E-4565-9F82-56F827CF5CF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8660" name="Rectangle 3">
            <a:extLst>
              <a:ext uri="{FF2B5EF4-FFF2-40B4-BE49-F238E27FC236}">
                <a16:creationId xmlns:a16="http://schemas.microsoft.com/office/drawing/2014/main" id="{7B17A918-101A-4F70-B132-13DE1A3DFB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9392242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Rectangle 7">
            <a:extLst>
              <a:ext uri="{FF2B5EF4-FFF2-40B4-BE49-F238E27FC236}">
                <a16:creationId xmlns:a16="http://schemas.microsoft.com/office/drawing/2014/main" id="{5A1AA5DC-9E5C-44AC-8752-D03133DBD76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792CB79F-0E09-4BD7-82FE-495275486479}" type="slidenum">
              <a:rPr lang="en-US" altLang="zh-TW" sz="1200"/>
              <a:pPr/>
              <a:t>21</a:t>
            </a:fld>
            <a:endParaRPr lang="en-US" altLang="zh-TW" sz="1200"/>
          </a:p>
        </p:txBody>
      </p:sp>
      <p:sp>
        <p:nvSpPr>
          <p:cNvPr id="199683" name="Rectangle 2">
            <a:extLst>
              <a:ext uri="{FF2B5EF4-FFF2-40B4-BE49-F238E27FC236}">
                <a16:creationId xmlns:a16="http://schemas.microsoft.com/office/drawing/2014/main" id="{D352143C-0692-4D4E-AA4D-B8AD0E68D9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9684" name="Rectangle 3">
            <a:extLst>
              <a:ext uri="{FF2B5EF4-FFF2-40B4-BE49-F238E27FC236}">
                <a16:creationId xmlns:a16="http://schemas.microsoft.com/office/drawing/2014/main" id="{B5DDFE21-9E79-461E-904A-6ACA12B074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3673357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Rectangle 7">
            <a:extLst>
              <a:ext uri="{FF2B5EF4-FFF2-40B4-BE49-F238E27FC236}">
                <a16:creationId xmlns:a16="http://schemas.microsoft.com/office/drawing/2014/main" id="{E3DEE5D0-DFC9-43C6-A0D7-257C7304453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C5822054-106A-4666-93B1-8FF8D90606D3}" type="slidenum">
              <a:rPr lang="en-US" altLang="zh-TW" sz="1200"/>
              <a:pPr/>
              <a:t>22</a:t>
            </a:fld>
            <a:endParaRPr lang="en-US" altLang="zh-TW" sz="1200"/>
          </a:p>
        </p:txBody>
      </p:sp>
      <p:sp>
        <p:nvSpPr>
          <p:cNvPr id="200707" name="Rectangle 2">
            <a:extLst>
              <a:ext uri="{FF2B5EF4-FFF2-40B4-BE49-F238E27FC236}">
                <a16:creationId xmlns:a16="http://schemas.microsoft.com/office/drawing/2014/main" id="{17EB9D25-86B6-4A6A-8168-11650D197C6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0708" name="Rectangle 3">
            <a:extLst>
              <a:ext uri="{FF2B5EF4-FFF2-40B4-BE49-F238E27FC236}">
                <a16:creationId xmlns:a16="http://schemas.microsoft.com/office/drawing/2014/main" id="{167F9335-91EA-4B88-A798-0BB3BDB2440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8701598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7">
            <a:extLst>
              <a:ext uri="{FF2B5EF4-FFF2-40B4-BE49-F238E27FC236}">
                <a16:creationId xmlns:a16="http://schemas.microsoft.com/office/drawing/2014/main" id="{24996B25-FE6D-4381-9F40-1B2F343679C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6847BEFD-60E7-4152-B84F-78E73A69F447}" type="slidenum">
              <a:rPr lang="en-US" altLang="zh-TW" sz="1200"/>
              <a:pPr/>
              <a:t>23</a:t>
            </a:fld>
            <a:endParaRPr lang="en-US" altLang="zh-TW" sz="1200"/>
          </a:p>
        </p:txBody>
      </p:sp>
      <p:sp>
        <p:nvSpPr>
          <p:cNvPr id="201731" name="Rectangle 2">
            <a:extLst>
              <a:ext uri="{FF2B5EF4-FFF2-40B4-BE49-F238E27FC236}">
                <a16:creationId xmlns:a16="http://schemas.microsoft.com/office/drawing/2014/main" id="{7A02720D-9571-4625-A062-3B726DB1193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2" name="Rectangle 3">
            <a:extLst>
              <a:ext uri="{FF2B5EF4-FFF2-40B4-BE49-F238E27FC236}">
                <a16:creationId xmlns:a16="http://schemas.microsoft.com/office/drawing/2014/main" id="{220143F1-7B34-45CD-9DC7-432218805FD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9016849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Rectangle 7">
            <a:extLst>
              <a:ext uri="{FF2B5EF4-FFF2-40B4-BE49-F238E27FC236}">
                <a16:creationId xmlns:a16="http://schemas.microsoft.com/office/drawing/2014/main" id="{D1DD669F-1C2F-46A4-826B-070B8824FAD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0CEB36D6-60B9-4910-93EE-791E3048C7F7}" type="slidenum">
              <a:rPr lang="en-US" altLang="zh-TW" sz="1200"/>
              <a:pPr/>
              <a:t>24</a:t>
            </a:fld>
            <a:endParaRPr lang="en-US" altLang="zh-TW" sz="1200"/>
          </a:p>
        </p:txBody>
      </p:sp>
      <p:sp>
        <p:nvSpPr>
          <p:cNvPr id="202755" name="Rectangle 2">
            <a:extLst>
              <a:ext uri="{FF2B5EF4-FFF2-40B4-BE49-F238E27FC236}">
                <a16:creationId xmlns:a16="http://schemas.microsoft.com/office/drawing/2014/main" id="{892B3375-654C-427B-8C8F-60FC593125A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2756" name="Rectangle 3">
            <a:extLst>
              <a:ext uri="{FF2B5EF4-FFF2-40B4-BE49-F238E27FC236}">
                <a16:creationId xmlns:a16="http://schemas.microsoft.com/office/drawing/2014/main" id="{5ABEBC8B-225E-4B71-8AA7-DA917F812ED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81605001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8" name="Rectangle 7">
            <a:extLst>
              <a:ext uri="{FF2B5EF4-FFF2-40B4-BE49-F238E27FC236}">
                <a16:creationId xmlns:a16="http://schemas.microsoft.com/office/drawing/2014/main" id="{2F887B7F-DF67-4431-8DE2-DC4AC72DC6F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E5949FF1-4627-4ED8-BF7A-33A45A970A6D}" type="slidenum">
              <a:rPr lang="en-US" altLang="zh-TW" sz="1200"/>
              <a:pPr/>
              <a:t>25</a:t>
            </a:fld>
            <a:endParaRPr lang="en-US" altLang="zh-TW" sz="1200"/>
          </a:p>
        </p:txBody>
      </p:sp>
      <p:sp>
        <p:nvSpPr>
          <p:cNvPr id="203779" name="Rectangle 2">
            <a:extLst>
              <a:ext uri="{FF2B5EF4-FFF2-40B4-BE49-F238E27FC236}">
                <a16:creationId xmlns:a16="http://schemas.microsoft.com/office/drawing/2014/main" id="{5407F888-4E59-42E1-9B77-88B5C8711E0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3780" name="Rectangle 3">
            <a:extLst>
              <a:ext uri="{FF2B5EF4-FFF2-40B4-BE49-F238E27FC236}">
                <a16:creationId xmlns:a16="http://schemas.microsoft.com/office/drawing/2014/main" id="{D63AE3BB-A486-4288-B5D8-E24A667528A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7138258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Rectangle 7">
            <a:extLst>
              <a:ext uri="{FF2B5EF4-FFF2-40B4-BE49-F238E27FC236}">
                <a16:creationId xmlns:a16="http://schemas.microsoft.com/office/drawing/2014/main" id="{D5DF8554-9633-4EEF-9DF6-F7C10F47844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7C959C95-8186-4233-BD26-A1BBF90F7DDF}" type="slidenum">
              <a:rPr lang="en-US" altLang="zh-TW" sz="1200"/>
              <a:pPr/>
              <a:t>26</a:t>
            </a:fld>
            <a:endParaRPr lang="en-US" altLang="zh-TW" sz="1200"/>
          </a:p>
        </p:txBody>
      </p:sp>
      <p:sp>
        <p:nvSpPr>
          <p:cNvPr id="204803" name="Rectangle 2">
            <a:extLst>
              <a:ext uri="{FF2B5EF4-FFF2-40B4-BE49-F238E27FC236}">
                <a16:creationId xmlns:a16="http://schemas.microsoft.com/office/drawing/2014/main" id="{9D499E58-8EC6-4C5B-B1E6-532A94E895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04" name="Rectangle 3">
            <a:extLst>
              <a:ext uri="{FF2B5EF4-FFF2-40B4-BE49-F238E27FC236}">
                <a16:creationId xmlns:a16="http://schemas.microsoft.com/office/drawing/2014/main" id="{336A0DC7-71EA-4D15-98F1-C9704D488BD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1900724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Rectangle 7">
            <a:extLst>
              <a:ext uri="{FF2B5EF4-FFF2-40B4-BE49-F238E27FC236}">
                <a16:creationId xmlns:a16="http://schemas.microsoft.com/office/drawing/2014/main" id="{D5DF8554-9633-4EEF-9DF6-F7C10F47844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7C959C95-8186-4233-BD26-A1BBF90F7DDF}" type="slidenum">
              <a:rPr lang="en-US" altLang="zh-TW" sz="1200"/>
              <a:pPr/>
              <a:t>27</a:t>
            </a:fld>
            <a:endParaRPr lang="en-US" altLang="zh-TW" sz="1200"/>
          </a:p>
        </p:txBody>
      </p:sp>
      <p:sp>
        <p:nvSpPr>
          <p:cNvPr id="204803" name="Rectangle 2">
            <a:extLst>
              <a:ext uri="{FF2B5EF4-FFF2-40B4-BE49-F238E27FC236}">
                <a16:creationId xmlns:a16="http://schemas.microsoft.com/office/drawing/2014/main" id="{9D499E58-8EC6-4C5B-B1E6-532A94E895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04" name="Rectangle 3">
            <a:extLst>
              <a:ext uri="{FF2B5EF4-FFF2-40B4-BE49-F238E27FC236}">
                <a16:creationId xmlns:a16="http://schemas.microsoft.com/office/drawing/2014/main" id="{336A0DC7-71EA-4D15-98F1-C9704D488BD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20160961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6" name="Rectangle 7">
            <a:extLst>
              <a:ext uri="{FF2B5EF4-FFF2-40B4-BE49-F238E27FC236}">
                <a16:creationId xmlns:a16="http://schemas.microsoft.com/office/drawing/2014/main" id="{0E0EF8E5-8A22-456A-98C1-0F6908010BF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2DC5580B-7921-4CAD-9FA1-041AA3D476FA}" type="slidenum">
              <a:rPr lang="en-US" altLang="zh-TW" sz="1200"/>
              <a:pPr/>
              <a:t>28</a:t>
            </a:fld>
            <a:endParaRPr lang="en-US" altLang="zh-TW" sz="1200"/>
          </a:p>
        </p:txBody>
      </p:sp>
      <p:sp>
        <p:nvSpPr>
          <p:cNvPr id="205827" name="Rectangle 2">
            <a:extLst>
              <a:ext uri="{FF2B5EF4-FFF2-40B4-BE49-F238E27FC236}">
                <a16:creationId xmlns:a16="http://schemas.microsoft.com/office/drawing/2014/main" id="{E4EC8228-911E-426F-82CF-2C4CC1E338E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5828" name="Rectangle 3">
            <a:extLst>
              <a:ext uri="{FF2B5EF4-FFF2-40B4-BE49-F238E27FC236}">
                <a16:creationId xmlns:a16="http://schemas.microsoft.com/office/drawing/2014/main" id="{810D1815-47B7-4DB0-8EFE-9291BACD19A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5983450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50" name="Rectangle 7">
            <a:extLst>
              <a:ext uri="{FF2B5EF4-FFF2-40B4-BE49-F238E27FC236}">
                <a16:creationId xmlns:a16="http://schemas.microsoft.com/office/drawing/2014/main" id="{E066CFA5-4386-4EDD-9405-445B1B05743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68ABD900-0573-4E1A-A157-52780879C933}" type="slidenum">
              <a:rPr lang="en-US" altLang="zh-TW" sz="1200"/>
              <a:pPr/>
              <a:t>29</a:t>
            </a:fld>
            <a:endParaRPr lang="en-US" altLang="zh-TW" sz="1200"/>
          </a:p>
        </p:txBody>
      </p:sp>
      <p:sp>
        <p:nvSpPr>
          <p:cNvPr id="206851" name="Rectangle 2">
            <a:extLst>
              <a:ext uri="{FF2B5EF4-FFF2-40B4-BE49-F238E27FC236}">
                <a16:creationId xmlns:a16="http://schemas.microsoft.com/office/drawing/2014/main" id="{0D8A2FF1-9E99-4CC0-94E4-6AACF4D77AC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6852" name="Rectangle 3">
            <a:extLst>
              <a:ext uri="{FF2B5EF4-FFF2-40B4-BE49-F238E27FC236}">
                <a16:creationId xmlns:a16="http://schemas.microsoft.com/office/drawing/2014/main" id="{6355DA7C-4F5C-499B-A2B4-8A2BB000D35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6935888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7">
            <a:extLst>
              <a:ext uri="{FF2B5EF4-FFF2-40B4-BE49-F238E27FC236}">
                <a16:creationId xmlns:a16="http://schemas.microsoft.com/office/drawing/2014/main" id="{3415CA51-80A7-4943-8634-3A04A9149CD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5B366755-B628-4F2C-A5ED-8100C58FAA39}" type="slidenum">
              <a:rPr lang="en-US" altLang="zh-TW" sz="1200"/>
              <a:pPr/>
              <a:t>30</a:t>
            </a:fld>
            <a:endParaRPr lang="en-US" altLang="zh-TW" sz="1200"/>
          </a:p>
        </p:txBody>
      </p:sp>
      <p:sp>
        <p:nvSpPr>
          <p:cNvPr id="207875" name="Rectangle 2">
            <a:extLst>
              <a:ext uri="{FF2B5EF4-FFF2-40B4-BE49-F238E27FC236}">
                <a16:creationId xmlns:a16="http://schemas.microsoft.com/office/drawing/2014/main" id="{B382FEA5-FA01-41FD-B4C5-78F6E1DB724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7876" name="Rectangle 3">
            <a:extLst>
              <a:ext uri="{FF2B5EF4-FFF2-40B4-BE49-F238E27FC236}">
                <a16:creationId xmlns:a16="http://schemas.microsoft.com/office/drawing/2014/main" id="{B96EF256-AB64-4D66-85D3-EC6FD41826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24407186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7">
            <a:extLst>
              <a:ext uri="{FF2B5EF4-FFF2-40B4-BE49-F238E27FC236}">
                <a16:creationId xmlns:a16="http://schemas.microsoft.com/office/drawing/2014/main" id="{3415CA51-80A7-4943-8634-3A04A9149CD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5B366755-B628-4F2C-A5ED-8100C58FAA39}" type="slidenum">
              <a:rPr lang="en-US" altLang="zh-TW" sz="1200"/>
              <a:pPr/>
              <a:t>31</a:t>
            </a:fld>
            <a:endParaRPr lang="en-US" altLang="zh-TW" sz="1200"/>
          </a:p>
        </p:txBody>
      </p:sp>
      <p:sp>
        <p:nvSpPr>
          <p:cNvPr id="207875" name="Rectangle 2">
            <a:extLst>
              <a:ext uri="{FF2B5EF4-FFF2-40B4-BE49-F238E27FC236}">
                <a16:creationId xmlns:a16="http://schemas.microsoft.com/office/drawing/2014/main" id="{B382FEA5-FA01-41FD-B4C5-78F6E1DB724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7876" name="Rectangle 3">
            <a:extLst>
              <a:ext uri="{FF2B5EF4-FFF2-40B4-BE49-F238E27FC236}">
                <a16:creationId xmlns:a16="http://schemas.microsoft.com/office/drawing/2014/main" id="{B96EF256-AB64-4D66-85D3-EC6FD41826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10429447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98" name="Rectangle 7">
            <a:extLst>
              <a:ext uri="{FF2B5EF4-FFF2-40B4-BE49-F238E27FC236}">
                <a16:creationId xmlns:a16="http://schemas.microsoft.com/office/drawing/2014/main" id="{9D892DFE-8A52-41FD-A480-80465D1539D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8C36CFE0-6EBC-4E4F-BC10-A0F996292857}" type="slidenum">
              <a:rPr lang="en-US" altLang="zh-TW" sz="1200"/>
              <a:pPr/>
              <a:t>32</a:t>
            </a:fld>
            <a:endParaRPr lang="en-US" altLang="zh-TW" sz="1200"/>
          </a:p>
        </p:txBody>
      </p:sp>
      <p:sp>
        <p:nvSpPr>
          <p:cNvPr id="208899" name="Rectangle 2">
            <a:extLst>
              <a:ext uri="{FF2B5EF4-FFF2-40B4-BE49-F238E27FC236}">
                <a16:creationId xmlns:a16="http://schemas.microsoft.com/office/drawing/2014/main" id="{A920973A-BF68-4D48-AB78-870CC560EB4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8900" name="Rectangle 3">
            <a:extLst>
              <a:ext uri="{FF2B5EF4-FFF2-40B4-BE49-F238E27FC236}">
                <a16:creationId xmlns:a16="http://schemas.microsoft.com/office/drawing/2014/main" id="{1E63DC09-6C8A-4FD6-ABC7-A4B6BE6AB0B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03590521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98" name="Rectangle 7">
            <a:extLst>
              <a:ext uri="{FF2B5EF4-FFF2-40B4-BE49-F238E27FC236}">
                <a16:creationId xmlns:a16="http://schemas.microsoft.com/office/drawing/2014/main" id="{9D892DFE-8A52-41FD-A480-80465D1539D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8C36CFE0-6EBC-4E4F-BC10-A0F996292857}" type="slidenum">
              <a:rPr lang="en-US" altLang="zh-TW" sz="1200"/>
              <a:pPr/>
              <a:t>33</a:t>
            </a:fld>
            <a:endParaRPr lang="en-US" altLang="zh-TW" sz="1200"/>
          </a:p>
        </p:txBody>
      </p:sp>
      <p:sp>
        <p:nvSpPr>
          <p:cNvPr id="208899" name="Rectangle 2">
            <a:extLst>
              <a:ext uri="{FF2B5EF4-FFF2-40B4-BE49-F238E27FC236}">
                <a16:creationId xmlns:a16="http://schemas.microsoft.com/office/drawing/2014/main" id="{A920973A-BF68-4D48-AB78-870CC560EB4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8900" name="Rectangle 3">
            <a:extLst>
              <a:ext uri="{FF2B5EF4-FFF2-40B4-BE49-F238E27FC236}">
                <a16:creationId xmlns:a16="http://schemas.microsoft.com/office/drawing/2014/main" id="{1E63DC09-6C8A-4FD6-ABC7-A4B6BE6AB0B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22585737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Rectangle 7">
            <a:extLst>
              <a:ext uri="{FF2B5EF4-FFF2-40B4-BE49-F238E27FC236}">
                <a16:creationId xmlns:a16="http://schemas.microsoft.com/office/drawing/2014/main" id="{4F9A3B10-516C-44A2-AB5E-72764BA3DA0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7B19D29D-0E68-4015-8525-C6AB031DA674}" type="slidenum">
              <a:rPr lang="en-US" altLang="zh-TW" sz="1200"/>
              <a:pPr/>
              <a:t>34</a:t>
            </a:fld>
            <a:endParaRPr lang="en-US" altLang="zh-TW" sz="1200"/>
          </a:p>
        </p:txBody>
      </p:sp>
      <p:sp>
        <p:nvSpPr>
          <p:cNvPr id="198659" name="Rectangle 2">
            <a:extLst>
              <a:ext uri="{FF2B5EF4-FFF2-40B4-BE49-F238E27FC236}">
                <a16:creationId xmlns:a16="http://schemas.microsoft.com/office/drawing/2014/main" id="{BF9140EA-488E-4565-9F82-56F827CF5CF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8660" name="Rectangle 3">
            <a:extLst>
              <a:ext uri="{FF2B5EF4-FFF2-40B4-BE49-F238E27FC236}">
                <a16:creationId xmlns:a16="http://schemas.microsoft.com/office/drawing/2014/main" id="{7B17A918-101A-4F70-B132-13DE1A3DFB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220195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22" name="Rectangle 7">
            <a:extLst>
              <a:ext uri="{FF2B5EF4-FFF2-40B4-BE49-F238E27FC236}">
                <a16:creationId xmlns:a16="http://schemas.microsoft.com/office/drawing/2014/main" id="{13D5E661-287F-4078-96F2-B40CDCDF989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2C6C8155-A743-40E1-8AE3-E15D04679D3D}" type="slidenum">
              <a:rPr lang="en-US" altLang="zh-TW" sz="1200"/>
              <a:pPr/>
              <a:t>35</a:t>
            </a:fld>
            <a:endParaRPr lang="en-US" altLang="zh-TW" sz="1200"/>
          </a:p>
        </p:txBody>
      </p:sp>
      <p:sp>
        <p:nvSpPr>
          <p:cNvPr id="209923" name="Rectangle 2">
            <a:extLst>
              <a:ext uri="{FF2B5EF4-FFF2-40B4-BE49-F238E27FC236}">
                <a16:creationId xmlns:a16="http://schemas.microsoft.com/office/drawing/2014/main" id="{9489F3D1-F42F-44D3-929C-C2DFF5F863E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9924" name="Rectangle 3">
            <a:extLst>
              <a:ext uri="{FF2B5EF4-FFF2-40B4-BE49-F238E27FC236}">
                <a16:creationId xmlns:a16="http://schemas.microsoft.com/office/drawing/2014/main" id="{38BBE398-25D1-4D33-97AB-6082B69537D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6815559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Rectangle 7">
            <a:extLst>
              <a:ext uri="{FF2B5EF4-FFF2-40B4-BE49-F238E27FC236}">
                <a16:creationId xmlns:a16="http://schemas.microsoft.com/office/drawing/2014/main" id="{4F9A3B10-516C-44A2-AB5E-72764BA3DA0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7B19D29D-0E68-4015-8525-C6AB031DA674}" type="slidenum">
              <a:rPr lang="en-US" altLang="zh-TW" sz="1200"/>
              <a:pPr/>
              <a:t>36</a:t>
            </a:fld>
            <a:endParaRPr lang="en-US" altLang="zh-TW" sz="1200"/>
          </a:p>
        </p:txBody>
      </p:sp>
      <p:sp>
        <p:nvSpPr>
          <p:cNvPr id="198659" name="Rectangle 2">
            <a:extLst>
              <a:ext uri="{FF2B5EF4-FFF2-40B4-BE49-F238E27FC236}">
                <a16:creationId xmlns:a16="http://schemas.microsoft.com/office/drawing/2014/main" id="{BF9140EA-488E-4565-9F82-56F827CF5CF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8660" name="Rectangle 3">
            <a:extLst>
              <a:ext uri="{FF2B5EF4-FFF2-40B4-BE49-F238E27FC236}">
                <a16:creationId xmlns:a16="http://schemas.microsoft.com/office/drawing/2014/main" id="{7B17A918-101A-4F70-B132-13DE1A3DFB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5261361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B900D-7350-8B54-9BB3-BEADFE0C8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Rectangle 7">
            <a:extLst>
              <a:ext uri="{FF2B5EF4-FFF2-40B4-BE49-F238E27FC236}">
                <a16:creationId xmlns:a16="http://schemas.microsoft.com/office/drawing/2014/main" id="{474EFF11-5C74-9654-DFDA-13AAD574F5E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7B19D29D-0E68-4015-8525-C6AB031DA674}" type="slidenum">
              <a:rPr lang="en-US" altLang="zh-TW" sz="1200"/>
              <a:pPr/>
              <a:t>37</a:t>
            </a:fld>
            <a:endParaRPr lang="en-US" altLang="zh-TW" sz="1200"/>
          </a:p>
        </p:txBody>
      </p:sp>
      <p:sp>
        <p:nvSpPr>
          <p:cNvPr id="198659" name="Rectangle 2">
            <a:extLst>
              <a:ext uri="{FF2B5EF4-FFF2-40B4-BE49-F238E27FC236}">
                <a16:creationId xmlns:a16="http://schemas.microsoft.com/office/drawing/2014/main" id="{0D1C1FB1-8BE2-E4B4-F4A2-82627D6E8DE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8660" name="Rectangle 3">
            <a:extLst>
              <a:ext uri="{FF2B5EF4-FFF2-40B4-BE49-F238E27FC236}">
                <a16:creationId xmlns:a16="http://schemas.microsoft.com/office/drawing/2014/main" id="{859F18E8-4CE0-455F-B0B6-9359BE6987B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33563241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46" name="Rectangle 7">
            <a:extLst>
              <a:ext uri="{FF2B5EF4-FFF2-40B4-BE49-F238E27FC236}">
                <a16:creationId xmlns:a16="http://schemas.microsoft.com/office/drawing/2014/main" id="{C89F3D46-C69D-4ECF-AFC5-D7A758CD41B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68B3B1A8-457D-4D87-957C-2F749BE5BCB1}" type="slidenum">
              <a:rPr lang="en-US" altLang="zh-TW" sz="1200"/>
              <a:pPr/>
              <a:t>38</a:t>
            </a:fld>
            <a:endParaRPr lang="en-US" altLang="zh-TW" sz="1200"/>
          </a:p>
        </p:txBody>
      </p:sp>
      <p:sp>
        <p:nvSpPr>
          <p:cNvPr id="210947" name="Rectangle 2">
            <a:extLst>
              <a:ext uri="{FF2B5EF4-FFF2-40B4-BE49-F238E27FC236}">
                <a16:creationId xmlns:a16="http://schemas.microsoft.com/office/drawing/2014/main" id="{C9E5EBB5-8E48-4298-93D2-67CA42F52DA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0948" name="Rectangle 3">
            <a:extLst>
              <a:ext uri="{FF2B5EF4-FFF2-40B4-BE49-F238E27FC236}">
                <a16:creationId xmlns:a16="http://schemas.microsoft.com/office/drawing/2014/main" id="{E3C9043D-F1CD-4BD6-8423-380756A8810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9143762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FE708-58CA-DE5C-2BBC-1C67F1BAA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Rectangle 7">
            <a:extLst>
              <a:ext uri="{FF2B5EF4-FFF2-40B4-BE49-F238E27FC236}">
                <a16:creationId xmlns:a16="http://schemas.microsoft.com/office/drawing/2014/main" id="{640F0C83-F7C4-0F3A-6B3D-5652D480B85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7B19D29D-0E68-4015-8525-C6AB031DA674}" type="slidenum">
              <a:rPr lang="en-US" altLang="zh-TW" sz="1200"/>
              <a:pPr/>
              <a:t>39</a:t>
            </a:fld>
            <a:endParaRPr lang="en-US" altLang="zh-TW" sz="1200"/>
          </a:p>
        </p:txBody>
      </p:sp>
      <p:sp>
        <p:nvSpPr>
          <p:cNvPr id="198659" name="Rectangle 2">
            <a:extLst>
              <a:ext uri="{FF2B5EF4-FFF2-40B4-BE49-F238E27FC236}">
                <a16:creationId xmlns:a16="http://schemas.microsoft.com/office/drawing/2014/main" id="{3BC09574-740A-A779-1CF6-025149C03DF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8660" name="Rectangle 3">
            <a:extLst>
              <a:ext uri="{FF2B5EF4-FFF2-40B4-BE49-F238E27FC236}">
                <a16:creationId xmlns:a16="http://schemas.microsoft.com/office/drawing/2014/main" id="{E26900AF-3AD6-9820-643D-C8E154F70D3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75990858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970" name="Rectangle 7">
            <a:extLst>
              <a:ext uri="{FF2B5EF4-FFF2-40B4-BE49-F238E27FC236}">
                <a16:creationId xmlns:a16="http://schemas.microsoft.com/office/drawing/2014/main" id="{C7B5AE6E-D9C3-454A-B27C-9575B12C3EC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21A213F7-D2D5-4C26-BC07-B621EE54D5B5}" type="slidenum">
              <a:rPr lang="en-US" altLang="zh-TW" sz="1200"/>
              <a:pPr/>
              <a:t>40</a:t>
            </a:fld>
            <a:endParaRPr lang="en-US" altLang="zh-TW" sz="1200"/>
          </a:p>
        </p:txBody>
      </p:sp>
      <p:sp>
        <p:nvSpPr>
          <p:cNvPr id="211971" name="Rectangle 2">
            <a:extLst>
              <a:ext uri="{FF2B5EF4-FFF2-40B4-BE49-F238E27FC236}">
                <a16:creationId xmlns:a16="http://schemas.microsoft.com/office/drawing/2014/main" id="{79A7B4DD-7C36-4490-AFEA-F4D8CE87D42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1972" name="Rectangle 3">
            <a:extLst>
              <a:ext uri="{FF2B5EF4-FFF2-40B4-BE49-F238E27FC236}">
                <a16:creationId xmlns:a16="http://schemas.microsoft.com/office/drawing/2014/main" id="{CC4EC809-EA1C-4D7E-8CEB-5A88BAB9C96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5970457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994" name="Rectangle 7">
            <a:extLst>
              <a:ext uri="{FF2B5EF4-FFF2-40B4-BE49-F238E27FC236}">
                <a16:creationId xmlns:a16="http://schemas.microsoft.com/office/drawing/2014/main" id="{584E359A-6883-4F98-8121-DFD15974A00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AAED8F0-6433-4C23-AA52-9F238D743BA6}" type="slidenum">
              <a:rPr lang="en-US" altLang="zh-TW" sz="1200"/>
              <a:pPr/>
              <a:t>41</a:t>
            </a:fld>
            <a:endParaRPr lang="en-US" altLang="zh-TW" sz="1200"/>
          </a:p>
        </p:txBody>
      </p:sp>
      <p:sp>
        <p:nvSpPr>
          <p:cNvPr id="212995" name="Rectangle 2">
            <a:extLst>
              <a:ext uri="{FF2B5EF4-FFF2-40B4-BE49-F238E27FC236}">
                <a16:creationId xmlns:a16="http://schemas.microsoft.com/office/drawing/2014/main" id="{B4521C7A-0659-44ED-BE5A-96AC7574BAD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2996" name="Rectangle 3">
            <a:extLst>
              <a:ext uri="{FF2B5EF4-FFF2-40B4-BE49-F238E27FC236}">
                <a16:creationId xmlns:a16="http://schemas.microsoft.com/office/drawing/2014/main" id="{1501E6C4-968A-4CCA-913F-DD591C7426B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40928055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994" name="Rectangle 7">
            <a:extLst>
              <a:ext uri="{FF2B5EF4-FFF2-40B4-BE49-F238E27FC236}">
                <a16:creationId xmlns:a16="http://schemas.microsoft.com/office/drawing/2014/main" id="{584E359A-6883-4F98-8121-DFD15974A00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AAED8F0-6433-4C23-AA52-9F238D743BA6}" type="slidenum">
              <a:rPr lang="en-US" altLang="zh-TW" sz="1200"/>
              <a:pPr/>
              <a:t>42</a:t>
            </a:fld>
            <a:endParaRPr lang="en-US" altLang="zh-TW" sz="1200"/>
          </a:p>
        </p:txBody>
      </p:sp>
      <p:sp>
        <p:nvSpPr>
          <p:cNvPr id="212995" name="Rectangle 2">
            <a:extLst>
              <a:ext uri="{FF2B5EF4-FFF2-40B4-BE49-F238E27FC236}">
                <a16:creationId xmlns:a16="http://schemas.microsoft.com/office/drawing/2014/main" id="{B4521C7A-0659-44ED-BE5A-96AC7574BAD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2996" name="Rectangle 3">
            <a:extLst>
              <a:ext uri="{FF2B5EF4-FFF2-40B4-BE49-F238E27FC236}">
                <a16:creationId xmlns:a16="http://schemas.microsoft.com/office/drawing/2014/main" id="{1501E6C4-968A-4CCA-913F-DD591C7426B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5137436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994" name="Rectangle 7">
            <a:extLst>
              <a:ext uri="{FF2B5EF4-FFF2-40B4-BE49-F238E27FC236}">
                <a16:creationId xmlns:a16="http://schemas.microsoft.com/office/drawing/2014/main" id="{584E359A-6883-4F98-8121-DFD15974A00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AAED8F0-6433-4C23-AA52-9F238D743BA6}" type="slidenum">
              <a:rPr lang="en-US" altLang="zh-TW" sz="1200"/>
              <a:pPr/>
              <a:t>43</a:t>
            </a:fld>
            <a:endParaRPr lang="en-US" altLang="zh-TW" sz="1200"/>
          </a:p>
        </p:txBody>
      </p:sp>
      <p:sp>
        <p:nvSpPr>
          <p:cNvPr id="212995" name="Rectangle 2">
            <a:extLst>
              <a:ext uri="{FF2B5EF4-FFF2-40B4-BE49-F238E27FC236}">
                <a16:creationId xmlns:a16="http://schemas.microsoft.com/office/drawing/2014/main" id="{B4521C7A-0659-44ED-BE5A-96AC7574BAD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2996" name="Rectangle 3">
            <a:extLst>
              <a:ext uri="{FF2B5EF4-FFF2-40B4-BE49-F238E27FC236}">
                <a16:creationId xmlns:a16="http://schemas.microsoft.com/office/drawing/2014/main" id="{1501E6C4-968A-4CCA-913F-DD591C7426B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41239684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Rectangle 7">
            <a:extLst>
              <a:ext uri="{FF2B5EF4-FFF2-40B4-BE49-F238E27FC236}">
                <a16:creationId xmlns:a16="http://schemas.microsoft.com/office/drawing/2014/main" id="{D4524FE0-F582-44EA-804B-D7F0C3A5727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DE67ECDE-9317-4E3A-9CB9-1C3710E70204}" type="slidenum">
              <a:rPr lang="en-US" altLang="zh-TW" sz="1200"/>
              <a:pPr/>
              <a:t>44</a:t>
            </a:fld>
            <a:endParaRPr lang="en-US" altLang="zh-TW" sz="1200"/>
          </a:p>
        </p:txBody>
      </p:sp>
      <p:sp>
        <p:nvSpPr>
          <p:cNvPr id="214019" name="Rectangle 2">
            <a:extLst>
              <a:ext uri="{FF2B5EF4-FFF2-40B4-BE49-F238E27FC236}">
                <a16:creationId xmlns:a16="http://schemas.microsoft.com/office/drawing/2014/main" id="{4E649E17-1119-4BDF-AE4D-F62D97C9AE6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4020" name="Rectangle 3">
            <a:extLst>
              <a:ext uri="{FF2B5EF4-FFF2-40B4-BE49-F238E27FC236}">
                <a16:creationId xmlns:a16="http://schemas.microsoft.com/office/drawing/2014/main" id="{86770F7C-7F96-4904-BB92-F2D91DB829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87599769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42" name="Rectangle 7">
            <a:extLst>
              <a:ext uri="{FF2B5EF4-FFF2-40B4-BE49-F238E27FC236}">
                <a16:creationId xmlns:a16="http://schemas.microsoft.com/office/drawing/2014/main" id="{4776B503-9FB9-4035-A2BD-3611AB8A11C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F8347C3D-FF9B-4629-A903-C23E2B17D402}" type="slidenum">
              <a:rPr lang="en-US" altLang="zh-TW" sz="1200"/>
              <a:pPr/>
              <a:t>45</a:t>
            </a:fld>
            <a:endParaRPr lang="en-US" altLang="zh-TW" sz="1200"/>
          </a:p>
        </p:txBody>
      </p:sp>
      <p:sp>
        <p:nvSpPr>
          <p:cNvPr id="215043" name="Rectangle 2">
            <a:extLst>
              <a:ext uri="{FF2B5EF4-FFF2-40B4-BE49-F238E27FC236}">
                <a16:creationId xmlns:a16="http://schemas.microsoft.com/office/drawing/2014/main" id="{2CCCE8F4-ACE6-4C3A-8328-C0CDB99C8F4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44" name="Rectangle 3">
            <a:extLst>
              <a:ext uri="{FF2B5EF4-FFF2-40B4-BE49-F238E27FC236}">
                <a16:creationId xmlns:a16="http://schemas.microsoft.com/office/drawing/2014/main" id="{9BE6C1CA-3115-4A4C-85A4-2A51B0642D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23429311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Rectangle 7">
            <a:extLst>
              <a:ext uri="{FF2B5EF4-FFF2-40B4-BE49-F238E27FC236}">
                <a16:creationId xmlns:a16="http://schemas.microsoft.com/office/drawing/2014/main" id="{2D89FEA8-A6F6-4EFA-B861-8ACB374846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01989ACE-A961-4356-B159-25005195F5C0}" type="slidenum">
              <a:rPr lang="en-US" altLang="zh-TW" sz="1200"/>
              <a:pPr/>
              <a:t>46</a:t>
            </a:fld>
            <a:endParaRPr lang="en-US" altLang="zh-TW" sz="1200"/>
          </a:p>
        </p:txBody>
      </p:sp>
      <p:sp>
        <p:nvSpPr>
          <p:cNvPr id="216067" name="Rectangle 2">
            <a:extLst>
              <a:ext uri="{FF2B5EF4-FFF2-40B4-BE49-F238E27FC236}">
                <a16:creationId xmlns:a16="http://schemas.microsoft.com/office/drawing/2014/main" id="{588031F4-368B-4564-9CE0-83BC8FCDEA5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6068" name="Rectangle 3">
            <a:extLst>
              <a:ext uri="{FF2B5EF4-FFF2-40B4-BE49-F238E27FC236}">
                <a16:creationId xmlns:a16="http://schemas.microsoft.com/office/drawing/2014/main" id="{A0334BE2-B48C-4F4C-A2F1-C3E56C1A444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96437712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090" name="Rectangle 7">
            <a:extLst>
              <a:ext uri="{FF2B5EF4-FFF2-40B4-BE49-F238E27FC236}">
                <a16:creationId xmlns:a16="http://schemas.microsoft.com/office/drawing/2014/main" id="{C09416F4-6761-4528-90D8-8657E1A075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D670B2EB-5FC5-4E20-A643-EE8B29BD8863}" type="slidenum">
              <a:rPr lang="en-US" altLang="zh-TW" sz="1200"/>
              <a:pPr/>
              <a:t>47</a:t>
            </a:fld>
            <a:endParaRPr lang="en-US" altLang="zh-TW" sz="1200"/>
          </a:p>
        </p:txBody>
      </p:sp>
      <p:sp>
        <p:nvSpPr>
          <p:cNvPr id="217091" name="Rectangle 2">
            <a:extLst>
              <a:ext uri="{FF2B5EF4-FFF2-40B4-BE49-F238E27FC236}">
                <a16:creationId xmlns:a16="http://schemas.microsoft.com/office/drawing/2014/main" id="{128046D1-93A6-4343-A612-1B10ECC52AD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7092" name="Rectangle 3">
            <a:extLst>
              <a:ext uri="{FF2B5EF4-FFF2-40B4-BE49-F238E27FC236}">
                <a16:creationId xmlns:a16="http://schemas.microsoft.com/office/drawing/2014/main" id="{1437CFED-95B1-45EE-9777-593D218DC5C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8158207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114" name="Rectangle 7">
            <a:extLst>
              <a:ext uri="{FF2B5EF4-FFF2-40B4-BE49-F238E27FC236}">
                <a16:creationId xmlns:a16="http://schemas.microsoft.com/office/drawing/2014/main" id="{0BF5BA77-F734-4DA3-B1E7-D0D09C9B686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4E1EAE5-0B33-40C4-BD55-927B4F514279}" type="slidenum">
              <a:rPr lang="en-US" altLang="zh-TW" sz="1200"/>
              <a:pPr/>
              <a:t>48</a:t>
            </a:fld>
            <a:endParaRPr lang="en-US" altLang="zh-TW" sz="1200"/>
          </a:p>
        </p:txBody>
      </p:sp>
      <p:sp>
        <p:nvSpPr>
          <p:cNvPr id="218115" name="Rectangle 2">
            <a:extLst>
              <a:ext uri="{FF2B5EF4-FFF2-40B4-BE49-F238E27FC236}">
                <a16:creationId xmlns:a16="http://schemas.microsoft.com/office/drawing/2014/main" id="{35C73F30-A398-421A-B27B-04328A240F1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8116" name="Rectangle 3">
            <a:extLst>
              <a:ext uri="{FF2B5EF4-FFF2-40B4-BE49-F238E27FC236}">
                <a16:creationId xmlns:a16="http://schemas.microsoft.com/office/drawing/2014/main" id="{375D1567-8CE1-4BDF-9603-79398A3D2DD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9590127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138" name="Rectangle 7">
            <a:extLst>
              <a:ext uri="{FF2B5EF4-FFF2-40B4-BE49-F238E27FC236}">
                <a16:creationId xmlns:a16="http://schemas.microsoft.com/office/drawing/2014/main" id="{4E11DFE8-B38B-49B8-98C1-59B0F4DA5C1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5724309F-F295-4829-9779-F09DEE3816E7}" type="slidenum">
              <a:rPr lang="en-US" altLang="zh-TW" sz="1200"/>
              <a:pPr/>
              <a:t>49</a:t>
            </a:fld>
            <a:endParaRPr lang="en-US" altLang="zh-TW" sz="1200"/>
          </a:p>
        </p:txBody>
      </p:sp>
      <p:sp>
        <p:nvSpPr>
          <p:cNvPr id="219139" name="Rectangle 2">
            <a:extLst>
              <a:ext uri="{FF2B5EF4-FFF2-40B4-BE49-F238E27FC236}">
                <a16:creationId xmlns:a16="http://schemas.microsoft.com/office/drawing/2014/main" id="{E734F89F-1477-4BBE-8C9E-1C73E55C618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9140" name="Rectangle 3">
            <a:extLst>
              <a:ext uri="{FF2B5EF4-FFF2-40B4-BE49-F238E27FC236}">
                <a16:creationId xmlns:a16="http://schemas.microsoft.com/office/drawing/2014/main" id="{D6C7BBF9-A29E-4B89-A6AA-F559E05273D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24974917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62" name="Rectangle 7">
            <a:extLst>
              <a:ext uri="{FF2B5EF4-FFF2-40B4-BE49-F238E27FC236}">
                <a16:creationId xmlns:a16="http://schemas.microsoft.com/office/drawing/2014/main" id="{D8B71EE9-681D-432E-8231-63563CB6925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8160DF98-185A-458E-A3DB-EB822CB59393}" type="slidenum">
              <a:rPr lang="en-US" altLang="zh-TW" sz="1200"/>
              <a:pPr/>
              <a:t>50</a:t>
            </a:fld>
            <a:endParaRPr lang="en-US" altLang="zh-TW" sz="1200"/>
          </a:p>
        </p:txBody>
      </p:sp>
      <p:sp>
        <p:nvSpPr>
          <p:cNvPr id="220163" name="Rectangle 2">
            <a:extLst>
              <a:ext uri="{FF2B5EF4-FFF2-40B4-BE49-F238E27FC236}">
                <a16:creationId xmlns:a16="http://schemas.microsoft.com/office/drawing/2014/main" id="{20407F75-D43E-4FE1-B06F-B0BD7C1B431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0164" name="Rectangle 3">
            <a:extLst>
              <a:ext uri="{FF2B5EF4-FFF2-40B4-BE49-F238E27FC236}">
                <a16:creationId xmlns:a16="http://schemas.microsoft.com/office/drawing/2014/main" id="{F8CB0CC2-55CC-46D5-A57B-D4B0CA541C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3601905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186" name="Rectangle 7">
            <a:extLst>
              <a:ext uri="{FF2B5EF4-FFF2-40B4-BE49-F238E27FC236}">
                <a16:creationId xmlns:a16="http://schemas.microsoft.com/office/drawing/2014/main" id="{1CF70C03-974B-4975-8B22-ABCF6D828D0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737C7A9D-9B7B-4D2B-99E6-40BB98E98A4A}" type="slidenum">
              <a:rPr lang="en-US" altLang="zh-TW" sz="1200"/>
              <a:pPr/>
              <a:t>51</a:t>
            </a:fld>
            <a:endParaRPr lang="en-US" altLang="zh-TW" sz="1200"/>
          </a:p>
        </p:txBody>
      </p:sp>
      <p:sp>
        <p:nvSpPr>
          <p:cNvPr id="221187" name="Rectangle 2">
            <a:extLst>
              <a:ext uri="{FF2B5EF4-FFF2-40B4-BE49-F238E27FC236}">
                <a16:creationId xmlns:a16="http://schemas.microsoft.com/office/drawing/2014/main" id="{4EA05460-3369-40A3-AD7B-98D5C03AB19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1188" name="Rectangle 3">
            <a:extLst>
              <a:ext uri="{FF2B5EF4-FFF2-40B4-BE49-F238E27FC236}">
                <a16:creationId xmlns:a16="http://schemas.microsoft.com/office/drawing/2014/main" id="{CC1351C5-DD23-4E3B-8698-7AF034ECCFF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56222662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210" name="Rectangle 7">
            <a:extLst>
              <a:ext uri="{FF2B5EF4-FFF2-40B4-BE49-F238E27FC236}">
                <a16:creationId xmlns:a16="http://schemas.microsoft.com/office/drawing/2014/main" id="{35FA2512-07B0-4D1F-8DF4-D398AF91ACC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9AA64B03-2034-4A6F-B2F1-C0DDBE4442D4}" type="slidenum">
              <a:rPr lang="en-US" altLang="zh-TW" sz="1200"/>
              <a:pPr/>
              <a:t>52</a:t>
            </a:fld>
            <a:endParaRPr lang="en-US" altLang="zh-TW" sz="1200"/>
          </a:p>
        </p:txBody>
      </p:sp>
      <p:sp>
        <p:nvSpPr>
          <p:cNvPr id="222211" name="Rectangle 2">
            <a:extLst>
              <a:ext uri="{FF2B5EF4-FFF2-40B4-BE49-F238E27FC236}">
                <a16:creationId xmlns:a16="http://schemas.microsoft.com/office/drawing/2014/main" id="{9419F5FB-BCCE-49F4-BF87-FD2DEB28D24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2212" name="Rectangle 3">
            <a:extLst>
              <a:ext uri="{FF2B5EF4-FFF2-40B4-BE49-F238E27FC236}">
                <a16:creationId xmlns:a16="http://schemas.microsoft.com/office/drawing/2014/main" id="{E2CA7C4D-436F-4607-99AF-D799CA9486E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04429518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210" name="Rectangle 7">
            <a:extLst>
              <a:ext uri="{FF2B5EF4-FFF2-40B4-BE49-F238E27FC236}">
                <a16:creationId xmlns:a16="http://schemas.microsoft.com/office/drawing/2014/main" id="{35FA2512-07B0-4D1F-8DF4-D398AF91ACC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9AA64B03-2034-4A6F-B2F1-C0DDBE4442D4}" type="slidenum">
              <a:rPr lang="en-US" altLang="zh-TW" sz="1200"/>
              <a:pPr/>
              <a:t>53</a:t>
            </a:fld>
            <a:endParaRPr lang="en-US" altLang="zh-TW" sz="1200"/>
          </a:p>
        </p:txBody>
      </p:sp>
      <p:sp>
        <p:nvSpPr>
          <p:cNvPr id="222211" name="Rectangle 2">
            <a:extLst>
              <a:ext uri="{FF2B5EF4-FFF2-40B4-BE49-F238E27FC236}">
                <a16:creationId xmlns:a16="http://schemas.microsoft.com/office/drawing/2014/main" id="{9419F5FB-BCCE-49F4-BF87-FD2DEB28D24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2212" name="Rectangle 3">
            <a:extLst>
              <a:ext uri="{FF2B5EF4-FFF2-40B4-BE49-F238E27FC236}">
                <a16:creationId xmlns:a16="http://schemas.microsoft.com/office/drawing/2014/main" id="{E2CA7C4D-436F-4607-99AF-D799CA9486E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1077715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234" name="Rectangle 7">
            <a:extLst>
              <a:ext uri="{FF2B5EF4-FFF2-40B4-BE49-F238E27FC236}">
                <a16:creationId xmlns:a16="http://schemas.microsoft.com/office/drawing/2014/main" id="{3D2078CA-9017-487E-ADD8-32830B01840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9EF61EE6-BD48-4A0E-9A0C-9B586535ADF8}" type="slidenum">
              <a:rPr lang="en-US" altLang="zh-TW" sz="1200"/>
              <a:pPr/>
              <a:t>54</a:t>
            </a:fld>
            <a:endParaRPr lang="en-US" altLang="zh-TW" sz="1200"/>
          </a:p>
        </p:txBody>
      </p:sp>
      <p:sp>
        <p:nvSpPr>
          <p:cNvPr id="223235" name="Rectangle 2">
            <a:extLst>
              <a:ext uri="{FF2B5EF4-FFF2-40B4-BE49-F238E27FC236}">
                <a16:creationId xmlns:a16="http://schemas.microsoft.com/office/drawing/2014/main" id="{42454215-A3D9-4767-88D9-2205DDD6D17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3236" name="Rectangle 3">
            <a:extLst>
              <a:ext uri="{FF2B5EF4-FFF2-40B4-BE49-F238E27FC236}">
                <a16:creationId xmlns:a16="http://schemas.microsoft.com/office/drawing/2014/main" id="{207C4CDD-7DB0-4AF4-B589-88798F05CF3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67383808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258" name="Rectangle 7">
            <a:extLst>
              <a:ext uri="{FF2B5EF4-FFF2-40B4-BE49-F238E27FC236}">
                <a16:creationId xmlns:a16="http://schemas.microsoft.com/office/drawing/2014/main" id="{FF79D312-0E33-4BC7-AA9A-7507925F01B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8FC01B3-3AD4-42D1-A789-F4C4DE761386}" type="slidenum">
              <a:rPr lang="en-US" altLang="zh-TW" sz="1200"/>
              <a:pPr/>
              <a:t>55</a:t>
            </a:fld>
            <a:endParaRPr lang="en-US" altLang="zh-TW" sz="1200"/>
          </a:p>
        </p:txBody>
      </p:sp>
      <p:sp>
        <p:nvSpPr>
          <p:cNvPr id="224259" name="Rectangle 2">
            <a:extLst>
              <a:ext uri="{FF2B5EF4-FFF2-40B4-BE49-F238E27FC236}">
                <a16:creationId xmlns:a16="http://schemas.microsoft.com/office/drawing/2014/main" id="{D0890628-3C75-426E-AB04-D74ED71AE2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4260" name="Rectangle 3">
            <a:extLst>
              <a:ext uri="{FF2B5EF4-FFF2-40B4-BE49-F238E27FC236}">
                <a16:creationId xmlns:a16="http://schemas.microsoft.com/office/drawing/2014/main" id="{7EEC6A3A-0409-4BE6-BBCE-6EF2370E89A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93481034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Rectangle 7">
            <a:extLst>
              <a:ext uri="{FF2B5EF4-FFF2-40B4-BE49-F238E27FC236}">
                <a16:creationId xmlns:a16="http://schemas.microsoft.com/office/drawing/2014/main" id="{C594505F-582B-4C34-A037-A6E9B8F1421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B46F3C48-81B7-4DAC-97A7-F1BEE70F6AE6}" type="slidenum">
              <a:rPr lang="en-US" altLang="zh-TW" sz="1200"/>
              <a:pPr/>
              <a:t>56</a:t>
            </a:fld>
            <a:endParaRPr lang="en-US" altLang="zh-TW" sz="1200"/>
          </a:p>
        </p:txBody>
      </p:sp>
      <p:sp>
        <p:nvSpPr>
          <p:cNvPr id="225283" name="Rectangle 2">
            <a:extLst>
              <a:ext uri="{FF2B5EF4-FFF2-40B4-BE49-F238E27FC236}">
                <a16:creationId xmlns:a16="http://schemas.microsoft.com/office/drawing/2014/main" id="{FC4E15AD-BCC6-4A67-A9E7-28252AEBFC3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284" name="Rectangle 3">
            <a:extLst>
              <a:ext uri="{FF2B5EF4-FFF2-40B4-BE49-F238E27FC236}">
                <a16:creationId xmlns:a16="http://schemas.microsoft.com/office/drawing/2014/main" id="{D1911AC5-D3AF-4CFC-ABA2-4F554743437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87903414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06" name="Rectangle 7">
            <a:extLst>
              <a:ext uri="{FF2B5EF4-FFF2-40B4-BE49-F238E27FC236}">
                <a16:creationId xmlns:a16="http://schemas.microsoft.com/office/drawing/2014/main" id="{59BB5592-FE04-4323-B6DC-19E270A65AA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2B77D684-80F8-49E6-8DB9-FD886FF5DCB1}" type="slidenum">
              <a:rPr lang="en-US" altLang="zh-TW" sz="1200"/>
              <a:pPr/>
              <a:t>57</a:t>
            </a:fld>
            <a:endParaRPr lang="en-US" altLang="zh-TW" sz="1200"/>
          </a:p>
        </p:txBody>
      </p:sp>
      <p:sp>
        <p:nvSpPr>
          <p:cNvPr id="226307" name="Rectangle 2">
            <a:extLst>
              <a:ext uri="{FF2B5EF4-FFF2-40B4-BE49-F238E27FC236}">
                <a16:creationId xmlns:a16="http://schemas.microsoft.com/office/drawing/2014/main" id="{F94EE28A-4523-47EE-83E5-C9687E99E7B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26308" name="Rectangle 3">
            <a:extLst>
              <a:ext uri="{FF2B5EF4-FFF2-40B4-BE49-F238E27FC236}">
                <a16:creationId xmlns:a16="http://schemas.microsoft.com/office/drawing/2014/main" id="{DD37C557-E24D-49C7-BA67-1CDABFE217D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36453321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330" name="Rectangle 7">
            <a:extLst>
              <a:ext uri="{FF2B5EF4-FFF2-40B4-BE49-F238E27FC236}">
                <a16:creationId xmlns:a16="http://schemas.microsoft.com/office/drawing/2014/main" id="{0BFC6A6C-DD43-4120-B683-807DE6FFFD4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1ACD28D0-2EB9-4358-9D14-A1D76B029F02}" type="slidenum">
              <a:rPr lang="en-US" altLang="zh-TW" sz="1200"/>
              <a:pPr/>
              <a:t>58</a:t>
            </a:fld>
            <a:endParaRPr lang="en-US" altLang="zh-TW" sz="1200"/>
          </a:p>
        </p:txBody>
      </p:sp>
      <p:sp>
        <p:nvSpPr>
          <p:cNvPr id="227331" name="Rectangle 2">
            <a:extLst>
              <a:ext uri="{FF2B5EF4-FFF2-40B4-BE49-F238E27FC236}">
                <a16:creationId xmlns:a16="http://schemas.microsoft.com/office/drawing/2014/main" id="{2B543BDB-8A77-48DC-82FE-248DEE52F59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27332" name="Rectangle 3">
            <a:extLst>
              <a:ext uri="{FF2B5EF4-FFF2-40B4-BE49-F238E27FC236}">
                <a16:creationId xmlns:a16="http://schemas.microsoft.com/office/drawing/2014/main" id="{81863E7A-99BA-4BB8-ABE9-ED6C84C44A2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05753348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826" name="Rectangle 2">
            <a:extLst>
              <a:ext uri="{FF2B5EF4-FFF2-40B4-BE49-F238E27FC236}">
                <a16:creationId xmlns:a16="http://schemas.microsoft.com/office/drawing/2014/main" id="{DA0B213E-79E0-45D1-91C9-C2905152F15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3827" name="Rectangle 3">
            <a:extLst>
              <a:ext uri="{FF2B5EF4-FFF2-40B4-BE49-F238E27FC236}">
                <a16:creationId xmlns:a16="http://schemas.microsoft.com/office/drawing/2014/main" id="{C321449A-E622-4D4B-8B2C-630F0D7CA7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2243207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7">
            <a:extLst>
              <a:ext uri="{FF2B5EF4-FFF2-40B4-BE49-F238E27FC236}">
                <a16:creationId xmlns:a16="http://schemas.microsoft.com/office/drawing/2014/main" id="{2FCEBF0D-FB76-4346-9DDC-2CA37F50ADB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FDC6A73A-9F39-49EE-BE6A-4D3533AA2F91}" type="slidenum">
              <a:rPr lang="en-US" altLang="zh-TW" sz="1200"/>
              <a:pPr/>
              <a:t>60</a:t>
            </a:fld>
            <a:endParaRPr lang="en-US" altLang="zh-TW" sz="1200"/>
          </a:p>
        </p:txBody>
      </p:sp>
      <p:sp>
        <p:nvSpPr>
          <p:cNvPr id="228355" name="Rectangle 2">
            <a:extLst>
              <a:ext uri="{FF2B5EF4-FFF2-40B4-BE49-F238E27FC236}">
                <a16:creationId xmlns:a16="http://schemas.microsoft.com/office/drawing/2014/main" id="{CE61716D-DD44-4DF1-BA17-38064AF5F34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8356" name="Rectangle 3">
            <a:extLst>
              <a:ext uri="{FF2B5EF4-FFF2-40B4-BE49-F238E27FC236}">
                <a16:creationId xmlns:a16="http://schemas.microsoft.com/office/drawing/2014/main" id="{798C9B27-9A4E-4315-B57D-F8AB36AAD7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53281602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A3317-F2BB-2A1E-D7C2-564902708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7">
            <a:extLst>
              <a:ext uri="{FF2B5EF4-FFF2-40B4-BE49-F238E27FC236}">
                <a16:creationId xmlns:a16="http://schemas.microsoft.com/office/drawing/2014/main" id="{73093768-E594-8B35-C8B7-3A5390B71FD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FDC6A73A-9F39-49EE-BE6A-4D3533AA2F91}" type="slidenum">
              <a:rPr lang="en-US" altLang="zh-TW" sz="1200"/>
              <a:pPr/>
              <a:t>61</a:t>
            </a:fld>
            <a:endParaRPr lang="en-US" altLang="zh-TW" sz="1200"/>
          </a:p>
        </p:txBody>
      </p:sp>
      <p:sp>
        <p:nvSpPr>
          <p:cNvPr id="228355" name="Rectangle 2">
            <a:extLst>
              <a:ext uri="{FF2B5EF4-FFF2-40B4-BE49-F238E27FC236}">
                <a16:creationId xmlns:a16="http://schemas.microsoft.com/office/drawing/2014/main" id="{D6ED886A-F2D0-8FDC-A4D0-3234FFAA806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8356" name="Rectangle 3">
            <a:extLst>
              <a:ext uri="{FF2B5EF4-FFF2-40B4-BE49-F238E27FC236}">
                <a16:creationId xmlns:a16="http://schemas.microsoft.com/office/drawing/2014/main" id="{21159B2A-04A5-4123-EE7E-008DDD5707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8587661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378" name="Rectangle 7">
            <a:extLst>
              <a:ext uri="{FF2B5EF4-FFF2-40B4-BE49-F238E27FC236}">
                <a16:creationId xmlns:a16="http://schemas.microsoft.com/office/drawing/2014/main" id="{FC7C8566-B032-48F1-A413-66D2361D0D7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4BD1160F-3A32-46A9-9F22-29262508C10E}" type="slidenum">
              <a:rPr lang="en-US" altLang="zh-TW" sz="1200"/>
              <a:pPr/>
              <a:t>62</a:t>
            </a:fld>
            <a:endParaRPr lang="en-US" altLang="zh-TW" sz="1200"/>
          </a:p>
        </p:txBody>
      </p:sp>
      <p:sp>
        <p:nvSpPr>
          <p:cNvPr id="229379" name="Rectangle 2">
            <a:extLst>
              <a:ext uri="{FF2B5EF4-FFF2-40B4-BE49-F238E27FC236}">
                <a16:creationId xmlns:a16="http://schemas.microsoft.com/office/drawing/2014/main" id="{C6FE1619-D8A3-4C29-9033-8CE12969301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9380" name="Rectangle 3">
            <a:extLst>
              <a:ext uri="{FF2B5EF4-FFF2-40B4-BE49-F238E27FC236}">
                <a16:creationId xmlns:a16="http://schemas.microsoft.com/office/drawing/2014/main" id="{22781C6D-9B71-419C-9E8E-BCF4E022AC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25186110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402" name="Rectangle 7">
            <a:extLst>
              <a:ext uri="{FF2B5EF4-FFF2-40B4-BE49-F238E27FC236}">
                <a16:creationId xmlns:a16="http://schemas.microsoft.com/office/drawing/2014/main" id="{DF9C9513-A29B-4327-BBB1-00035627585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D25D2645-8A74-4510-8296-480FB32E2A31}" type="slidenum">
              <a:rPr lang="en-US" altLang="zh-TW" sz="1200"/>
              <a:pPr/>
              <a:t>63</a:t>
            </a:fld>
            <a:endParaRPr lang="en-US" altLang="zh-TW" sz="1200"/>
          </a:p>
        </p:txBody>
      </p:sp>
      <p:sp>
        <p:nvSpPr>
          <p:cNvPr id="230403" name="Rectangle 2">
            <a:extLst>
              <a:ext uri="{FF2B5EF4-FFF2-40B4-BE49-F238E27FC236}">
                <a16:creationId xmlns:a16="http://schemas.microsoft.com/office/drawing/2014/main" id="{3F68D079-77BA-4967-8072-C4A586A3263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0404" name="Rectangle 3">
            <a:extLst>
              <a:ext uri="{FF2B5EF4-FFF2-40B4-BE49-F238E27FC236}">
                <a16:creationId xmlns:a16="http://schemas.microsoft.com/office/drawing/2014/main" id="{8972FF33-E7BF-41B5-91E7-9E6E9BB6A56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63423980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26" name="Rectangle 7">
            <a:extLst>
              <a:ext uri="{FF2B5EF4-FFF2-40B4-BE49-F238E27FC236}">
                <a16:creationId xmlns:a16="http://schemas.microsoft.com/office/drawing/2014/main" id="{6B48A655-3164-4B6D-BCF3-24D868C401B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BF1446C3-3775-4B3D-B43A-0AE28792F09B}" type="slidenum">
              <a:rPr lang="en-US" altLang="zh-TW" sz="1200"/>
              <a:pPr/>
              <a:t>64</a:t>
            </a:fld>
            <a:endParaRPr lang="en-US" altLang="zh-TW" sz="1200"/>
          </a:p>
        </p:txBody>
      </p:sp>
      <p:sp>
        <p:nvSpPr>
          <p:cNvPr id="231427" name="Rectangle 2">
            <a:extLst>
              <a:ext uri="{FF2B5EF4-FFF2-40B4-BE49-F238E27FC236}">
                <a16:creationId xmlns:a16="http://schemas.microsoft.com/office/drawing/2014/main" id="{5C71E52B-4CF1-4DE2-89FF-EEA0FD667BA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1428" name="Rectangle 3">
            <a:extLst>
              <a:ext uri="{FF2B5EF4-FFF2-40B4-BE49-F238E27FC236}">
                <a16:creationId xmlns:a16="http://schemas.microsoft.com/office/drawing/2014/main" id="{06DAA7D4-8C96-4090-AA12-3C9F27AFCC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05744599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450" name="Rectangle 7">
            <a:extLst>
              <a:ext uri="{FF2B5EF4-FFF2-40B4-BE49-F238E27FC236}">
                <a16:creationId xmlns:a16="http://schemas.microsoft.com/office/drawing/2014/main" id="{1968FA2A-BA83-486F-8241-9BE7383793F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08E4084E-FA11-42C3-AE44-D765687C654E}" type="slidenum">
              <a:rPr lang="en-US" altLang="zh-TW" sz="1200"/>
              <a:pPr/>
              <a:t>65</a:t>
            </a:fld>
            <a:endParaRPr lang="en-US" altLang="zh-TW" sz="1200"/>
          </a:p>
        </p:txBody>
      </p:sp>
      <p:sp>
        <p:nvSpPr>
          <p:cNvPr id="232451" name="Rectangle 2">
            <a:extLst>
              <a:ext uri="{FF2B5EF4-FFF2-40B4-BE49-F238E27FC236}">
                <a16:creationId xmlns:a16="http://schemas.microsoft.com/office/drawing/2014/main" id="{9F74D285-3BF3-48B7-9674-A3DFCA96F3A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2452" name="Rectangle 3">
            <a:extLst>
              <a:ext uri="{FF2B5EF4-FFF2-40B4-BE49-F238E27FC236}">
                <a16:creationId xmlns:a16="http://schemas.microsoft.com/office/drawing/2014/main" id="{5F9F9D37-0F6F-4585-B154-54CC2908EE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58678800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474" name="Rectangle 7">
            <a:extLst>
              <a:ext uri="{FF2B5EF4-FFF2-40B4-BE49-F238E27FC236}">
                <a16:creationId xmlns:a16="http://schemas.microsoft.com/office/drawing/2014/main" id="{DDEFA582-1B33-4C8C-B13E-F0A7C9F78DF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817228F8-CE38-4E4B-B7CE-356B6F0F18E0}" type="slidenum">
              <a:rPr lang="en-US" altLang="zh-TW" sz="1200"/>
              <a:pPr/>
              <a:t>66</a:t>
            </a:fld>
            <a:endParaRPr lang="en-US" altLang="zh-TW" sz="1200"/>
          </a:p>
        </p:txBody>
      </p:sp>
      <p:sp>
        <p:nvSpPr>
          <p:cNvPr id="233475" name="Rectangle 2">
            <a:extLst>
              <a:ext uri="{FF2B5EF4-FFF2-40B4-BE49-F238E27FC236}">
                <a16:creationId xmlns:a16="http://schemas.microsoft.com/office/drawing/2014/main" id="{69C6558A-0A9E-4171-8D84-DBBC052D3CC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3476" name="Rectangle 3">
            <a:extLst>
              <a:ext uri="{FF2B5EF4-FFF2-40B4-BE49-F238E27FC236}">
                <a16:creationId xmlns:a16="http://schemas.microsoft.com/office/drawing/2014/main" id="{1969F837-B9AA-4876-BCD9-30F05DEB35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06019190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474" name="Rectangle 7">
            <a:extLst>
              <a:ext uri="{FF2B5EF4-FFF2-40B4-BE49-F238E27FC236}">
                <a16:creationId xmlns:a16="http://schemas.microsoft.com/office/drawing/2014/main" id="{DDEFA582-1B33-4C8C-B13E-F0A7C9F78DF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817228F8-CE38-4E4B-B7CE-356B6F0F18E0}" type="slidenum">
              <a:rPr lang="en-US" altLang="zh-TW" sz="1200"/>
              <a:pPr/>
              <a:t>67</a:t>
            </a:fld>
            <a:endParaRPr lang="en-US" altLang="zh-TW" sz="1200"/>
          </a:p>
        </p:txBody>
      </p:sp>
      <p:sp>
        <p:nvSpPr>
          <p:cNvPr id="233475" name="Rectangle 2">
            <a:extLst>
              <a:ext uri="{FF2B5EF4-FFF2-40B4-BE49-F238E27FC236}">
                <a16:creationId xmlns:a16="http://schemas.microsoft.com/office/drawing/2014/main" id="{69C6558A-0A9E-4171-8D84-DBBC052D3CC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3476" name="Rectangle 3">
            <a:extLst>
              <a:ext uri="{FF2B5EF4-FFF2-40B4-BE49-F238E27FC236}">
                <a16:creationId xmlns:a16="http://schemas.microsoft.com/office/drawing/2014/main" id="{1969F837-B9AA-4876-BCD9-30F05DEB35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11642224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474" name="Rectangle 7">
            <a:extLst>
              <a:ext uri="{FF2B5EF4-FFF2-40B4-BE49-F238E27FC236}">
                <a16:creationId xmlns:a16="http://schemas.microsoft.com/office/drawing/2014/main" id="{DDEFA582-1B33-4C8C-B13E-F0A7C9F78DF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817228F8-CE38-4E4B-B7CE-356B6F0F18E0}" type="slidenum">
              <a:rPr lang="en-US" altLang="zh-TW" sz="1200"/>
              <a:pPr/>
              <a:t>68</a:t>
            </a:fld>
            <a:endParaRPr lang="en-US" altLang="zh-TW" sz="1200"/>
          </a:p>
        </p:txBody>
      </p:sp>
      <p:sp>
        <p:nvSpPr>
          <p:cNvPr id="233475" name="Rectangle 2">
            <a:extLst>
              <a:ext uri="{FF2B5EF4-FFF2-40B4-BE49-F238E27FC236}">
                <a16:creationId xmlns:a16="http://schemas.microsoft.com/office/drawing/2014/main" id="{69C6558A-0A9E-4171-8D84-DBBC052D3CC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3476" name="Rectangle 3">
            <a:extLst>
              <a:ext uri="{FF2B5EF4-FFF2-40B4-BE49-F238E27FC236}">
                <a16:creationId xmlns:a16="http://schemas.microsoft.com/office/drawing/2014/main" id="{1969F837-B9AA-4876-BCD9-30F05DEB35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95552613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498" name="Rectangle 7">
            <a:extLst>
              <a:ext uri="{FF2B5EF4-FFF2-40B4-BE49-F238E27FC236}">
                <a16:creationId xmlns:a16="http://schemas.microsoft.com/office/drawing/2014/main" id="{77172541-2B37-4A06-9E5E-ABDF501022D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2B2FA014-AD52-4D2D-BFD9-959450086F2D}" type="slidenum">
              <a:rPr lang="en-US" altLang="zh-TW" sz="1200"/>
              <a:pPr/>
              <a:t>69</a:t>
            </a:fld>
            <a:endParaRPr lang="en-US" altLang="zh-TW" sz="1200"/>
          </a:p>
        </p:txBody>
      </p:sp>
      <p:sp>
        <p:nvSpPr>
          <p:cNvPr id="234499" name="Rectangle 2">
            <a:extLst>
              <a:ext uri="{FF2B5EF4-FFF2-40B4-BE49-F238E27FC236}">
                <a16:creationId xmlns:a16="http://schemas.microsoft.com/office/drawing/2014/main" id="{C81B3FED-2E67-4163-947D-BDA62FD8F6C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4500" name="Rectangle 3">
            <a:extLst>
              <a:ext uri="{FF2B5EF4-FFF2-40B4-BE49-F238E27FC236}">
                <a16:creationId xmlns:a16="http://schemas.microsoft.com/office/drawing/2014/main" id="{300B8E93-FCF3-4333-A644-07C9A43842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4766332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485FD-ED22-1D86-85D0-58F69699E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498" name="Rectangle 7">
            <a:extLst>
              <a:ext uri="{FF2B5EF4-FFF2-40B4-BE49-F238E27FC236}">
                <a16:creationId xmlns:a16="http://schemas.microsoft.com/office/drawing/2014/main" id="{4CAB6D8C-0B83-ED23-FBAA-6A0CF90DFBF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2B2FA014-AD52-4D2D-BFD9-959450086F2D}" type="slidenum">
              <a:rPr lang="en-US" altLang="zh-TW" sz="1200"/>
              <a:pPr/>
              <a:t>70</a:t>
            </a:fld>
            <a:endParaRPr lang="en-US" altLang="zh-TW" sz="1200"/>
          </a:p>
        </p:txBody>
      </p:sp>
      <p:sp>
        <p:nvSpPr>
          <p:cNvPr id="234499" name="Rectangle 2">
            <a:extLst>
              <a:ext uri="{FF2B5EF4-FFF2-40B4-BE49-F238E27FC236}">
                <a16:creationId xmlns:a16="http://schemas.microsoft.com/office/drawing/2014/main" id="{EA59921F-271F-9D08-E6A5-F1DA4F301B5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4500" name="Rectangle 3">
            <a:extLst>
              <a:ext uri="{FF2B5EF4-FFF2-40B4-BE49-F238E27FC236}">
                <a16:creationId xmlns:a16="http://schemas.microsoft.com/office/drawing/2014/main" id="{83EE4F57-DA11-1E2C-4149-B25DE09EC89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88584685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22" name="Rectangle 7">
            <a:extLst>
              <a:ext uri="{FF2B5EF4-FFF2-40B4-BE49-F238E27FC236}">
                <a16:creationId xmlns:a16="http://schemas.microsoft.com/office/drawing/2014/main" id="{8E852AB9-D5A4-43F3-844D-98C21B6AFD0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DF9CC0B6-53C5-4BF8-8944-8D38E9A138C7}" type="slidenum">
              <a:rPr lang="en-US" altLang="zh-TW" sz="1200"/>
              <a:pPr/>
              <a:t>71</a:t>
            </a:fld>
            <a:endParaRPr lang="en-US" altLang="zh-TW" sz="1200"/>
          </a:p>
        </p:txBody>
      </p:sp>
      <p:sp>
        <p:nvSpPr>
          <p:cNvPr id="235523" name="Rectangle 2">
            <a:extLst>
              <a:ext uri="{FF2B5EF4-FFF2-40B4-BE49-F238E27FC236}">
                <a16:creationId xmlns:a16="http://schemas.microsoft.com/office/drawing/2014/main" id="{9614A3FD-495D-41B9-B57D-729528D8906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24" name="Rectangle 3">
            <a:extLst>
              <a:ext uri="{FF2B5EF4-FFF2-40B4-BE49-F238E27FC236}">
                <a16:creationId xmlns:a16="http://schemas.microsoft.com/office/drawing/2014/main" id="{DF87B653-E7A9-4AD9-BA0D-0F6CD20A10E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00431934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46" name="Rectangle 7">
            <a:extLst>
              <a:ext uri="{FF2B5EF4-FFF2-40B4-BE49-F238E27FC236}">
                <a16:creationId xmlns:a16="http://schemas.microsoft.com/office/drawing/2014/main" id="{C63475A3-B573-4ACA-B98B-6C4F44C9C5C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67EACDA2-75DF-492E-969E-901CB29684F3}" type="slidenum">
              <a:rPr lang="en-US" altLang="zh-TW" sz="1200"/>
              <a:pPr/>
              <a:t>72</a:t>
            </a:fld>
            <a:endParaRPr lang="en-US" altLang="zh-TW" sz="1200"/>
          </a:p>
        </p:txBody>
      </p:sp>
      <p:sp>
        <p:nvSpPr>
          <p:cNvPr id="236547" name="Rectangle 2">
            <a:extLst>
              <a:ext uri="{FF2B5EF4-FFF2-40B4-BE49-F238E27FC236}">
                <a16:creationId xmlns:a16="http://schemas.microsoft.com/office/drawing/2014/main" id="{DB238CCE-CBA9-4AFA-A25C-AFE7D4BC112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6548" name="Rectangle 3">
            <a:extLst>
              <a:ext uri="{FF2B5EF4-FFF2-40B4-BE49-F238E27FC236}">
                <a16:creationId xmlns:a16="http://schemas.microsoft.com/office/drawing/2014/main" id="{780F48AD-E8B7-47C4-8626-D6B63960102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6547443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570" name="Rectangle 7">
            <a:extLst>
              <a:ext uri="{FF2B5EF4-FFF2-40B4-BE49-F238E27FC236}">
                <a16:creationId xmlns:a16="http://schemas.microsoft.com/office/drawing/2014/main" id="{9B177FA2-DA35-40A8-9454-BF04A7EE5E4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3F0F6F14-DDA6-4982-83E9-609A58C842CB}" type="slidenum">
              <a:rPr lang="en-US" altLang="zh-TW" sz="1200"/>
              <a:pPr/>
              <a:t>73</a:t>
            </a:fld>
            <a:endParaRPr lang="en-US" altLang="zh-TW" sz="1200"/>
          </a:p>
        </p:txBody>
      </p:sp>
      <p:sp>
        <p:nvSpPr>
          <p:cNvPr id="237571" name="Rectangle 2">
            <a:extLst>
              <a:ext uri="{FF2B5EF4-FFF2-40B4-BE49-F238E27FC236}">
                <a16:creationId xmlns:a16="http://schemas.microsoft.com/office/drawing/2014/main" id="{09EBD3BE-791A-411C-98D5-80376E66052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7572" name="Rectangle 3">
            <a:extLst>
              <a:ext uri="{FF2B5EF4-FFF2-40B4-BE49-F238E27FC236}">
                <a16:creationId xmlns:a16="http://schemas.microsoft.com/office/drawing/2014/main" id="{647CF7EB-5114-4AFB-A785-366F293307D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71118543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594" name="Rectangle 7">
            <a:extLst>
              <a:ext uri="{FF2B5EF4-FFF2-40B4-BE49-F238E27FC236}">
                <a16:creationId xmlns:a16="http://schemas.microsoft.com/office/drawing/2014/main" id="{6D498584-80C3-4B39-8119-F32607B51BD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F6D0CE05-F971-453D-8665-E67DC4250F13}" type="slidenum">
              <a:rPr lang="en-US" altLang="zh-TW" sz="1200"/>
              <a:pPr/>
              <a:t>74</a:t>
            </a:fld>
            <a:endParaRPr lang="en-US" altLang="zh-TW" sz="1200"/>
          </a:p>
        </p:txBody>
      </p:sp>
      <p:sp>
        <p:nvSpPr>
          <p:cNvPr id="238595" name="Rectangle 2">
            <a:extLst>
              <a:ext uri="{FF2B5EF4-FFF2-40B4-BE49-F238E27FC236}">
                <a16:creationId xmlns:a16="http://schemas.microsoft.com/office/drawing/2014/main" id="{01416293-0584-412F-AC24-DA72FD82794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8596" name="Rectangle 3">
            <a:extLst>
              <a:ext uri="{FF2B5EF4-FFF2-40B4-BE49-F238E27FC236}">
                <a16:creationId xmlns:a16="http://schemas.microsoft.com/office/drawing/2014/main" id="{AAD702B0-EE37-4073-9D49-6716281CB37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51321586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18" name="Rectangle 7">
            <a:extLst>
              <a:ext uri="{FF2B5EF4-FFF2-40B4-BE49-F238E27FC236}">
                <a16:creationId xmlns:a16="http://schemas.microsoft.com/office/drawing/2014/main" id="{53AF2363-B01D-423E-8C9E-A9FE580341E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4892AB9-CE1C-4B57-808C-1845A0198E53}" type="slidenum">
              <a:rPr lang="en-US" altLang="zh-TW" sz="1200"/>
              <a:pPr/>
              <a:t>75</a:t>
            </a:fld>
            <a:endParaRPr lang="en-US" altLang="zh-TW" sz="1200"/>
          </a:p>
        </p:txBody>
      </p:sp>
      <p:sp>
        <p:nvSpPr>
          <p:cNvPr id="239619" name="Rectangle 2">
            <a:extLst>
              <a:ext uri="{FF2B5EF4-FFF2-40B4-BE49-F238E27FC236}">
                <a16:creationId xmlns:a16="http://schemas.microsoft.com/office/drawing/2014/main" id="{C93B287F-360F-4EBF-BA0A-328260A23FE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9620" name="Rectangle 3">
            <a:extLst>
              <a:ext uri="{FF2B5EF4-FFF2-40B4-BE49-F238E27FC236}">
                <a16:creationId xmlns:a16="http://schemas.microsoft.com/office/drawing/2014/main" id="{CB409CCE-693E-4CCF-9535-048EA3B804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41015690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7">
            <a:extLst>
              <a:ext uri="{FF2B5EF4-FFF2-40B4-BE49-F238E27FC236}">
                <a16:creationId xmlns:a16="http://schemas.microsoft.com/office/drawing/2014/main" id="{6C4068C1-4865-4FC8-971F-1C7B64E8A5B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97CC24A4-7384-439D-BA69-829728A0BBFC}" type="slidenum">
              <a:rPr lang="en-US" altLang="zh-TW" sz="1200"/>
              <a:pPr/>
              <a:t>76</a:t>
            </a:fld>
            <a:endParaRPr lang="en-US" altLang="zh-TW" sz="1200"/>
          </a:p>
        </p:txBody>
      </p:sp>
      <p:sp>
        <p:nvSpPr>
          <p:cNvPr id="240643" name="Rectangle 2">
            <a:extLst>
              <a:ext uri="{FF2B5EF4-FFF2-40B4-BE49-F238E27FC236}">
                <a16:creationId xmlns:a16="http://schemas.microsoft.com/office/drawing/2014/main" id="{795915EC-07C9-48F6-B4FE-A6E354BC27A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0644" name="Rectangle 3">
            <a:extLst>
              <a:ext uri="{FF2B5EF4-FFF2-40B4-BE49-F238E27FC236}">
                <a16:creationId xmlns:a16="http://schemas.microsoft.com/office/drawing/2014/main" id="{7B5027B0-6B51-43F4-81E2-ABF366F87D8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696817819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666" name="Rectangle 7">
            <a:extLst>
              <a:ext uri="{FF2B5EF4-FFF2-40B4-BE49-F238E27FC236}">
                <a16:creationId xmlns:a16="http://schemas.microsoft.com/office/drawing/2014/main" id="{D17E1A7C-F8F2-41D8-AFAA-09C9D3AD7E7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1610E3F4-793D-43F7-8A19-4196CBBB2BCA}" type="slidenum">
              <a:rPr lang="en-US" altLang="zh-TW" sz="1200"/>
              <a:pPr/>
              <a:t>77</a:t>
            </a:fld>
            <a:endParaRPr lang="en-US" altLang="zh-TW" sz="1200"/>
          </a:p>
        </p:txBody>
      </p:sp>
      <p:sp>
        <p:nvSpPr>
          <p:cNvPr id="241667" name="Rectangle 2">
            <a:extLst>
              <a:ext uri="{FF2B5EF4-FFF2-40B4-BE49-F238E27FC236}">
                <a16:creationId xmlns:a16="http://schemas.microsoft.com/office/drawing/2014/main" id="{C73372B0-7C9A-47EF-9A7B-7621C300CC4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1668" name="Rectangle 3">
            <a:extLst>
              <a:ext uri="{FF2B5EF4-FFF2-40B4-BE49-F238E27FC236}">
                <a16:creationId xmlns:a16="http://schemas.microsoft.com/office/drawing/2014/main" id="{EE095F78-1D11-448F-9282-28FD6BB0F9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579681422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90" name="Rectangle 7">
            <a:extLst>
              <a:ext uri="{FF2B5EF4-FFF2-40B4-BE49-F238E27FC236}">
                <a16:creationId xmlns:a16="http://schemas.microsoft.com/office/drawing/2014/main" id="{7B70A88E-D74D-4F71-B9D2-8197F6E62A0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090D60A-BB6C-4B2D-AACA-02A0E1D2E50C}" type="slidenum">
              <a:rPr lang="en-US" altLang="zh-TW" sz="1200"/>
              <a:pPr/>
              <a:t>78</a:t>
            </a:fld>
            <a:endParaRPr lang="en-US" altLang="zh-TW" sz="1200"/>
          </a:p>
        </p:txBody>
      </p:sp>
      <p:sp>
        <p:nvSpPr>
          <p:cNvPr id="242691" name="Rectangle 2">
            <a:extLst>
              <a:ext uri="{FF2B5EF4-FFF2-40B4-BE49-F238E27FC236}">
                <a16:creationId xmlns:a16="http://schemas.microsoft.com/office/drawing/2014/main" id="{D1A59F0B-1A9E-4F50-85F0-1C28014A339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2692" name="Rectangle 3">
            <a:extLst>
              <a:ext uri="{FF2B5EF4-FFF2-40B4-BE49-F238E27FC236}">
                <a16:creationId xmlns:a16="http://schemas.microsoft.com/office/drawing/2014/main" id="{F8E7431C-9047-479C-AA92-A1B071EFA09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01078449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90" name="Rectangle 7">
            <a:extLst>
              <a:ext uri="{FF2B5EF4-FFF2-40B4-BE49-F238E27FC236}">
                <a16:creationId xmlns:a16="http://schemas.microsoft.com/office/drawing/2014/main" id="{7B70A88E-D74D-4F71-B9D2-8197F6E62A0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090D60A-BB6C-4B2D-AACA-02A0E1D2E50C}" type="slidenum">
              <a:rPr lang="en-US" altLang="zh-TW" sz="1200"/>
              <a:pPr/>
              <a:t>79</a:t>
            </a:fld>
            <a:endParaRPr lang="en-US" altLang="zh-TW" sz="1200"/>
          </a:p>
        </p:txBody>
      </p:sp>
      <p:sp>
        <p:nvSpPr>
          <p:cNvPr id="242691" name="Rectangle 2">
            <a:extLst>
              <a:ext uri="{FF2B5EF4-FFF2-40B4-BE49-F238E27FC236}">
                <a16:creationId xmlns:a16="http://schemas.microsoft.com/office/drawing/2014/main" id="{D1A59F0B-1A9E-4F50-85F0-1C28014A339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2692" name="Rectangle 3">
            <a:extLst>
              <a:ext uri="{FF2B5EF4-FFF2-40B4-BE49-F238E27FC236}">
                <a16:creationId xmlns:a16="http://schemas.microsoft.com/office/drawing/2014/main" id="{F8E7431C-9047-479C-AA92-A1B071EFA09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9325567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90" name="Rectangle 7">
            <a:extLst>
              <a:ext uri="{FF2B5EF4-FFF2-40B4-BE49-F238E27FC236}">
                <a16:creationId xmlns:a16="http://schemas.microsoft.com/office/drawing/2014/main" id="{7B70A88E-D74D-4F71-B9D2-8197F6E62A0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090D60A-BB6C-4B2D-AACA-02A0E1D2E50C}" type="slidenum">
              <a:rPr lang="en-US" altLang="zh-TW" sz="1200"/>
              <a:pPr/>
              <a:t>80</a:t>
            </a:fld>
            <a:endParaRPr lang="en-US" altLang="zh-TW" sz="1200"/>
          </a:p>
        </p:txBody>
      </p:sp>
      <p:sp>
        <p:nvSpPr>
          <p:cNvPr id="242691" name="Rectangle 2">
            <a:extLst>
              <a:ext uri="{FF2B5EF4-FFF2-40B4-BE49-F238E27FC236}">
                <a16:creationId xmlns:a16="http://schemas.microsoft.com/office/drawing/2014/main" id="{D1A59F0B-1A9E-4F50-85F0-1C28014A339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2692" name="Rectangle 3">
            <a:extLst>
              <a:ext uri="{FF2B5EF4-FFF2-40B4-BE49-F238E27FC236}">
                <a16:creationId xmlns:a16="http://schemas.microsoft.com/office/drawing/2014/main" id="{F8E7431C-9047-479C-AA92-A1B071EFA09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45771798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90" name="Rectangle 7">
            <a:extLst>
              <a:ext uri="{FF2B5EF4-FFF2-40B4-BE49-F238E27FC236}">
                <a16:creationId xmlns:a16="http://schemas.microsoft.com/office/drawing/2014/main" id="{7B70A88E-D74D-4F71-B9D2-8197F6E62A0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090D60A-BB6C-4B2D-AACA-02A0E1D2E50C}" type="slidenum">
              <a:rPr lang="en-US" altLang="zh-TW" sz="1200"/>
              <a:pPr/>
              <a:t>81</a:t>
            </a:fld>
            <a:endParaRPr lang="en-US" altLang="zh-TW" sz="1200"/>
          </a:p>
        </p:txBody>
      </p:sp>
      <p:sp>
        <p:nvSpPr>
          <p:cNvPr id="242691" name="Rectangle 2">
            <a:extLst>
              <a:ext uri="{FF2B5EF4-FFF2-40B4-BE49-F238E27FC236}">
                <a16:creationId xmlns:a16="http://schemas.microsoft.com/office/drawing/2014/main" id="{D1A59F0B-1A9E-4F50-85F0-1C28014A339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2692" name="Rectangle 3">
            <a:extLst>
              <a:ext uri="{FF2B5EF4-FFF2-40B4-BE49-F238E27FC236}">
                <a16:creationId xmlns:a16="http://schemas.microsoft.com/office/drawing/2014/main" id="{F8E7431C-9047-479C-AA92-A1B071EFA09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48701112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54" name="Rectangle 7">
            <a:extLst>
              <a:ext uri="{FF2B5EF4-FFF2-40B4-BE49-F238E27FC236}">
                <a16:creationId xmlns:a16="http://schemas.microsoft.com/office/drawing/2014/main" id="{9BE9B74A-99DD-4774-9595-472C8215FC0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0AF75F1-0296-424C-B78D-30DE50B17E16}" type="slidenum">
              <a:rPr lang="en-US" altLang="zh-TW" sz="1200"/>
              <a:pPr/>
              <a:t>82</a:t>
            </a:fld>
            <a:endParaRPr lang="en-US" altLang="zh-TW" sz="1200"/>
          </a:p>
        </p:txBody>
      </p:sp>
      <p:sp>
        <p:nvSpPr>
          <p:cNvPr id="253955" name="Rectangle 2">
            <a:extLst>
              <a:ext uri="{FF2B5EF4-FFF2-40B4-BE49-F238E27FC236}">
                <a16:creationId xmlns:a16="http://schemas.microsoft.com/office/drawing/2014/main" id="{37F2330F-5D0E-4EB2-806A-8278E0CF857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3956" name="Rectangle 3">
            <a:extLst>
              <a:ext uri="{FF2B5EF4-FFF2-40B4-BE49-F238E27FC236}">
                <a16:creationId xmlns:a16="http://schemas.microsoft.com/office/drawing/2014/main" id="{889B045B-5F87-4405-89AA-9F8F853D87E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46671039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7">
            <a:extLst>
              <a:ext uri="{FF2B5EF4-FFF2-40B4-BE49-F238E27FC236}">
                <a16:creationId xmlns:a16="http://schemas.microsoft.com/office/drawing/2014/main" id="{28A0B992-6C80-47E9-9CAA-9705BC9C5F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64570D63-780D-4BB2-BF69-B3C0808CAE48}" type="slidenum">
              <a:rPr lang="en-US" altLang="zh-TW" sz="1200"/>
              <a:pPr/>
              <a:t>83</a:t>
            </a:fld>
            <a:endParaRPr lang="en-US" altLang="zh-TW" sz="1200"/>
          </a:p>
        </p:txBody>
      </p:sp>
      <p:sp>
        <p:nvSpPr>
          <p:cNvPr id="257027" name="Rectangle 2">
            <a:extLst>
              <a:ext uri="{FF2B5EF4-FFF2-40B4-BE49-F238E27FC236}">
                <a16:creationId xmlns:a16="http://schemas.microsoft.com/office/drawing/2014/main" id="{D310E201-9C17-4A15-A00E-9AC6D531F10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7028" name="Rectangle 3">
            <a:extLst>
              <a:ext uri="{FF2B5EF4-FFF2-40B4-BE49-F238E27FC236}">
                <a16:creationId xmlns:a16="http://schemas.microsoft.com/office/drawing/2014/main" id="{D299ED8D-6304-4B00-8A8C-02F9AA5B3D0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936708572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714" name="Rectangle 7">
            <a:extLst>
              <a:ext uri="{FF2B5EF4-FFF2-40B4-BE49-F238E27FC236}">
                <a16:creationId xmlns:a16="http://schemas.microsoft.com/office/drawing/2014/main" id="{1E03908E-5AE0-4A3B-8D74-67467AD06EE5}"/>
              </a:ext>
            </a:extLst>
          </p:cNvPr>
          <p:cNvSpPr txBox="1">
            <a:spLocks noGrp="1" noChangeArrowheads="1"/>
          </p:cNvSpPr>
          <p:nvPr/>
        </p:nvSpPr>
        <p:spPr bwMode="auto">
          <a:xfrm>
            <a:off x="3935413" y="8758238"/>
            <a:ext cx="3011487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r"/>
            <a:fld id="{B962A9A6-F1F1-42B0-B23E-4A06D70106BB}" type="slidenum">
              <a:rPr lang="en-US" altLang="zh-TW" sz="1200"/>
              <a:pPr algn="r"/>
              <a:t>84</a:t>
            </a:fld>
            <a:endParaRPr lang="en-US" altLang="zh-TW" sz="1200"/>
          </a:p>
        </p:txBody>
      </p:sp>
      <p:sp>
        <p:nvSpPr>
          <p:cNvPr id="243715" name="Rectangle 2">
            <a:extLst>
              <a:ext uri="{FF2B5EF4-FFF2-40B4-BE49-F238E27FC236}">
                <a16:creationId xmlns:a16="http://schemas.microsoft.com/office/drawing/2014/main" id="{5D0EC4EF-5139-4909-B381-EB5763E3B09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43716" name="Rectangle 3">
            <a:extLst>
              <a:ext uri="{FF2B5EF4-FFF2-40B4-BE49-F238E27FC236}">
                <a16:creationId xmlns:a16="http://schemas.microsoft.com/office/drawing/2014/main" id="{C57A2A42-2A1B-43A3-8492-C9A169E1A8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88625935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738" name="Rectangle 7">
            <a:extLst>
              <a:ext uri="{FF2B5EF4-FFF2-40B4-BE49-F238E27FC236}">
                <a16:creationId xmlns:a16="http://schemas.microsoft.com/office/drawing/2014/main" id="{B80D260B-67C6-4DBC-8573-380BDEECB8B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98310BF6-E25C-403C-B7D0-B7280C5984FF}" type="slidenum">
              <a:rPr lang="en-US" altLang="zh-TW" sz="1200"/>
              <a:pPr/>
              <a:t>85</a:t>
            </a:fld>
            <a:endParaRPr lang="en-US" altLang="zh-TW" sz="1200"/>
          </a:p>
        </p:txBody>
      </p:sp>
      <p:sp>
        <p:nvSpPr>
          <p:cNvPr id="244739" name="Rectangle 2">
            <a:extLst>
              <a:ext uri="{FF2B5EF4-FFF2-40B4-BE49-F238E27FC236}">
                <a16:creationId xmlns:a16="http://schemas.microsoft.com/office/drawing/2014/main" id="{AFB3D089-FFC8-4F03-9480-8A541729A9A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4740" name="Rectangle 3">
            <a:extLst>
              <a:ext uri="{FF2B5EF4-FFF2-40B4-BE49-F238E27FC236}">
                <a16:creationId xmlns:a16="http://schemas.microsoft.com/office/drawing/2014/main" id="{87EF5A73-91C0-4488-A7C5-815F6DF06C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84759773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62" name="Rectangle 7">
            <a:extLst>
              <a:ext uri="{FF2B5EF4-FFF2-40B4-BE49-F238E27FC236}">
                <a16:creationId xmlns:a16="http://schemas.microsoft.com/office/drawing/2014/main" id="{398B0006-1B6E-4B29-BBB3-00AE282C950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0B4AB513-27BD-4E96-AFFE-4CD9E9DA5D1E}" type="slidenum">
              <a:rPr lang="en-US" altLang="zh-TW" sz="1200"/>
              <a:pPr/>
              <a:t>86</a:t>
            </a:fld>
            <a:endParaRPr lang="en-US" altLang="zh-TW" sz="1200"/>
          </a:p>
        </p:txBody>
      </p:sp>
      <p:sp>
        <p:nvSpPr>
          <p:cNvPr id="245763" name="Rectangle 2">
            <a:extLst>
              <a:ext uri="{FF2B5EF4-FFF2-40B4-BE49-F238E27FC236}">
                <a16:creationId xmlns:a16="http://schemas.microsoft.com/office/drawing/2014/main" id="{5644DC7C-5A5B-4308-ADAE-D8EA8F69D0D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64" name="Rectangle 3">
            <a:extLst>
              <a:ext uri="{FF2B5EF4-FFF2-40B4-BE49-F238E27FC236}">
                <a16:creationId xmlns:a16="http://schemas.microsoft.com/office/drawing/2014/main" id="{BD3DF100-457E-48E8-818F-BBF315152A7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80531751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Rectangle 7">
            <a:extLst>
              <a:ext uri="{FF2B5EF4-FFF2-40B4-BE49-F238E27FC236}">
                <a16:creationId xmlns:a16="http://schemas.microsoft.com/office/drawing/2014/main" id="{93A850C0-B183-4E71-9BBD-A959DE94F17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333FB2F1-B3F7-4663-BCC0-D32558B69DCA}" type="slidenum">
              <a:rPr lang="en-US" altLang="zh-TW" sz="1200"/>
              <a:pPr/>
              <a:t>87</a:t>
            </a:fld>
            <a:endParaRPr lang="en-US" altLang="zh-TW" sz="1200"/>
          </a:p>
        </p:txBody>
      </p:sp>
      <p:sp>
        <p:nvSpPr>
          <p:cNvPr id="246787" name="Rectangle 2">
            <a:extLst>
              <a:ext uri="{FF2B5EF4-FFF2-40B4-BE49-F238E27FC236}">
                <a16:creationId xmlns:a16="http://schemas.microsoft.com/office/drawing/2014/main" id="{91963675-F356-4E70-92A5-0406311A499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6788" name="Rectangle 3">
            <a:extLst>
              <a:ext uri="{FF2B5EF4-FFF2-40B4-BE49-F238E27FC236}">
                <a16:creationId xmlns:a16="http://schemas.microsoft.com/office/drawing/2014/main" id="{A5725EF2-A812-4E77-937C-643B6B125BC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06800228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810" name="Rectangle 7">
            <a:extLst>
              <a:ext uri="{FF2B5EF4-FFF2-40B4-BE49-F238E27FC236}">
                <a16:creationId xmlns:a16="http://schemas.microsoft.com/office/drawing/2014/main" id="{D8FF3DD8-1957-4DA0-93A7-59A4EE0AF99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B7402511-AAC5-416C-8B25-2ADC09DD8C9E}" type="slidenum">
              <a:rPr lang="en-US" altLang="zh-TW" sz="1200"/>
              <a:pPr/>
              <a:t>88</a:t>
            </a:fld>
            <a:endParaRPr lang="en-US" altLang="zh-TW" sz="1200"/>
          </a:p>
        </p:txBody>
      </p:sp>
      <p:sp>
        <p:nvSpPr>
          <p:cNvPr id="247811" name="Rectangle 2">
            <a:extLst>
              <a:ext uri="{FF2B5EF4-FFF2-40B4-BE49-F238E27FC236}">
                <a16:creationId xmlns:a16="http://schemas.microsoft.com/office/drawing/2014/main" id="{61731C57-5DD6-44ED-A85B-2D4F6FB6EF9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7812" name="Rectangle 3">
            <a:extLst>
              <a:ext uri="{FF2B5EF4-FFF2-40B4-BE49-F238E27FC236}">
                <a16:creationId xmlns:a16="http://schemas.microsoft.com/office/drawing/2014/main" id="{FC6F73A5-646C-4B4F-AC4A-6231844D65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395526992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834" name="Rectangle 7">
            <a:extLst>
              <a:ext uri="{FF2B5EF4-FFF2-40B4-BE49-F238E27FC236}">
                <a16:creationId xmlns:a16="http://schemas.microsoft.com/office/drawing/2014/main" id="{A827D378-F38A-42A0-B88E-5E5513158D0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FAEE73FA-CED1-487A-916C-B588C3DB296F}" type="slidenum">
              <a:rPr lang="en-US" altLang="zh-TW" sz="1200"/>
              <a:pPr/>
              <a:t>89</a:t>
            </a:fld>
            <a:endParaRPr lang="en-US" altLang="zh-TW" sz="1200"/>
          </a:p>
        </p:txBody>
      </p:sp>
      <p:sp>
        <p:nvSpPr>
          <p:cNvPr id="248835" name="Rectangle 2">
            <a:extLst>
              <a:ext uri="{FF2B5EF4-FFF2-40B4-BE49-F238E27FC236}">
                <a16:creationId xmlns:a16="http://schemas.microsoft.com/office/drawing/2014/main" id="{6776F643-EFCB-416D-8618-300058F49C5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8836" name="Rectangle 3">
            <a:extLst>
              <a:ext uri="{FF2B5EF4-FFF2-40B4-BE49-F238E27FC236}">
                <a16:creationId xmlns:a16="http://schemas.microsoft.com/office/drawing/2014/main" id="{7BF0518C-F43F-4CF3-97FC-3F31440EA8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25628403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1B988-88F3-1052-2764-608B72BD4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834" name="Rectangle 7">
            <a:extLst>
              <a:ext uri="{FF2B5EF4-FFF2-40B4-BE49-F238E27FC236}">
                <a16:creationId xmlns:a16="http://schemas.microsoft.com/office/drawing/2014/main" id="{21CB9F1F-86CE-AD0E-BFE5-370C17CFEF8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FAEE73FA-CED1-487A-916C-B588C3DB296F}" type="slidenum">
              <a:rPr lang="en-US" altLang="zh-TW" sz="1200"/>
              <a:pPr/>
              <a:t>90</a:t>
            </a:fld>
            <a:endParaRPr lang="en-US" altLang="zh-TW" sz="1200"/>
          </a:p>
        </p:txBody>
      </p:sp>
      <p:sp>
        <p:nvSpPr>
          <p:cNvPr id="248835" name="Rectangle 2">
            <a:extLst>
              <a:ext uri="{FF2B5EF4-FFF2-40B4-BE49-F238E27FC236}">
                <a16:creationId xmlns:a16="http://schemas.microsoft.com/office/drawing/2014/main" id="{981E63F5-2292-F5B9-8E71-238B509D706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8836" name="Rectangle 3">
            <a:extLst>
              <a:ext uri="{FF2B5EF4-FFF2-40B4-BE49-F238E27FC236}">
                <a16:creationId xmlns:a16="http://schemas.microsoft.com/office/drawing/2014/main" id="{9E6275A5-CBED-CB3E-D7FE-0506879DE7E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47677171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58" name="Rectangle 7">
            <a:extLst>
              <a:ext uri="{FF2B5EF4-FFF2-40B4-BE49-F238E27FC236}">
                <a16:creationId xmlns:a16="http://schemas.microsoft.com/office/drawing/2014/main" id="{2B80F991-BC85-4376-9C4F-7FAD4F6E090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F4AB530B-6AC0-4EBA-B2E2-E8FAC7F39B7D}" type="slidenum">
              <a:rPr lang="en-US" altLang="zh-TW" sz="1200"/>
              <a:pPr/>
              <a:t>91</a:t>
            </a:fld>
            <a:endParaRPr lang="en-US" altLang="zh-TW" sz="1200"/>
          </a:p>
        </p:txBody>
      </p:sp>
      <p:sp>
        <p:nvSpPr>
          <p:cNvPr id="249859" name="Rectangle 2">
            <a:extLst>
              <a:ext uri="{FF2B5EF4-FFF2-40B4-BE49-F238E27FC236}">
                <a16:creationId xmlns:a16="http://schemas.microsoft.com/office/drawing/2014/main" id="{34D7BB0B-4576-4732-A278-833428E6C67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9860" name="Rectangle 3">
            <a:extLst>
              <a:ext uri="{FF2B5EF4-FFF2-40B4-BE49-F238E27FC236}">
                <a16:creationId xmlns:a16="http://schemas.microsoft.com/office/drawing/2014/main" id="{CFCA8CE1-4F02-4158-8B3C-EC194A8FF56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94306383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882" name="Rectangle 7">
            <a:extLst>
              <a:ext uri="{FF2B5EF4-FFF2-40B4-BE49-F238E27FC236}">
                <a16:creationId xmlns:a16="http://schemas.microsoft.com/office/drawing/2014/main" id="{1BE4B838-594C-456D-9774-37FFA0F0360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7C5DD55F-BB36-46AC-A90E-721DE5A29FD1}" type="slidenum">
              <a:rPr lang="en-US" altLang="zh-TW" sz="1200"/>
              <a:pPr/>
              <a:t>92</a:t>
            </a:fld>
            <a:endParaRPr lang="en-US" altLang="zh-TW" sz="1200"/>
          </a:p>
        </p:txBody>
      </p:sp>
      <p:sp>
        <p:nvSpPr>
          <p:cNvPr id="250883" name="Rectangle 2">
            <a:extLst>
              <a:ext uri="{FF2B5EF4-FFF2-40B4-BE49-F238E27FC236}">
                <a16:creationId xmlns:a16="http://schemas.microsoft.com/office/drawing/2014/main" id="{5725F07B-BBDC-466A-9C66-04601D2C84D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0884" name="Rectangle 3">
            <a:extLst>
              <a:ext uri="{FF2B5EF4-FFF2-40B4-BE49-F238E27FC236}">
                <a16:creationId xmlns:a16="http://schemas.microsoft.com/office/drawing/2014/main" id="{B188889F-95F2-44CE-B98D-F79C5CCD940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52342322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06" name="Rectangle 7">
            <a:extLst>
              <a:ext uri="{FF2B5EF4-FFF2-40B4-BE49-F238E27FC236}">
                <a16:creationId xmlns:a16="http://schemas.microsoft.com/office/drawing/2014/main" id="{AB4EBA9F-5775-4FF1-A398-9115C7D49C7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51FB0BEE-4094-442D-98F1-A8201E4522E1}" type="slidenum">
              <a:rPr lang="en-US" altLang="zh-TW" sz="1200"/>
              <a:pPr/>
              <a:t>93</a:t>
            </a:fld>
            <a:endParaRPr lang="en-US" altLang="zh-TW" sz="1200"/>
          </a:p>
        </p:txBody>
      </p:sp>
      <p:sp>
        <p:nvSpPr>
          <p:cNvPr id="251907" name="Rectangle 2">
            <a:extLst>
              <a:ext uri="{FF2B5EF4-FFF2-40B4-BE49-F238E27FC236}">
                <a16:creationId xmlns:a16="http://schemas.microsoft.com/office/drawing/2014/main" id="{7578C4AB-35CC-44C2-914A-BFA06C3FB03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1908" name="Rectangle 3">
            <a:extLst>
              <a:ext uri="{FF2B5EF4-FFF2-40B4-BE49-F238E27FC236}">
                <a16:creationId xmlns:a16="http://schemas.microsoft.com/office/drawing/2014/main" id="{58A39B62-3091-498C-A937-6047F6AFAE1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184103813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30" name="Rectangle 7">
            <a:extLst>
              <a:ext uri="{FF2B5EF4-FFF2-40B4-BE49-F238E27FC236}">
                <a16:creationId xmlns:a16="http://schemas.microsoft.com/office/drawing/2014/main" id="{92E2DBB7-1605-4FC6-ABED-485BB8C0DEB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0496707F-5C36-468E-93A2-533D75211DB0}" type="slidenum">
              <a:rPr lang="en-US" altLang="zh-TW" sz="1200"/>
              <a:pPr/>
              <a:t>94</a:t>
            </a:fld>
            <a:endParaRPr lang="en-US" altLang="zh-TW" sz="1200"/>
          </a:p>
        </p:txBody>
      </p:sp>
      <p:sp>
        <p:nvSpPr>
          <p:cNvPr id="252931" name="Rectangle 2">
            <a:extLst>
              <a:ext uri="{FF2B5EF4-FFF2-40B4-BE49-F238E27FC236}">
                <a16:creationId xmlns:a16="http://schemas.microsoft.com/office/drawing/2014/main" id="{DF17B4BA-B9F8-4CD2-97AF-1750ABD66FB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2932" name="Rectangle 3">
            <a:extLst>
              <a:ext uri="{FF2B5EF4-FFF2-40B4-BE49-F238E27FC236}">
                <a16:creationId xmlns:a16="http://schemas.microsoft.com/office/drawing/2014/main" id="{9EB3C6DD-A501-4DA0-9F0F-DA691761D58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3076217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54" name="Rectangle 7">
            <a:extLst>
              <a:ext uri="{FF2B5EF4-FFF2-40B4-BE49-F238E27FC236}">
                <a16:creationId xmlns:a16="http://schemas.microsoft.com/office/drawing/2014/main" id="{9BE9B74A-99DD-4774-9595-472C8215FC0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0AF75F1-0296-424C-B78D-30DE50B17E16}" type="slidenum">
              <a:rPr lang="en-US" altLang="zh-TW" sz="1200"/>
              <a:pPr/>
              <a:t>95</a:t>
            </a:fld>
            <a:endParaRPr lang="en-US" altLang="zh-TW" sz="1200"/>
          </a:p>
        </p:txBody>
      </p:sp>
      <p:sp>
        <p:nvSpPr>
          <p:cNvPr id="253955" name="Rectangle 2">
            <a:extLst>
              <a:ext uri="{FF2B5EF4-FFF2-40B4-BE49-F238E27FC236}">
                <a16:creationId xmlns:a16="http://schemas.microsoft.com/office/drawing/2014/main" id="{37F2330F-5D0E-4EB2-806A-8278E0CF857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3956" name="Rectangle 3">
            <a:extLst>
              <a:ext uri="{FF2B5EF4-FFF2-40B4-BE49-F238E27FC236}">
                <a16:creationId xmlns:a16="http://schemas.microsoft.com/office/drawing/2014/main" id="{889B045B-5F87-4405-89AA-9F8F853D87E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64816794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978" name="Rectangle 7">
            <a:extLst>
              <a:ext uri="{FF2B5EF4-FFF2-40B4-BE49-F238E27FC236}">
                <a16:creationId xmlns:a16="http://schemas.microsoft.com/office/drawing/2014/main" id="{BB4892E3-6688-496F-B366-12C9A1733FE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60A71313-50AF-4F48-A2E7-EA2DCD0EF0A9}" type="slidenum">
              <a:rPr lang="en-US" altLang="zh-TW" sz="1200"/>
              <a:pPr/>
              <a:t>96</a:t>
            </a:fld>
            <a:endParaRPr lang="en-US" altLang="zh-TW" sz="1200"/>
          </a:p>
        </p:txBody>
      </p:sp>
      <p:sp>
        <p:nvSpPr>
          <p:cNvPr id="254979" name="Rectangle 2">
            <a:extLst>
              <a:ext uri="{FF2B5EF4-FFF2-40B4-BE49-F238E27FC236}">
                <a16:creationId xmlns:a16="http://schemas.microsoft.com/office/drawing/2014/main" id="{6933A37D-966C-48B1-AE11-5C87DF2E51E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4980" name="Rectangle 3">
            <a:extLst>
              <a:ext uri="{FF2B5EF4-FFF2-40B4-BE49-F238E27FC236}">
                <a16:creationId xmlns:a16="http://schemas.microsoft.com/office/drawing/2014/main" id="{0396C8ED-82D4-4F0B-B1CD-1A796D45A4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36492135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7">
            <a:extLst>
              <a:ext uri="{FF2B5EF4-FFF2-40B4-BE49-F238E27FC236}">
                <a16:creationId xmlns:a16="http://schemas.microsoft.com/office/drawing/2014/main" id="{D320E85C-634F-480B-83CB-C59414ED861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DCC00371-1333-4A35-827F-0529681759A4}" type="slidenum">
              <a:rPr lang="en-US" altLang="zh-TW" sz="1200"/>
              <a:pPr/>
              <a:t>97</a:t>
            </a:fld>
            <a:endParaRPr lang="en-US" altLang="zh-TW" sz="1200"/>
          </a:p>
        </p:txBody>
      </p:sp>
      <p:sp>
        <p:nvSpPr>
          <p:cNvPr id="256003" name="Rectangle 2">
            <a:extLst>
              <a:ext uri="{FF2B5EF4-FFF2-40B4-BE49-F238E27FC236}">
                <a16:creationId xmlns:a16="http://schemas.microsoft.com/office/drawing/2014/main" id="{1576586B-FC3E-47B8-B140-4ECB4780FD1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04" name="Rectangle 3">
            <a:extLst>
              <a:ext uri="{FF2B5EF4-FFF2-40B4-BE49-F238E27FC236}">
                <a16:creationId xmlns:a16="http://schemas.microsoft.com/office/drawing/2014/main" id="{E0DA4042-333C-4E47-9792-2472CDB20F1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71397891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7">
            <a:extLst>
              <a:ext uri="{FF2B5EF4-FFF2-40B4-BE49-F238E27FC236}">
                <a16:creationId xmlns:a16="http://schemas.microsoft.com/office/drawing/2014/main" id="{28A0B992-6C80-47E9-9CAA-9705BC9C5F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64570D63-780D-4BB2-BF69-B3C0808CAE48}" type="slidenum">
              <a:rPr lang="en-US" altLang="zh-TW" sz="1200"/>
              <a:pPr/>
              <a:t>98</a:t>
            </a:fld>
            <a:endParaRPr lang="en-US" altLang="zh-TW" sz="1200"/>
          </a:p>
        </p:txBody>
      </p:sp>
      <p:sp>
        <p:nvSpPr>
          <p:cNvPr id="257027" name="Rectangle 2">
            <a:extLst>
              <a:ext uri="{FF2B5EF4-FFF2-40B4-BE49-F238E27FC236}">
                <a16:creationId xmlns:a16="http://schemas.microsoft.com/office/drawing/2014/main" id="{D310E201-9C17-4A15-A00E-9AC6D531F10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7028" name="Rectangle 3">
            <a:extLst>
              <a:ext uri="{FF2B5EF4-FFF2-40B4-BE49-F238E27FC236}">
                <a16:creationId xmlns:a16="http://schemas.microsoft.com/office/drawing/2014/main" id="{D299ED8D-6304-4B00-8A8C-02F9AA5B3D0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60285790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050" name="Rectangle 7">
            <a:extLst>
              <a:ext uri="{FF2B5EF4-FFF2-40B4-BE49-F238E27FC236}">
                <a16:creationId xmlns:a16="http://schemas.microsoft.com/office/drawing/2014/main" id="{3AB78D2B-A96C-47F5-A531-9F2C6632DA9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B0FF19A8-21C3-4460-B173-8DE336967A97}" type="slidenum">
              <a:rPr lang="en-US" altLang="zh-TW" sz="1200"/>
              <a:pPr/>
              <a:t>99</a:t>
            </a:fld>
            <a:endParaRPr lang="en-US" altLang="zh-TW" sz="1200"/>
          </a:p>
        </p:txBody>
      </p:sp>
      <p:sp>
        <p:nvSpPr>
          <p:cNvPr id="258051" name="Rectangle 2">
            <a:extLst>
              <a:ext uri="{FF2B5EF4-FFF2-40B4-BE49-F238E27FC236}">
                <a16:creationId xmlns:a16="http://schemas.microsoft.com/office/drawing/2014/main" id="{CAFC263C-F6BA-49E0-BFD4-2CE72EAD301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8052" name="Rectangle 3">
            <a:extLst>
              <a:ext uri="{FF2B5EF4-FFF2-40B4-BE49-F238E27FC236}">
                <a16:creationId xmlns:a16="http://schemas.microsoft.com/office/drawing/2014/main" id="{0E69FA07-E83C-493B-9FB0-308C334AFB0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33632833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74" name="Rectangle 7">
            <a:extLst>
              <a:ext uri="{FF2B5EF4-FFF2-40B4-BE49-F238E27FC236}">
                <a16:creationId xmlns:a16="http://schemas.microsoft.com/office/drawing/2014/main" id="{E7CD0D67-80E1-4774-8018-42AC4353188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3748EB43-CC0E-4919-AF9E-4B8C3B2165AB}" type="slidenum">
              <a:rPr lang="en-US" altLang="zh-TW" sz="1200"/>
              <a:pPr/>
              <a:t>100</a:t>
            </a:fld>
            <a:endParaRPr lang="en-US" altLang="zh-TW" sz="1200"/>
          </a:p>
        </p:txBody>
      </p:sp>
      <p:sp>
        <p:nvSpPr>
          <p:cNvPr id="259075" name="Rectangle 2">
            <a:extLst>
              <a:ext uri="{FF2B5EF4-FFF2-40B4-BE49-F238E27FC236}">
                <a16:creationId xmlns:a16="http://schemas.microsoft.com/office/drawing/2014/main" id="{362EDDFB-0ED7-41B5-9E6F-C140C85F559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9076" name="Rectangle 3">
            <a:extLst>
              <a:ext uri="{FF2B5EF4-FFF2-40B4-BE49-F238E27FC236}">
                <a16:creationId xmlns:a16="http://schemas.microsoft.com/office/drawing/2014/main" id="{EB68A1C7-0E28-447B-80C7-D6B694A2D7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845624493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098" name="Rectangle 2">
            <a:extLst>
              <a:ext uri="{FF2B5EF4-FFF2-40B4-BE49-F238E27FC236}">
                <a16:creationId xmlns:a16="http://schemas.microsoft.com/office/drawing/2014/main" id="{29380306-DE80-40F4-8030-EE0CF9C49E5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0099" name="Rectangle 3">
            <a:extLst>
              <a:ext uri="{FF2B5EF4-FFF2-40B4-BE49-F238E27FC236}">
                <a16:creationId xmlns:a16="http://schemas.microsoft.com/office/drawing/2014/main" id="{4AFCCDE3-56A1-4ACA-B177-82AB9762B3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216411377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098" name="Rectangle 2">
            <a:extLst>
              <a:ext uri="{FF2B5EF4-FFF2-40B4-BE49-F238E27FC236}">
                <a16:creationId xmlns:a16="http://schemas.microsoft.com/office/drawing/2014/main" id="{29380306-DE80-40F4-8030-EE0CF9C49E5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0099" name="Rectangle 3">
            <a:extLst>
              <a:ext uri="{FF2B5EF4-FFF2-40B4-BE49-F238E27FC236}">
                <a16:creationId xmlns:a16="http://schemas.microsoft.com/office/drawing/2014/main" id="{4AFCCDE3-56A1-4ACA-B177-82AB9762B3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46401627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098" name="Rectangle 2">
            <a:extLst>
              <a:ext uri="{FF2B5EF4-FFF2-40B4-BE49-F238E27FC236}">
                <a16:creationId xmlns:a16="http://schemas.microsoft.com/office/drawing/2014/main" id="{29380306-DE80-40F4-8030-EE0CF9C49E5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0099" name="Rectangle 3">
            <a:extLst>
              <a:ext uri="{FF2B5EF4-FFF2-40B4-BE49-F238E27FC236}">
                <a16:creationId xmlns:a16="http://schemas.microsoft.com/office/drawing/2014/main" id="{4AFCCDE3-56A1-4ACA-B177-82AB9762B3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687769373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098" name="Rectangle 2">
            <a:extLst>
              <a:ext uri="{FF2B5EF4-FFF2-40B4-BE49-F238E27FC236}">
                <a16:creationId xmlns:a16="http://schemas.microsoft.com/office/drawing/2014/main" id="{29380306-DE80-40F4-8030-EE0CF9C49E5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0099" name="Rectangle 3">
            <a:extLst>
              <a:ext uri="{FF2B5EF4-FFF2-40B4-BE49-F238E27FC236}">
                <a16:creationId xmlns:a16="http://schemas.microsoft.com/office/drawing/2014/main" id="{4AFCCDE3-56A1-4ACA-B177-82AB9762B3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43564166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098" name="Rectangle 2">
            <a:extLst>
              <a:ext uri="{FF2B5EF4-FFF2-40B4-BE49-F238E27FC236}">
                <a16:creationId xmlns:a16="http://schemas.microsoft.com/office/drawing/2014/main" id="{29380306-DE80-40F4-8030-EE0CF9C49E5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0099" name="Rectangle 3">
            <a:extLst>
              <a:ext uri="{FF2B5EF4-FFF2-40B4-BE49-F238E27FC236}">
                <a16:creationId xmlns:a16="http://schemas.microsoft.com/office/drawing/2014/main" id="{4AFCCDE3-56A1-4ACA-B177-82AB9762B3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8797878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098" name="Rectangle 2">
            <a:extLst>
              <a:ext uri="{FF2B5EF4-FFF2-40B4-BE49-F238E27FC236}">
                <a16:creationId xmlns:a16="http://schemas.microsoft.com/office/drawing/2014/main" id="{29380306-DE80-40F4-8030-EE0CF9C49E5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0099" name="Rectangle 3">
            <a:extLst>
              <a:ext uri="{FF2B5EF4-FFF2-40B4-BE49-F238E27FC236}">
                <a16:creationId xmlns:a16="http://schemas.microsoft.com/office/drawing/2014/main" id="{4AFCCDE3-56A1-4ACA-B177-82AB9762B3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823241783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098" name="Rectangle 2">
            <a:extLst>
              <a:ext uri="{FF2B5EF4-FFF2-40B4-BE49-F238E27FC236}">
                <a16:creationId xmlns:a16="http://schemas.microsoft.com/office/drawing/2014/main" id="{29380306-DE80-40F4-8030-EE0CF9C49E5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0099" name="Rectangle 3">
            <a:extLst>
              <a:ext uri="{FF2B5EF4-FFF2-40B4-BE49-F238E27FC236}">
                <a16:creationId xmlns:a16="http://schemas.microsoft.com/office/drawing/2014/main" id="{4AFCCDE3-56A1-4ACA-B177-82AB9762B3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240128254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2" name="Rectangle 2">
            <a:extLst>
              <a:ext uri="{FF2B5EF4-FFF2-40B4-BE49-F238E27FC236}">
                <a16:creationId xmlns:a16="http://schemas.microsoft.com/office/drawing/2014/main" id="{24D9D778-55DF-468F-B070-BF78370EAB1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1123" name="Rectangle 3">
            <a:extLst>
              <a:ext uri="{FF2B5EF4-FFF2-40B4-BE49-F238E27FC236}">
                <a16:creationId xmlns:a16="http://schemas.microsoft.com/office/drawing/2014/main" id="{E9412281-AC78-4A81-8C21-E7717B6AC50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370564102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146" name="Rectangle 2">
            <a:extLst>
              <a:ext uri="{FF2B5EF4-FFF2-40B4-BE49-F238E27FC236}">
                <a16:creationId xmlns:a16="http://schemas.microsoft.com/office/drawing/2014/main" id="{873F82B4-51F4-4DE6-9EA0-8861685CBAA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2147" name="Rectangle 3">
            <a:extLst>
              <a:ext uri="{FF2B5EF4-FFF2-40B4-BE49-F238E27FC236}">
                <a16:creationId xmlns:a16="http://schemas.microsoft.com/office/drawing/2014/main" id="{50BE6D24-8793-4889-AD05-9F41B1A889B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025845085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170" name="Rectangle 2">
            <a:extLst>
              <a:ext uri="{FF2B5EF4-FFF2-40B4-BE49-F238E27FC236}">
                <a16:creationId xmlns:a16="http://schemas.microsoft.com/office/drawing/2014/main" id="{057F8E33-EAA2-4694-80F1-A33808F74AD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3171" name="Rectangle 3">
            <a:extLst>
              <a:ext uri="{FF2B5EF4-FFF2-40B4-BE49-F238E27FC236}">
                <a16:creationId xmlns:a16="http://schemas.microsoft.com/office/drawing/2014/main" id="{80B17C1D-05CC-43AC-B603-067B2DA9550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42466785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802" name="Rectangle 2">
            <a:extLst>
              <a:ext uri="{FF2B5EF4-FFF2-40B4-BE49-F238E27FC236}">
                <a16:creationId xmlns:a16="http://schemas.microsoft.com/office/drawing/2014/main" id="{1B395FE1-43AF-45F9-8462-DE1D8514A6D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2803" name="Rectangle 3">
            <a:extLst>
              <a:ext uri="{FF2B5EF4-FFF2-40B4-BE49-F238E27FC236}">
                <a16:creationId xmlns:a16="http://schemas.microsoft.com/office/drawing/2014/main" id="{6A631599-8920-4FC7-A27B-B56D5A6F40F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914142156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194" name="Rectangle 2">
            <a:extLst>
              <a:ext uri="{FF2B5EF4-FFF2-40B4-BE49-F238E27FC236}">
                <a16:creationId xmlns:a16="http://schemas.microsoft.com/office/drawing/2014/main" id="{2B6FCA7A-C383-4260-BFDA-27BEB13BCC6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4195" name="Rectangle 3">
            <a:extLst>
              <a:ext uri="{FF2B5EF4-FFF2-40B4-BE49-F238E27FC236}">
                <a16:creationId xmlns:a16="http://schemas.microsoft.com/office/drawing/2014/main" id="{7EC0F74F-FD50-4FC5-9EAE-6DB822E10B4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12152663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2">
            <a:extLst>
              <a:ext uri="{FF2B5EF4-FFF2-40B4-BE49-F238E27FC236}">
                <a16:creationId xmlns:a16="http://schemas.microsoft.com/office/drawing/2014/main" id="{6B65E575-C0A4-4061-99AC-B5778D935FB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5219" name="Rectangle 3">
            <a:extLst>
              <a:ext uri="{FF2B5EF4-FFF2-40B4-BE49-F238E27FC236}">
                <a16:creationId xmlns:a16="http://schemas.microsoft.com/office/drawing/2014/main" id="{2FDF4439-162C-42A4-B559-5E785D822E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78816514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2">
            <a:extLst>
              <a:ext uri="{FF2B5EF4-FFF2-40B4-BE49-F238E27FC236}">
                <a16:creationId xmlns:a16="http://schemas.microsoft.com/office/drawing/2014/main" id="{6B65E575-C0A4-4061-99AC-B5778D935FB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5219" name="Rectangle 3">
            <a:extLst>
              <a:ext uri="{FF2B5EF4-FFF2-40B4-BE49-F238E27FC236}">
                <a16:creationId xmlns:a16="http://schemas.microsoft.com/office/drawing/2014/main" id="{2FDF4439-162C-42A4-B559-5E785D822E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76373737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5F3CB-165D-29F3-C162-6C5AF31D6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2">
            <a:extLst>
              <a:ext uri="{FF2B5EF4-FFF2-40B4-BE49-F238E27FC236}">
                <a16:creationId xmlns:a16="http://schemas.microsoft.com/office/drawing/2014/main" id="{F5A0E42F-485C-8880-61EE-447A5A242B7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5219" name="Rectangle 3">
            <a:extLst>
              <a:ext uri="{FF2B5EF4-FFF2-40B4-BE49-F238E27FC236}">
                <a16:creationId xmlns:a16="http://schemas.microsoft.com/office/drawing/2014/main" id="{7E2C46AC-040A-0B1E-4273-BF862CFA30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56725849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42" name="Rectangle 2">
            <a:extLst>
              <a:ext uri="{FF2B5EF4-FFF2-40B4-BE49-F238E27FC236}">
                <a16:creationId xmlns:a16="http://schemas.microsoft.com/office/drawing/2014/main" id="{46C21A14-1D15-44A9-B7EC-34A623E6A3A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43" name="Rectangle 3">
            <a:extLst>
              <a:ext uri="{FF2B5EF4-FFF2-40B4-BE49-F238E27FC236}">
                <a16:creationId xmlns:a16="http://schemas.microsoft.com/office/drawing/2014/main" id="{B00F1336-987E-4507-8D6E-FB13F69E6ED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52715777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802" name="Rectangle 2">
            <a:extLst>
              <a:ext uri="{FF2B5EF4-FFF2-40B4-BE49-F238E27FC236}">
                <a16:creationId xmlns:a16="http://schemas.microsoft.com/office/drawing/2014/main" id="{1B395FE1-43AF-45F9-8462-DE1D8514A6D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2803" name="Rectangle 3">
            <a:extLst>
              <a:ext uri="{FF2B5EF4-FFF2-40B4-BE49-F238E27FC236}">
                <a16:creationId xmlns:a16="http://schemas.microsoft.com/office/drawing/2014/main" id="{6A631599-8920-4FC7-A27B-B56D5A6F40F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78154235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66" name="Rectangle 2">
            <a:extLst>
              <a:ext uri="{FF2B5EF4-FFF2-40B4-BE49-F238E27FC236}">
                <a16:creationId xmlns:a16="http://schemas.microsoft.com/office/drawing/2014/main" id="{E32D68DB-F258-4D31-AAA6-32A594533AF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7267" name="Rectangle 3">
            <a:extLst>
              <a:ext uri="{FF2B5EF4-FFF2-40B4-BE49-F238E27FC236}">
                <a16:creationId xmlns:a16="http://schemas.microsoft.com/office/drawing/2014/main" id="{9CFF177F-B7B2-462D-B91C-6DC6A918E5E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59788547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290" name="Rectangle 2">
            <a:extLst>
              <a:ext uri="{FF2B5EF4-FFF2-40B4-BE49-F238E27FC236}">
                <a16:creationId xmlns:a16="http://schemas.microsoft.com/office/drawing/2014/main" id="{E2A1DFE7-EF67-4C3A-9D2B-6C6301062D1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8291" name="Rectangle 3">
            <a:extLst>
              <a:ext uri="{FF2B5EF4-FFF2-40B4-BE49-F238E27FC236}">
                <a16:creationId xmlns:a16="http://schemas.microsoft.com/office/drawing/2014/main" id="{D452B5DD-77BE-4682-BC6C-F564C9303A4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59501269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290" name="Rectangle 2">
            <a:extLst>
              <a:ext uri="{FF2B5EF4-FFF2-40B4-BE49-F238E27FC236}">
                <a16:creationId xmlns:a16="http://schemas.microsoft.com/office/drawing/2014/main" id="{E2A1DFE7-EF67-4C3A-9D2B-6C6301062D1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8291" name="Rectangle 3">
            <a:extLst>
              <a:ext uri="{FF2B5EF4-FFF2-40B4-BE49-F238E27FC236}">
                <a16:creationId xmlns:a16="http://schemas.microsoft.com/office/drawing/2014/main" id="{D452B5DD-77BE-4682-BC6C-F564C9303A4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3002631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802" name="Rectangle 2">
            <a:extLst>
              <a:ext uri="{FF2B5EF4-FFF2-40B4-BE49-F238E27FC236}">
                <a16:creationId xmlns:a16="http://schemas.microsoft.com/office/drawing/2014/main" id="{1B395FE1-43AF-45F9-8462-DE1D8514A6D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2803" name="Rectangle 3">
            <a:extLst>
              <a:ext uri="{FF2B5EF4-FFF2-40B4-BE49-F238E27FC236}">
                <a16:creationId xmlns:a16="http://schemas.microsoft.com/office/drawing/2014/main" id="{6A631599-8920-4FC7-A27B-B56D5A6F40F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38594373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290" name="Rectangle 2">
            <a:extLst>
              <a:ext uri="{FF2B5EF4-FFF2-40B4-BE49-F238E27FC236}">
                <a16:creationId xmlns:a16="http://schemas.microsoft.com/office/drawing/2014/main" id="{E2A1DFE7-EF67-4C3A-9D2B-6C6301062D1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8291" name="Rectangle 3">
            <a:extLst>
              <a:ext uri="{FF2B5EF4-FFF2-40B4-BE49-F238E27FC236}">
                <a16:creationId xmlns:a16="http://schemas.microsoft.com/office/drawing/2014/main" id="{D452B5DD-77BE-4682-BC6C-F564C9303A4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59879837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66" name="Rectangle 2">
            <a:extLst>
              <a:ext uri="{FF2B5EF4-FFF2-40B4-BE49-F238E27FC236}">
                <a16:creationId xmlns:a16="http://schemas.microsoft.com/office/drawing/2014/main" id="{E32D68DB-F258-4D31-AAA6-32A594533AF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7267" name="Rectangle 3">
            <a:extLst>
              <a:ext uri="{FF2B5EF4-FFF2-40B4-BE49-F238E27FC236}">
                <a16:creationId xmlns:a16="http://schemas.microsoft.com/office/drawing/2014/main" id="{9CFF177F-B7B2-462D-B91C-6DC6A918E5E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72669273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314" name="Rectangle 2">
            <a:extLst>
              <a:ext uri="{FF2B5EF4-FFF2-40B4-BE49-F238E27FC236}">
                <a16:creationId xmlns:a16="http://schemas.microsoft.com/office/drawing/2014/main" id="{52D694F9-EBD3-4FD2-99B8-28592EE8E83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9315" name="Rectangle 3">
            <a:extLst>
              <a:ext uri="{FF2B5EF4-FFF2-40B4-BE49-F238E27FC236}">
                <a16:creationId xmlns:a16="http://schemas.microsoft.com/office/drawing/2014/main" id="{DD9AB365-4882-4877-AF74-3CDEF42B16D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72322619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826" name="Rectangle 2">
            <a:extLst>
              <a:ext uri="{FF2B5EF4-FFF2-40B4-BE49-F238E27FC236}">
                <a16:creationId xmlns:a16="http://schemas.microsoft.com/office/drawing/2014/main" id="{DA0B213E-79E0-45D1-91C9-C2905152F15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3827" name="Rectangle 3">
            <a:extLst>
              <a:ext uri="{FF2B5EF4-FFF2-40B4-BE49-F238E27FC236}">
                <a16:creationId xmlns:a16="http://schemas.microsoft.com/office/drawing/2014/main" id="{C321449A-E622-4D4B-8B2C-630F0D7CA7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351797910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38" name="Rectangle 2">
            <a:extLst>
              <a:ext uri="{FF2B5EF4-FFF2-40B4-BE49-F238E27FC236}">
                <a16:creationId xmlns:a16="http://schemas.microsoft.com/office/drawing/2014/main" id="{E79C0CD2-15C6-4F92-B78A-F785769CC3C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0339" name="Rectangle 3">
            <a:extLst>
              <a:ext uri="{FF2B5EF4-FFF2-40B4-BE49-F238E27FC236}">
                <a16:creationId xmlns:a16="http://schemas.microsoft.com/office/drawing/2014/main" id="{15573085-F16D-4D5A-A9FC-15E17015C29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758195538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>
            <a:extLst>
              <a:ext uri="{FF2B5EF4-FFF2-40B4-BE49-F238E27FC236}">
                <a16:creationId xmlns:a16="http://schemas.microsoft.com/office/drawing/2014/main" id="{57E36E6A-6B71-439D-BDF0-52FD19C58B7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1363" name="Rectangle 3">
            <a:extLst>
              <a:ext uri="{FF2B5EF4-FFF2-40B4-BE49-F238E27FC236}">
                <a16:creationId xmlns:a16="http://schemas.microsoft.com/office/drawing/2014/main" id="{C3856993-ED3B-4570-904B-2822335E057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87217986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>
            <a:extLst>
              <a:ext uri="{FF2B5EF4-FFF2-40B4-BE49-F238E27FC236}">
                <a16:creationId xmlns:a16="http://schemas.microsoft.com/office/drawing/2014/main" id="{57E36E6A-6B71-439D-BDF0-52FD19C58B7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1363" name="Rectangle 3">
            <a:extLst>
              <a:ext uri="{FF2B5EF4-FFF2-40B4-BE49-F238E27FC236}">
                <a16:creationId xmlns:a16="http://schemas.microsoft.com/office/drawing/2014/main" id="{C3856993-ED3B-4570-904B-2822335E057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443966253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86" name="Rectangle 2">
            <a:extLst>
              <a:ext uri="{FF2B5EF4-FFF2-40B4-BE49-F238E27FC236}">
                <a16:creationId xmlns:a16="http://schemas.microsoft.com/office/drawing/2014/main" id="{D29AF0B6-0C12-4B86-A624-AF147CD4ABA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72387" name="Rectangle 3">
            <a:extLst>
              <a:ext uri="{FF2B5EF4-FFF2-40B4-BE49-F238E27FC236}">
                <a16:creationId xmlns:a16="http://schemas.microsoft.com/office/drawing/2014/main" id="{3C384AC3-C24C-4294-BE16-50407762E0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129380822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802" name="Rectangle 2">
            <a:extLst>
              <a:ext uri="{FF2B5EF4-FFF2-40B4-BE49-F238E27FC236}">
                <a16:creationId xmlns:a16="http://schemas.microsoft.com/office/drawing/2014/main" id="{1B395FE1-43AF-45F9-8462-DE1D8514A6D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2803" name="Rectangle 3">
            <a:extLst>
              <a:ext uri="{FF2B5EF4-FFF2-40B4-BE49-F238E27FC236}">
                <a16:creationId xmlns:a16="http://schemas.microsoft.com/office/drawing/2014/main" id="{6A631599-8920-4FC7-A27B-B56D5A6F40F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170769259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410" name="Rectangle 2">
            <a:extLst>
              <a:ext uri="{FF2B5EF4-FFF2-40B4-BE49-F238E27FC236}">
                <a16:creationId xmlns:a16="http://schemas.microsoft.com/office/drawing/2014/main" id="{6A47F574-9AF2-4FBF-A1A2-6C6445CF43F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73411" name="Rectangle 3">
            <a:extLst>
              <a:ext uri="{FF2B5EF4-FFF2-40B4-BE49-F238E27FC236}">
                <a16:creationId xmlns:a16="http://schemas.microsoft.com/office/drawing/2014/main" id="{E6B28847-4E16-4DAB-9246-4E05B88D6B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01723145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434" name="Rectangle 2">
            <a:extLst>
              <a:ext uri="{FF2B5EF4-FFF2-40B4-BE49-F238E27FC236}">
                <a16:creationId xmlns:a16="http://schemas.microsoft.com/office/drawing/2014/main" id="{DAF14545-03DE-415F-876F-27C2DE7A410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74435" name="Rectangle 3">
            <a:extLst>
              <a:ext uri="{FF2B5EF4-FFF2-40B4-BE49-F238E27FC236}">
                <a16:creationId xmlns:a16="http://schemas.microsoft.com/office/drawing/2014/main" id="{63CB3461-8F85-44AB-B8C8-4DC0941B7DC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9854061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58" name="Rectangle 2">
            <a:extLst>
              <a:ext uri="{FF2B5EF4-FFF2-40B4-BE49-F238E27FC236}">
                <a16:creationId xmlns:a16="http://schemas.microsoft.com/office/drawing/2014/main" id="{53EF1BCD-B340-4F0E-B9B6-A8BA9C05F8E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75459" name="Rectangle 3">
            <a:extLst>
              <a:ext uri="{FF2B5EF4-FFF2-40B4-BE49-F238E27FC236}">
                <a16:creationId xmlns:a16="http://schemas.microsoft.com/office/drawing/2014/main" id="{27F04BE9-3DF4-46EA-99E9-BC63778476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616139360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802" name="Rectangle 2">
            <a:extLst>
              <a:ext uri="{FF2B5EF4-FFF2-40B4-BE49-F238E27FC236}">
                <a16:creationId xmlns:a16="http://schemas.microsoft.com/office/drawing/2014/main" id="{1B395FE1-43AF-45F9-8462-DE1D8514A6D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2803" name="Rectangle 3">
            <a:extLst>
              <a:ext uri="{FF2B5EF4-FFF2-40B4-BE49-F238E27FC236}">
                <a16:creationId xmlns:a16="http://schemas.microsoft.com/office/drawing/2014/main" id="{6A631599-8920-4FC7-A27B-B56D5A6F40F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0871161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82" name="Rectangle 2">
            <a:extLst>
              <a:ext uri="{FF2B5EF4-FFF2-40B4-BE49-F238E27FC236}">
                <a16:creationId xmlns:a16="http://schemas.microsoft.com/office/drawing/2014/main" id="{7CA3F5D8-72C5-48D6-B870-CFD56537B3C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76483" name="Rectangle 3">
            <a:extLst>
              <a:ext uri="{FF2B5EF4-FFF2-40B4-BE49-F238E27FC236}">
                <a16:creationId xmlns:a16="http://schemas.microsoft.com/office/drawing/2014/main" id="{5BAA358E-4096-48ED-A820-029D8A4E16D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256596360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82" name="Rectangle 2">
            <a:extLst>
              <a:ext uri="{FF2B5EF4-FFF2-40B4-BE49-F238E27FC236}">
                <a16:creationId xmlns:a16="http://schemas.microsoft.com/office/drawing/2014/main" id="{7CA3F5D8-72C5-48D6-B870-CFD56537B3C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76483" name="Rectangle 3">
            <a:extLst>
              <a:ext uri="{FF2B5EF4-FFF2-40B4-BE49-F238E27FC236}">
                <a16:creationId xmlns:a16="http://schemas.microsoft.com/office/drawing/2014/main" id="{5BAA358E-4096-48ED-A820-029D8A4E16D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144222852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82" name="Rectangle 2">
            <a:extLst>
              <a:ext uri="{FF2B5EF4-FFF2-40B4-BE49-F238E27FC236}">
                <a16:creationId xmlns:a16="http://schemas.microsoft.com/office/drawing/2014/main" id="{7CA3F5D8-72C5-48D6-B870-CFD56537B3C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76483" name="Rectangle 3">
            <a:extLst>
              <a:ext uri="{FF2B5EF4-FFF2-40B4-BE49-F238E27FC236}">
                <a16:creationId xmlns:a16="http://schemas.microsoft.com/office/drawing/2014/main" id="{5BAA358E-4096-48ED-A820-029D8A4E16D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329335320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06" name="Rectangle 2">
            <a:extLst>
              <a:ext uri="{FF2B5EF4-FFF2-40B4-BE49-F238E27FC236}">
                <a16:creationId xmlns:a16="http://schemas.microsoft.com/office/drawing/2014/main" id="{34BCFAFD-394C-4867-B829-831F78A7DC1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77507" name="Rectangle 3">
            <a:extLst>
              <a:ext uri="{FF2B5EF4-FFF2-40B4-BE49-F238E27FC236}">
                <a16:creationId xmlns:a16="http://schemas.microsoft.com/office/drawing/2014/main" id="{306EAA66-391F-4E61-81A7-978E5C0D467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615135942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06" name="Rectangle 2">
            <a:extLst>
              <a:ext uri="{FF2B5EF4-FFF2-40B4-BE49-F238E27FC236}">
                <a16:creationId xmlns:a16="http://schemas.microsoft.com/office/drawing/2014/main" id="{34BCFAFD-394C-4867-B829-831F78A7DC1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77507" name="Rectangle 3">
            <a:extLst>
              <a:ext uri="{FF2B5EF4-FFF2-40B4-BE49-F238E27FC236}">
                <a16:creationId xmlns:a16="http://schemas.microsoft.com/office/drawing/2014/main" id="{306EAA66-391F-4E61-81A7-978E5C0D467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267890065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530" name="Rectangle 2">
            <a:extLst>
              <a:ext uri="{FF2B5EF4-FFF2-40B4-BE49-F238E27FC236}">
                <a16:creationId xmlns:a16="http://schemas.microsoft.com/office/drawing/2014/main" id="{C487A0A2-AC53-409D-892C-4CCA8031998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78531" name="Rectangle 3">
            <a:extLst>
              <a:ext uri="{FF2B5EF4-FFF2-40B4-BE49-F238E27FC236}">
                <a16:creationId xmlns:a16="http://schemas.microsoft.com/office/drawing/2014/main" id="{008CADD2-425D-4F02-8ACB-BFF31B04141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035140025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826" name="Rectangle 2">
            <a:extLst>
              <a:ext uri="{FF2B5EF4-FFF2-40B4-BE49-F238E27FC236}">
                <a16:creationId xmlns:a16="http://schemas.microsoft.com/office/drawing/2014/main" id="{DA0B213E-79E0-45D1-91C9-C2905152F15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3827" name="Rectangle 3">
            <a:extLst>
              <a:ext uri="{FF2B5EF4-FFF2-40B4-BE49-F238E27FC236}">
                <a16:creationId xmlns:a16="http://schemas.microsoft.com/office/drawing/2014/main" id="{C321449A-E622-4D4B-8B2C-630F0D7CA7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065577369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554" name="Rectangle 2">
            <a:extLst>
              <a:ext uri="{FF2B5EF4-FFF2-40B4-BE49-F238E27FC236}">
                <a16:creationId xmlns:a16="http://schemas.microsoft.com/office/drawing/2014/main" id="{5B22DACF-1FF7-4FD9-ADFD-88805EB8EC9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79555" name="Rectangle 3">
            <a:extLst>
              <a:ext uri="{FF2B5EF4-FFF2-40B4-BE49-F238E27FC236}">
                <a16:creationId xmlns:a16="http://schemas.microsoft.com/office/drawing/2014/main" id="{A35AEB51-BEB2-4CB3-851B-2CE29531BF2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166096759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78" name="Rectangle 2">
            <a:extLst>
              <a:ext uri="{FF2B5EF4-FFF2-40B4-BE49-F238E27FC236}">
                <a16:creationId xmlns:a16="http://schemas.microsoft.com/office/drawing/2014/main" id="{DED855AB-CF55-427A-9038-ECB8F6BAF92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80579" name="Rectangle 3">
            <a:extLst>
              <a:ext uri="{FF2B5EF4-FFF2-40B4-BE49-F238E27FC236}">
                <a16:creationId xmlns:a16="http://schemas.microsoft.com/office/drawing/2014/main" id="{D10780F5-73AF-42FB-A588-340A89C45C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4863357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78" name="Rectangle 2">
            <a:extLst>
              <a:ext uri="{FF2B5EF4-FFF2-40B4-BE49-F238E27FC236}">
                <a16:creationId xmlns:a16="http://schemas.microsoft.com/office/drawing/2014/main" id="{DED855AB-CF55-427A-9038-ECB8F6BAF92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80579" name="Rectangle 3">
            <a:extLst>
              <a:ext uri="{FF2B5EF4-FFF2-40B4-BE49-F238E27FC236}">
                <a16:creationId xmlns:a16="http://schemas.microsoft.com/office/drawing/2014/main" id="{D10780F5-73AF-42FB-A588-340A89C45C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357605284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602" name="Rectangle 2">
            <a:extLst>
              <a:ext uri="{FF2B5EF4-FFF2-40B4-BE49-F238E27FC236}">
                <a16:creationId xmlns:a16="http://schemas.microsoft.com/office/drawing/2014/main" id="{88002DA3-B9B7-446A-9464-9B03A53C4AC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81603" name="Rectangle 3">
            <a:extLst>
              <a:ext uri="{FF2B5EF4-FFF2-40B4-BE49-F238E27FC236}">
                <a16:creationId xmlns:a16="http://schemas.microsoft.com/office/drawing/2014/main" id="{3590B6C7-4273-4A24-9811-C5EEA0DFE4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534923796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802" name="Rectangle 2">
            <a:extLst>
              <a:ext uri="{FF2B5EF4-FFF2-40B4-BE49-F238E27FC236}">
                <a16:creationId xmlns:a16="http://schemas.microsoft.com/office/drawing/2014/main" id="{1B395FE1-43AF-45F9-8462-DE1D8514A6D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2803" name="Rectangle 3">
            <a:extLst>
              <a:ext uri="{FF2B5EF4-FFF2-40B4-BE49-F238E27FC236}">
                <a16:creationId xmlns:a16="http://schemas.microsoft.com/office/drawing/2014/main" id="{6A631599-8920-4FC7-A27B-B56D5A6F40F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181064372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26" name="Rectangle 2">
            <a:extLst>
              <a:ext uri="{FF2B5EF4-FFF2-40B4-BE49-F238E27FC236}">
                <a16:creationId xmlns:a16="http://schemas.microsoft.com/office/drawing/2014/main" id="{6A27DC33-F3F1-41A6-80C3-B09EDAE5BB4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82627" name="Rectangle 3">
            <a:extLst>
              <a:ext uri="{FF2B5EF4-FFF2-40B4-BE49-F238E27FC236}">
                <a16:creationId xmlns:a16="http://schemas.microsoft.com/office/drawing/2014/main" id="{B615435A-15E5-4C84-884B-E069181DF8E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353487674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0" name="Rectangle 2">
            <a:extLst>
              <a:ext uri="{FF2B5EF4-FFF2-40B4-BE49-F238E27FC236}">
                <a16:creationId xmlns:a16="http://schemas.microsoft.com/office/drawing/2014/main" id="{5F126DA3-DBC9-463A-AF93-242A3C0F7F6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83651" name="Rectangle 3">
            <a:extLst>
              <a:ext uri="{FF2B5EF4-FFF2-40B4-BE49-F238E27FC236}">
                <a16:creationId xmlns:a16="http://schemas.microsoft.com/office/drawing/2014/main" id="{3D84926F-67B3-436D-919E-B2E59887095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634853055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674" name="Rectangle 2">
            <a:extLst>
              <a:ext uri="{FF2B5EF4-FFF2-40B4-BE49-F238E27FC236}">
                <a16:creationId xmlns:a16="http://schemas.microsoft.com/office/drawing/2014/main" id="{563F7F50-638A-46E1-8453-0E712659D6D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84675" name="Rectangle 3">
            <a:extLst>
              <a:ext uri="{FF2B5EF4-FFF2-40B4-BE49-F238E27FC236}">
                <a16:creationId xmlns:a16="http://schemas.microsoft.com/office/drawing/2014/main" id="{3760C587-64A3-4950-8C99-40079466CC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359083869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1FC9A-3B7E-6166-7EC1-06F7C3A00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674" name="Rectangle 2">
            <a:extLst>
              <a:ext uri="{FF2B5EF4-FFF2-40B4-BE49-F238E27FC236}">
                <a16:creationId xmlns:a16="http://schemas.microsoft.com/office/drawing/2014/main" id="{45304041-660E-C415-082A-0FFA3559FAD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84675" name="Rectangle 3">
            <a:extLst>
              <a:ext uri="{FF2B5EF4-FFF2-40B4-BE49-F238E27FC236}">
                <a16:creationId xmlns:a16="http://schemas.microsoft.com/office/drawing/2014/main" id="{AA3E27BA-8296-F8C1-DE7F-9F687FD25EF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622401758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698" name="Rectangle 2">
            <a:extLst>
              <a:ext uri="{FF2B5EF4-FFF2-40B4-BE49-F238E27FC236}">
                <a16:creationId xmlns:a16="http://schemas.microsoft.com/office/drawing/2014/main" id="{2C11061D-7877-4106-A6D5-D9B0A145A2C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85699" name="Rectangle 3">
            <a:extLst>
              <a:ext uri="{FF2B5EF4-FFF2-40B4-BE49-F238E27FC236}">
                <a16:creationId xmlns:a16="http://schemas.microsoft.com/office/drawing/2014/main" id="{0CC54E5D-6A88-4A06-B262-B7FE6984135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601217084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22" name="Rectangle 2">
            <a:extLst>
              <a:ext uri="{FF2B5EF4-FFF2-40B4-BE49-F238E27FC236}">
                <a16:creationId xmlns:a16="http://schemas.microsoft.com/office/drawing/2014/main" id="{D4A458F5-80BA-4EB7-BB69-AC66E60987F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86723" name="Rectangle 3">
            <a:extLst>
              <a:ext uri="{FF2B5EF4-FFF2-40B4-BE49-F238E27FC236}">
                <a16:creationId xmlns:a16="http://schemas.microsoft.com/office/drawing/2014/main" id="{CA102E9D-D661-4B89-B4B1-31179C8F360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59598107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746" name="Rectangle 2">
            <a:extLst>
              <a:ext uri="{FF2B5EF4-FFF2-40B4-BE49-F238E27FC236}">
                <a16:creationId xmlns:a16="http://schemas.microsoft.com/office/drawing/2014/main" id="{58039E62-7212-4D8A-B751-0924D267C05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87747" name="Rectangle 3">
            <a:extLst>
              <a:ext uri="{FF2B5EF4-FFF2-40B4-BE49-F238E27FC236}">
                <a16:creationId xmlns:a16="http://schemas.microsoft.com/office/drawing/2014/main" id="{40081C07-0E6E-442F-B11C-DE779FAE2F4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389037324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770" name="Rectangle 2">
            <a:extLst>
              <a:ext uri="{FF2B5EF4-FFF2-40B4-BE49-F238E27FC236}">
                <a16:creationId xmlns:a16="http://schemas.microsoft.com/office/drawing/2014/main" id="{7AC0BA65-BEBB-4098-BF48-0AEA088B2FF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88771" name="Rectangle 3">
            <a:extLst>
              <a:ext uri="{FF2B5EF4-FFF2-40B4-BE49-F238E27FC236}">
                <a16:creationId xmlns:a16="http://schemas.microsoft.com/office/drawing/2014/main" id="{57E02852-A1DB-4190-9DC6-E5D00808408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552647678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794" name="Rectangle 2">
            <a:extLst>
              <a:ext uri="{FF2B5EF4-FFF2-40B4-BE49-F238E27FC236}">
                <a16:creationId xmlns:a16="http://schemas.microsoft.com/office/drawing/2014/main" id="{123CC72B-9D46-4E41-B864-601C5030EFB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89795" name="Rectangle 3">
            <a:extLst>
              <a:ext uri="{FF2B5EF4-FFF2-40B4-BE49-F238E27FC236}">
                <a16:creationId xmlns:a16="http://schemas.microsoft.com/office/drawing/2014/main" id="{6D6E4C07-3952-44C9-86FA-6E3D78FCDE8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41542294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>
            <a:extLst>
              <a:ext uri="{FF2B5EF4-FFF2-40B4-BE49-F238E27FC236}">
                <a16:creationId xmlns:a16="http://schemas.microsoft.com/office/drawing/2014/main" id="{36C97EAB-7A33-40C7-8D0C-FBA80595E92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90819" name="Rectangle 3">
            <a:extLst>
              <a:ext uri="{FF2B5EF4-FFF2-40B4-BE49-F238E27FC236}">
                <a16:creationId xmlns:a16="http://schemas.microsoft.com/office/drawing/2014/main" id="{57931890-5BD2-4611-85F9-8F7C2A6553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63976864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842" name="Rectangle 2">
            <a:extLst>
              <a:ext uri="{FF2B5EF4-FFF2-40B4-BE49-F238E27FC236}">
                <a16:creationId xmlns:a16="http://schemas.microsoft.com/office/drawing/2014/main" id="{7650D413-E34A-463C-8F67-3DB0870D351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91843" name="Rectangle 3">
            <a:extLst>
              <a:ext uri="{FF2B5EF4-FFF2-40B4-BE49-F238E27FC236}">
                <a16:creationId xmlns:a16="http://schemas.microsoft.com/office/drawing/2014/main" id="{E975016D-F4B8-401A-BA0D-99543F7812A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599876699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866" name="Rectangle 2">
            <a:extLst>
              <a:ext uri="{FF2B5EF4-FFF2-40B4-BE49-F238E27FC236}">
                <a16:creationId xmlns:a16="http://schemas.microsoft.com/office/drawing/2014/main" id="{D9D0A5BA-487F-401D-882B-D49F3D98CD1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92867" name="Rectangle 3">
            <a:extLst>
              <a:ext uri="{FF2B5EF4-FFF2-40B4-BE49-F238E27FC236}">
                <a16:creationId xmlns:a16="http://schemas.microsoft.com/office/drawing/2014/main" id="{DA837484-48A9-4AF6-9F48-B6C8CD17548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79886022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890" name="Rectangle 2">
            <a:extLst>
              <a:ext uri="{FF2B5EF4-FFF2-40B4-BE49-F238E27FC236}">
                <a16:creationId xmlns:a16="http://schemas.microsoft.com/office/drawing/2014/main" id="{FAA03322-6281-4652-AAC4-4ACA17BA100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93891" name="Rectangle 3">
            <a:extLst>
              <a:ext uri="{FF2B5EF4-FFF2-40B4-BE49-F238E27FC236}">
                <a16:creationId xmlns:a16="http://schemas.microsoft.com/office/drawing/2014/main" id="{2DD3E17A-4D55-48D3-947E-DCFF24F04E7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675620066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914" name="Rectangle 2">
            <a:extLst>
              <a:ext uri="{FF2B5EF4-FFF2-40B4-BE49-F238E27FC236}">
                <a16:creationId xmlns:a16="http://schemas.microsoft.com/office/drawing/2014/main" id="{A692E8B6-DC01-4BEB-BF48-E64E797455E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94915" name="Rectangle 3">
            <a:extLst>
              <a:ext uri="{FF2B5EF4-FFF2-40B4-BE49-F238E27FC236}">
                <a16:creationId xmlns:a16="http://schemas.microsoft.com/office/drawing/2014/main" id="{06C078C4-FC59-4044-8BF7-BF524A224C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207390480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38" name="Rectangle 2">
            <a:extLst>
              <a:ext uri="{FF2B5EF4-FFF2-40B4-BE49-F238E27FC236}">
                <a16:creationId xmlns:a16="http://schemas.microsoft.com/office/drawing/2014/main" id="{BE2F9F39-9804-4B33-BC76-8220B3C1D66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95939" name="Rectangle 3">
            <a:extLst>
              <a:ext uri="{FF2B5EF4-FFF2-40B4-BE49-F238E27FC236}">
                <a16:creationId xmlns:a16="http://schemas.microsoft.com/office/drawing/2014/main" id="{6716270B-D1AF-4D48-84A6-D9E9BA46127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38180568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62" name="Rectangle 2">
            <a:extLst>
              <a:ext uri="{FF2B5EF4-FFF2-40B4-BE49-F238E27FC236}">
                <a16:creationId xmlns:a16="http://schemas.microsoft.com/office/drawing/2014/main" id="{4873DDEB-8351-42F7-8682-E18F476C98B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96963" name="Rectangle 3">
            <a:extLst>
              <a:ext uri="{FF2B5EF4-FFF2-40B4-BE49-F238E27FC236}">
                <a16:creationId xmlns:a16="http://schemas.microsoft.com/office/drawing/2014/main" id="{2EBA6A3A-C184-47FE-BB68-B134BFD6CA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42997072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986" name="Rectangle 2">
            <a:extLst>
              <a:ext uri="{FF2B5EF4-FFF2-40B4-BE49-F238E27FC236}">
                <a16:creationId xmlns:a16="http://schemas.microsoft.com/office/drawing/2014/main" id="{9A88E49D-AF1B-4B68-B7EE-166A96DF759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97987" name="Rectangle 3">
            <a:extLst>
              <a:ext uri="{FF2B5EF4-FFF2-40B4-BE49-F238E27FC236}">
                <a16:creationId xmlns:a16="http://schemas.microsoft.com/office/drawing/2014/main" id="{140E3CB1-5F57-44EC-83B6-952620473CC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022121739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>
            <a:extLst>
              <a:ext uri="{FF2B5EF4-FFF2-40B4-BE49-F238E27FC236}">
                <a16:creationId xmlns:a16="http://schemas.microsoft.com/office/drawing/2014/main" id="{3D721D6F-1D89-48E2-99F5-F2C3684B35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99011" name="Rectangle 3">
            <a:extLst>
              <a:ext uri="{FF2B5EF4-FFF2-40B4-BE49-F238E27FC236}">
                <a16:creationId xmlns:a16="http://schemas.microsoft.com/office/drawing/2014/main" id="{87AB79B5-06DE-48D3-8F9B-10CB96A31A5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896837187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034" name="Rectangle 2">
            <a:extLst>
              <a:ext uri="{FF2B5EF4-FFF2-40B4-BE49-F238E27FC236}">
                <a16:creationId xmlns:a16="http://schemas.microsoft.com/office/drawing/2014/main" id="{10DEADBF-EDA9-47FA-ADB0-8F10E94B134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0035" name="Rectangle 3">
            <a:extLst>
              <a:ext uri="{FF2B5EF4-FFF2-40B4-BE49-F238E27FC236}">
                <a16:creationId xmlns:a16="http://schemas.microsoft.com/office/drawing/2014/main" id="{BF134642-52B2-4F09-ABDB-D3D7927E85E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786079437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058" name="Rectangle 2">
            <a:extLst>
              <a:ext uri="{FF2B5EF4-FFF2-40B4-BE49-F238E27FC236}">
                <a16:creationId xmlns:a16="http://schemas.microsoft.com/office/drawing/2014/main" id="{DABADAF0-A647-40BC-8EC9-D8A24A1FADB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1059" name="Rectangle 3">
            <a:extLst>
              <a:ext uri="{FF2B5EF4-FFF2-40B4-BE49-F238E27FC236}">
                <a16:creationId xmlns:a16="http://schemas.microsoft.com/office/drawing/2014/main" id="{D0AB23AE-C4DC-447D-A0D5-465AE7F4416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25165305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082" name="Rectangle 2">
            <a:extLst>
              <a:ext uri="{FF2B5EF4-FFF2-40B4-BE49-F238E27FC236}">
                <a16:creationId xmlns:a16="http://schemas.microsoft.com/office/drawing/2014/main" id="{D1CE0E26-1937-482B-9799-C1C8C2E8641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2083" name="Rectangle 3">
            <a:extLst>
              <a:ext uri="{FF2B5EF4-FFF2-40B4-BE49-F238E27FC236}">
                <a16:creationId xmlns:a16="http://schemas.microsoft.com/office/drawing/2014/main" id="{C2DD924F-8C3F-4087-9B45-9D881A0824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97393970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106" name="Rectangle 2">
            <a:extLst>
              <a:ext uri="{FF2B5EF4-FFF2-40B4-BE49-F238E27FC236}">
                <a16:creationId xmlns:a16="http://schemas.microsoft.com/office/drawing/2014/main" id="{6580E437-2BCA-4FE0-AFAB-908764737FB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3107" name="Rectangle 3">
            <a:extLst>
              <a:ext uri="{FF2B5EF4-FFF2-40B4-BE49-F238E27FC236}">
                <a16:creationId xmlns:a16="http://schemas.microsoft.com/office/drawing/2014/main" id="{A9D4AFB9-7A07-4E3A-A90D-FCD1396E74D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386783238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130" name="Rectangle 2">
            <a:extLst>
              <a:ext uri="{FF2B5EF4-FFF2-40B4-BE49-F238E27FC236}">
                <a16:creationId xmlns:a16="http://schemas.microsoft.com/office/drawing/2014/main" id="{F991AC18-465F-4595-9D45-9C9C4242537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4131" name="Rectangle 3">
            <a:extLst>
              <a:ext uri="{FF2B5EF4-FFF2-40B4-BE49-F238E27FC236}">
                <a16:creationId xmlns:a16="http://schemas.microsoft.com/office/drawing/2014/main" id="{201A1EDA-2653-4E8B-98CA-212F40F2B7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977181766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154" name="Rectangle 2">
            <a:extLst>
              <a:ext uri="{FF2B5EF4-FFF2-40B4-BE49-F238E27FC236}">
                <a16:creationId xmlns:a16="http://schemas.microsoft.com/office/drawing/2014/main" id="{45A1CCE8-86A1-40E8-8B8C-F7BBE6107E9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5155" name="Rectangle 3">
            <a:extLst>
              <a:ext uri="{FF2B5EF4-FFF2-40B4-BE49-F238E27FC236}">
                <a16:creationId xmlns:a16="http://schemas.microsoft.com/office/drawing/2014/main" id="{234A8E50-BAB5-4613-A8F6-976F1296A1F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87748852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154" name="Rectangle 2">
            <a:extLst>
              <a:ext uri="{FF2B5EF4-FFF2-40B4-BE49-F238E27FC236}">
                <a16:creationId xmlns:a16="http://schemas.microsoft.com/office/drawing/2014/main" id="{45A1CCE8-86A1-40E8-8B8C-F7BBE6107E9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5155" name="Rectangle 3">
            <a:extLst>
              <a:ext uri="{FF2B5EF4-FFF2-40B4-BE49-F238E27FC236}">
                <a16:creationId xmlns:a16="http://schemas.microsoft.com/office/drawing/2014/main" id="{234A8E50-BAB5-4613-A8F6-976F1296A1F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375206677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178" name="Rectangle 2">
            <a:extLst>
              <a:ext uri="{FF2B5EF4-FFF2-40B4-BE49-F238E27FC236}">
                <a16:creationId xmlns:a16="http://schemas.microsoft.com/office/drawing/2014/main" id="{D3BC8035-F0A1-492F-856D-D6815BAC6D9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6179" name="Rectangle 3">
            <a:extLst>
              <a:ext uri="{FF2B5EF4-FFF2-40B4-BE49-F238E27FC236}">
                <a16:creationId xmlns:a16="http://schemas.microsoft.com/office/drawing/2014/main" id="{F3D139C3-C294-40CD-938C-65E1F4A8A07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345106184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02" name="Rectangle 2">
            <a:extLst>
              <a:ext uri="{FF2B5EF4-FFF2-40B4-BE49-F238E27FC236}">
                <a16:creationId xmlns:a16="http://schemas.microsoft.com/office/drawing/2014/main" id="{0F31DD26-1CE0-4C5F-878E-04D3DC7E8DF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7203" name="Rectangle 3">
            <a:extLst>
              <a:ext uri="{FF2B5EF4-FFF2-40B4-BE49-F238E27FC236}">
                <a16:creationId xmlns:a16="http://schemas.microsoft.com/office/drawing/2014/main" id="{CD78C115-7E36-4135-9AC0-CD4180BACD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69217956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226" name="Rectangle 2">
            <a:extLst>
              <a:ext uri="{FF2B5EF4-FFF2-40B4-BE49-F238E27FC236}">
                <a16:creationId xmlns:a16="http://schemas.microsoft.com/office/drawing/2014/main" id="{0FDFA1F1-D561-47A5-9C48-E865DE3E4A6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8227" name="Rectangle 3">
            <a:extLst>
              <a:ext uri="{FF2B5EF4-FFF2-40B4-BE49-F238E27FC236}">
                <a16:creationId xmlns:a16="http://schemas.microsoft.com/office/drawing/2014/main" id="{7E388084-1778-425B-BB9B-D5BFCDE5CEC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464514563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250" name="Rectangle 2">
            <a:extLst>
              <a:ext uri="{FF2B5EF4-FFF2-40B4-BE49-F238E27FC236}">
                <a16:creationId xmlns:a16="http://schemas.microsoft.com/office/drawing/2014/main" id="{818E7DB1-9594-43B1-A713-81569AD4FBA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9251" name="Rectangle 3">
            <a:extLst>
              <a:ext uri="{FF2B5EF4-FFF2-40B4-BE49-F238E27FC236}">
                <a16:creationId xmlns:a16="http://schemas.microsoft.com/office/drawing/2014/main" id="{B77E8D6E-A52A-4C8D-A875-039916AA14E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06930524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274" name="Rectangle 2">
            <a:extLst>
              <a:ext uri="{FF2B5EF4-FFF2-40B4-BE49-F238E27FC236}">
                <a16:creationId xmlns:a16="http://schemas.microsoft.com/office/drawing/2014/main" id="{FA3CD356-991E-4573-966F-83A11C79165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10275" name="Rectangle 3">
            <a:extLst>
              <a:ext uri="{FF2B5EF4-FFF2-40B4-BE49-F238E27FC236}">
                <a16:creationId xmlns:a16="http://schemas.microsoft.com/office/drawing/2014/main" id="{87A53230-3E8E-4358-974C-7E6EC0ED1E5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349040786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298" name="Rectangle 2">
            <a:extLst>
              <a:ext uri="{FF2B5EF4-FFF2-40B4-BE49-F238E27FC236}">
                <a16:creationId xmlns:a16="http://schemas.microsoft.com/office/drawing/2014/main" id="{3B7B6C94-C7CF-4184-99D6-B90C4FD762F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11299" name="Rectangle 3">
            <a:extLst>
              <a:ext uri="{FF2B5EF4-FFF2-40B4-BE49-F238E27FC236}">
                <a16:creationId xmlns:a16="http://schemas.microsoft.com/office/drawing/2014/main" id="{E43BFED8-2783-4EE2-AFC9-D62D1D53A02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20140764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322" name="Rectangle 2">
            <a:extLst>
              <a:ext uri="{FF2B5EF4-FFF2-40B4-BE49-F238E27FC236}">
                <a16:creationId xmlns:a16="http://schemas.microsoft.com/office/drawing/2014/main" id="{52C8D2F6-F527-47EB-A76D-E40C2F9FEB7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12323" name="Rectangle 3">
            <a:extLst>
              <a:ext uri="{FF2B5EF4-FFF2-40B4-BE49-F238E27FC236}">
                <a16:creationId xmlns:a16="http://schemas.microsoft.com/office/drawing/2014/main" id="{AC3A5721-9F04-403E-A3D6-79268724E31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026193886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346" name="Rectangle 2">
            <a:extLst>
              <a:ext uri="{FF2B5EF4-FFF2-40B4-BE49-F238E27FC236}">
                <a16:creationId xmlns:a16="http://schemas.microsoft.com/office/drawing/2014/main" id="{CC116F29-2951-4C1D-AEA1-B897DB2141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13347" name="Rectangle 3">
            <a:extLst>
              <a:ext uri="{FF2B5EF4-FFF2-40B4-BE49-F238E27FC236}">
                <a16:creationId xmlns:a16="http://schemas.microsoft.com/office/drawing/2014/main" id="{50D514B7-CE8F-4DC7-AFED-EBAC8D8106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115713679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370" name="Rectangle 2">
            <a:extLst>
              <a:ext uri="{FF2B5EF4-FFF2-40B4-BE49-F238E27FC236}">
                <a16:creationId xmlns:a16="http://schemas.microsoft.com/office/drawing/2014/main" id="{2B7E93EB-4CEC-4F46-8131-DB805C314A9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14371" name="Rectangle 3">
            <a:extLst>
              <a:ext uri="{FF2B5EF4-FFF2-40B4-BE49-F238E27FC236}">
                <a16:creationId xmlns:a16="http://schemas.microsoft.com/office/drawing/2014/main" id="{72B82F26-D371-49E9-999D-A0889EDD3E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603572018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394" name="Rectangle 2">
            <a:extLst>
              <a:ext uri="{FF2B5EF4-FFF2-40B4-BE49-F238E27FC236}">
                <a16:creationId xmlns:a16="http://schemas.microsoft.com/office/drawing/2014/main" id="{219B2D5C-B5C2-4F44-8CED-31DCDEE376A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15395" name="Rectangle 3">
            <a:extLst>
              <a:ext uri="{FF2B5EF4-FFF2-40B4-BE49-F238E27FC236}">
                <a16:creationId xmlns:a16="http://schemas.microsoft.com/office/drawing/2014/main" id="{CC514932-8A42-41AF-9CFE-D1F5CEDD6AB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170289082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418" name="Rectangle 2">
            <a:extLst>
              <a:ext uri="{FF2B5EF4-FFF2-40B4-BE49-F238E27FC236}">
                <a16:creationId xmlns:a16="http://schemas.microsoft.com/office/drawing/2014/main" id="{A0FBCE13-79DA-45A4-B213-C603172576A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16419" name="Rectangle 3">
            <a:extLst>
              <a:ext uri="{FF2B5EF4-FFF2-40B4-BE49-F238E27FC236}">
                <a16:creationId xmlns:a16="http://schemas.microsoft.com/office/drawing/2014/main" id="{81448B89-9FE1-4CB9-9C7B-406DF970A95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805876300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42" name="Rectangle 2">
            <a:extLst>
              <a:ext uri="{FF2B5EF4-FFF2-40B4-BE49-F238E27FC236}">
                <a16:creationId xmlns:a16="http://schemas.microsoft.com/office/drawing/2014/main" id="{D07A9E9F-FE50-4910-8016-7B59FA12CE3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17443" name="Rectangle 3">
            <a:extLst>
              <a:ext uri="{FF2B5EF4-FFF2-40B4-BE49-F238E27FC236}">
                <a16:creationId xmlns:a16="http://schemas.microsoft.com/office/drawing/2014/main" id="{B716FA51-8EF1-4F96-B797-B4CB7502F0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9087650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466" name="Rectangle 2">
            <a:extLst>
              <a:ext uri="{FF2B5EF4-FFF2-40B4-BE49-F238E27FC236}">
                <a16:creationId xmlns:a16="http://schemas.microsoft.com/office/drawing/2014/main" id="{FA9CE416-8F96-416A-881A-FCF7F191430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18467" name="Rectangle 3">
            <a:extLst>
              <a:ext uri="{FF2B5EF4-FFF2-40B4-BE49-F238E27FC236}">
                <a16:creationId xmlns:a16="http://schemas.microsoft.com/office/drawing/2014/main" id="{846FA088-B0F2-4A75-84B0-535F8995E8C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969058774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490" name="Rectangle 2">
            <a:extLst>
              <a:ext uri="{FF2B5EF4-FFF2-40B4-BE49-F238E27FC236}">
                <a16:creationId xmlns:a16="http://schemas.microsoft.com/office/drawing/2014/main" id="{549DF026-E4AE-40CB-B110-C291D76B923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19491" name="Rectangle 3">
            <a:extLst>
              <a:ext uri="{FF2B5EF4-FFF2-40B4-BE49-F238E27FC236}">
                <a16:creationId xmlns:a16="http://schemas.microsoft.com/office/drawing/2014/main" id="{D38DE5C0-D3FC-4C0E-939F-CF742613CD6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25418726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490" name="Rectangle 2">
            <a:extLst>
              <a:ext uri="{FF2B5EF4-FFF2-40B4-BE49-F238E27FC236}">
                <a16:creationId xmlns:a16="http://schemas.microsoft.com/office/drawing/2014/main" id="{549DF026-E4AE-40CB-B110-C291D76B923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19491" name="Rectangle 3">
            <a:extLst>
              <a:ext uri="{FF2B5EF4-FFF2-40B4-BE49-F238E27FC236}">
                <a16:creationId xmlns:a16="http://schemas.microsoft.com/office/drawing/2014/main" id="{D38DE5C0-D3FC-4C0E-939F-CF742613CD6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98337926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490" name="Rectangle 2">
            <a:extLst>
              <a:ext uri="{FF2B5EF4-FFF2-40B4-BE49-F238E27FC236}">
                <a16:creationId xmlns:a16="http://schemas.microsoft.com/office/drawing/2014/main" id="{549DF026-E4AE-40CB-B110-C291D76B923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19491" name="Rectangle 3">
            <a:extLst>
              <a:ext uri="{FF2B5EF4-FFF2-40B4-BE49-F238E27FC236}">
                <a16:creationId xmlns:a16="http://schemas.microsoft.com/office/drawing/2014/main" id="{D38DE5C0-D3FC-4C0E-939F-CF742613CD6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526380459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514" name="Rectangle 2">
            <a:extLst>
              <a:ext uri="{FF2B5EF4-FFF2-40B4-BE49-F238E27FC236}">
                <a16:creationId xmlns:a16="http://schemas.microsoft.com/office/drawing/2014/main" id="{1239CA2E-B0B5-41F0-984E-51B6F0CDFA2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0515" name="Rectangle 3">
            <a:extLst>
              <a:ext uri="{FF2B5EF4-FFF2-40B4-BE49-F238E27FC236}">
                <a16:creationId xmlns:a16="http://schemas.microsoft.com/office/drawing/2014/main" id="{5A3A9D89-311B-4FBA-B88F-49B0C3F70C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44985921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514" name="Rectangle 2">
            <a:extLst>
              <a:ext uri="{FF2B5EF4-FFF2-40B4-BE49-F238E27FC236}">
                <a16:creationId xmlns:a16="http://schemas.microsoft.com/office/drawing/2014/main" id="{1239CA2E-B0B5-41F0-984E-51B6F0CDFA2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0515" name="Rectangle 3">
            <a:extLst>
              <a:ext uri="{FF2B5EF4-FFF2-40B4-BE49-F238E27FC236}">
                <a16:creationId xmlns:a16="http://schemas.microsoft.com/office/drawing/2014/main" id="{5A3A9D89-311B-4FBA-B88F-49B0C3F70C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110696330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514" name="Rectangle 2">
            <a:extLst>
              <a:ext uri="{FF2B5EF4-FFF2-40B4-BE49-F238E27FC236}">
                <a16:creationId xmlns:a16="http://schemas.microsoft.com/office/drawing/2014/main" id="{1239CA2E-B0B5-41F0-984E-51B6F0CDFA2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0515" name="Rectangle 3">
            <a:extLst>
              <a:ext uri="{FF2B5EF4-FFF2-40B4-BE49-F238E27FC236}">
                <a16:creationId xmlns:a16="http://schemas.microsoft.com/office/drawing/2014/main" id="{5A3A9D89-311B-4FBA-B88F-49B0C3F70C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549193235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498BA-BC20-EC74-0464-97B53A937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514" name="Rectangle 2">
            <a:extLst>
              <a:ext uri="{FF2B5EF4-FFF2-40B4-BE49-F238E27FC236}">
                <a16:creationId xmlns:a16="http://schemas.microsoft.com/office/drawing/2014/main" id="{A53AAAEE-3A11-9EE4-4D20-E9FF8D60413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0515" name="Rectangle 3">
            <a:extLst>
              <a:ext uri="{FF2B5EF4-FFF2-40B4-BE49-F238E27FC236}">
                <a16:creationId xmlns:a16="http://schemas.microsoft.com/office/drawing/2014/main" id="{D71C7FF9-3C53-DC30-9A1C-6E64A1D704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619336144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514" name="Rectangle 2">
            <a:extLst>
              <a:ext uri="{FF2B5EF4-FFF2-40B4-BE49-F238E27FC236}">
                <a16:creationId xmlns:a16="http://schemas.microsoft.com/office/drawing/2014/main" id="{1239CA2E-B0B5-41F0-984E-51B6F0CDFA2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0515" name="Rectangle 3">
            <a:extLst>
              <a:ext uri="{FF2B5EF4-FFF2-40B4-BE49-F238E27FC236}">
                <a16:creationId xmlns:a16="http://schemas.microsoft.com/office/drawing/2014/main" id="{5A3A9D89-311B-4FBA-B88F-49B0C3F70C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803952077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538" name="Rectangle 2">
            <a:extLst>
              <a:ext uri="{FF2B5EF4-FFF2-40B4-BE49-F238E27FC236}">
                <a16:creationId xmlns:a16="http://schemas.microsoft.com/office/drawing/2014/main" id="{A6CE2E88-E9A5-49A3-AD30-9891198B466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1539" name="Rectangle 3">
            <a:extLst>
              <a:ext uri="{FF2B5EF4-FFF2-40B4-BE49-F238E27FC236}">
                <a16:creationId xmlns:a16="http://schemas.microsoft.com/office/drawing/2014/main" id="{70B29D1B-ECFF-4E3D-A519-61A9C213912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635419954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562" name="Rectangle 2">
            <a:extLst>
              <a:ext uri="{FF2B5EF4-FFF2-40B4-BE49-F238E27FC236}">
                <a16:creationId xmlns:a16="http://schemas.microsoft.com/office/drawing/2014/main" id="{D3642EEF-232E-43FC-AAD0-22CEF8F0ED3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2563" name="Rectangle 3">
            <a:extLst>
              <a:ext uri="{FF2B5EF4-FFF2-40B4-BE49-F238E27FC236}">
                <a16:creationId xmlns:a16="http://schemas.microsoft.com/office/drawing/2014/main" id="{BD2810F0-7117-4518-9281-52E04851DA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371245350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>
            <a:extLst>
              <a:ext uri="{FF2B5EF4-FFF2-40B4-BE49-F238E27FC236}">
                <a16:creationId xmlns:a16="http://schemas.microsoft.com/office/drawing/2014/main" id="{913FE259-BD38-43F4-ACC3-8F8CFEA0855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4611" name="Rectangle 3">
            <a:extLst>
              <a:ext uri="{FF2B5EF4-FFF2-40B4-BE49-F238E27FC236}">
                <a16:creationId xmlns:a16="http://schemas.microsoft.com/office/drawing/2014/main" id="{156608BF-4F70-4ACF-A611-3C7CD79315E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06757727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>
            <a:extLst>
              <a:ext uri="{FF2B5EF4-FFF2-40B4-BE49-F238E27FC236}">
                <a16:creationId xmlns:a16="http://schemas.microsoft.com/office/drawing/2014/main" id="{913FE259-BD38-43F4-ACC3-8F8CFEA0855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4611" name="Rectangle 3">
            <a:extLst>
              <a:ext uri="{FF2B5EF4-FFF2-40B4-BE49-F238E27FC236}">
                <a16:creationId xmlns:a16="http://schemas.microsoft.com/office/drawing/2014/main" id="{156608BF-4F70-4ACF-A611-3C7CD79315E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578332724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>
            <a:extLst>
              <a:ext uri="{FF2B5EF4-FFF2-40B4-BE49-F238E27FC236}">
                <a16:creationId xmlns:a16="http://schemas.microsoft.com/office/drawing/2014/main" id="{913FE259-BD38-43F4-ACC3-8F8CFEA0855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4611" name="Rectangle 3">
            <a:extLst>
              <a:ext uri="{FF2B5EF4-FFF2-40B4-BE49-F238E27FC236}">
                <a16:creationId xmlns:a16="http://schemas.microsoft.com/office/drawing/2014/main" id="{156608BF-4F70-4ACF-A611-3C7CD79315E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416428413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>
            <a:extLst>
              <a:ext uri="{FF2B5EF4-FFF2-40B4-BE49-F238E27FC236}">
                <a16:creationId xmlns:a16="http://schemas.microsoft.com/office/drawing/2014/main" id="{913FE259-BD38-43F4-ACC3-8F8CFEA0855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4611" name="Rectangle 3">
            <a:extLst>
              <a:ext uri="{FF2B5EF4-FFF2-40B4-BE49-F238E27FC236}">
                <a16:creationId xmlns:a16="http://schemas.microsoft.com/office/drawing/2014/main" id="{156608BF-4F70-4ACF-A611-3C7CD79315E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403056816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634" name="Rectangle 2">
            <a:extLst>
              <a:ext uri="{FF2B5EF4-FFF2-40B4-BE49-F238E27FC236}">
                <a16:creationId xmlns:a16="http://schemas.microsoft.com/office/drawing/2014/main" id="{215E7C81-27F4-44BC-B57E-C9796CC19CB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5635" name="Rectangle 3">
            <a:extLst>
              <a:ext uri="{FF2B5EF4-FFF2-40B4-BE49-F238E27FC236}">
                <a16:creationId xmlns:a16="http://schemas.microsoft.com/office/drawing/2014/main" id="{7A495747-7321-4D93-8FD5-39EA1D118D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063241365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658" name="Rectangle 2">
            <a:extLst>
              <a:ext uri="{FF2B5EF4-FFF2-40B4-BE49-F238E27FC236}">
                <a16:creationId xmlns:a16="http://schemas.microsoft.com/office/drawing/2014/main" id="{BFA84FEB-FBE5-4635-9A32-534A8ED4C2F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6659" name="Rectangle 3">
            <a:extLst>
              <a:ext uri="{FF2B5EF4-FFF2-40B4-BE49-F238E27FC236}">
                <a16:creationId xmlns:a16="http://schemas.microsoft.com/office/drawing/2014/main" id="{4004AEE5-D3CA-46CF-A612-1331C31668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29521879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82" name="Rectangle 2">
            <a:extLst>
              <a:ext uri="{FF2B5EF4-FFF2-40B4-BE49-F238E27FC236}">
                <a16:creationId xmlns:a16="http://schemas.microsoft.com/office/drawing/2014/main" id="{6B9E414A-9393-4B3E-B21C-7D65E4155B7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7683" name="Rectangle 3">
            <a:extLst>
              <a:ext uri="{FF2B5EF4-FFF2-40B4-BE49-F238E27FC236}">
                <a16:creationId xmlns:a16="http://schemas.microsoft.com/office/drawing/2014/main" id="{3C823468-F891-4DA5-8959-E76D56A5BDB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47537083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82" name="Rectangle 2">
            <a:extLst>
              <a:ext uri="{FF2B5EF4-FFF2-40B4-BE49-F238E27FC236}">
                <a16:creationId xmlns:a16="http://schemas.microsoft.com/office/drawing/2014/main" id="{6B9E414A-9393-4B3E-B21C-7D65E4155B7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7683" name="Rectangle 3">
            <a:extLst>
              <a:ext uri="{FF2B5EF4-FFF2-40B4-BE49-F238E27FC236}">
                <a16:creationId xmlns:a16="http://schemas.microsoft.com/office/drawing/2014/main" id="{3C823468-F891-4DA5-8959-E76D56A5BDB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40693188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778" name="Rectangle 2">
            <a:extLst>
              <a:ext uri="{FF2B5EF4-FFF2-40B4-BE49-F238E27FC236}">
                <a16:creationId xmlns:a16="http://schemas.microsoft.com/office/drawing/2014/main" id="{95381DDD-2350-425C-BA02-3033BA4ED45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1779" name="Rectangle 3">
            <a:extLst>
              <a:ext uri="{FF2B5EF4-FFF2-40B4-BE49-F238E27FC236}">
                <a16:creationId xmlns:a16="http://schemas.microsoft.com/office/drawing/2014/main" id="{A4AB36EF-F14E-40EF-9E80-BD699D70F79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49096397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802" name="Rectangle 2">
            <a:extLst>
              <a:ext uri="{FF2B5EF4-FFF2-40B4-BE49-F238E27FC236}">
                <a16:creationId xmlns:a16="http://schemas.microsoft.com/office/drawing/2014/main" id="{1B395FE1-43AF-45F9-8462-DE1D8514A6D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2803" name="Rectangle 3">
            <a:extLst>
              <a:ext uri="{FF2B5EF4-FFF2-40B4-BE49-F238E27FC236}">
                <a16:creationId xmlns:a16="http://schemas.microsoft.com/office/drawing/2014/main" id="{6A631599-8920-4FC7-A27B-B56D5A6F40F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11512109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874" name="Rectangle 2">
            <a:extLst>
              <a:ext uri="{FF2B5EF4-FFF2-40B4-BE49-F238E27FC236}">
                <a16:creationId xmlns:a16="http://schemas.microsoft.com/office/drawing/2014/main" id="{AAE02684-7311-4D66-A9FE-F413174350A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5875" name="Rectangle 3">
            <a:extLst>
              <a:ext uri="{FF2B5EF4-FFF2-40B4-BE49-F238E27FC236}">
                <a16:creationId xmlns:a16="http://schemas.microsoft.com/office/drawing/2014/main" id="{36C0C303-C5EE-4CE7-9158-0D6943CACE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098482102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826" name="Rectangle 2">
            <a:extLst>
              <a:ext uri="{FF2B5EF4-FFF2-40B4-BE49-F238E27FC236}">
                <a16:creationId xmlns:a16="http://schemas.microsoft.com/office/drawing/2014/main" id="{DA0B213E-79E0-45D1-91C9-C2905152F15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3827" name="Rectangle 3">
            <a:extLst>
              <a:ext uri="{FF2B5EF4-FFF2-40B4-BE49-F238E27FC236}">
                <a16:creationId xmlns:a16="http://schemas.microsoft.com/office/drawing/2014/main" id="{C321449A-E622-4D4B-8B2C-630F0D7CA7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923436554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874" name="Rectangle 2">
            <a:extLst>
              <a:ext uri="{FF2B5EF4-FFF2-40B4-BE49-F238E27FC236}">
                <a16:creationId xmlns:a16="http://schemas.microsoft.com/office/drawing/2014/main" id="{AAE02684-7311-4D66-A9FE-F413174350A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5875" name="Rectangle 3">
            <a:extLst>
              <a:ext uri="{FF2B5EF4-FFF2-40B4-BE49-F238E27FC236}">
                <a16:creationId xmlns:a16="http://schemas.microsoft.com/office/drawing/2014/main" id="{36C0C303-C5EE-4CE7-9158-0D6943CACE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17428681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850" name="Rectangle 2">
            <a:extLst>
              <a:ext uri="{FF2B5EF4-FFF2-40B4-BE49-F238E27FC236}">
                <a16:creationId xmlns:a16="http://schemas.microsoft.com/office/drawing/2014/main" id="{D24CF1CF-36E4-4FB6-8CD8-5FDC99E2952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4851" name="Rectangle 3">
            <a:extLst>
              <a:ext uri="{FF2B5EF4-FFF2-40B4-BE49-F238E27FC236}">
                <a16:creationId xmlns:a16="http://schemas.microsoft.com/office/drawing/2014/main" id="{F680F781-2140-4150-BD2E-016DC021FB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980078619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874" name="Rectangle 2">
            <a:extLst>
              <a:ext uri="{FF2B5EF4-FFF2-40B4-BE49-F238E27FC236}">
                <a16:creationId xmlns:a16="http://schemas.microsoft.com/office/drawing/2014/main" id="{AAE02684-7311-4D66-A9FE-F413174350A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5875" name="Rectangle 3">
            <a:extLst>
              <a:ext uri="{FF2B5EF4-FFF2-40B4-BE49-F238E27FC236}">
                <a16:creationId xmlns:a16="http://schemas.microsoft.com/office/drawing/2014/main" id="{36C0C303-C5EE-4CE7-9158-0D6943CACE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230950018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898" name="Rectangle 2">
            <a:extLst>
              <a:ext uri="{FF2B5EF4-FFF2-40B4-BE49-F238E27FC236}">
                <a16:creationId xmlns:a16="http://schemas.microsoft.com/office/drawing/2014/main" id="{7CAC9B7A-3808-4B1D-9387-21518C0AB40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6899" name="Rectangle 3">
            <a:extLst>
              <a:ext uri="{FF2B5EF4-FFF2-40B4-BE49-F238E27FC236}">
                <a16:creationId xmlns:a16="http://schemas.microsoft.com/office/drawing/2014/main" id="{9D439AB6-E08A-4711-9E1C-8C33852E56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78353031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706" name="Rectangle 2">
            <a:extLst>
              <a:ext uri="{FF2B5EF4-FFF2-40B4-BE49-F238E27FC236}">
                <a16:creationId xmlns:a16="http://schemas.microsoft.com/office/drawing/2014/main" id="{0251A337-FBE6-46C2-9C5E-8F3E5623C21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8707" name="Rectangle 3">
            <a:extLst>
              <a:ext uri="{FF2B5EF4-FFF2-40B4-BE49-F238E27FC236}">
                <a16:creationId xmlns:a16="http://schemas.microsoft.com/office/drawing/2014/main" id="{85C3400D-BEE5-4ADB-A5DE-C5C888E8BAB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005760914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706" name="Rectangle 2">
            <a:extLst>
              <a:ext uri="{FF2B5EF4-FFF2-40B4-BE49-F238E27FC236}">
                <a16:creationId xmlns:a16="http://schemas.microsoft.com/office/drawing/2014/main" id="{0251A337-FBE6-46C2-9C5E-8F3E5623C21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8707" name="Rectangle 3">
            <a:extLst>
              <a:ext uri="{FF2B5EF4-FFF2-40B4-BE49-F238E27FC236}">
                <a16:creationId xmlns:a16="http://schemas.microsoft.com/office/drawing/2014/main" id="{85C3400D-BEE5-4ADB-A5DE-C5C888E8BAB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865909468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730" name="Rectangle 2">
            <a:extLst>
              <a:ext uri="{FF2B5EF4-FFF2-40B4-BE49-F238E27FC236}">
                <a16:creationId xmlns:a16="http://schemas.microsoft.com/office/drawing/2014/main" id="{2327B0D1-9165-422D-AFA0-7A91BC3E069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9731" name="Rectangle 3">
            <a:extLst>
              <a:ext uri="{FF2B5EF4-FFF2-40B4-BE49-F238E27FC236}">
                <a16:creationId xmlns:a16="http://schemas.microsoft.com/office/drawing/2014/main" id="{1EBF173E-D857-4CA9-B2C8-DDB3693E96D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271607190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754" name="Rectangle 2">
            <a:extLst>
              <a:ext uri="{FF2B5EF4-FFF2-40B4-BE49-F238E27FC236}">
                <a16:creationId xmlns:a16="http://schemas.microsoft.com/office/drawing/2014/main" id="{42D002C9-BD0A-47C0-9967-3B6C1F9C915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0755" name="Rectangle 3">
            <a:extLst>
              <a:ext uri="{FF2B5EF4-FFF2-40B4-BE49-F238E27FC236}">
                <a16:creationId xmlns:a16="http://schemas.microsoft.com/office/drawing/2014/main" id="{E8595EC7-0FD7-4D76-A151-430D61AE73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67206680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754" name="Rectangle 2">
            <a:extLst>
              <a:ext uri="{FF2B5EF4-FFF2-40B4-BE49-F238E27FC236}">
                <a16:creationId xmlns:a16="http://schemas.microsoft.com/office/drawing/2014/main" id="{42D002C9-BD0A-47C0-9967-3B6C1F9C915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0755" name="Rectangle 3">
            <a:extLst>
              <a:ext uri="{FF2B5EF4-FFF2-40B4-BE49-F238E27FC236}">
                <a16:creationId xmlns:a16="http://schemas.microsoft.com/office/drawing/2014/main" id="{E8595EC7-0FD7-4D76-A151-430D61AE73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08157291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898" name="Rectangle 2">
            <a:extLst>
              <a:ext uri="{FF2B5EF4-FFF2-40B4-BE49-F238E27FC236}">
                <a16:creationId xmlns:a16="http://schemas.microsoft.com/office/drawing/2014/main" id="{7CAC9B7A-3808-4B1D-9387-21518C0AB40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6899" name="Rectangle 3">
            <a:extLst>
              <a:ext uri="{FF2B5EF4-FFF2-40B4-BE49-F238E27FC236}">
                <a16:creationId xmlns:a16="http://schemas.microsoft.com/office/drawing/2014/main" id="{9D439AB6-E08A-4711-9E1C-8C33852E56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77354091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22" name="Rectangle 2">
            <a:extLst>
              <a:ext uri="{FF2B5EF4-FFF2-40B4-BE49-F238E27FC236}">
                <a16:creationId xmlns:a16="http://schemas.microsoft.com/office/drawing/2014/main" id="{7759DB4F-AD1E-45C9-B586-4C50FFBDCB8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7923" name="Rectangle 3">
            <a:extLst>
              <a:ext uri="{FF2B5EF4-FFF2-40B4-BE49-F238E27FC236}">
                <a16:creationId xmlns:a16="http://schemas.microsoft.com/office/drawing/2014/main" id="{7CF718C8-EA48-4E23-907B-848FC548970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104617068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946" name="Rectangle 2">
            <a:extLst>
              <a:ext uri="{FF2B5EF4-FFF2-40B4-BE49-F238E27FC236}">
                <a16:creationId xmlns:a16="http://schemas.microsoft.com/office/drawing/2014/main" id="{3127A2E6-8E61-40FF-8253-F143D04DAC5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8947" name="Rectangle 3">
            <a:extLst>
              <a:ext uri="{FF2B5EF4-FFF2-40B4-BE49-F238E27FC236}">
                <a16:creationId xmlns:a16="http://schemas.microsoft.com/office/drawing/2014/main" id="{068B4E4E-858C-45CE-B6B4-CA4DCDDD982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329824435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970" name="Rectangle 2">
            <a:extLst>
              <a:ext uri="{FF2B5EF4-FFF2-40B4-BE49-F238E27FC236}">
                <a16:creationId xmlns:a16="http://schemas.microsoft.com/office/drawing/2014/main" id="{066316A4-56C2-4915-96E3-123BD8F70EA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9971" name="Rectangle 3">
            <a:extLst>
              <a:ext uri="{FF2B5EF4-FFF2-40B4-BE49-F238E27FC236}">
                <a16:creationId xmlns:a16="http://schemas.microsoft.com/office/drawing/2014/main" id="{DCDB2BCF-EDB1-4233-A049-85F2107F3E7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00128985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970" name="Rectangle 2">
            <a:extLst>
              <a:ext uri="{FF2B5EF4-FFF2-40B4-BE49-F238E27FC236}">
                <a16:creationId xmlns:a16="http://schemas.microsoft.com/office/drawing/2014/main" id="{066316A4-56C2-4915-96E3-123BD8F70EA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9971" name="Rectangle 3">
            <a:extLst>
              <a:ext uri="{FF2B5EF4-FFF2-40B4-BE49-F238E27FC236}">
                <a16:creationId xmlns:a16="http://schemas.microsoft.com/office/drawing/2014/main" id="{DCDB2BCF-EDB1-4233-A049-85F2107F3E7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617423277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970" name="Rectangle 2">
            <a:extLst>
              <a:ext uri="{FF2B5EF4-FFF2-40B4-BE49-F238E27FC236}">
                <a16:creationId xmlns:a16="http://schemas.microsoft.com/office/drawing/2014/main" id="{066316A4-56C2-4915-96E3-123BD8F70EA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39971" name="Rectangle 3">
            <a:extLst>
              <a:ext uri="{FF2B5EF4-FFF2-40B4-BE49-F238E27FC236}">
                <a16:creationId xmlns:a16="http://schemas.microsoft.com/office/drawing/2014/main" id="{DCDB2BCF-EDB1-4233-A049-85F2107F3E7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13891290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994" name="Rectangle 2">
            <a:extLst>
              <a:ext uri="{FF2B5EF4-FFF2-40B4-BE49-F238E27FC236}">
                <a16:creationId xmlns:a16="http://schemas.microsoft.com/office/drawing/2014/main" id="{43B18070-44E8-40C9-8576-E02E05DAC55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40995" name="Rectangle 3">
            <a:extLst>
              <a:ext uri="{FF2B5EF4-FFF2-40B4-BE49-F238E27FC236}">
                <a16:creationId xmlns:a16="http://schemas.microsoft.com/office/drawing/2014/main" id="{3536AFBC-F9D1-4327-81AE-60CA819D744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16175771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994" name="Rectangle 2">
            <a:extLst>
              <a:ext uri="{FF2B5EF4-FFF2-40B4-BE49-F238E27FC236}">
                <a16:creationId xmlns:a16="http://schemas.microsoft.com/office/drawing/2014/main" id="{43B18070-44E8-40C9-8576-E02E05DAC55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40995" name="Rectangle 3">
            <a:extLst>
              <a:ext uri="{FF2B5EF4-FFF2-40B4-BE49-F238E27FC236}">
                <a16:creationId xmlns:a16="http://schemas.microsoft.com/office/drawing/2014/main" id="{3536AFBC-F9D1-4327-81AE-60CA819D744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10363824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018" name="Rectangle 2">
            <a:extLst>
              <a:ext uri="{FF2B5EF4-FFF2-40B4-BE49-F238E27FC236}">
                <a16:creationId xmlns:a16="http://schemas.microsoft.com/office/drawing/2014/main" id="{800C8832-72E1-4AE5-AAA9-AC86D90A5B2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42019" name="Rectangle 3">
            <a:extLst>
              <a:ext uri="{FF2B5EF4-FFF2-40B4-BE49-F238E27FC236}">
                <a16:creationId xmlns:a16="http://schemas.microsoft.com/office/drawing/2014/main" id="{92318670-2612-4D09-A18E-0EC6AB8CD76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060981227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042" name="Rectangle 2">
            <a:extLst>
              <a:ext uri="{FF2B5EF4-FFF2-40B4-BE49-F238E27FC236}">
                <a16:creationId xmlns:a16="http://schemas.microsoft.com/office/drawing/2014/main" id="{D94D6655-1294-4C1A-98B7-51524A96B9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43043" name="Rectangle 3">
            <a:extLst>
              <a:ext uri="{FF2B5EF4-FFF2-40B4-BE49-F238E27FC236}">
                <a16:creationId xmlns:a16="http://schemas.microsoft.com/office/drawing/2014/main" id="{4DDC8CE8-5C45-414E-89AF-A955B637CB4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980300812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066" name="Rectangle 2">
            <a:extLst>
              <a:ext uri="{FF2B5EF4-FFF2-40B4-BE49-F238E27FC236}">
                <a16:creationId xmlns:a16="http://schemas.microsoft.com/office/drawing/2014/main" id="{A0FFC229-F191-4122-B0C3-5371722D766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44067" name="Rectangle 3">
            <a:extLst>
              <a:ext uri="{FF2B5EF4-FFF2-40B4-BE49-F238E27FC236}">
                <a16:creationId xmlns:a16="http://schemas.microsoft.com/office/drawing/2014/main" id="{42C4073D-2D40-4215-9873-718DC7EE248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99985736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090" name="Rectangle 2">
            <a:extLst>
              <a:ext uri="{FF2B5EF4-FFF2-40B4-BE49-F238E27FC236}">
                <a16:creationId xmlns:a16="http://schemas.microsoft.com/office/drawing/2014/main" id="{4987CDD0-B80F-4666-A57F-729A6D56028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45091" name="Rectangle 3">
            <a:extLst>
              <a:ext uri="{FF2B5EF4-FFF2-40B4-BE49-F238E27FC236}">
                <a16:creationId xmlns:a16="http://schemas.microsoft.com/office/drawing/2014/main" id="{EBEFE26F-6CD5-48C2-8CDB-F0C2EBF1EB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421235617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090" name="Rectangle 2">
            <a:extLst>
              <a:ext uri="{FF2B5EF4-FFF2-40B4-BE49-F238E27FC236}">
                <a16:creationId xmlns:a16="http://schemas.microsoft.com/office/drawing/2014/main" id="{4987CDD0-B80F-4666-A57F-729A6D56028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45091" name="Rectangle 3">
            <a:extLst>
              <a:ext uri="{FF2B5EF4-FFF2-40B4-BE49-F238E27FC236}">
                <a16:creationId xmlns:a16="http://schemas.microsoft.com/office/drawing/2014/main" id="{EBEFE26F-6CD5-48C2-8CDB-F0C2EBF1EB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721349618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090" name="Rectangle 2">
            <a:extLst>
              <a:ext uri="{FF2B5EF4-FFF2-40B4-BE49-F238E27FC236}">
                <a16:creationId xmlns:a16="http://schemas.microsoft.com/office/drawing/2014/main" id="{4987CDD0-B80F-4666-A57F-729A6D56028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45091" name="Rectangle 3">
            <a:extLst>
              <a:ext uri="{FF2B5EF4-FFF2-40B4-BE49-F238E27FC236}">
                <a16:creationId xmlns:a16="http://schemas.microsoft.com/office/drawing/2014/main" id="{EBEFE26F-6CD5-48C2-8CDB-F0C2EBF1EB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761851512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114" name="Rectangle 2">
            <a:extLst>
              <a:ext uri="{FF2B5EF4-FFF2-40B4-BE49-F238E27FC236}">
                <a16:creationId xmlns:a16="http://schemas.microsoft.com/office/drawing/2014/main" id="{E1CC96F4-BC76-4C22-B41A-2AA8C998793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46115" name="Rectangle 3">
            <a:extLst>
              <a:ext uri="{FF2B5EF4-FFF2-40B4-BE49-F238E27FC236}">
                <a16:creationId xmlns:a16="http://schemas.microsoft.com/office/drawing/2014/main" id="{FB177B9A-C7E3-4998-AA77-85CE5FA5C6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25481198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138" name="Rectangle 2">
            <a:extLst>
              <a:ext uri="{FF2B5EF4-FFF2-40B4-BE49-F238E27FC236}">
                <a16:creationId xmlns:a16="http://schemas.microsoft.com/office/drawing/2014/main" id="{F6F9BB27-D5A7-4451-847B-DACBE0F2EA9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47139" name="Rectangle 3">
            <a:extLst>
              <a:ext uri="{FF2B5EF4-FFF2-40B4-BE49-F238E27FC236}">
                <a16:creationId xmlns:a16="http://schemas.microsoft.com/office/drawing/2014/main" id="{196C714C-6221-462D-AE4F-9DCCE306F3E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75616784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62" name="Rectangle 2">
            <a:extLst>
              <a:ext uri="{FF2B5EF4-FFF2-40B4-BE49-F238E27FC236}">
                <a16:creationId xmlns:a16="http://schemas.microsoft.com/office/drawing/2014/main" id="{0189CB36-B56F-4CF0-BF3B-FF7DC82175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48163" name="Rectangle 3">
            <a:extLst>
              <a:ext uri="{FF2B5EF4-FFF2-40B4-BE49-F238E27FC236}">
                <a16:creationId xmlns:a16="http://schemas.microsoft.com/office/drawing/2014/main" id="{19A2E9C3-64E5-429B-9810-FD89CC5AA6B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447157729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186" name="Rectangle 2">
            <a:extLst>
              <a:ext uri="{FF2B5EF4-FFF2-40B4-BE49-F238E27FC236}">
                <a16:creationId xmlns:a16="http://schemas.microsoft.com/office/drawing/2014/main" id="{C191A584-6DAD-4CCE-8556-16021D31DB0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49187" name="Rectangle 3">
            <a:extLst>
              <a:ext uri="{FF2B5EF4-FFF2-40B4-BE49-F238E27FC236}">
                <a16:creationId xmlns:a16="http://schemas.microsoft.com/office/drawing/2014/main" id="{078AE92D-10A7-463C-8562-C04895922C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89070945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186" name="Rectangle 2">
            <a:extLst>
              <a:ext uri="{FF2B5EF4-FFF2-40B4-BE49-F238E27FC236}">
                <a16:creationId xmlns:a16="http://schemas.microsoft.com/office/drawing/2014/main" id="{C191A584-6DAD-4CCE-8556-16021D31DB0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49187" name="Rectangle 3">
            <a:extLst>
              <a:ext uri="{FF2B5EF4-FFF2-40B4-BE49-F238E27FC236}">
                <a16:creationId xmlns:a16="http://schemas.microsoft.com/office/drawing/2014/main" id="{078AE92D-10A7-463C-8562-C04895922C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8348674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186" name="Rectangle 2">
            <a:extLst>
              <a:ext uri="{FF2B5EF4-FFF2-40B4-BE49-F238E27FC236}">
                <a16:creationId xmlns:a16="http://schemas.microsoft.com/office/drawing/2014/main" id="{C191A584-6DAD-4CCE-8556-16021D31DB0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49187" name="Rectangle 3">
            <a:extLst>
              <a:ext uri="{FF2B5EF4-FFF2-40B4-BE49-F238E27FC236}">
                <a16:creationId xmlns:a16="http://schemas.microsoft.com/office/drawing/2014/main" id="{078AE92D-10A7-463C-8562-C04895922C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592824648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210" name="Rectangle 2">
            <a:extLst>
              <a:ext uri="{FF2B5EF4-FFF2-40B4-BE49-F238E27FC236}">
                <a16:creationId xmlns:a16="http://schemas.microsoft.com/office/drawing/2014/main" id="{E6081096-3669-4340-AB88-97C6AD4AC2B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50211" name="Rectangle 3">
            <a:extLst>
              <a:ext uri="{FF2B5EF4-FFF2-40B4-BE49-F238E27FC236}">
                <a16:creationId xmlns:a16="http://schemas.microsoft.com/office/drawing/2014/main" id="{FAB4B039-9CFB-43D4-AD82-6710989709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94551018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234" name="Rectangle 2">
            <a:extLst>
              <a:ext uri="{FF2B5EF4-FFF2-40B4-BE49-F238E27FC236}">
                <a16:creationId xmlns:a16="http://schemas.microsoft.com/office/drawing/2014/main" id="{40B093D8-EB86-4982-BEFC-4C4C97AD19A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51235" name="Rectangle 3">
            <a:extLst>
              <a:ext uri="{FF2B5EF4-FFF2-40B4-BE49-F238E27FC236}">
                <a16:creationId xmlns:a16="http://schemas.microsoft.com/office/drawing/2014/main" id="{62DE4317-FAC7-41D4-9699-28CE23CC4B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43488362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258" name="Rectangle 2">
            <a:extLst>
              <a:ext uri="{FF2B5EF4-FFF2-40B4-BE49-F238E27FC236}">
                <a16:creationId xmlns:a16="http://schemas.microsoft.com/office/drawing/2014/main" id="{D2E25696-14CC-481E-BAE6-A26EB291A99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52259" name="Rectangle 3">
            <a:extLst>
              <a:ext uri="{FF2B5EF4-FFF2-40B4-BE49-F238E27FC236}">
                <a16:creationId xmlns:a16="http://schemas.microsoft.com/office/drawing/2014/main" id="{94CB559A-F6FE-40C5-A598-19ECF1EC476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26331087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282" name="Rectangle 2">
            <a:extLst>
              <a:ext uri="{FF2B5EF4-FFF2-40B4-BE49-F238E27FC236}">
                <a16:creationId xmlns:a16="http://schemas.microsoft.com/office/drawing/2014/main" id="{75B58537-FED0-4552-84E7-B0BC2F123D2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53283" name="Rectangle 3">
            <a:extLst>
              <a:ext uri="{FF2B5EF4-FFF2-40B4-BE49-F238E27FC236}">
                <a16:creationId xmlns:a16="http://schemas.microsoft.com/office/drawing/2014/main" id="{2490E792-7A4C-45CE-8D69-B77D73AE01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889145400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306" name="Rectangle 2">
            <a:extLst>
              <a:ext uri="{FF2B5EF4-FFF2-40B4-BE49-F238E27FC236}">
                <a16:creationId xmlns:a16="http://schemas.microsoft.com/office/drawing/2014/main" id="{84107B38-5CED-42AB-9025-AA26F882BA1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54307" name="Rectangle 3">
            <a:extLst>
              <a:ext uri="{FF2B5EF4-FFF2-40B4-BE49-F238E27FC236}">
                <a16:creationId xmlns:a16="http://schemas.microsoft.com/office/drawing/2014/main" id="{791BAF64-173D-41B7-98AE-159721B0C6B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503304056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330" name="Rectangle 2">
            <a:extLst>
              <a:ext uri="{FF2B5EF4-FFF2-40B4-BE49-F238E27FC236}">
                <a16:creationId xmlns:a16="http://schemas.microsoft.com/office/drawing/2014/main" id="{D9A97550-6AC7-4206-A4C0-122762C1A8F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55331" name="Rectangle 3">
            <a:extLst>
              <a:ext uri="{FF2B5EF4-FFF2-40B4-BE49-F238E27FC236}">
                <a16:creationId xmlns:a16="http://schemas.microsoft.com/office/drawing/2014/main" id="{B20E929E-CA2B-41EB-BB68-D5D9D70E3C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345453534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330" name="Rectangle 2">
            <a:extLst>
              <a:ext uri="{FF2B5EF4-FFF2-40B4-BE49-F238E27FC236}">
                <a16:creationId xmlns:a16="http://schemas.microsoft.com/office/drawing/2014/main" id="{D9A97550-6AC7-4206-A4C0-122762C1A8F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55331" name="Rectangle 3">
            <a:extLst>
              <a:ext uri="{FF2B5EF4-FFF2-40B4-BE49-F238E27FC236}">
                <a16:creationId xmlns:a16="http://schemas.microsoft.com/office/drawing/2014/main" id="{B20E929E-CA2B-41EB-BB68-D5D9D70E3C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54593736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354" name="Rectangle 2">
            <a:extLst>
              <a:ext uri="{FF2B5EF4-FFF2-40B4-BE49-F238E27FC236}">
                <a16:creationId xmlns:a16="http://schemas.microsoft.com/office/drawing/2014/main" id="{50B541CA-28A7-41BA-BD38-0161B216CF5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56355" name="Rectangle 3">
            <a:extLst>
              <a:ext uri="{FF2B5EF4-FFF2-40B4-BE49-F238E27FC236}">
                <a16:creationId xmlns:a16="http://schemas.microsoft.com/office/drawing/2014/main" id="{A7C9AA2D-551F-4E81-B571-8C860A05CC1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979766510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378" name="Rectangle 2">
            <a:extLst>
              <a:ext uri="{FF2B5EF4-FFF2-40B4-BE49-F238E27FC236}">
                <a16:creationId xmlns:a16="http://schemas.microsoft.com/office/drawing/2014/main" id="{3577249B-E0AB-4457-BFB6-D04E192B83C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57379" name="Rectangle 3">
            <a:extLst>
              <a:ext uri="{FF2B5EF4-FFF2-40B4-BE49-F238E27FC236}">
                <a16:creationId xmlns:a16="http://schemas.microsoft.com/office/drawing/2014/main" id="{C9696D04-77BF-4142-883D-E7DB868EF6B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114287714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02" name="Rectangle 2">
            <a:extLst>
              <a:ext uri="{FF2B5EF4-FFF2-40B4-BE49-F238E27FC236}">
                <a16:creationId xmlns:a16="http://schemas.microsoft.com/office/drawing/2014/main" id="{82DF051B-28A1-4FF2-83BB-C1A3280F379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58403" name="Rectangle 3">
            <a:extLst>
              <a:ext uri="{FF2B5EF4-FFF2-40B4-BE49-F238E27FC236}">
                <a16:creationId xmlns:a16="http://schemas.microsoft.com/office/drawing/2014/main" id="{D69CFCB4-84F7-49EA-BE91-263209DE18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24358280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02" name="Rectangle 2">
            <a:extLst>
              <a:ext uri="{FF2B5EF4-FFF2-40B4-BE49-F238E27FC236}">
                <a16:creationId xmlns:a16="http://schemas.microsoft.com/office/drawing/2014/main" id="{82DF051B-28A1-4FF2-83BB-C1A3280F379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58403" name="Rectangle 3">
            <a:extLst>
              <a:ext uri="{FF2B5EF4-FFF2-40B4-BE49-F238E27FC236}">
                <a16:creationId xmlns:a16="http://schemas.microsoft.com/office/drawing/2014/main" id="{D69CFCB4-84F7-49EA-BE91-263209DE18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536823008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426" name="Rectangle 2">
            <a:extLst>
              <a:ext uri="{FF2B5EF4-FFF2-40B4-BE49-F238E27FC236}">
                <a16:creationId xmlns:a16="http://schemas.microsoft.com/office/drawing/2014/main" id="{047644DC-0E73-493B-8CFA-CF307C0FBA0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59427" name="Rectangle 3">
            <a:extLst>
              <a:ext uri="{FF2B5EF4-FFF2-40B4-BE49-F238E27FC236}">
                <a16:creationId xmlns:a16="http://schemas.microsoft.com/office/drawing/2014/main" id="{41AC5FFD-F2CA-4C34-889E-6175122B9E6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2184104616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450" name="Rectangle 2">
            <a:extLst>
              <a:ext uri="{FF2B5EF4-FFF2-40B4-BE49-F238E27FC236}">
                <a16:creationId xmlns:a16="http://schemas.microsoft.com/office/drawing/2014/main" id="{77516AAD-FAEF-45BB-AD5B-24FB7D42E06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0451" name="Rectangle 3">
            <a:extLst>
              <a:ext uri="{FF2B5EF4-FFF2-40B4-BE49-F238E27FC236}">
                <a16:creationId xmlns:a16="http://schemas.microsoft.com/office/drawing/2014/main" id="{661FE915-F8EF-4140-893E-4029FF8B99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174772720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174010826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243452610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911156777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909972008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579222016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468413162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39009282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845587834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2978883346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821608209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06472006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619857233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769525958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181217815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490245023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792365958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4671698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785593243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249104067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144786334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220941753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793256146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054990563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811522635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266321019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57050540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555938916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594402068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14165527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91968820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4475465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210681890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87514136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599224620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794141115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66498458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131792832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2947773098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153597963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2609469865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95801727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277666198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345588738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241157554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40949221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055284096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71109111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714466053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2239882966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865866288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4201729547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57334582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624011410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4030396370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490697299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2670836597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840478974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26041770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350365878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09431616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74400991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886148529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564124097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734850030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869511916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400235133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616662765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665996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587698298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2176784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19381200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029896408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243693648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648649058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432830549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23898910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055975212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345537174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0278894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59879930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01096263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211518449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46262130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>
            <a:extLst>
              <a:ext uri="{FF2B5EF4-FFF2-40B4-BE49-F238E27FC236}">
                <a16:creationId xmlns:a16="http://schemas.microsoft.com/office/drawing/2014/main" id="{057B26E8-CEA7-4DC5-984E-FC2C26997F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61475" name="Rectangle 3">
            <a:extLst>
              <a:ext uri="{FF2B5EF4-FFF2-40B4-BE49-F238E27FC236}">
                <a16:creationId xmlns:a16="http://schemas.microsoft.com/office/drawing/2014/main" id="{BEFEAB17-D122-4FDD-89CA-E0BE82512E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717202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1026"/>
          <p:cNvSpPr>
            <a:spLocks noGrp="1" noChangeArrowheads="1"/>
          </p:cNvSpPr>
          <p:nvPr>
            <p:ph type="ctrTitle"/>
          </p:nvPr>
        </p:nvSpPr>
        <p:spPr>
          <a:xfrm>
            <a:off x="5257800" y="914400"/>
            <a:ext cx="3200400" cy="1447800"/>
          </a:xfrm>
        </p:spPr>
        <p:txBody>
          <a:bodyPr/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6019" name="Rectangle 1027"/>
          <p:cNvSpPr>
            <a:spLocks noGrp="1" noChangeArrowheads="1"/>
          </p:cNvSpPr>
          <p:nvPr>
            <p:ph type="subTitle" idx="1"/>
          </p:nvPr>
        </p:nvSpPr>
        <p:spPr>
          <a:xfrm>
            <a:off x="5334000" y="2743200"/>
            <a:ext cx="3200400" cy="28956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1028">
            <a:extLst>
              <a:ext uri="{FF2B5EF4-FFF2-40B4-BE49-F238E27FC236}">
                <a16:creationId xmlns:a16="http://schemas.microsoft.com/office/drawing/2014/main" id="{078DF912-BBAD-4A87-9064-7C2FE17CE52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029">
            <a:extLst>
              <a:ext uri="{FF2B5EF4-FFF2-40B4-BE49-F238E27FC236}">
                <a16:creationId xmlns:a16="http://schemas.microsoft.com/office/drawing/2014/main" id="{CE185BD9-EF14-4032-A94F-A95832321D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030">
            <a:extLst>
              <a:ext uri="{FF2B5EF4-FFF2-40B4-BE49-F238E27FC236}">
                <a16:creationId xmlns:a16="http://schemas.microsoft.com/office/drawing/2014/main" id="{027EB1E1-D943-4CD5-B898-60C4F505DBB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9B4001B-A804-420F-BF78-F89B2151F612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18239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2756E62-4070-4B7D-A0C3-9123830362D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7487748-E4F0-4D71-BF97-53A45F31384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F7E8398-D965-47FD-A164-21BD1B9231A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60A34B-63A5-4A4A-AF13-D208EE42D3DF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7264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2971461-B04D-41AE-B0C7-9FB941D5061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CEF41B4-124B-4586-9DA0-9C59652843A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5518C46-DD1C-4B9A-A90B-EE9D6ACB293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7D97964-7F1A-49E3-A825-FC7636029E3D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39312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1EFEDD-1D6A-4DC0-88C5-1C8EA98612C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0367AA-E82A-4B6A-95AE-EC3AD7964C3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FFDCEC-72CA-4323-A568-B2C2795111C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663A830-1677-47B8-B42A-3BD763BA1C23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88889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85A2A175-1A33-462F-8337-CE4AB5F9C0D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486CC768-058F-47EB-8D59-28D1260F082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5ED2D967-CA15-4D36-A071-190860A84EA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92BE714-72C4-4768-86FA-BC21872810D5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65705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F37B5675-122D-463A-8B9F-0A72E7D1BD4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61D8B230-C449-48AF-A793-C0D3F5FFD59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BFFE2A3F-5667-4DE6-A7D4-0DDA499170C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563A0AA-4B70-401C-82A5-0F5F0B9C4CA4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600294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4F931356-3C92-4F68-9CC4-F93B2A92EB5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E52A2F8E-2C2E-4BDA-8076-D428AEFA362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097250C-0DA4-4196-9D30-0CD44B48AE3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D44F7D-F2A9-47DF-AF03-DD8A31F9F388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01457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E9BE4B-1C98-4A4E-9428-F1B0D4AD595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5F26EC-9413-47BD-B4BA-C67D65FD92E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4CCC14-A448-40DF-A130-F1BF32008D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41B3FA5-1527-443A-85B4-830FC6444374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03768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80AEA2-A69A-4073-A2DA-A10D64D353C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64F575-C9E3-467E-8776-4831E6B3B5C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33B74A-C554-4DAA-B90D-F0B681D934E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67D9674-2867-4FEC-B3F6-3EB8E2288B44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30133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B0D5FF2-2C22-489B-A538-B7D7894F881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FC1C8F6-D641-41D6-82D3-71CB2922C06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31307C1-0633-41EE-95FE-E220CF816DD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596D223-AD8D-4ACB-96D5-E87214170D51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76188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781C066-9C6E-42CD-BFDC-0584CE80C82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C59636B-6BFA-45CD-A6DA-2F57FCC851D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B21FD7E-0E2F-4DA4-BA5F-24FF5F081FE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56B1C55-F94B-4C17-B89E-042003C327B2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78588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3B49E6E-4E10-498E-896A-D2DB4C3B054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FC3C475-4742-4369-B53D-9AA08589DB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84883E61-0522-44E5-B0F1-1B8898FE8FD0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C255F97F-D12C-4092-BE90-0BBF5445746D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C045FB8A-9DB9-41C4-B4B3-30CA27DF5A9C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ea typeface="新細明體" panose="02020500000000000000" pitchFamily="18" charset="-120"/>
              </a:defRPr>
            </a:lvl1pPr>
          </a:lstStyle>
          <a:p>
            <a:fld id="{DEA0A552-1EAE-4C53-87E4-9DE602E2E634}" type="slidenum">
              <a:rPr lang="en-US" altLang="zh-TW"/>
              <a:pPr/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63" r:id="rId1"/>
    <p:sldLayoutId id="2147483853" r:id="rId2"/>
    <p:sldLayoutId id="2147483854" r:id="rId3"/>
    <p:sldLayoutId id="2147483855" r:id="rId4"/>
    <p:sldLayoutId id="2147483856" r:id="rId5"/>
    <p:sldLayoutId id="2147483857" r:id="rId6"/>
    <p:sldLayoutId id="2147483858" r:id="rId7"/>
    <p:sldLayoutId id="2147483859" r:id="rId8"/>
    <p:sldLayoutId id="2147483860" r:id="rId9"/>
    <p:sldLayoutId id="2147483861" r:id="rId10"/>
    <p:sldLayoutId id="2147483862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7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7.xml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7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7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7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7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7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7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7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7.xml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7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7.xml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7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7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7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7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7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7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7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7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7.xml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7.xml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7.xml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7.xml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7.xml"/></Relationships>
</file>

<file path=ppt/slides/_rels/slide1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7.xml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7.xml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7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7.xml"/></Relationships>
</file>

<file path=ppt/slides/_rels/slide2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7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7.xml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7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7.xml"/></Relationships>
</file>

<file path=ppt/slides/_rels/slide2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7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7.xml"/></Relationships>
</file>

<file path=ppt/slides/_rels/slide2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7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7.xml"/></Relationships>
</file>

<file path=ppt/slides/_rels/slide2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7.xml"/></Relationships>
</file>

<file path=ppt/slides/_rels/slide2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7.xml"/></Relationships>
</file>

<file path=ppt/slides/_rels/slide2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7.xml"/></Relationships>
</file>

<file path=ppt/slides/_rels/slide2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7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7.xml"/></Relationships>
</file>

<file path=ppt/slides/_rels/slide2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7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7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7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7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7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7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7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7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7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7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7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7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7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7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7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7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7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7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7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7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7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7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7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7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7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7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7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7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7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7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7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7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7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7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7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7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7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7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7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7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7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7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7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7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7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7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7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7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7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7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7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7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7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7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7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7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7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7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7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7.xml"/></Relationships>
</file>

<file path=ppt/slides/_rels/slide2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7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7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7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7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7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7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7.xml"/></Relationships>
</file>

<file path=ppt/slides/_rels/slide2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7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7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7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7.xml"/></Relationships>
</file>

<file path=ppt/slides/_rels/slide2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7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7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7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7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7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7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7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7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7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7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9.xml"/><Relationship Id="rId1" Type="http://schemas.openxmlformats.org/officeDocument/2006/relationships/slideLayout" Target="../slideLayouts/slideLayout7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0.xml"/><Relationship Id="rId1" Type="http://schemas.openxmlformats.org/officeDocument/2006/relationships/slideLayout" Target="../slideLayouts/slideLayout7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1.xml"/><Relationship Id="rId1" Type="http://schemas.openxmlformats.org/officeDocument/2006/relationships/slideLayout" Target="../slideLayouts/slideLayout7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2.xml"/><Relationship Id="rId1" Type="http://schemas.openxmlformats.org/officeDocument/2006/relationships/slideLayout" Target="../slideLayouts/slideLayout7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3.xml"/><Relationship Id="rId1" Type="http://schemas.openxmlformats.org/officeDocument/2006/relationships/slideLayout" Target="../slideLayouts/slideLayout7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4.xml"/><Relationship Id="rId1" Type="http://schemas.openxmlformats.org/officeDocument/2006/relationships/slideLayout" Target="../slideLayouts/slideLayout7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5.xml"/><Relationship Id="rId1" Type="http://schemas.openxmlformats.org/officeDocument/2006/relationships/slideLayout" Target="../slideLayouts/slideLayout7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6.xml"/><Relationship Id="rId1" Type="http://schemas.openxmlformats.org/officeDocument/2006/relationships/slideLayout" Target="../slideLayouts/slideLayout7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7.xml"/><Relationship Id="rId1" Type="http://schemas.openxmlformats.org/officeDocument/2006/relationships/slideLayout" Target="../slideLayouts/slideLayout7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8.xml"/><Relationship Id="rId1" Type="http://schemas.openxmlformats.org/officeDocument/2006/relationships/slideLayout" Target="../slideLayouts/slideLayout7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9.xml"/><Relationship Id="rId1" Type="http://schemas.openxmlformats.org/officeDocument/2006/relationships/slideLayout" Target="../slideLayouts/slideLayout7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0.xml"/><Relationship Id="rId1" Type="http://schemas.openxmlformats.org/officeDocument/2006/relationships/slideLayout" Target="../slideLayouts/slideLayout7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1.xml"/><Relationship Id="rId1" Type="http://schemas.openxmlformats.org/officeDocument/2006/relationships/slideLayout" Target="../slideLayouts/slideLayout7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2.xml"/><Relationship Id="rId1" Type="http://schemas.openxmlformats.org/officeDocument/2006/relationships/slideLayout" Target="../slideLayouts/slideLayout7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3.xml"/><Relationship Id="rId1" Type="http://schemas.openxmlformats.org/officeDocument/2006/relationships/slideLayout" Target="../slideLayouts/slideLayout7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4.xml"/><Relationship Id="rId1" Type="http://schemas.openxmlformats.org/officeDocument/2006/relationships/slideLayout" Target="../slideLayouts/slideLayout7.xml"/></Relationships>
</file>

<file path=ppt/slides/_rels/slide3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5.xml"/><Relationship Id="rId1" Type="http://schemas.openxmlformats.org/officeDocument/2006/relationships/slideLayout" Target="../slideLayouts/slideLayout7.xml"/></Relationships>
</file>

<file path=ppt/slides/_rels/slide3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6.xml"/><Relationship Id="rId1" Type="http://schemas.openxmlformats.org/officeDocument/2006/relationships/slideLayout" Target="../slideLayouts/slideLayout7.xml"/></Relationships>
</file>

<file path=ppt/slides/_rels/slide3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7.xml"/><Relationship Id="rId1" Type="http://schemas.openxmlformats.org/officeDocument/2006/relationships/slideLayout" Target="../slideLayouts/slideLayout7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8.xml"/><Relationship Id="rId1" Type="http://schemas.openxmlformats.org/officeDocument/2006/relationships/slideLayout" Target="../slideLayouts/slideLayout7.xml"/></Relationships>
</file>

<file path=ppt/slides/_rels/slide3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9.xml"/><Relationship Id="rId1" Type="http://schemas.openxmlformats.org/officeDocument/2006/relationships/slideLayout" Target="../slideLayouts/slideLayout7.xml"/></Relationships>
</file>

<file path=ppt/slides/_rels/slide3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0.xml"/><Relationship Id="rId1" Type="http://schemas.openxmlformats.org/officeDocument/2006/relationships/slideLayout" Target="../slideLayouts/slideLayout7.xml"/></Relationships>
</file>

<file path=ppt/slides/_rels/slide3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1.xml"/><Relationship Id="rId1" Type="http://schemas.openxmlformats.org/officeDocument/2006/relationships/slideLayout" Target="../slideLayouts/slideLayout7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2.xml"/><Relationship Id="rId1" Type="http://schemas.openxmlformats.org/officeDocument/2006/relationships/slideLayout" Target="../slideLayouts/slideLayout7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3.xml"/><Relationship Id="rId1" Type="http://schemas.openxmlformats.org/officeDocument/2006/relationships/slideLayout" Target="../slideLayouts/slideLayout7.xml"/></Relationships>
</file>

<file path=ppt/slides/_rels/slide3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4.xml"/><Relationship Id="rId1" Type="http://schemas.openxmlformats.org/officeDocument/2006/relationships/slideLayout" Target="../slideLayouts/slideLayout7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5.xml"/><Relationship Id="rId1" Type="http://schemas.openxmlformats.org/officeDocument/2006/relationships/slideLayout" Target="../slideLayouts/slideLayout7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6.xml"/><Relationship Id="rId1" Type="http://schemas.openxmlformats.org/officeDocument/2006/relationships/slideLayout" Target="../slideLayouts/slideLayout7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7.xml"/><Relationship Id="rId1" Type="http://schemas.openxmlformats.org/officeDocument/2006/relationships/slideLayout" Target="../slideLayouts/slideLayout7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8.xml"/><Relationship Id="rId1" Type="http://schemas.openxmlformats.org/officeDocument/2006/relationships/slideLayout" Target="../slideLayouts/slideLayout7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9.xml"/><Relationship Id="rId1" Type="http://schemas.openxmlformats.org/officeDocument/2006/relationships/slideLayout" Target="../slideLayouts/slideLayout7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0.xml"/><Relationship Id="rId1" Type="http://schemas.openxmlformats.org/officeDocument/2006/relationships/slideLayout" Target="../slideLayouts/slideLayout7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1.xml"/><Relationship Id="rId1" Type="http://schemas.openxmlformats.org/officeDocument/2006/relationships/slideLayout" Target="../slideLayouts/slideLayout7.xml"/></Relationships>
</file>

<file path=ppt/slides/_rels/slide3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>
            <a:extLst>
              <a:ext uri="{FF2B5EF4-FFF2-40B4-BE49-F238E27FC236}">
                <a16:creationId xmlns:a16="http://schemas.microsoft.com/office/drawing/2014/main" id="{812768E5-6170-4FCE-B83F-FC5D23678CB7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b="1">
                <a:latin typeface="Arial" panose="020B0604020202020204" pitchFamily="34" charset="0"/>
                <a:ea typeface="新細明體" panose="02020500000000000000" pitchFamily="18" charset="-120"/>
              </a:rPr>
              <a:t>Chapter 5</a:t>
            </a:r>
            <a:endParaRPr lang="en-US" altLang="zh-TW">
              <a:ea typeface="新細明體" panose="02020500000000000000" pitchFamily="18" charset="-120"/>
            </a:endParaRPr>
          </a:p>
        </p:txBody>
      </p:sp>
      <p:sp>
        <p:nvSpPr>
          <p:cNvPr id="3076" name="Rectangle 3">
            <a:extLst>
              <a:ext uri="{FF2B5EF4-FFF2-40B4-BE49-F238E27FC236}">
                <a16:creationId xmlns:a16="http://schemas.microsoft.com/office/drawing/2014/main" id="{5AC2FBBC-AE66-4F8C-9827-0AA904A33C96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Relational Algebra and SQL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56C510-0D36-499F-9383-DA8EE524E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4001B-A804-420F-BF78-F89B2151F612}" type="slidenum">
              <a:rPr lang="en-US" altLang="zh-TW" smtClean="0"/>
              <a:pPr/>
              <a:t>1</a:t>
            </a:fld>
            <a:endParaRPr lang="en-US" altLang="zh-TW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2">
            <a:extLst>
              <a:ext uri="{FF2B5EF4-FFF2-40B4-BE49-F238E27FC236}">
                <a16:creationId xmlns:a16="http://schemas.microsoft.com/office/drawing/2014/main" id="{ACD9D8C6-ECF5-4B12-BAE6-943B2571D6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Father of Relational Model </a:t>
            </a:r>
            <a:br>
              <a:rPr lang="en-US" altLang="zh-TW">
                <a:ea typeface="新細明體" panose="02020500000000000000" pitchFamily="18" charset="-120"/>
              </a:rPr>
            </a:br>
            <a:r>
              <a:rPr lang="en-US" altLang="zh-TW">
                <a:ea typeface="新細明體" panose="02020500000000000000" pitchFamily="18" charset="-120"/>
              </a:rPr>
              <a:t>Edgar F. Codd (1923-2003)</a:t>
            </a:r>
            <a:br>
              <a:rPr lang="en-US" altLang="zh-TW">
                <a:ea typeface="新細明體" panose="02020500000000000000" pitchFamily="18" charset="-120"/>
              </a:rPr>
            </a:br>
            <a:endParaRPr lang="en-US" altLang="zh-TW">
              <a:ea typeface="新細明體" panose="02020500000000000000" pitchFamily="18" charset="-120"/>
            </a:endParaRPr>
          </a:p>
        </p:txBody>
      </p:sp>
      <p:pic>
        <p:nvPicPr>
          <p:cNvPr id="4100" name="Picture 5" descr="C:\edgar.jpg">
            <a:extLst>
              <a:ext uri="{FF2B5EF4-FFF2-40B4-BE49-F238E27FC236}">
                <a16:creationId xmlns:a16="http://schemas.microsoft.com/office/drawing/2014/main" id="{07294E33-EE12-4772-AC7E-2A294C8FBA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9400" y="1676400"/>
            <a:ext cx="2865438" cy="348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1" name="Text Box 6">
            <a:extLst>
              <a:ext uri="{FF2B5EF4-FFF2-40B4-BE49-F238E27FC236}">
                <a16:creationId xmlns:a16="http://schemas.microsoft.com/office/drawing/2014/main" id="{AA278752-9DF4-4C1E-917D-60A214F6A1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5486400"/>
            <a:ext cx="7467600" cy="131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PhD from U. of Michigan, Ann Arbor, Michigan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Received Turing Award in 1981.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More see http://en.wikipedia.org/wiki/Edgar_Codd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3FB98DF-DC51-4C44-9EFE-63A2AD58A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2</a:t>
            </a:fld>
            <a:endParaRPr lang="en-US" altLang="zh-TW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2">
            <a:extLst>
              <a:ext uri="{FF2B5EF4-FFF2-40B4-BE49-F238E27FC236}">
                <a16:creationId xmlns:a16="http://schemas.microsoft.com/office/drawing/2014/main" id="{18D56008-3DBF-4536-8ADE-8798063F4D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Relational Query Languages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2F9DB214-0838-47EA-A57B-8A3B3A2F5D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  <a:defRPr/>
            </a:pPr>
            <a:r>
              <a:rPr lang="en-US"/>
              <a:t>Languages for describing queries on a relational database</a:t>
            </a:r>
          </a:p>
          <a:p>
            <a:pPr>
              <a:lnSpc>
                <a:spcPct val="90000"/>
              </a:lnSpc>
              <a:defRPr/>
            </a:pPr>
            <a:r>
              <a:rPr lang="en-US" i="1">
                <a:effectLst>
                  <a:outerShdw blurRad="38100" dist="38100" dir="2700000" algn="tl">
                    <a:srgbClr val="C0C0C0"/>
                  </a:outerShdw>
                </a:effectLst>
              </a:rPr>
              <a:t>Structured Query Language</a:t>
            </a:r>
            <a:r>
              <a:rPr lang="en-US"/>
              <a:t> (SQL)</a:t>
            </a:r>
          </a:p>
          <a:p>
            <a:pPr lvl="1">
              <a:lnSpc>
                <a:spcPct val="90000"/>
              </a:lnSpc>
              <a:defRPr/>
            </a:pPr>
            <a:r>
              <a:rPr lang="en-US"/>
              <a:t>Predominant application-level query language</a:t>
            </a:r>
          </a:p>
          <a:p>
            <a:pPr lvl="1">
              <a:lnSpc>
                <a:spcPct val="90000"/>
              </a:lnSpc>
              <a:defRPr/>
            </a:pPr>
            <a:r>
              <a:rPr lang="en-US"/>
              <a:t>Declarative</a:t>
            </a:r>
          </a:p>
          <a:p>
            <a:pPr>
              <a:lnSpc>
                <a:spcPct val="90000"/>
              </a:lnSpc>
              <a:defRPr/>
            </a:pPr>
            <a:r>
              <a:rPr lang="en-US" i="1">
                <a:effectLst>
                  <a:outerShdw blurRad="38100" dist="38100" dir="2700000" algn="tl">
                    <a:srgbClr val="C0C0C0"/>
                  </a:outerShdw>
                </a:effectLst>
              </a:rPr>
              <a:t>Relational Algebra</a:t>
            </a:r>
          </a:p>
          <a:p>
            <a:pPr lvl="1">
              <a:lnSpc>
                <a:spcPct val="90000"/>
              </a:lnSpc>
              <a:defRPr/>
            </a:pPr>
            <a:r>
              <a:rPr lang="en-US"/>
              <a:t>Intermediate language used within DBMS</a:t>
            </a:r>
          </a:p>
          <a:p>
            <a:pPr lvl="1">
              <a:lnSpc>
                <a:spcPct val="90000"/>
              </a:lnSpc>
              <a:defRPr/>
            </a:pPr>
            <a:r>
              <a:rPr lang="en-US"/>
              <a:t>Procedural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B0B78C-9969-4ACC-A8B8-B82FEF3CC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3</a:t>
            </a:fld>
            <a:endParaRPr lang="en-US" alt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Rectangle 2">
            <a:extLst>
              <a:ext uri="{FF2B5EF4-FFF2-40B4-BE49-F238E27FC236}">
                <a16:creationId xmlns:a16="http://schemas.microsoft.com/office/drawing/2014/main" id="{7A7B37DC-74EC-4D2F-B02B-5BBFEEBDD2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609600"/>
            <a:ext cx="7772400" cy="6096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What is an Algebra?</a:t>
            </a: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8C7F23CD-4520-4501-869A-55F5DF612DC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81000" y="1752600"/>
            <a:ext cx="8382000" cy="43434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sz="2800" dirty="0">
                <a:ea typeface="新細明體" panose="02020500000000000000" pitchFamily="18" charset="-120"/>
              </a:rPr>
              <a:t>Operators: functions, whose functionalities are pre-defined.</a:t>
            </a:r>
          </a:p>
          <a:p>
            <a:pPr>
              <a:lnSpc>
                <a:spcPct val="90000"/>
              </a:lnSpc>
            </a:pPr>
            <a:r>
              <a:rPr lang="en-US" altLang="zh-TW" sz="2800" dirty="0">
                <a:ea typeface="新細明體" panose="02020500000000000000" pitchFamily="18" charset="-120"/>
              </a:rPr>
              <a:t>Operands: a fixed set.</a:t>
            </a:r>
          </a:p>
          <a:p>
            <a:pPr>
              <a:lnSpc>
                <a:spcPct val="90000"/>
              </a:lnSpc>
            </a:pPr>
            <a:r>
              <a:rPr lang="en-US" altLang="zh-TW" sz="2800" dirty="0">
                <a:ea typeface="新細明體" panose="02020500000000000000" pitchFamily="18" charset="-120"/>
              </a:rPr>
              <a:t>Domain: the set of values that operators take as inputs and outputs.</a:t>
            </a:r>
          </a:p>
          <a:p>
            <a:pPr marL="0" indent="0">
              <a:lnSpc>
                <a:spcPct val="90000"/>
              </a:lnSpc>
              <a:buNone/>
            </a:pPr>
            <a:endParaRPr lang="en-US" altLang="zh-TW" sz="2800" dirty="0">
              <a:ea typeface="新細明體" panose="02020500000000000000" pitchFamily="18" charset="-120"/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altLang="zh-TW" sz="2800" dirty="0">
                <a:ea typeface="新細明體" panose="02020500000000000000" pitchFamily="18" charset="-120"/>
              </a:rPr>
              <a:t>Example: </a:t>
            </a:r>
          </a:p>
          <a:p>
            <a:pPr lvl="1">
              <a:lnSpc>
                <a:spcPct val="90000"/>
              </a:lnSpc>
            </a:pPr>
            <a:r>
              <a:rPr lang="en-US" altLang="zh-TW" sz="24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Operators: Add, Subtract, Multiply, and Divide</a:t>
            </a:r>
          </a:p>
          <a:p>
            <a:pPr lvl="1">
              <a:lnSpc>
                <a:spcPct val="90000"/>
              </a:lnSpc>
            </a:pPr>
            <a:r>
              <a:rPr lang="en-US" altLang="zh-TW" sz="24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Domain: integer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45EC7A-56D8-4FDE-B730-034C4F5CF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4</a:t>
            </a:fld>
            <a:endParaRPr lang="en-US" altLang="zh-TW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>
            <a:extLst>
              <a:ext uri="{FF2B5EF4-FFF2-40B4-BE49-F238E27FC236}">
                <a16:creationId xmlns:a16="http://schemas.microsoft.com/office/drawing/2014/main" id="{067DD14C-20E8-416E-8B5C-22F5842E79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Relational Algebra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721196-AD39-4A6E-B824-721C908510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US" sz="2800" i="1"/>
              <a:t>Domain</a:t>
            </a:r>
            <a:r>
              <a:rPr lang="en-US" sz="2800"/>
              <a:t>: set of relations</a:t>
            </a:r>
          </a:p>
          <a:p>
            <a:pPr>
              <a:defRPr/>
            </a:pPr>
            <a:r>
              <a:rPr lang="en-US" sz="2800" i="1"/>
              <a:t>Basic operators</a:t>
            </a:r>
            <a:r>
              <a:rPr lang="en-US" sz="2800"/>
              <a:t>: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select</a:t>
            </a:r>
            <a:r>
              <a:rPr lang="en-US" sz="2800"/>
              <a:t>,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project</a:t>
            </a:r>
            <a:r>
              <a:rPr lang="en-US" sz="2800"/>
              <a:t>,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union</a:t>
            </a:r>
            <a:r>
              <a:rPr lang="en-US" sz="2800"/>
              <a:t>,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set</a:t>
            </a:r>
            <a:r>
              <a:rPr lang="en-US" sz="2800"/>
              <a:t>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difference</a:t>
            </a:r>
            <a:r>
              <a:rPr lang="en-US" sz="2800"/>
              <a:t>,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Cartesian</a:t>
            </a:r>
            <a:r>
              <a:rPr lang="en-US" sz="2800"/>
              <a:t>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product</a:t>
            </a:r>
          </a:p>
          <a:p>
            <a:pPr>
              <a:defRPr/>
            </a:pPr>
            <a:r>
              <a:rPr lang="en-US" sz="2800" i="1"/>
              <a:t>Derived operators</a:t>
            </a:r>
            <a:r>
              <a:rPr lang="en-US" sz="2800"/>
              <a:t>: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set intersection</a:t>
            </a:r>
            <a:r>
              <a:rPr lang="en-US" sz="2800"/>
              <a:t>,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division</a:t>
            </a:r>
            <a:r>
              <a:rPr lang="en-US" sz="2800"/>
              <a:t>,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join</a:t>
            </a:r>
          </a:p>
          <a:p>
            <a:pPr>
              <a:defRPr/>
            </a:pPr>
            <a:r>
              <a:rPr lang="en-US" sz="2800" i="1"/>
              <a:t>Procedural</a:t>
            </a:r>
            <a:r>
              <a:rPr lang="en-US" sz="2800"/>
              <a:t>: Relational expression specifies query by describing an algorithm (the sequence in which operators are applied) for determining the result of an expression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8925FE-7041-43EA-90FD-4B5736528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5</a:t>
            </a:fld>
            <a:endParaRPr lang="en-US" altLang="zh-TW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2">
            <a:extLst>
              <a:ext uri="{FF2B5EF4-FFF2-40B4-BE49-F238E27FC236}">
                <a16:creationId xmlns:a16="http://schemas.microsoft.com/office/drawing/2014/main" id="{2A1B54DD-1D8A-48DE-8DC9-6FE30F1F83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382000" cy="609600"/>
          </a:xfrm>
          <a:solidFill>
            <a:srgbClr val="FFFFFF"/>
          </a:solidFill>
        </p:spPr>
        <p:txBody>
          <a:bodyPr/>
          <a:lstStyle/>
          <a:p>
            <a:r>
              <a:rPr lang="en-US" altLang="zh-TW" sz="3600">
                <a:ea typeface="新細明體" panose="02020500000000000000" pitchFamily="18" charset="-120"/>
              </a:rPr>
              <a:t>The Role of Relational Algebra in a DBMS</a:t>
            </a:r>
          </a:p>
        </p:txBody>
      </p:sp>
      <p:pic>
        <p:nvPicPr>
          <p:cNvPr id="8196" name="Picture 29">
            <a:extLst>
              <a:ext uri="{FF2B5EF4-FFF2-40B4-BE49-F238E27FC236}">
                <a16:creationId xmlns:a16="http://schemas.microsoft.com/office/drawing/2014/main" id="{E59624CB-86B6-4BB8-8BE9-A7D60E744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2713" y="990600"/>
            <a:ext cx="6376987" cy="549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7" name="Freeform 30">
            <a:extLst>
              <a:ext uri="{FF2B5EF4-FFF2-40B4-BE49-F238E27FC236}">
                <a16:creationId xmlns:a16="http://schemas.microsoft.com/office/drawing/2014/main" id="{3D66BF45-4CE1-4B53-B69D-1D19868B7FDD}"/>
              </a:ext>
            </a:extLst>
          </p:cNvPr>
          <p:cNvSpPr>
            <a:spLocks/>
          </p:cNvSpPr>
          <p:nvPr/>
        </p:nvSpPr>
        <p:spPr bwMode="auto">
          <a:xfrm>
            <a:off x="606425" y="2220913"/>
            <a:ext cx="4694238" cy="2997200"/>
          </a:xfrm>
          <a:custGeom>
            <a:avLst/>
            <a:gdLst>
              <a:gd name="T0" fmla="*/ 2147483647 w 2957"/>
              <a:gd name="T1" fmla="*/ 2147483647 h 1888"/>
              <a:gd name="T2" fmla="*/ 2147483647 w 2957"/>
              <a:gd name="T3" fmla="*/ 2147483647 h 1888"/>
              <a:gd name="T4" fmla="*/ 2147483647 w 2957"/>
              <a:gd name="T5" fmla="*/ 2147483647 h 1888"/>
              <a:gd name="T6" fmla="*/ 2147483647 w 2957"/>
              <a:gd name="T7" fmla="*/ 2147483647 h 1888"/>
              <a:gd name="T8" fmla="*/ 2147483647 w 2957"/>
              <a:gd name="T9" fmla="*/ 2147483647 h 1888"/>
              <a:gd name="T10" fmla="*/ 2147483647 w 2957"/>
              <a:gd name="T11" fmla="*/ 2147483647 h 1888"/>
              <a:gd name="T12" fmla="*/ 2147483647 w 2957"/>
              <a:gd name="T13" fmla="*/ 2147483647 h 1888"/>
              <a:gd name="T14" fmla="*/ 2147483647 w 2957"/>
              <a:gd name="T15" fmla="*/ 2147483647 h 1888"/>
              <a:gd name="T16" fmla="*/ 2147483647 w 2957"/>
              <a:gd name="T17" fmla="*/ 2147483647 h 1888"/>
              <a:gd name="T18" fmla="*/ 2147483647 w 2957"/>
              <a:gd name="T19" fmla="*/ 2147483647 h 1888"/>
              <a:gd name="T20" fmla="*/ 2147483647 w 2957"/>
              <a:gd name="T21" fmla="*/ 2147483647 h 1888"/>
              <a:gd name="T22" fmla="*/ 2147483647 w 2957"/>
              <a:gd name="T23" fmla="*/ 2147483647 h 1888"/>
              <a:gd name="T24" fmla="*/ 2147483647 w 2957"/>
              <a:gd name="T25" fmla="*/ 2147483647 h 1888"/>
              <a:gd name="T26" fmla="*/ 2147483647 w 2957"/>
              <a:gd name="T27" fmla="*/ 2147483647 h 1888"/>
              <a:gd name="T28" fmla="*/ 2147483647 w 2957"/>
              <a:gd name="T29" fmla="*/ 2147483647 h 1888"/>
              <a:gd name="T30" fmla="*/ 2147483647 w 2957"/>
              <a:gd name="T31" fmla="*/ 2147483647 h 1888"/>
              <a:gd name="T32" fmla="*/ 2147483647 w 2957"/>
              <a:gd name="T33" fmla="*/ 2147483647 h 1888"/>
              <a:gd name="T34" fmla="*/ 2147483647 w 2957"/>
              <a:gd name="T35" fmla="*/ 2147483647 h 1888"/>
              <a:gd name="T36" fmla="*/ 2147483647 w 2957"/>
              <a:gd name="T37" fmla="*/ 2147483647 h 1888"/>
              <a:gd name="T38" fmla="*/ 2147483647 w 2957"/>
              <a:gd name="T39" fmla="*/ 2147483647 h 1888"/>
              <a:gd name="T40" fmla="*/ 2147483647 w 2957"/>
              <a:gd name="T41" fmla="*/ 2147483647 h 1888"/>
              <a:gd name="T42" fmla="*/ 2147483647 w 2957"/>
              <a:gd name="T43" fmla="*/ 2147483647 h 1888"/>
              <a:gd name="T44" fmla="*/ 2147483647 w 2957"/>
              <a:gd name="T45" fmla="*/ 2147483647 h 1888"/>
              <a:gd name="T46" fmla="*/ 2147483647 w 2957"/>
              <a:gd name="T47" fmla="*/ 2147483647 h 1888"/>
              <a:gd name="T48" fmla="*/ 2147483647 w 2957"/>
              <a:gd name="T49" fmla="*/ 2147483647 h 1888"/>
              <a:gd name="T50" fmla="*/ 2147483647 w 2957"/>
              <a:gd name="T51" fmla="*/ 2147483647 h 1888"/>
              <a:gd name="T52" fmla="*/ 2147483647 w 2957"/>
              <a:gd name="T53" fmla="*/ 2147483647 h 1888"/>
              <a:gd name="T54" fmla="*/ 2147483647 w 2957"/>
              <a:gd name="T55" fmla="*/ 2147483647 h 1888"/>
              <a:gd name="T56" fmla="*/ 2147483647 w 2957"/>
              <a:gd name="T57" fmla="*/ 2147483647 h 1888"/>
              <a:gd name="T58" fmla="*/ 2147483647 w 2957"/>
              <a:gd name="T59" fmla="*/ 2147483647 h 1888"/>
              <a:gd name="T60" fmla="*/ 2147483647 w 2957"/>
              <a:gd name="T61" fmla="*/ 2147483647 h 1888"/>
              <a:gd name="T62" fmla="*/ 2147483647 w 2957"/>
              <a:gd name="T63" fmla="*/ 2147483647 h 1888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w 2957"/>
              <a:gd name="T97" fmla="*/ 0 h 1888"/>
              <a:gd name="T98" fmla="*/ 2957 w 2957"/>
              <a:gd name="T99" fmla="*/ 1888 h 1888"/>
            </a:gdLst>
            <a:ahLst/>
            <a:cxnLst>
              <a:cxn ang="T64">
                <a:pos x="T0" y="T1"/>
              </a:cxn>
              <a:cxn ang="T65">
                <a:pos x="T2" y="T3"/>
              </a:cxn>
              <a:cxn ang="T66">
                <a:pos x="T4" y="T5"/>
              </a:cxn>
              <a:cxn ang="T67">
                <a:pos x="T6" y="T7"/>
              </a:cxn>
              <a:cxn ang="T68">
                <a:pos x="T8" y="T9"/>
              </a:cxn>
              <a:cxn ang="T69">
                <a:pos x="T10" y="T11"/>
              </a:cxn>
              <a:cxn ang="T70">
                <a:pos x="T12" y="T13"/>
              </a:cxn>
              <a:cxn ang="T71">
                <a:pos x="T14" y="T15"/>
              </a:cxn>
              <a:cxn ang="T72">
                <a:pos x="T16" y="T17"/>
              </a:cxn>
              <a:cxn ang="T73">
                <a:pos x="T18" y="T19"/>
              </a:cxn>
              <a:cxn ang="T74">
                <a:pos x="T20" y="T21"/>
              </a:cxn>
              <a:cxn ang="T75">
                <a:pos x="T22" y="T23"/>
              </a:cxn>
              <a:cxn ang="T76">
                <a:pos x="T24" y="T25"/>
              </a:cxn>
              <a:cxn ang="T77">
                <a:pos x="T26" y="T27"/>
              </a:cxn>
              <a:cxn ang="T78">
                <a:pos x="T28" y="T29"/>
              </a:cxn>
              <a:cxn ang="T79">
                <a:pos x="T30" y="T31"/>
              </a:cxn>
              <a:cxn ang="T80">
                <a:pos x="T32" y="T33"/>
              </a:cxn>
              <a:cxn ang="T81">
                <a:pos x="T34" y="T35"/>
              </a:cxn>
              <a:cxn ang="T82">
                <a:pos x="T36" y="T37"/>
              </a:cxn>
              <a:cxn ang="T83">
                <a:pos x="T38" y="T39"/>
              </a:cxn>
              <a:cxn ang="T84">
                <a:pos x="T40" y="T41"/>
              </a:cxn>
              <a:cxn ang="T85">
                <a:pos x="T42" y="T43"/>
              </a:cxn>
              <a:cxn ang="T86">
                <a:pos x="T44" y="T45"/>
              </a:cxn>
              <a:cxn ang="T87">
                <a:pos x="T46" y="T47"/>
              </a:cxn>
              <a:cxn ang="T88">
                <a:pos x="T48" y="T49"/>
              </a:cxn>
              <a:cxn ang="T89">
                <a:pos x="T50" y="T51"/>
              </a:cxn>
              <a:cxn ang="T90">
                <a:pos x="T52" y="T53"/>
              </a:cxn>
              <a:cxn ang="T91">
                <a:pos x="T54" y="T55"/>
              </a:cxn>
              <a:cxn ang="T92">
                <a:pos x="T56" y="T57"/>
              </a:cxn>
              <a:cxn ang="T93">
                <a:pos x="T58" y="T59"/>
              </a:cxn>
              <a:cxn ang="T94">
                <a:pos x="T60" y="T61"/>
              </a:cxn>
              <a:cxn ang="T95">
                <a:pos x="T62" y="T63"/>
              </a:cxn>
            </a:cxnLst>
            <a:rect l="T96" t="T97" r="T98" b="T99"/>
            <a:pathLst>
              <a:path w="2957" h="1888">
                <a:moveTo>
                  <a:pt x="2077" y="27"/>
                </a:moveTo>
                <a:cubicBezTo>
                  <a:pt x="1848" y="21"/>
                  <a:pt x="1709" y="119"/>
                  <a:pt x="1483" y="82"/>
                </a:cubicBezTo>
                <a:cubicBezTo>
                  <a:pt x="1115" y="87"/>
                  <a:pt x="795" y="96"/>
                  <a:pt x="441" y="146"/>
                </a:cubicBezTo>
                <a:cubicBezTo>
                  <a:pt x="359" y="178"/>
                  <a:pt x="393" y="166"/>
                  <a:pt x="340" y="183"/>
                </a:cubicBezTo>
                <a:cubicBezTo>
                  <a:pt x="317" y="206"/>
                  <a:pt x="288" y="222"/>
                  <a:pt x="267" y="247"/>
                </a:cubicBezTo>
                <a:cubicBezTo>
                  <a:pt x="229" y="293"/>
                  <a:pt x="191" y="343"/>
                  <a:pt x="148" y="384"/>
                </a:cubicBezTo>
                <a:cubicBezTo>
                  <a:pt x="133" y="430"/>
                  <a:pt x="111" y="472"/>
                  <a:pt x="84" y="512"/>
                </a:cubicBezTo>
                <a:cubicBezTo>
                  <a:pt x="70" y="582"/>
                  <a:pt x="54" y="654"/>
                  <a:pt x="29" y="722"/>
                </a:cubicBezTo>
                <a:cubicBezTo>
                  <a:pt x="10" y="868"/>
                  <a:pt x="0" y="1001"/>
                  <a:pt x="48" y="1143"/>
                </a:cubicBezTo>
                <a:cubicBezTo>
                  <a:pt x="55" y="1165"/>
                  <a:pt x="64" y="1187"/>
                  <a:pt x="75" y="1207"/>
                </a:cubicBezTo>
                <a:cubicBezTo>
                  <a:pt x="95" y="1241"/>
                  <a:pt x="139" y="1307"/>
                  <a:pt x="139" y="1307"/>
                </a:cubicBezTo>
                <a:cubicBezTo>
                  <a:pt x="160" y="1374"/>
                  <a:pt x="132" y="1301"/>
                  <a:pt x="167" y="1353"/>
                </a:cubicBezTo>
                <a:cubicBezTo>
                  <a:pt x="196" y="1396"/>
                  <a:pt x="204" y="1445"/>
                  <a:pt x="258" y="1463"/>
                </a:cubicBezTo>
                <a:cubicBezTo>
                  <a:pt x="325" y="1562"/>
                  <a:pt x="340" y="1600"/>
                  <a:pt x="505" y="1655"/>
                </a:cubicBezTo>
                <a:cubicBezTo>
                  <a:pt x="670" y="1710"/>
                  <a:pt x="834" y="1764"/>
                  <a:pt x="999" y="1819"/>
                </a:cubicBezTo>
                <a:cubicBezTo>
                  <a:pt x="1008" y="1822"/>
                  <a:pt x="1026" y="1828"/>
                  <a:pt x="1026" y="1828"/>
                </a:cubicBezTo>
                <a:cubicBezTo>
                  <a:pt x="1112" y="1888"/>
                  <a:pt x="1317" y="1856"/>
                  <a:pt x="1419" y="1865"/>
                </a:cubicBezTo>
                <a:cubicBezTo>
                  <a:pt x="1705" y="1862"/>
                  <a:pt x="1983" y="1825"/>
                  <a:pt x="2269" y="1819"/>
                </a:cubicBezTo>
                <a:cubicBezTo>
                  <a:pt x="2329" y="1818"/>
                  <a:pt x="2348" y="1797"/>
                  <a:pt x="2407" y="1783"/>
                </a:cubicBezTo>
                <a:cubicBezTo>
                  <a:pt x="2413" y="1777"/>
                  <a:pt x="2645" y="1723"/>
                  <a:pt x="2653" y="1719"/>
                </a:cubicBezTo>
                <a:cubicBezTo>
                  <a:pt x="2670" y="1710"/>
                  <a:pt x="2653" y="1728"/>
                  <a:pt x="2653" y="1728"/>
                </a:cubicBezTo>
                <a:cubicBezTo>
                  <a:pt x="2728" y="1678"/>
                  <a:pt x="2668" y="1711"/>
                  <a:pt x="2754" y="1682"/>
                </a:cubicBezTo>
                <a:cubicBezTo>
                  <a:pt x="2826" y="1630"/>
                  <a:pt x="2793" y="1644"/>
                  <a:pt x="2845" y="1627"/>
                </a:cubicBezTo>
                <a:cubicBezTo>
                  <a:pt x="2917" y="1555"/>
                  <a:pt x="2899" y="1563"/>
                  <a:pt x="2946" y="1463"/>
                </a:cubicBezTo>
                <a:cubicBezTo>
                  <a:pt x="2957" y="1439"/>
                  <a:pt x="2937" y="1371"/>
                  <a:pt x="2937" y="1371"/>
                </a:cubicBezTo>
                <a:cubicBezTo>
                  <a:pt x="2940" y="1350"/>
                  <a:pt x="2893" y="1319"/>
                  <a:pt x="2891" y="1298"/>
                </a:cubicBezTo>
                <a:cubicBezTo>
                  <a:pt x="2882" y="1203"/>
                  <a:pt x="2804" y="990"/>
                  <a:pt x="2781" y="896"/>
                </a:cubicBezTo>
                <a:cubicBezTo>
                  <a:pt x="2763" y="607"/>
                  <a:pt x="2827" y="412"/>
                  <a:pt x="2681" y="164"/>
                </a:cubicBezTo>
                <a:cubicBezTo>
                  <a:pt x="2633" y="83"/>
                  <a:pt x="2576" y="83"/>
                  <a:pt x="2498" y="73"/>
                </a:cubicBezTo>
                <a:cubicBezTo>
                  <a:pt x="2402" y="42"/>
                  <a:pt x="2462" y="54"/>
                  <a:pt x="2315" y="64"/>
                </a:cubicBezTo>
                <a:cubicBezTo>
                  <a:pt x="2271" y="75"/>
                  <a:pt x="2289" y="14"/>
                  <a:pt x="2251" y="46"/>
                </a:cubicBezTo>
                <a:cubicBezTo>
                  <a:pt x="2123" y="0"/>
                  <a:pt x="2117" y="47"/>
                  <a:pt x="2077" y="27"/>
                </a:cubicBezTo>
                <a:close/>
              </a:path>
            </a:pathLst>
          </a:custGeom>
          <a:noFill/>
          <a:ln w="9525">
            <a:solidFill>
              <a:srgbClr val="990033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AC1FB3-44A1-4453-94C4-A244B4A33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6</a:t>
            </a:fld>
            <a:endParaRPr lang="en-US" altLang="zh-TW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>
            <a:extLst>
              <a:ext uri="{FF2B5EF4-FFF2-40B4-BE49-F238E27FC236}">
                <a16:creationId xmlns:a16="http://schemas.microsoft.com/office/drawing/2014/main" id="{41B19CCE-74D1-494F-9F18-0579557E6B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228600"/>
            <a:ext cx="7772400" cy="6858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Select Operator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914FEAF0-18A2-4DE2-AAFA-5B31E5C3271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838200" y="1219200"/>
            <a:ext cx="7772400" cy="4495800"/>
          </a:xfrm>
        </p:spPr>
        <p:txBody>
          <a:bodyPr/>
          <a:lstStyle/>
          <a:p>
            <a:pPr>
              <a:defRPr/>
            </a:pPr>
            <a:r>
              <a:rPr lang="en-US"/>
              <a:t>Produce table containing subset of rows of argument table satisfying condition</a:t>
            </a:r>
          </a:p>
          <a:p>
            <a:pPr>
              <a:buFontTx/>
              <a:buNone/>
              <a:defRPr/>
            </a:pPr>
            <a:r>
              <a:rPr lang="en-US"/>
              <a:t>		</a:t>
            </a:r>
            <a:r>
              <a:rPr lang="en-US">
                <a:sym typeface="Symbol" pitchFamily="18" charset="2"/>
              </a:rPr>
              <a:t></a:t>
            </a:r>
            <a:r>
              <a:rPr lang="en-US" i="1" baseline="-25000">
                <a:sym typeface="Symbol" pitchFamily="18" charset="2"/>
              </a:rPr>
              <a:t>condition </a:t>
            </a:r>
            <a:r>
              <a:rPr lang="en-US">
                <a:sym typeface="Symbol" pitchFamily="18" charset="2"/>
              </a:rPr>
              <a:t>(</a:t>
            </a:r>
            <a:r>
              <a:rPr lang="en-US" i="1">
                <a:sym typeface="Symbol" pitchFamily="18" charset="2"/>
              </a:rPr>
              <a:t>relation</a:t>
            </a:r>
            <a:r>
              <a:rPr lang="en-US">
                <a:sym typeface="Symbol" pitchFamily="18" charset="2"/>
              </a:rPr>
              <a:t>)</a:t>
            </a:r>
          </a:p>
          <a:p>
            <a:pPr>
              <a:defRPr/>
            </a:pPr>
            <a:r>
              <a:rPr lang="en-US"/>
              <a:t>Example:</a:t>
            </a:r>
          </a:p>
          <a:p>
            <a:pPr>
              <a:lnSpc>
                <a:spcPct val="120000"/>
              </a:lnSpc>
              <a:buFontTx/>
              <a:buNone/>
              <a:defRPr/>
            </a:pPr>
            <a:r>
              <a:rPr lang="en-US"/>
              <a:t>	   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Person                                   </a:t>
            </a:r>
            <a:r>
              <a:rPr lang="en-US">
                <a:sym typeface="Symbol" pitchFamily="18" charset="2"/>
              </a:rPr>
              <a:t></a:t>
            </a:r>
            <a:r>
              <a:rPr lang="en-US" i="1" baseline="-25000">
                <a:sym typeface="Symbol" pitchFamily="18" charset="2"/>
              </a:rPr>
              <a:t>Hobby</a:t>
            </a:r>
            <a:r>
              <a:rPr lang="en-US" baseline="-25000">
                <a:sym typeface="Symbol" pitchFamily="18" charset="2"/>
              </a:rPr>
              <a:t>=‘stamps’</a:t>
            </a:r>
            <a:r>
              <a:rPr lang="en-US" sz="2800">
                <a:sym typeface="Symbol" pitchFamily="18" charset="2"/>
              </a:rPr>
              <a:t>(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  <a:sym typeface="Symbol" pitchFamily="18" charset="2"/>
              </a:rPr>
              <a:t>Person</a:t>
            </a:r>
            <a:r>
              <a:rPr lang="en-US" sz="2800">
                <a:sym typeface="Symbol" pitchFamily="18" charset="2"/>
              </a:rPr>
              <a:t>)</a:t>
            </a:r>
          </a:p>
          <a:p>
            <a:pPr>
              <a:lnSpc>
                <a:spcPct val="70000"/>
              </a:lnSpc>
              <a:buFontTx/>
              <a:buNone/>
              <a:defRPr/>
            </a:pP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 </a:t>
            </a:r>
          </a:p>
        </p:txBody>
      </p:sp>
      <p:sp>
        <p:nvSpPr>
          <p:cNvPr id="9221" name="Text Box 9">
            <a:extLst>
              <a:ext uri="{FF2B5EF4-FFF2-40B4-BE49-F238E27FC236}">
                <a16:creationId xmlns:a16="http://schemas.microsoft.com/office/drawing/2014/main" id="{40C106F8-3F07-4AC9-8AD4-CF71D16FC2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800" y="4697413"/>
            <a:ext cx="3933825" cy="131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>
                <a:ea typeface="新細明體" panose="02020500000000000000" pitchFamily="18" charset="-120"/>
              </a:rPr>
              <a:t>1123     John     123 Main       stamps</a:t>
            </a:r>
          </a:p>
          <a:p>
            <a:r>
              <a:rPr lang="en-US" altLang="zh-TW">
                <a:ea typeface="新細明體" panose="02020500000000000000" pitchFamily="18" charset="-120"/>
              </a:rPr>
              <a:t>1123     John     123 Main       coins</a:t>
            </a:r>
          </a:p>
          <a:p>
            <a:r>
              <a:rPr lang="en-US" altLang="zh-TW">
                <a:ea typeface="新細明體" panose="02020500000000000000" pitchFamily="18" charset="-120"/>
              </a:rPr>
              <a:t>5556     Mary    7 Lake Dr      hiking</a:t>
            </a:r>
          </a:p>
          <a:p>
            <a:r>
              <a:rPr lang="en-US" altLang="zh-TW">
                <a:ea typeface="新細明體" panose="02020500000000000000" pitchFamily="18" charset="-120"/>
              </a:rPr>
              <a:t>9876     Bart      5 Pine St       stamps</a:t>
            </a:r>
          </a:p>
        </p:txBody>
      </p:sp>
      <p:sp>
        <p:nvSpPr>
          <p:cNvPr id="9222" name="Line 12">
            <a:extLst>
              <a:ext uri="{FF2B5EF4-FFF2-40B4-BE49-F238E27FC236}">
                <a16:creationId xmlns:a16="http://schemas.microsoft.com/office/drawing/2014/main" id="{32B13698-F0BF-44D1-A41E-889CF962ED7C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800" y="4724400"/>
            <a:ext cx="411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223" name="Line 13">
            <a:extLst>
              <a:ext uri="{FF2B5EF4-FFF2-40B4-BE49-F238E27FC236}">
                <a16:creationId xmlns:a16="http://schemas.microsoft.com/office/drawing/2014/main" id="{E133EAA1-1E6F-40E7-9F08-F839F9B447BF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800" y="6248400"/>
            <a:ext cx="411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224" name="Line 14">
            <a:extLst>
              <a:ext uri="{FF2B5EF4-FFF2-40B4-BE49-F238E27FC236}">
                <a16:creationId xmlns:a16="http://schemas.microsoft.com/office/drawing/2014/main" id="{9E6F6C7E-DA03-4631-A13A-33526078179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800" y="4724400"/>
            <a:ext cx="0" cy="152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225" name="Line 15">
            <a:extLst>
              <a:ext uri="{FF2B5EF4-FFF2-40B4-BE49-F238E27FC236}">
                <a16:creationId xmlns:a16="http://schemas.microsoft.com/office/drawing/2014/main" id="{F8F0F9E9-E2BC-454E-BE2D-591505A9EBD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419600" y="4724400"/>
            <a:ext cx="0" cy="152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226" name="Rectangle 17">
            <a:extLst>
              <a:ext uri="{FF2B5EF4-FFF2-40B4-BE49-F238E27FC236}">
                <a16:creationId xmlns:a16="http://schemas.microsoft.com/office/drawing/2014/main" id="{90ABDAEE-1BA6-4D48-B858-DBE02D33B6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8200" y="4697413"/>
            <a:ext cx="3954463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>
                <a:ea typeface="新細明體" panose="02020500000000000000" pitchFamily="18" charset="-120"/>
              </a:rPr>
              <a:t>1123     John      123 Main      stamps</a:t>
            </a:r>
          </a:p>
          <a:p>
            <a:r>
              <a:rPr lang="en-US" altLang="zh-TW">
                <a:ea typeface="新細明體" panose="02020500000000000000" pitchFamily="18" charset="-120"/>
              </a:rPr>
              <a:t>9876     Bart       5 Pine St       stamps</a:t>
            </a:r>
          </a:p>
        </p:txBody>
      </p:sp>
      <p:sp>
        <p:nvSpPr>
          <p:cNvPr id="9227" name="Line 21">
            <a:extLst>
              <a:ext uri="{FF2B5EF4-FFF2-40B4-BE49-F238E27FC236}">
                <a16:creationId xmlns:a16="http://schemas.microsoft.com/office/drawing/2014/main" id="{55D17BD0-33F9-44B0-B71C-3EF286FC15A5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8200" y="4724400"/>
            <a:ext cx="419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228" name="Line 22">
            <a:extLst>
              <a:ext uri="{FF2B5EF4-FFF2-40B4-BE49-F238E27FC236}">
                <a16:creationId xmlns:a16="http://schemas.microsoft.com/office/drawing/2014/main" id="{FACD0467-94B0-4816-A4E3-0570CDC31408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8200" y="5410200"/>
            <a:ext cx="419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229" name="Line 26">
            <a:extLst>
              <a:ext uri="{FF2B5EF4-FFF2-40B4-BE49-F238E27FC236}">
                <a16:creationId xmlns:a16="http://schemas.microsoft.com/office/drawing/2014/main" id="{F8DF6DF8-FEF6-4812-826D-D532CA86046A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800" y="4343400"/>
            <a:ext cx="411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230" name="Line 27">
            <a:extLst>
              <a:ext uri="{FF2B5EF4-FFF2-40B4-BE49-F238E27FC236}">
                <a16:creationId xmlns:a16="http://schemas.microsoft.com/office/drawing/2014/main" id="{E3B10CE7-A6AC-4517-AB7C-B371CB81F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4419600" y="43434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231" name="Line 28">
            <a:extLst>
              <a:ext uri="{FF2B5EF4-FFF2-40B4-BE49-F238E27FC236}">
                <a16:creationId xmlns:a16="http://schemas.microsoft.com/office/drawing/2014/main" id="{4379CF4E-6527-4B6C-A049-A7C250B98DF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800" y="43434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232" name="Text Box 40">
            <a:extLst>
              <a:ext uri="{FF2B5EF4-FFF2-40B4-BE49-F238E27FC236}">
                <a16:creationId xmlns:a16="http://schemas.microsoft.com/office/drawing/2014/main" id="{0B5AFF40-105F-432C-B11E-1EF7F26885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5125" y="4210050"/>
            <a:ext cx="3868738" cy="579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3200">
                <a:ea typeface="新細明體" panose="02020500000000000000" pitchFamily="18" charset="-120"/>
              </a:rPr>
              <a:t> </a:t>
            </a:r>
            <a:r>
              <a:rPr lang="en-US" altLang="zh-TW" sz="2400">
                <a:ea typeface="新細明體" panose="02020500000000000000" pitchFamily="18" charset="-120"/>
              </a:rPr>
              <a:t> </a:t>
            </a:r>
            <a:r>
              <a:rPr lang="en-US" altLang="zh-TW" i="1">
                <a:ea typeface="新細明體" panose="02020500000000000000" pitchFamily="18" charset="-120"/>
              </a:rPr>
              <a:t>Id      Name     Address        Hobby</a:t>
            </a:r>
            <a:endParaRPr lang="en-US" altLang="zh-TW" sz="2400" i="1">
              <a:ea typeface="新細明體" panose="02020500000000000000" pitchFamily="18" charset="-120"/>
            </a:endParaRPr>
          </a:p>
        </p:txBody>
      </p:sp>
      <p:sp>
        <p:nvSpPr>
          <p:cNvPr id="9233" name="Line 41">
            <a:extLst>
              <a:ext uri="{FF2B5EF4-FFF2-40B4-BE49-F238E27FC236}">
                <a16:creationId xmlns:a16="http://schemas.microsoft.com/office/drawing/2014/main" id="{55CAEE2A-FFED-428D-91EE-78AF739BE6A2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8200" y="4343400"/>
            <a:ext cx="419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234" name="Line 42">
            <a:extLst>
              <a:ext uri="{FF2B5EF4-FFF2-40B4-BE49-F238E27FC236}">
                <a16:creationId xmlns:a16="http://schemas.microsoft.com/office/drawing/2014/main" id="{C322EF3C-5C52-474C-9D06-6265CBDABF01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8200" y="4343400"/>
            <a:ext cx="0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235" name="Line 43">
            <a:extLst>
              <a:ext uri="{FF2B5EF4-FFF2-40B4-BE49-F238E27FC236}">
                <a16:creationId xmlns:a16="http://schemas.microsoft.com/office/drawing/2014/main" id="{AB202987-0E46-444D-8ED6-30E5E3D61AA5}"/>
              </a:ext>
            </a:extLst>
          </p:cNvPr>
          <p:cNvSpPr>
            <a:spLocks noChangeShapeType="1"/>
          </p:cNvSpPr>
          <p:nvPr/>
        </p:nvSpPr>
        <p:spPr bwMode="auto">
          <a:xfrm>
            <a:off x="8839200" y="4343400"/>
            <a:ext cx="0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236" name="Text Box 44">
            <a:extLst>
              <a:ext uri="{FF2B5EF4-FFF2-40B4-BE49-F238E27FC236}">
                <a16:creationId xmlns:a16="http://schemas.microsoft.com/office/drawing/2014/main" id="{83A515F1-EC27-4233-9B28-4371B14519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08525" y="4357688"/>
            <a:ext cx="38179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i="1">
                <a:ea typeface="新細明體" panose="02020500000000000000" pitchFamily="18" charset="-120"/>
              </a:rPr>
              <a:t>Id         Name    Address        Hobby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4AC2FB-C719-4AFF-AF43-87B28E9EB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7</a:t>
            </a:fld>
            <a:endParaRPr lang="en-US" altLang="zh-TW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>
            <a:extLst>
              <a:ext uri="{FF2B5EF4-FFF2-40B4-BE49-F238E27FC236}">
                <a16:creationId xmlns:a16="http://schemas.microsoft.com/office/drawing/2014/main" id="{0661B453-BC22-4A8A-A4DF-F7F462347B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Selection Condition</a:t>
            </a:r>
          </a:p>
        </p:txBody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8AB56AEE-27C4-455B-BF8C-45F34AEBE84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752600"/>
            <a:ext cx="7772400" cy="43434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Operators:  &lt;, </a:t>
            </a:r>
            <a:r>
              <a:rPr lang="en-US" altLang="zh-TW">
                <a:ea typeface="新細明體" panose="02020500000000000000" pitchFamily="18" charset="-120"/>
                <a:sym typeface="Symbol" panose="05050102010706020507" pitchFamily="18" charset="2"/>
              </a:rPr>
              <a:t>, , &gt;, =, </a:t>
            </a:r>
          </a:p>
          <a:p>
            <a:r>
              <a:rPr lang="en-US" altLang="zh-TW">
                <a:ea typeface="新細明體" panose="02020500000000000000" pitchFamily="18" charset="-120"/>
                <a:sym typeface="Symbol" panose="05050102010706020507" pitchFamily="18" charset="2"/>
              </a:rPr>
              <a:t>Simple selection condition:</a:t>
            </a:r>
          </a:p>
          <a:p>
            <a:pPr lvl="1"/>
            <a:r>
              <a:rPr lang="en-US" altLang="zh-TW">
                <a:ea typeface="新細明體" panose="02020500000000000000" pitchFamily="18" charset="-120"/>
              </a:rPr>
              <a:t>&lt;</a:t>
            </a:r>
            <a:r>
              <a:rPr lang="en-US" altLang="zh-TW" i="1">
                <a:ea typeface="新細明體" panose="02020500000000000000" pitchFamily="18" charset="-120"/>
              </a:rPr>
              <a:t>attribute</a:t>
            </a:r>
            <a:r>
              <a:rPr lang="en-US" altLang="zh-TW">
                <a:ea typeface="新細明體" panose="02020500000000000000" pitchFamily="18" charset="-120"/>
              </a:rPr>
              <a:t>&gt; </a:t>
            </a:r>
            <a:r>
              <a:rPr lang="en-US" altLang="zh-TW" i="1">
                <a:ea typeface="新細明體" panose="02020500000000000000" pitchFamily="18" charset="-120"/>
              </a:rPr>
              <a:t>operator</a:t>
            </a:r>
            <a:r>
              <a:rPr lang="en-US" altLang="zh-TW">
                <a:ea typeface="新細明體" panose="02020500000000000000" pitchFamily="18" charset="-120"/>
              </a:rPr>
              <a:t> &lt;</a:t>
            </a:r>
            <a:r>
              <a:rPr lang="en-US" altLang="zh-TW" i="1">
                <a:ea typeface="新細明體" panose="02020500000000000000" pitchFamily="18" charset="-120"/>
              </a:rPr>
              <a:t>constant</a:t>
            </a:r>
            <a:r>
              <a:rPr lang="en-US" altLang="zh-TW">
                <a:ea typeface="新細明體" panose="02020500000000000000" pitchFamily="18" charset="-120"/>
              </a:rPr>
              <a:t>&gt;</a:t>
            </a:r>
          </a:p>
          <a:p>
            <a:pPr lvl="1"/>
            <a:r>
              <a:rPr lang="en-US" altLang="zh-TW">
                <a:ea typeface="新細明體" panose="02020500000000000000" pitchFamily="18" charset="-120"/>
              </a:rPr>
              <a:t>&lt;</a:t>
            </a:r>
            <a:r>
              <a:rPr lang="en-US" altLang="zh-TW" i="1">
                <a:ea typeface="新細明體" panose="02020500000000000000" pitchFamily="18" charset="-120"/>
              </a:rPr>
              <a:t>attribute</a:t>
            </a:r>
            <a:r>
              <a:rPr lang="en-US" altLang="zh-TW">
                <a:ea typeface="新細明體" panose="02020500000000000000" pitchFamily="18" charset="-120"/>
              </a:rPr>
              <a:t>&gt; </a:t>
            </a:r>
            <a:r>
              <a:rPr lang="en-US" altLang="zh-TW" i="1">
                <a:ea typeface="新細明體" panose="02020500000000000000" pitchFamily="18" charset="-120"/>
              </a:rPr>
              <a:t>operator</a:t>
            </a:r>
            <a:r>
              <a:rPr lang="en-US" altLang="zh-TW">
                <a:ea typeface="新細明體" panose="02020500000000000000" pitchFamily="18" charset="-120"/>
              </a:rPr>
              <a:t> &lt;</a:t>
            </a:r>
            <a:r>
              <a:rPr lang="en-US" altLang="zh-TW" i="1">
                <a:ea typeface="新細明體" panose="02020500000000000000" pitchFamily="18" charset="-120"/>
              </a:rPr>
              <a:t>attribute</a:t>
            </a:r>
            <a:r>
              <a:rPr lang="en-US" altLang="zh-TW">
                <a:ea typeface="新細明體" panose="02020500000000000000" pitchFamily="18" charset="-120"/>
              </a:rPr>
              <a:t>&gt;</a:t>
            </a:r>
          </a:p>
          <a:p>
            <a:r>
              <a:rPr lang="en-US" altLang="zh-TW">
                <a:ea typeface="新細明體" panose="02020500000000000000" pitchFamily="18" charset="-120"/>
              </a:rPr>
              <a:t>&lt;</a:t>
            </a:r>
            <a:r>
              <a:rPr lang="en-US" altLang="zh-TW" i="1">
                <a:ea typeface="新細明體" panose="02020500000000000000" pitchFamily="18" charset="-120"/>
              </a:rPr>
              <a:t>condition</a:t>
            </a:r>
            <a:r>
              <a:rPr lang="en-US" altLang="zh-TW">
                <a:ea typeface="新細明體" panose="02020500000000000000" pitchFamily="18" charset="-120"/>
              </a:rPr>
              <a:t>&gt; </a:t>
            </a:r>
            <a:r>
              <a:rPr lang="en-US" altLang="zh-TW" sz="2400">
                <a:ea typeface="新細明體" panose="02020500000000000000" pitchFamily="18" charset="-120"/>
              </a:rPr>
              <a:t>AND</a:t>
            </a:r>
            <a:r>
              <a:rPr lang="en-US" altLang="zh-TW">
                <a:ea typeface="新細明體" panose="02020500000000000000" pitchFamily="18" charset="-120"/>
              </a:rPr>
              <a:t> &lt;</a:t>
            </a:r>
            <a:r>
              <a:rPr lang="en-US" altLang="zh-TW" i="1">
                <a:ea typeface="新細明體" panose="02020500000000000000" pitchFamily="18" charset="-120"/>
              </a:rPr>
              <a:t>condition</a:t>
            </a:r>
            <a:r>
              <a:rPr lang="en-US" altLang="zh-TW">
                <a:ea typeface="新細明體" panose="02020500000000000000" pitchFamily="18" charset="-120"/>
              </a:rPr>
              <a:t>&gt;</a:t>
            </a:r>
          </a:p>
          <a:p>
            <a:r>
              <a:rPr lang="en-US" altLang="zh-TW">
                <a:ea typeface="新細明體" panose="02020500000000000000" pitchFamily="18" charset="-120"/>
              </a:rPr>
              <a:t>&lt;</a:t>
            </a:r>
            <a:r>
              <a:rPr lang="en-US" altLang="zh-TW" i="1">
                <a:ea typeface="新細明體" panose="02020500000000000000" pitchFamily="18" charset="-120"/>
              </a:rPr>
              <a:t>condition</a:t>
            </a:r>
            <a:r>
              <a:rPr lang="en-US" altLang="zh-TW">
                <a:ea typeface="新細明體" panose="02020500000000000000" pitchFamily="18" charset="-120"/>
              </a:rPr>
              <a:t>&gt; </a:t>
            </a:r>
            <a:r>
              <a:rPr lang="en-US" altLang="zh-TW" sz="2400">
                <a:ea typeface="新細明體" panose="02020500000000000000" pitchFamily="18" charset="-120"/>
              </a:rPr>
              <a:t>OR</a:t>
            </a:r>
            <a:r>
              <a:rPr lang="en-US" altLang="zh-TW">
                <a:ea typeface="新細明體" panose="02020500000000000000" pitchFamily="18" charset="-120"/>
              </a:rPr>
              <a:t> &lt;</a:t>
            </a:r>
            <a:r>
              <a:rPr lang="en-US" altLang="zh-TW" i="1">
                <a:ea typeface="新細明體" panose="02020500000000000000" pitchFamily="18" charset="-120"/>
              </a:rPr>
              <a:t>condition</a:t>
            </a:r>
            <a:r>
              <a:rPr lang="en-US" altLang="zh-TW">
                <a:ea typeface="新細明體" panose="02020500000000000000" pitchFamily="18" charset="-120"/>
              </a:rPr>
              <a:t>&gt;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 </a:t>
            </a:r>
            <a:r>
              <a:rPr lang="en-US" altLang="zh-TW" sz="2400">
                <a:ea typeface="新細明體" panose="02020500000000000000" pitchFamily="18" charset="-120"/>
              </a:rPr>
              <a:t>NOT</a:t>
            </a:r>
            <a:r>
              <a:rPr lang="en-US" altLang="zh-TW">
                <a:ea typeface="新細明體" panose="02020500000000000000" pitchFamily="18" charset="-120"/>
              </a:rPr>
              <a:t> &lt;</a:t>
            </a:r>
            <a:r>
              <a:rPr lang="en-US" altLang="zh-TW" i="1">
                <a:ea typeface="新細明體" panose="02020500000000000000" pitchFamily="18" charset="-120"/>
              </a:rPr>
              <a:t>condition</a:t>
            </a:r>
            <a:r>
              <a:rPr lang="en-US" altLang="zh-TW"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6630E2-24DA-4290-807B-E36DC5862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8</a:t>
            </a:fld>
            <a:endParaRPr lang="en-US" altLang="zh-TW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2">
            <a:extLst>
              <a:ext uri="{FF2B5EF4-FFF2-40B4-BE49-F238E27FC236}">
                <a16:creationId xmlns:a16="http://schemas.microsoft.com/office/drawing/2014/main" id="{6346A136-CFC4-432A-BE74-4B0C453C69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609600"/>
            <a:ext cx="7772400" cy="762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Selection Condition - Examples</a:t>
            </a:r>
          </a:p>
        </p:txBody>
      </p:sp>
      <p:sp>
        <p:nvSpPr>
          <p:cNvPr id="75779" name="Rectangle 3">
            <a:extLst>
              <a:ext uri="{FF2B5EF4-FFF2-40B4-BE49-F238E27FC236}">
                <a16:creationId xmlns:a16="http://schemas.microsoft.com/office/drawing/2014/main" id="{8A301828-8A78-4C15-9A4B-224D7CA2EB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752600"/>
            <a:ext cx="7772400" cy="43434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zh-TW" i="1">
                <a:ea typeface="新細明體" panose="02020500000000000000" pitchFamily="18" charset="-120"/>
                <a:sym typeface="Symbol" panose="05050102010706020507" pitchFamily="18" charset="2"/>
              </a:rPr>
              <a:t> </a:t>
            </a:r>
            <a:r>
              <a:rPr lang="en-US" altLang="zh-TW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Id&gt;</a:t>
            </a:r>
            <a:r>
              <a:rPr lang="en-US" altLang="zh-TW" baseline="-25000">
                <a:ea typeface="新細明體" panose="02020500000000000000" pitchFamily="18" charset="-120"/>
                <a:sym typeface="Symbol" panose="05050102010706020507" pitchFamily="18" charset="2"/>
              </a:rPr>
              <a:t>3000</a:t>
            </a:r>
            <a:r>
              <a:rPr lang="en-US" altLang="zh-TW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  </a:t>
            </a:r>
            <a:r>
              <a:rPr lang="en-US" altLang="zh-TW" sz="2800" baseline="-25000">
                <a:ea typeface="新細明體" panose="02020500000000000000" pitchFamily="18" charset="-120"/>
                <a:sym typeface="Symbol" panose="05050102010706020507" pitchFamily="18" charset="2"/>
              </a:rPr>
              <a:t>OR</a:t>
            </a:r>
            <a:r>
              <a:rPr lang="en-US" altLang="zh-TW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  Hobby=‘</a:t>
            </a:r>
            <a:r>
              <a:rPr lang="en-US" altLang="zh-TW" baseline="-25000">
                <a:ea typeface="新細明體" panose="02020500000000000000" pitchFamily="18" charset="-120"/>
                <a:sym typeface="Symbol" panose="05050102010706020507" pitchFamily="18" charset="2"/>
              </a:rPr>
              <a:t>hiking’ </a:t>
            </a:r>
            <a:r>
              <a:rPr lang="en-US" altLang="zh-TW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Person</a:t>
            </a:r>
            <a:r>
              <a:rPr lang="en-US" altLang="zh-TW">
                <a:ea typeface="新細明體" panose="02020500000000000000" pitchFamily="18" charset="-120"/>
                <a:sym typeface="Symbol" panose="05050102010706020507" pitchFamily="18" charset="2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 altLang="zh-TW" i="1">
                <a:ea typeface="新細明體" panose="02020500000000000000" pitchFamily="18" charset="-120"/>
                <a:sym typeface="Symbol" panose="05050102010706020507" pitchFamily="18" charset="2"/>
              </a:rPr>
              <a:t> </a:t>
            </a:r>
            <a:r>
              <a:rPr lang="en-US" altLang="zh-TW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Id&gt;</a:t>
            </a:r>
            <a:r>
              <a:rPr lang="en-US" altLang="zh-TW" baseline="-25000">
                <a:ea typeface="新細明體" panose="02020500000000000000" pitchFamily="18" charset="-120"/>
                <a:sym typeface="Symbol" panose="05050102010706020507" pitchFamily="18" charset="2"/>
              </a:rPr>
              <a:t>3000 </a:t>
            </a:r>
            <a:r>
              <a:rPr lang="en-US" altLang="zh-TW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sz="2800" baseline="-25000">
                <a:ea typeface="新細明體" panose="02020500000000000000" pitchFamily="18" charset="-120"/>
                <a:sym typeface="Symbol" panose="05050102010706020507" pitchFamily="18" charset="2"/>
              </a:rPr>
              <a:t>AND</a:t>
            </a:r>
            <a:r>
              <a:rPr lang="en-US" altLang="zh-TW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  Id &lt;</a:t>
            </a:r>
            <a:r>
              <a:rPr lang="en-US" altLang="zh-TW" baseline="-25000">
                <a:ea typeface="新細明體" panose="02020500000000000000" pitchFamily="18" charset="-120"/>
                <a:sym typeface="Symbol" panose="05050102010706020507" pitchFamily="18" charset="2"/>
              </a:rPr>
              <a:t>3999</a:t>
            </a:r>
            <a:r>
              <a:rPr lang="en-US" altLang="zh-TW" i="1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Person</a:t>
            </a:r>
            <a:r>
              <a:rPr lang="en-US" altLang="zh-TW">
                <a:ea typeface="新細明體" panose="02020500000000000000" pitchFamily="18" charset="-120"/>
                <a:sym typeface="Symbol" panose="05050102010706020507" pitchFamily="18" charset="2"/>
              </a:rPr>
              <a:t>)</a:t>
            </a:r>
          </a:p>
          <a:p>
            <a:pPr>
              <a:lnSpc>
                <a:spcPct val="170000"/>
              </a:lnSpc>
            </a:pPr>
            <a:r>
              <a:rPr lang="en-US" altLang="zh-TW" i="1">
                <a:ea typeface="新細明體" panose="02020500000000000000" pitchFamily="18" charset="-120"/>
                <a:sym typeface="Symbol" panose="05050102010706020507" pitchFamily="18" charset="2"/>
              </a:rPr>
              <a:t> </a:t>
            </a:r>
            <a:r>
              <a:rPr lang="en-US" altLang="zh-TW" sz="2800" baseline="-25000">
                <a:ea typeface="新細明體" panose="02020500000000000000" pitchFamily="18" charset="-120"/>
                <a:sym typeface="Symbol" panose="05050102010706020507" pitchFamily="18" charset="2"/>
              </a:rPr>
              <a:t>NOT</a:t>
            </a:r>
            <a:r>
              <a:rPr lang="en-US" altLang="zh-TW" baseline="-250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Hobby=‘</a:t>
            </a:r>
            <a:r>
              <a:rPr lang="en-US" altLang="zh-TW" baseline="-25000">
                <a:ea typeface="新細明體" panose="02020500000000000000" pitchFamily="18" charset="-120"/>
                <a:sym typeface="Symbol" panose="05050102010706020507" pitchFamily="18" charset="2"/>
              </a:rPr>
              <a:t>hiking’)</a:t>
            </a:r>
            <a:r>
              <a:rPr lang="en-US" altLang="zh-TW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Person</a:t>
            </a:r>
            <a:r>
              <a:rPr lang="en-US" altLang="zh-TW">
                <a:ea typeface="新細明體" panose="02020500000000000000" pitchFamily="18" charset="-120"/>
                <a:sym typeface="Symbol" panose="05050102010706020507" pitchFamily="18" charset="2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 altLang="zh-TW" i="1">
                <a:ea typeface="新細明體" panose="02020500000000000000" pitchFamily="18" charset="-120"/>
                <a:sym typeface="Symbol" panose="05050102010706020507" pitchFamily="18" charset="2"/>
              </a:rPr>
              <a:t> </a:t>
            </a:r>
            <a:r>
              <a:rPr lang="en-US" altLang="zh-TW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Hobby‘</a:t>
            </a:r>
            <a:r>
              <a:rPr lang="en-US" altLang="zh-TW" baseline="-25000">
                <a:ea typeface="新細明體" panose="02020500000000000000" pitchFamily="18" charset="-120"/>
                <a:sym typeface="Symbol" panose="05050102010706020507" pitchFamily="18" charset="2"/>
              </a:rPr>
              <a:t>hiking’</a:t>
            </a:r>
            <a:r>
              <a:rPr lang="en-US" altLang="zh-TW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Person</a:t>
            </a:r>
            <a:r>
              <a:rPr lang="en-US" altLang="zh-TW">
                <a:ea typeface="新細明體" panose="02020500000000000000" pitchFamily="18" charset="-120"/>
                <a:sym typeface="Symbol" panose="05050102010706020507" pitchFamily="18" charset="2"/>
              </a:rPr>
              <a:t>)</a:t>
            </a:r>
            <a:endParaRPr lang="en-US" altLang="zh-TW" i="1">
              <a:ea typeface="新細明體" panose="02020500000000000000" pitchFamily="18" charset="-120"/>
              <a:sym typeface="Symbol" panose="05050102010706020507" pitchFamily="18" charset="2"/>
            </a:endParaRPr>
          </a:p>
          <a:p>
            <a:endParaRPr lang="en-US" altLang="zh-TW" i="1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235E5C-DEDB-42D7-945A-F262341FE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9</a:t>
            </a:fld>
            <a:endParaRPr lang="en-US" altLang="zh-TW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1" name="Rectangle 2">
            <a:extLst>
              <a:ext uri="{FF2B5EF4-FFF2-40B4-BE49-F238E27FC236}">
                <a16:creationId xmlns:a16="http://schemas.microsoft.com/office/drawing/2014/main" id="{9216FE60-6019-45C3-8AD9-E5480428F8A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228600"/>
            <a:ext cx="7772400" cy="762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Project Operator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627D0D68-7E27-429C-8B84-836EB4D9130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219200"/>
            <a:ext cx="7772400" cy="48768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Produces table containing subset of columns of argument table </a:t>
            </a:r>
          </a:p>
          <a:p>
            <a:pPr lvl="1">
              <a:buFontTx/>
              <a:buNone/>
            </a:pPr>
            <a:r>
              <a:rPr lang="en-US" altLang="zh-TW">
                <a:ea typeface="新細明體" panose="02020500000000000000" pitchFamily="18" charset="-120"/>
              </a:rPr>
              <a:t>			 </a:t>
            </a:r>
            <a:r>
              <a:rPr lang="en-US" altLang="zh-TW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attribute list</a:t>
            </a:r>
            <a:r>
              <a:rPr lang="en-US" altLang="zh-TW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i="1">
                <a:ea typeface="新細明體" panose="02020500000000000000" pitchFamily="18" charset="-120"/>
                <a:sym typeface="Symbol" panose="05050102010706020507" pitchFamily="18" charset="2"/>
              </a:rPr>
              <a:t>relation</a:t>
            </a:r>
            <a:r>
              <a:rPr lang="en-US" altLang="zh-TW">
                <a:ea typeface="新細明體" panose="02020500000000000000" pitchFamily="18" charset="-120"/>
                <a:sym typeface="Symbol" panose="05050102010706020507" pitchFamily="18" charset="2"/>
              </a:rPr>
              <a:t>)</a:t>
            </a:r>
          </a:p>
          <a:p>
            <a:r>
              <a:rPr lang="en-US" altLang="zh-TW">
                <a:ea typeface="新細明體" panose="02020500000000000000" pitchFamily="18" charset="-120"/>
                <a:sym typeface="Symbol" panose="05050102010706020507" pitchFamily="18" charset="2"/>
              </a:rPr>
              <a:t>Example:</a:t>
            </a:r>
            <a:endParaRPr lang="en-US" altLang="zh-TW" sz="2800">
              <a:ea typeface="新細明體" panose="02020500000000000000" pitchFamily="18" charset="-120"/>
              <a:sym typeface="Symbol" panose="05050102010706020507" pitchFamily="18" charset="2"/>
            </a:endParaRPr>
          </a:p>
          <a:p>
            <a:pPr lvl="1">
              <a:lnSpc>
                <a:spcPct val="110000"/>
              </a:lnSpc>
              <a:buFontTx/>
              <a:buNone/>
            </a:pPr>
            <a:r>
              <a:rPr lang="en-US" altLang="zh-TW" sz="2400">
                <a:ea typeface="新細明體" panose="02020500000000000000" pitchFamily="18" charset="-120"/>
                <a:sym typeface="Symbol" panose="05050102010706020507" pitchFamily="18" charset="2"/>
              </a:rPr>
              <a:t>          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Person</a:t>
            </a:r>
            <a:r>
              <a:rPr lang="en-US" altLang="zh-TW" sz="2400">
                <a:ea typeface="新細明體" panose="02020500000000000000" pitchFamily="18" charset="-120"/>
                <a:sym typeface="Symbol" panose="05050102010706020507" pitchFamily="18" charset="2"/>
              </a:rPr>
              <a:t>                                      </a:t>
            </a:r>
            <a:r>
              <a:rPr lang="en-US" altLang="zh-TW" sz="24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Name,Hobby</a:t>
            </a:r>
            <a:r>
              <a:rPr lang="en-US" altLang="zh-TW" sz="24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Person</a:t>
            </a:r>
            <a:r>
              <a:rPr lang="en-US" altLang="zh-TW" sz="2400">
                <a:ea typeface="新細明體" panose="02020500000000000000" pitchFamily="18" charset="-120"/>
                <a:sym typeface="Symbol" panose="05050102010706020507" pitchFamily="18" charset="2"/>
              </a:rPr>
              <a:t>)</a:t>
            </a:r>
          </a:p>
          <a:p>
            <a:endParaRPr lang="en-US" altLang="zh-TW">
              <a:ea typeface="新細明體" panose="02020500000000000000" pitchFamily="18" charset="-120"/>
              <a:sym typeface="Symbol" panose="05050102010706020507" pitchFamily="18" charset="2"/>
            </a:endParaRPr>
          </a:p>
          <a:p>
            <a:pPr>
              <a:buFontTx/>
              <a:buNone/>
            </a:pPr>
            <a:endParaRPr lang="en-US" altLang="zh-TW">
              <a:ea typeface="新細明體" panose="02020500000000000000" pitchFamily="18" charset="-120"/>
            </a:endParaRPr>
          </a:p>
        </p:txBody>
      </p:sp>
      <p:sp>
        <p:nvSpPr>
          <p:cNvPr id="12293" name="Text Box 5">
            <a:extLst>
              <a:ext uri="{FF2B5EF4-FFF2-40B4-BE49-F238E27FC236}">
                <a16:creationId xmlns:a16="http://schemas.microsoft.com/office/drawing/2014/main" id="{AA660308-3250-48A0-B92F-7055F5056C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4572000"/>
            <a:ext cx="4102100" cy="155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ea typeface="新細明體" panose="02020500000000000000" pitchFamily="18" charset="-120"/>
              </a:rPr>
              <a:t>1123   John   123 Main   stamps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1123   John   123 Main   coins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5556   Mary  7 Lake Dr  hiking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9876   Bart    5 Pine St    stamps</a:t>
            </a:r>
          </a:p>
        </p:txBody>
      </p:sp>
      <p:sp>
        <p:nvSpPr>
          <p:cNvPr id="12294" name="Line 6">
            <a:extLst>
              <a:ext uri="{FF2B5EF4-FFF2-40B4-BE49-F238E27FC236}">
                <a16:creationId xmlns:a16="http://schemas.microsoft.com/office/drawing/2014/main" id="{6B53E8E2-D0CA-4DEB-8E31-2320A96E9B9C}"/>
              </a:ext>
            </a:extLst>
          </p:cNvPr>
          <p:cNvSpPr>
            <a:spLocks noChangeShapeType="1"/>
          </p:cNvSpPr>
          <p:nvPr/>
        </p:nvSpPr>
        <p:spPr bwMode="auto">
          <a:xfrm>
            <a:off x="685800" y="4495800"/>
            <a:ext cx="434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2295" name="Line 7">
            <a:extLst>
              <a:ext uri="{FF2B5EF4-FFF2-40B4-BE49-F238E27FC236}">
                <a16:creationId xmlns:a16="http://schemas.microsoft.com/office/drawing/2014/main" id="{17622300-DF37-491E-A938-7C5247E63E46}"/>
              </a:ext>
            </a:extLst>
          </p:cNvPr>
          <p:cNvSpPr>
            <a:spLocks noChangeShapeType="1"/>
          </p:cNvSpPr>
          <p:nvPr/>
        </p:nvSpPr>
        <p:spPr bwMode="auto">
          <a:xfrm>
            <a:off x="685800" y="6172200"/>
            <a:ext cx="434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2296" name="Line 8">
            <a:extLst>
              <a:ext uri="{FF2B5EF4-FFF2-40B4-BE49-F238E27FC236}">
                <a16:creationId xmlns:a16="http://schemas.microsoft.com/office/drawing/2014/main" id="{379F0473-D265-4583-AD28-88D1CA11A2A4}"/>
              </a:ext>
            </a:extLst>
          </p:cNvPr>
          <p:cNvSpPr>
            <a:spLocks noChangeShapeType="1"/>
          </p:cNvSpPr>
          <p:nvPr/>
        </p:nvSpPr>
        <p:spPr bwMode="auto">
          <a:xfrm>
            <a:off x="685800" y="4495800"/>
            <a:ext cx="0" cy="1676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2297" name="Line 9">
            <a:extLst>
              <a:ext uri="{FF2B5EF4-FFF2-40B4-BE49-F238E27FC236}">
                <a16:creationId xmlns:a16="http://schemas.microsoft.com/office/drawing/2014/main" id="{0F632184-83EE-4681-99C6-2BE279B7A915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4495800"/>
            <a:ext cx="0" cy="1676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2298" name="Text Box 10">
            <a:extLst>
              <a:ext uri="{FF2B5EF4-FFF2-40B4-BE49-F238E27FC236}">
                <a16:creationId xmlns:a16="http://schemas.microsoft.com/office/drawing/2014/main" id="{58168912-BBE8-4BC1-A913-767D1BB9E2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27725" y="4537075"/>
            <a:ext cx="1858963" cy="155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ea typeface="新細明體" panose="02020500000000000000" pitchFamily="18" charset="-120"/>
              </a:rPr>
              <a:t>John   stamps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John   coins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Mary  hiking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Bart    stamps</a:t>
            </a:r>
          </a:p>
        </p:txBody>
      </p:sp>
      <p:sp>
        <p:nvSpPr>
          <p:cNvPr id="12299" name="Line 11">
            <a:extLst>
              <a:ext uri="{FF2B5EF4-FFF2-40B4-BE49-F238E27FC236}">
                <a16:creationId xmlns:a16="http://schemas.microsoft.com/office/drawing/2014/main" id="{A4BC0A95-D813-435E-ACA6-E3AE7AD56538}"/>
              </a:ext>
            </a:extLst>
          </p:cNvPr>
          <p:cNvSpPr>
            <a:spLocks noChangeShapeType="1"/>
          </p:cNvSpPr>
          <p:nvPr/>
        </p:nvSpPr>
        <p:spPr bwMode="auto">
          <a:xfrm>
            <a:off x="5943600" y="4495800"/>
            <a:ext cx="1905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2300" name="Line 12">
            <a:extLst>
              <a:ext uri="{FF2B5EF4-FFF2-40B4-BE49-F238E27FC236}">
                <a16:creationId xmlns:a16="http://schemas.microsoft.com/office/drawing/2014/main" id="{6C82D061-F51F-4EF6-8121-2C998F08BA8A}"/>
              </a:ext>
            </a:extLst>
          </p:cNvPr>
          <p:cNvSpPr>
            <a:spLocks noChangeShapeType="1"/>
          </p:cNvSpPr>
          <p:nvPr/>
        </p:nvSpPr>
        <p:spPr bwMode="auto">
          <a:xfrm>
            <a:off x="5943600" y="4495800"/>
            <a:ext cx="0" cy="1676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2301" name="Line 13">
            <a:extLst>
              <a:ext uri="{FF2B5EF4-FFF2-40B4-BE49-F238E27FC236}">
                <a16:creationId xmlns:a16="http://schemas.microsoft.com/office/drawing/2014/main" id="{10FC3D5C-9EE3-4295-9ADB-D29B8D2B6169}"/>
              </a:ext>
            </a:extLst>
          </p:cNvPr>
          <p:cNvSpPr>
            <a:spLocks noChangeShapeType="1"/>
          </p:cNvSpPr>
          <p:nvPr/>
        </p:nvSpPr>
        <p:spPr bwMode="auto">
          <a:xfrm>
            <a:off x="7848600" y="4495800"/>
            <a:ext cx="0" cy="1676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2302" name="Line 14">
            <a:extLst>
              <a:ext uri="{FF2B5EF4-FFF2-40B4-BE49-F238E27FC236}">
                <a16:creationId xmlns:a16="http://schemas.microsoft.com/office/drawing/2014/main" id="{93EF9FA7-149B-4631-9CBB-45372992A075}"/>
              </a:ext>
            </a:extLst>
          </p:cNvPr>
          <p:cNvSpPr>
            <a:spLocks noChangeShapeType="1"/>
          </p:cNvSpPr>
          <p:nvPr/>
        </p:nvSpPr>
        <p:spPr bwMode="auto">
          <a:xfrm>
            <a:off x="5943600" y="6172200"/>
            <a:ext cx="1905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2303" name="Line 15">
            <a:extLst>
              <a:ext uri="{FF2B5EF4-FFF2-40B4-BE49-F238E27FC236}">
                <a16:creationId xmlns:a16="http://schemas.microsoft.com/office/drawing/2014/main" id="{8DCA11DB-1A01-49D5-87BC-2454C9C92D1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5800" y="40386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2304" name="Line 16">
            <a:extLst>
              <a:ext uri="{FF2B5EF4-FFF2-40B4-BE49-F238E27FC236}">
                <a16:creationId xmlns:a16="http://schemas.microsoft.com/office/drawing/2014/main" id="{ECDA4AE6-0D68-42E7-B5BD-8957FE1B3902}"/>
              </a:ext>
            </a:extLst>
          </p:cNvPr>
          <p:cNvSpPr>
            <a:spLocks noChangeShapeType="1"/>
          </p:cNvSpPr>
          <p:nvPr/>
        </p:nvSpPr>
        <p:spPr bwMode="auto">
          <a:xfrm>
            <a:off x="685800" y="4038600"/>
            <a:ext cx="434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2305" name="Line 17">
            <a:extLst>
              <a:ext uri="{FF2B5EF4-FFF2-40B4-BE49-F238E27FC236}">
                <a16:creationId xmlns:a16="http://schemas.microsoft.com/office/drawing/2014/main" id="{5AD2C964-E0AF-4C40-ACC4-04B8EEA1D29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29200" y="40386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2306" name="Line 23">
            <a:extLst>
              <a:ext uri="{FF2B5EF4-FFF2-40B4-BE49-F238E27FC236}">
                <a16:creationId xmlns:a16="http://schemas.microsoft.com/office/drawing/2014/main" id="{4F4D3926-57BF-49C3-A997-2A3E613DEEB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943600" y="40386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2307" name="Line 24">
            <a:extLst>
              <a:ext uri="{FF2B5EF4-FFF2-40B4-BE49-F238E27FC236}">
                <a16:creationId xmlns:a16="http://schemas.microsoft.com/office/drawing/2014/main" id="{FC49ED1A-54D9-4EFC-86A7-36987F06168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848600" y="40386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2308" name="Line 25">
            <a:extLst>
              <a:ext uri="{FF2B5EF4-FFF2-40B4-BE49-F238E27FC236}">
                <a16:creationId xmlns:a16="http://schemas.microsoft.com/office/drawing/2014/main" id="{46925F12-E97E-4D76-9A93-37B763E2F37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943600" y="4038600"/>
            <a:ext cx="1905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2309" name="Text Box 26">
            <a:extLst>
              <a:ext uri="{FF2B5EF4-FFF2-40B4-BE49-F238E27FC236}">
                <a16:creationId xmlns:a16="http://schemas.microsoft.com/office/drawing/2014/main" id="{EC96B66D-DA9B-41E7-A0C8-8B31B107B0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9925" y="4003675"/>
            <a:ext cx="70072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ea typeface="新細明體" panose="02020500000000000000" pitchFamily="18" charset="-120"/>
              </a:rPr>
              <a:t>  </a:t>
            </a:r>
            <a:r>
              <a:rPr lang="en-US" altLang="zh-TW" i="1">
                <a:ea typeface="新細明體" panose="02020500000000000000" pitchFamily="18" charset="-120"/>
              </a:rPr>
              <a:t>Id</a:t>
            </a:r>
            <a:r>
              <a:rPr lang="en-US" altLang="zh-TW" sz="2400">
                <a:ea typeface="新細明體" panose="02020500000000000000" pitchFamily="18" charset="-120"/>
              </a:rPr>
              <a:t>       </a:t>
            </a:r>
            <a:r>
              <a:rPr lang="en-US" altLang="zh-TW" i="1">
                <a:ea typeface="新細明體" panose="02020500000000000000" pitchFamily="18" charset="-120"/>
              </a:rPr>
              <a:t>Name  </a:t>
            </a:r>
            <a:r>
              <a:rPr lang="en-US" altLang="zh-TW" sz="2400">
                <a:ea typeface="新細明體" panose="02020500000000000000" pitchFamily="18" charset="-120"/>
              </a:rPr>
              <a:t>  </a:t>
            </a:r>
            <a:r>
              <a:rPr lang="en-US" altLang="zh-TW" i="1">
                <a:ea typeface="新細明體" panose="02020500000000000000" pitchFamily="18" charset="-120"/>
              </a:rPr>
              <a:t>Address</a:t>
            </a:r>
            <a:r>
              <a:rPr lang="en-US" altLang="zh-TW" sz="2400">
                <a:ea typeface="新細明體" panose="02020500000000000000" pitchFamily="18" charset="-120"/>
              </a:rPr>
              <a:t>      </a:t>
            </a:r>
            <a:r>
              <a:rPr lang="en-US" altLang="zh-TW" i="1">
                <a:ea typeface="新細明體" panose="02020500000000000000" pitchFamily="18" charset="-120"/>
              </a:rPr>
              <a:t>Hobby</a:t>
            </a:r>
            <a:r>
              <a:rPr lang="en-US" altLang="zh-TW" sz="2400">
                <a:ea typeface="新細明體" panose="02020500000000000000" pitchFamily="18" charset="-120"/>
              </a:rPr>
              <a:t>                     </a:t>
            </a:r>
            <a:r>
              <a:rPr lang="en-US" altLang="zh-TW" i="1">
                <a:ea typeface="新細明體" panose="02020500000000000000" pitchFamily="18" charset="-120"/>
              </a:rPr>
              <a:t>Name</a:t>
            </a:r>
            <a:r>
              <a:rPr lang="en-US" altLang="zh-TW" sz="2400">
                <a:ea typeface="新細明體" panose="02020500000000000000" pitchFamily="18" charset="-120"/>
              </a:rPr>
              <a:t>   </a:t>
            </a:r>
            <a:r>
              <a:rPr lang="en-US" altLang="zh-TW" i="1">
                <a:ea typeface="新細明體" panose="02020500000000000000" pitchFamily="18" charset="-120"/>
              </a:rPr>
              <a:t>Hobby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B1B5505-4A44-46EF-8037-35BF32D20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10</a:t>
            </a:fld>
            <a:endParaRPr lang="en-US" altLang="zh-TW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5" name="Rectangle 2">
            <a:extLst>
              <a:ext uri="{FF2B5EF4-FFF2-40B4-BE49-F238E27FC236}">
                <a16:creationId xmlns:a16="http://schemas.microsoft.com/office/drawing/2014/main" id="{5616DDC9-9D31-48AA-A859-9998C1DB78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6858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Project Operator</a:t>
            </a:r>
          </a:p>
        </p:txBody>
      </p:sp>
      <p:sp>
        <p:nvSpPr>
          <p:cNvPr id="13316" name="Text Box 4">
            <a:extLst>
              <a:ext uri="{FF2B5EF4-FFF2-40B4-BE49-F238E27FC236}">
                <a16:creationId xmlns:a16="http://schemas.microsoft.com/office/drawing/2014/main" id="{2CB030CC-5FDD-4720-82CC-8D56A6785F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4725" y="2708275"/>
            <a:ext cx="4102100" cy="155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ea typeface="新細明體" panose="02020500000000000000" pitchFamily="18" charset="-120"/>
              </a:rPr>
              <a:t>1123   John   123 Main   stamps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1123   John   123 Main   coins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5556   Mary  7 Lake Dr  hiking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9876   Bart    5 Pine St    stamps</a:t>
            </a:r>
          </a:p>
        </p:txBody>
      </p:sp>
      <p:sp>
        <p:nvSpPr>
          <p:cNvPr id="13317" name="Text Box 5">
            <a:extLst>
              <a:ext uri="{FF2B5EF4-FFF2-40B4-BE49-F238E27FC236}">
                <a16:creationId xmlns:a16="http://schemas.microsoft.com/office/drawing/2014/main" id="{B5CF2950-4556-4C3A-A691-D17CF8E003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1525" y="2632075"/>
            <a:ext cx="2232025" cy="1187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ea typeface="新細明體" panose="02020500000000000000" pitchFamily="18" charset="-120"/>
              </a:rPr>
              <a:t>John   123 Main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Mary  7 Lake Dr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Bart    5 Pine St</a:t>
            </a:r>
          </a:p>
        </p:txBody>
      </p:sp>
      <p:sp>
        <p:nvSpPr>
          <p:cNvPr id="13318" name="Line 6">
            <a:extLst>
              <a:ext uri="{FF2B5EF4-FFF2-40B4-BE49-F238E27FC236}">
                <a16:creationId xmlns:a16="http://schemas.microsoft.com/office/drawing/2014/main" id="{656D3703-691D-4826-B1A7-BC4BD78C34DC}"/>
              </a:ext>
            </a:extLst>
          </p:cNvPr>
          <p:cNvSpPr>
            <a:spLocks noChangeShapeType="1"/>
          </p:cNvSpPr>
          <p:nvPr/>
        </p:nvSpPr>
        <p:spPr bwMode="auto">
          <a:xfrm>
            <a:off x="990600" y="2667000"/>
            <a:ext cx="419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3319" name="Line 7">
            <a:extLst>
              <a:ext uri="{FF2B5EF4-FFF2-40B4-BE49-F238E27FC236}">
                <a16:creationId xmlns:a16="http://schemas.microsoft.com/office/drawing/2014/main" id="{DF67101E-079C-4BDD-B6A2-684B398D01D5}"/>
              </a:ext>
            </a:extLst>
          </p:cNvPr>
          <p:cNvSpPr>
            <a:spLocks noChangeShapeType="1"/>
          </p:cNvSpPr>
          <p:nvPr/>
        </p:nvSpPr>
        <p:spPr bwMode="auto">
          <a:xfrm>
            <a:off x="990600" y="2667000"/>
            <a:ext cx="0" cy="1600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3320" name="Line 8">
            <a:extLst>
              <a:ext uri="{FF2B5EF4-FFF2-40B4-BE49-F238E27FC236}">
                <a16:creationId xmlns:a16="http://schemas.microsoft.com/office/drawing/2014/main" id="{59E4B719-BD9E-4E69-B7EE-831DF606E132}"/>
              </a:ext>
            </a:extLst>
          </p:cNvPr>
          <p:cNvSpPr>
            <a:spLocks noChangeShapeType="1"/>
          </p:cNvSpPr>
          <p:nvPr/>
        </p:nvSpPr>
        <p:spPr bwMode="auto">
          <a:xfrm>
            <a:off x="5181600" y="2667000"/>
            <a:ext cx="0" cy="1600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3321" name="Line 9">
            <a:extLst>
              <a:ext uri="{FF2B5EF4-FFF2-40B4-BE49-F238E27FC236}">
                <a16:creationId xmlns:a16="http://schemas.microsoft.com/office/drawing/2014/main" id="{1D0DA9BE-A987-46EF-8665-BDEA2F562D6C}"/>
              </a:ext>
            </a:extLst>
          </p:cNvPr>
          <p:cNvSpPr>
            <a:spLocks noChangeShapeType="1"/>
          </p:cNvSpPr>
          <p:nvPr/>
        </p:nvSpPr>
        <p:spPr bwMode="auto">
          <a:xfrm>
            <a:off x="990600" y="4267200"/>
            <a:ext cx="419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3322" name="Line 10">
            <a:extLst>
              <a:ext uri="{FF2B5EF4-FFF2-40B4-BE49-F238E27FC236}">
                <a16:creationId xmlns:a16="http://schemas.microsoft.com/office/drawing/2014/main" id="{329DB2EE-6ACB-42BD-A5B7-A3EE34B5CDB9}"/>
              </a:ext>
            </a:extLst>
          </p:cNvPr>
          <p:cNvSpPr>
            <a:spLocks noChangeShapeType="1"/>
          </p:cNvSpPr>
          <p:nvPr/>
        </p:nvSpPr>
        <p:spPr bwMode="auto">
          <a:xfrm>
            <a:off x="5867400" y="2667000"/>
            <a:ext cx="2209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3323" name="Line 11">
            <a:extLst>
              <a:ext uri="{FF2B5EF4-FFF2-40B4-BE49-F238E27FC236}">
                <a16:creationId xmlns:a16="http://schemas.microsoft.com/office/drawing/2014/main" id="{1F5B061A-BB42-4833-BA78-F1955CB6A654}"/>
              </a:ext>
            </a:extLst>
          </p:cNvPr>
          <p:cNvSpPr>
            <a:spLocks noChangeShapeType="1"/>
          </p:cNvSpPr>
          <p:nvPr/>
        </p:nvSpPr>
        <p:spPr bwMode="auto">
          <a:xfrm>
            <a:off x="5867400" y="2667000"/>
            <a:ext cx="0" cy="1143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3324" name="Line 12">
            <a:extLst>
              <a:ext uri="{FF2B5EF4-FFF2-40B4-BE49-F238E27FC236}">
                <a16:creationId xmlns:a16="http://schemas.microsoft.com/office/drawing/2014/main" id="{17D873F4-9232-4353-9CB1-B145D1678C93}"/>
              </a:ext>
            </a:extLst>
          </p:cNvPr>
          <p:cNvSpPr>
            <a:spLocks noChangeShapeType="1"/>
          </p:cNvSpPr>
          <p:nvPr/>
        </p:nvSpPr>
        <p:spPr bwMode="auto">
          <a:xfrm>
            <a:off x="8077200" y="2667000"/>
            <a:ext cx="0" cy="1143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3325" name="Line 13">
            <a:extLst>
              <a:ext uri="{FF2B5EF4-FFF2-40B4-BE49-F238E27FC236}">
                <a16:creationId xmlns:a16="http://schemas.microsoft.com/office/drawing/2014/main" id="{5FD6E90D-6F08-4433-88D7-ECF7CAEC331A}"/>
              </a:ext>
            </a:extLst>
          </p:cNvPr>
          <p:cNvSpPr>
            <a:spLocks noChangeShapeType="1"/>
          </p:cNvSpPr>
          <p:nvPr/>
        </p:nvSpPr>
        <p:spPr bwMode="auto">
          <a:xfrm>
            <a:off x="5867400" y="3810000"/>
            <a:ext cx="2209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3326" name="Text Box 14">
            <a:extLst>
              <a:ext uri="{FF2B5EF4-FFF2-40B4-BE49-F238E27FC236}">
                <a16:creationId xmlns:a16="http://schemas.microsoft.com/office/drawing/2014/main" id="{4D5E878E-0EF5-4AE9-AFA5-9884DD2032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4953000"/>
            <a:ext cx="7923213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ea typeface="新細明體" panose="02020500000000000000" pitchFamily="18" charset="-120"/>
              </a:rPr>
              <a:t>Result is a table (no duplicates); can have fewer tuples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than the original</a:t>
            </a:r>
          </a:p>
        </p:txBody>
      </p:sp>
      <p:sp>
        <p:nvSpPr>
          <p:cNvPr id="13327" name="Line 15">
            <a:extLst>
              <a:ext uri="{FF2B5EF4-FFF2-40B4-BE49-F238E27FC236}">
                <a16:creationId xmlns:a16="http://schemas.microsoft.com/office/drawing/2014/main" id="{B7CAA0EC-AAD7-4A08-BC2B-B19BF702DE84}"/>
              </a:ext>
            </a:extLst>
          </p:cNvPr>
          <p:cNvSpPr>
            <a:spLocks noChangeShapeType="1"/>
          </p:cNvSpPr>
          <p:nvPr/>
        </p:nvSpPr>
        <p:spPr bwMode="auto">
          <a:xfrm>
            <a:off x="990600" y="2286000"/>
            <a:ext cx="419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3328" name="Line 16">
            <a:extLst>
              <a:ext uri="{FF2B5EF4-FFF2-40B4-BE49-F238E27FC236}">
                <a16:creationId xmlns:a16="http://schemas.microsoft.com/office/drawing/2014/main" id="{E026661F-1ACB-4228-9472-1D18DB4E1DE4}"/>
              </a:ext>
            </a:extLst>
          </p:cNvPr>
          <p:cNvSpPr>
            <a:spLocks noChangeShapeType="1"/>
          </p:cNvSpPr>
          <p:nvPr/>
        </p:nvSpPr>
        <p:spPr bwMode="auto">
          <a:xfrm>
            <a:off x="990600" y="22860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3329" name="Line 17">
            <a:extLst>
              <a:ext uri="{FF2B5EF4-FFF2-40B4-BE49-F238E27FC236}">
                <a16:creationId xmlns:a16="http://schemas.microsoft.com/office/drawing/2014/main" id="{B32C1474-426A-4031-A802-25BCBD72EC18}"/>
              </a:ext>
            </a:extLst>
          </p:cNvPr>
          <p:cNvSpPr>
            <a:spLocks noChangeShapeType="1"/>
          </p:cNvSpPr>
          <p:nvPr/>
        </p:nvSpPr>
        <p:spPr bwMode="auto">
          <a:xfrm>
            <a:off x="5181600" y="22860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3330" name="Text Box 18">
            <a:extLst>
              <a:ext uri="{FF2B5EF4-FFF2-40B4-BE49-F238E27FC236}">
                <a16:creationId xmlns:a16="http://schemas.microsoft.com/office/drawing/2014/main" id="{6723140D-C083-4249-8845-86A2B2B2D0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4725" y="2251075"/>
            <a:ext cx="397033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ea typeface="新細明體" panose="02020500000000000000" pitchFamily="18" charset="-120"/>
              </a:rPr>
              <a:t>  </a:t>
            </a:r>
            <a:r>
              <a:rPr lang="en-US" altLang="zh-TW" i="1">
                <a:ea typeface="新細明體" panose="02020500000000000000" pitchFamily="18" charset="-120"/>
              </a:rPr>
              <a:t>Id        Name     Address        Hobby</a:t>
            </a:r>
          </a:p>
        </p:txBody>
      </p:sp>
      <p:sp>
        <p:nvSpPr>
          <p:cNvPr id="13331" name="Line 20">
            <a:extLst>
              <a:ext uri="{FF2B5EF4-FFF2-40B4-BE49-F238E27FC236}">
                <a16:creationId xmlns:a16="http://schemas.microsoft.com/office/drawing/2014/main" id="{00BCA318-2ED6-4F62-91B9-A61338A25A57}"/>
              </a:ext>
            </a:extLst>
          </p:cNvPr>
          <p:cNvSpPr>
            <a:spLocks noChangeShapeType="1"/>
          </p:cNvSpPr>
          <p:nvPr/>
        </p:nvSpPr>
        <p:spPr bwMode="auto">
          <a:xfrm>
            <a:off x="5867400" y="2286000"/>
            <a:ext cx="2209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3332" name="Line 21">
            <a:extLst>
              <a:ext uri="{FF2B5EF4-FFF2-40B4-BE49-F238E27FC236}">
                <a16:creationId xmlns:a16="http://schemas.microsoft.com/office/drawing/2014/main" id="{BAC841DA-19E2-48C9-9521-530F0D42709B}"/>
              </a:ext>
            </a:extLst>
          </p:cNvPr>
          <p:cNvSpPr>
            <a:spLocks noChangeShapeType="1"/>
          </p:cNvSpPr>
          <p:nvPr/>
        </p:nvSpPr>
        <p:spPr bwMode="auto">
          <a:xfrm>
            <a:off x="8077200" y="22860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3333" name="Line 22">
            <a:extLst>
              <a:ext uri="{FF2B5EF4-FFF2-40B4-BE49-F238E27FC236}">
                <a16:creationId xmlns:a16="http://schemas.microsoft.com/office/drawing/2014/main" id="{F721D877-7480-4273-86E5-FFEB5D8F1A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867400" y="22860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3334" name="Text Box 23">
            <a:extLst>
              <a:ext uri="{FF2B5EF4-FFF2-40B4-BE49-F238E27FC236}">
                <a16:creationId xmlns:a16="http://schemas.microsoft.com/office/drawing/2014/main" id="{C6883CD2-242C-4875-B5DE-BEF6CCEEB4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1525" y="2300288"/>
            <a:ext cx="1976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i="1">
                <a:ea typeface="新細明體" panose="02020500000000000000" pitchFamily="18" charset="-120"/>
              </a:rPr>
              <a:t> Name     Address</a:t>
            </a:r>
          </a:p>
        </p:txBody>
      </p:sp>
      <p:sp>
        <p:nvSpPr>
          <p:cNvPr id="13337" name="Rectangle 25">
            <a:extLst>
              <a:ext uri="{FF2B5EF4-FFF2-40B4-BE49-F238E27FC236}">
                <a16:creationId xmlns:a16="http://schemas.microsoft.com/office/drawing/2014/main" id="{D3E31943-838B-4F68-B78C-4D5E47AF6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066800"/>
            <a:ext cx="7696200" cy="1054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Char char="•"/>
            </a:pP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 Example:</a:t>
            </a:r>
            <a:endParaRPr lang="en-US" altLang="zh-TW" sz="2800">
              <a:ea typeface="新細明體" panose="02020500000000000000" pitchFamily="18" charset="-120"/>
              <a:sym typeface="Symbol" panose="05050102010706020507" pitchFamily="18" charset="2"/>
            </a:endParaRPr>
          </a:p>
          <a:p>
            <a:pPr lvl="1">
              <a:lnSpc>
                <a:spcPct val="80000"/>
              </a:lnSpc>
              <a:spcBef>
                <a:spcPct val="50000"/>
              </a:spcBef>
            </a:pPr>
            <a:r>
              <a:rPr lang="en-US" altLang="zh-TW" sz="2400">
                <a:ea typeface="新細明體" panose="02020500000000000000" pitchFamily="18" charset="-120"/>
                <a:sym typeface="Symbol" panose="05050102010706020507" pitchFamily="18" charset="2"/>
              </a:rPr>
              <a:t>          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Person</a:t>
            </a:r>
            <a:r>
              <a:rPr lang="en-US" altLang="zh-TW" sz="2400">
                <a:ea typeface="新細明體" panose="02020500000000000000" pitchFamily="18" charset="-120"/>
                <a:sym typeface="Symbol" panose="05050102010706020507" pitchFamily="18" charset="2"/>
              </a:rPr>
              <a:t>                                     </a:t>
            </a:r>
            <a:r>
              <a:rPr lang="en-US" altLang="zh-TW" sz="24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Name,Address</a:t>
            </a:r>
            <a:r>
              <a:rPr lang="en-US" altLang="zh-TW" sz="24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Person</a:t>
            </a:r>
            <a:r>
              <a:rPr lang="en-US" altLang="zh-TW" sz="2400">
                <a:ea typeface="新細明體" panose="02020500000000000000" pitchFamily="18" charset="-120"/>
                <a:sym typeface="Symbol" panose="05050102010706020507" pitchFamily="18" charset="2"/>
              </a:rPr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03A264-F77C-415C-8953-2FA720D20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11</a:t>
            </a:fld>
            <a:endParaRPr lang="en-US" altLang="zh-TW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2">
            <a:extLst>
              <a:ext uri="{FF2B5EF4-FFF2-40B4-BE49-F238E27FC236}">
                <a16:creationId xmlns:a16="http://schemas.microsoft.com/office/drawing/2014/main" id="{369FD7D4-15B9-4780-998B-BFE3A8F645B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609600"/>
            <a:ext cx="7772400" cy="6096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Expressions</a:t>
            </a:r>
          </a:p>
        </p:txBody>
      </p:sp>
      <p:sp>
        <p:nvSpPr>
          <p:cNvPr id="14340" name="Text Box 3">
            <a:extLst>
              <a:ext uri="{FF2B5EF4-FFF2-40B4-BE49-F238E27FC236}">
                <a16:creationId xmlns:a16="http://schemas.microsoft.com/office/drawing/2014/main" id="{BD5FBE08-81EB-438A-99D3-61BA854D58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3124200"/>
            <a:ext cx="4102100" cy="155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ea typeface="新細明體" panose="02020500000000000000" pitchFamily="18" charset="-120"/>
              </a:rPr>
              <a:t>1123   John   123 Main   stamps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1123   John   123 Main   coins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5556   Mary  7 Lake Dr  hiking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9876   Bart    5 Pine St    stamps</a:t>
            </a:r>
          </a:p>
        </p:txBody>
      </p:sp>
      <p:sp>
        <p:nvSpPr>
          <p:cNvPr id="14341" name="Text Box 5">
            <a:extLst>
              <a:ext uri="{FF2B5EF4-FFF2-40B4-BE49-F238E27FC236}">
                <a16:creationId xmlns:a16="http://schemas.microsoft.com/office/drawing/2014/main" id="{8270A2AE-E23A-4152-B57E-0A66EF9B20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2925" y="3089275"/>
            <a:ext cx="1598613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ea typeface="新細明體" panose="02020500000000000000" pitchFamily="18" charset="-120"/>
              </a:rPr>
              <a:t>1123   John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9876   Bart</a:t>
            </a:r>
          </a:p>
        </p:txBody>
      </p:sp>
      <p:sp>
        <p:nvSpPr>
          <p:cNvPr id="14342" name="Line 6">
            <a:extLst>
              <a:ext uri="{FF2B5EF4-FFF2-40B4-BE49-F238E27FC236}">
                <a16:creationId xmlns:a16="http://schemas.microsoft.com/office/drawing/2014/main" id="{F3F67FBB-07C9-478A-A95F-239F31265966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600" y="3124200"/>
            <a:ext cx="434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4343" name="Line 7">
            <a:extLst>
              <a:ext uri="{FF2B5EF4-FFF2-40B4-BE49-F238E27FC236}">
                <a16:creationId xmlns:a16="http://schemas.microsoft.com/office/drawing/2014/main" id="{DF1FED75-D95A-49FE-B160-B5A7E9B3AE5F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600" y="3124200"/>
            <a:ext cx="0" cy="152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4344" name="Line 8">
            <a:extLst>
              <a:ext uri="{FF2B5EF4-FFF2-40B4-BE49-F238E27FC236}">
                <a16:creationId xmlns:a16="http://schemas.microsoft.com/office/drawing/2014/main" id="{0406C10A-92FA-453F-A104-1806A343328B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3000" y="3124200"/>
            <a:ext cx="0" cy="152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4345" name="Line 9">
            <a:extLst>
              <a:ext uri="{FF2B5EF4-FFF2-40B4-BE49-F238E27FC236}">
                <a16:creationId xmlns:a16="http://schemas.microsoft.com/office/drawing/2014/main" id="{DE7C8954-B53D-4A8F-A179-6531FCABD2BC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600" y="4648200"/>
            <a:ext cx="434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4346" name="Line 10">
            <a:extLst>
              <a:ext uri="{FF2B5EF4-FFF2-40B4-BE49-F238E27FC236}">
                <a16:creationId xmlns:a16="http://schemas.microsoft.com/office/drawing/2014/main" id="{9AE2FBA5-644F-4084-AA5A-3D92FBB61178}"/>
              </a:ext>
            </a:extLst>
          </p:cNvPr>
          <p:cNvSpPr>
            <a:spLocks noChangeShapeType="1"/>
          </p:cNvSpPr>
          <p:nvPr/>
        </p:nvSpPr>
        <p:spPr bwMode="auto">
          <a:xfrm>
            <a:off x="5638800" y="3124200"/>
            <a:ext cx="1676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4347" name="Line 11">
            <a:extLst>
              <a:ext uri="{FF2B5EF4-FFF2-40B4-BE49-F238E27FC236}">
                <a16:creationId xmlns:a16="http://schemas.microsoft.com/office/drawing/2014/main" id="{5831DC4B-9A97-4612-B01D-A2B2C55D4402}"/>
              </a:ext>
            </a:extLst>
          </p:cNvPr>
          <p:cNvSpPr>
            <a:spLocks noChangeShapeType="1"/>
          </p:cNvSpPr>
          <p:nvPr/>
        </p:nvSpPr>
        <p:spPr bwMode="auto">
          <a:xfrm>
            <a:off x="5638800" y="3124200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4348" name="Line 12">
            <a:extLst>
              <a:ext uri="{FF2B5EF4-FFF2-40B4-BE49-F238E27FC236}">
                <a16:creationId xmlns:a16="http://schemas.microsoft.com/office/drawing/2014/main" id="{50557B86-F014-42B3-845D-F4673C39DA2B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5200" y="3124200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4349" name="Line 13">
            <a:extLst>
              <a:ext uri="{FF2B5EF4-FFF2-40B4-BE49-F238E27FC236}">
                <a16:creationId xmlns:a16="http://schemas.microsoft.com/office/drawing/2014/main" id="{C95A40EE-347D-49AD-A05A-A739A8A1B4CF}"/>
              </a:ext>
            </a:extLst>
          </p:cNvPr>
          <p:cNvSpPr>
            <a:spLocks noChangeShapeType="1"/>
          </p:cNvSpPr>
          <p:nvPr/>
        </p:nvSpPr>
        <p:spPr bwMode="auto">
          <a:xfrm>
            <a:off x="5638800" y="3886200"/>
            <a:ext cx="1676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4350" name="Line 14">
            <a:extLst>
              <a:ext uri="{FF2B5EF4-FFF2-40B4-BE49-F238E27FC236}">
                <a16:creationId xmlns:a16="http://schemas.microsoft.com/office/drawing/2014/main" id="{2C87DECF-3F78-4A6B-9617-17B4CAAE9836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600" y="2743200"/>
            <a:ext cx="434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4351" name="Line 15">
            <a:extLst>
              <a:ext uri="{FF2B5EF4-FFF2-40B4-BE49-F238E27FC236}">
                <a16:creationId xmlns:a16="http://schemas.microsoft.com/office/drawing/2014/main" id="{7CE19CA3-58B1-4539-A05A-A866095D6B7A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600" y="27432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4352" name="Line 16">
            <a:extLst>
              <a:ext uri="{FF2B5EF4-FFF2-40B4-BE49-F238E27FC236}">
                <a16:creationId xmlns:a16="http://schemas.microsoft.com/office/drawing/2014/main" id="{8C1505CA-B45E-41B2-B4BA-A31FA1A1339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3000" y="27432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4353" name="Line 21">
            <a:extLst>
              <a:ext uri="{FF2B5EF4-FFF2-40B4-BE49-F238E27FC236}">
                <a16:creationId xmlns:a16="http://schemas.microsoft.com/office/drawing/2014/main" id="{806A89F0-5862-45D8-A30F-0B58FD1AD3E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38800" y="27432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4354" name="Line 22">
            <a:extLst>
              <a:ext uri="{FF2B5EF4-FFF2-40B4-BE49-F238E27FC236}">
                <a16:creationId xmlns:a16="http://schemas.microsoft.com/office/drawing/2014/main" id="{0B769AD1-E45F-44A1-B134-BE8AF44775C2}"/>
              </a:ext>
            </a:extLst>
          </p:cNvPr>
          <p:cNvSpPr>
            <a:spLocks noChangeShapeType="1"/>
          </p:cNvSpPr>
          <p:nvPr/>
        </p:nvSpPr>
        <p:spPr bwMode="auto">
          <a:xfrm>
            <a:off x="5638800" y="2743200"/>
            <a:ext cx="1676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4355" name="Line 23">
            <a:extLst>
              <a:ext uri="{FF2B5EF4-FFF2-40B4-BE49-F238E27FC236}">
                <a16:creationId xmlns:a16="http://schemas.microsoft.com/office/drawing/2014/main" id="{6B78668A-935F-4609-A118-9275CF25B409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5200" y="27432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14356" name="Text Box 24">
            <a:extLst>
              <a:ext uri="{FF2B5EF4-FFF2-40B4-BE49-F238E27FC236}">
                <a16:creationId xmlns:a16="http://schemas.microsoft.com/office/drawing/2014/main" id="{12A5A8BA-D401-42A1-8373-3776FD85F2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2325" y="2757488"/>
            <a:ext cx="6400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i="1">
                <a:ea typeface="新細明體" panose="02020500000000000000" pitchFamily="18" charset="-120"/>
              </a:rPr>
              <a:t>Id       Name      Address      Hobby                       Id       Name</a:t>
            </a:r>
          </a:p>
        </p:txBody>
      </p:sp>
      <p:sp>
        <p:nvSpPr>
          <p:cNvPr id="14361" name="Text Box 25">
            <a:extLst>
              <a:ext uri="{FF2B5EF4-FFF2-40B4-BE49-F238E27FC236}">
                <a16:creationId xmlns:a16="http://schemas.microsoft.com/office/drawing/2014/main" id="{84E3A3A4-4BBA-409C-B804-F5BAFBD6CB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0525" y="4689475"/>
            <a:ext cx="101441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Person</a:t>
            </a:r>
          </a:p>
        </p:txBody>
      </p:sp>
      <p:sp>
        <p:nvSpPr>
          <p:cNvPr id="14362" name="Text Box 26">
            <a:extLst>
              <a:ext uri="{FF2B5EF4-FFF2-40B4-BE49-F238E27FC236}">
                <a16:creationId xmlns:a16="http://schemas.microsoft.com/office/drawing/2014/main" id="{4A704171-4C0E-427E-BAE0-FEF50E2365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3600" y="4114800"/>
            <a:ext cx="96202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Result</a:t>
            </a:r>
          </a:p>
        </p:txBody>
      </p:sp>
      <p:sp>
        <p:nvSpPr>
          <p:cNvPr id="14363" name="Text Box 27">
            <a:extLst>
              <a:ext uri="{FF2B5EF4-FFF2-40B4-BE49-F238E27FC236}">
                <a16:creationId xmlns:a16="http://schemas.microsoft.com/office/drawing/2014/main" id="{9CA90CC8-7103-497C-8B41-16F1C00D8E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752600"/>
            <a:ext cx="7077075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defRPr/>
            </a:pPr>
            <a:r>
              <a:rPr lang="en-US" sz="2800">
                <a:cs typeface="Times New Roman" pitchFamily="18" charset="0"/>
                <a:sym typeface="Symbol" pitchFamily="18" charset="2"/>
              </a:rPr>
              <a:t></a:t>
            </a:r>
            <a:r>
              <a:rPr lang="en-US" sz="2800" i="1">
                <a:cs typeface="Times New Roman" pitchFamily="18" charset="0"/>
              </a:rPr>
              <a:t> </a:t>
            </a:r>
            <a:r>
              <a:rPr lang="en-US" sz="2800" i="1" baseline="-30000">
                <a:cs typeface="Times New Roman" pitchFamily="18" charset="0"/>
              </a:rPr>
              <a:t>Id, Name</a:t>
            </a:r>
            <a:r>
              <a:rPr lang="en-US" sz="2800" i="1">
                <a:cs typeface="Times New Roman" pitchFamily="18" charset="0"/>
              </a:rPr>
              <a:t> </a:t>
            </a:r>
            <a:r>
              <a:rPr lang="en-US" sz="2800">
                <a:cs typeface="Times New Roman" pitchFamily="18" charset="0"/>
              </a:rPr>
              <a:t>(</a:t>
            </a:r>
            <a:r>
              <a:rPr lang="en-US" sz="2800" i="1">
                <a:cs typeface="Times New Roman" pitchFamily="18" charset="0"/>
                <a:sym typeface="Symbol" pitchFamily="18" charset="2"/>
              </a:rPr>
              <a:t></a:t>
            </a:r>
            <a:r>
              <a:rPr lang="en-US" sz="2800" i="1">
                <a:cs typeface="Times New Roman" pitchFamily="18" charset="0"/>
              </a:rPr>
              <a:t> </a:t>
            </a:r>
            <a:r>
              <a:rPr lang="en-US" sz="2800" i="1" baseline="-30000">
                <a:cs typeface="Times New Roman" pitchFamily="18" charset="0"/>
              </a:rPr>
              <a:t>Hobby=</a:t>
            </a:r>
            <a:r>
              <a:rPr lang="en-US" sz="2800" baseline="-30000">
                <a:cs typeface="Times New Roman" pitchFamily="18" charset="0"/>
              </a:rPr>
              <a:t>’stamps’</a:t>
            </a:r>
            <a:r>
              <a:rPr lang="en-US" sz="2800" i="1" baseline="-30000">
                <a:cs typeface="Times New Roman" pitchFamily="18" charset="0"/>
              </a:rPr>
              <a:t>  </a:t>
            </a:r>
            <a:r>
              <a:rPr lang="en-US" sz="2800" baseline="-30000">
                <a:cs typeface="Times New Roman" pitchFamily="18" charset="0"/>
              </a:rPr>
              <a:t>OR </a:t>
            </a:r>
            <a:r>
              <a:rPr lang="en-US" sz="2800" i="1" baseline="-30000">
                <a:cs typeface="Times New Roman" pitchFamily="18" charset="0"/>
              </a:rPr>
              <a:t> Hobby=</a:t>
            </a:r>
            <a:r>
              <a:rPr lang="en-US" sz="2800" baseline="-30000">
                <a:cs typeface="Times New Roman" pitchFamily="18" charset="0"/>
              </a:rPr>
              <a:t>’coins’</a:t>
            </a:r>
            <a:r>
              <a:rPr lang="en-US" sz="2800" i="1">
                <a:cs typeface="Times New Roman" pitchFamily="18" charset="0"/>
              </a:rPr>
              <a:t> </a:t>
            </a:r>
            <a:r>
              <a:rPr lang="en-US" sz="2800">
                <a:cs typeface="Times New Roman" pitchFamily="18" charset="0"/>
              </a:rPr>
              <a:t>(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  <a:cs typeface="Times New Roman" pitchFamily="18" charset="0"/>
              </a:rPr>
              <a:t>Person</a:t>
            </a:r>
            <a:r>
              <a:rPr lang="en-US" sz="2800">
                <a:cs typeface="Times New Roman" pitchFamily="18" charset="0"/>
              </a:rPr>
              <a:t>) )</a:t>
            </a:r>
            <a:r>
              <a:rPr lang="en-US"/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030159-E467-4C0F-8F0C-C5D986CF8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12</a:t>
            </a:fld>
            <a:endParaRPr lang="en-US" altLang="zh-TW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Rectangle 2">
            <a:extLst>
              <a:ext uri="{FF2B5EF4-FFF2-40B4-BE49-F238E27FC236}">
                <a16:creationId xmlns:a16="http://schemas.microsoft.com/office/drawing/2014/main" id="{62AD1DDC-99CB-4A66-A8BC-4FC69C5E2E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Set Operators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D5C7B8DE-38CB-45E6-B948-FE5C2A0EB39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Relation is a set of tuples, so set operations should apply:  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, ,  (set difference)</a:t>
            </a:r>
            <a:endParaRPr lang="en-US" altLang="zh-TW" dirty="0">
              <a:ea typeface="新細明體" panose="02020500000000000000" pitchFamily="18" charset="-120"/>
            </a:endParaRPr>
          </a:p>
          <a:p>
            <a:r>
              <a:rPr lang="en-US" altLang="zh-TW" dirty="0">
                <a:ea typeface="新細明體" panose="02020500000000000000" pitchFamily="18" charset="-120"/>
              </a:rPr>
              <a:t>Result of combining two relations with a set operator is a relation =&gt; all its elements must be tuples having same structure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Hence, scope of set operations limited to </a:t>
            </a:r>
            <a:r>
              <a:rPr lang="en-US" altLang="zh-TW" i="1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union compatible relations</a:t>
            </a:r>
            <a:endParaRPr lang="en-US" altLang="zh-TW" dirty="0">
              <a:effectLst>
                <a:outerShdw blurRad="38100" dist="38100" dir="2700000" algn="tl">
                  <a:srgbClr val="C0C0C0"/>
                </a:outerShdw>
              </a:effectLst>
              <a:ea typeface="新細明體" panose="02020500000000000000" pitchFamily="18" charset="-12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DF7A60-CB56-46E9-BD9F-A381EF0B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13</a:t>
            </a:fld>
            <a:endParaRPr lang="en-US" altLang="zh-TW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Rectangle 2">
            <a:extLst>
              <a:ext uri="{FF2B5EF4-FFF2-40B4-BE49-F238E27FC236}">
                <a16:creationId xmlns:a16="http://schemas.microsoft.com/office/drawing/2014/main" id="{62AD1DDC-99CB-4A66-A8BC-4FC69C5E2E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Intersection 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</a:t>
            </a:r>
            <a:endParaRPr lang="en-US" altLang="zh-TW" dirty="0">
              <a:ea typeface="新細明體" panose="02020500000000000000" pitchFamily="18" charset="-12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7BBFC39-9982-451F-8367-D86E8C00B422}"/>
              </a:ext>
            </a:extLst>
          </p:cNvPr>
          <p:cNvSpPr/>
          <p:nvPr/>
        </p:nvSpPr>
        <p:spPr bwMode="auto">
          <a:xfrm>
            <a:off x="3187084" y="2689935"/>
            <a:ext cx="2219417" cy="2130640"/>
          </a:xfrm>
          <a:prstGeom prst="ellips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C0698D0-5BEB-4DDC-82D8-9C898E7B54B9}"/>
              </a:ext>
            </a:extLst>
          </p:cNvPr>
          <p:cNvSpPr/>
          <p:nvPr/>
        </p:nvSpPr>
        <p:spPr bwMode="auto">
          <a:xfrm>
            <a:off x="4165107" y="2707691"/>
            <a:ext cx="2219417" cy="2130640"/>
          </a:xfrm>
          <a:prstGeom prst="ellips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824EE9-9D9E-4F20-80D5-1E38E3BCD73F}"/>
              </a:ext>
            </a:extLst>
          </p:cNvPr>
          <p:cNvCxnSpPr>
            <a:cxnSpLocks/>
            <a:stCxn id="8" idx="1"/>
          </p:cNvCxnSpPr>
          <p:nvPr/>
        </p:nvCxnSpPr>
        <p:spPr bwMode="auto">
          <a:xfrm flipV="1">
            <a:off x="4490133" y="2849732"/>
            <a:ext cx="401463" cy="1699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50D3C9F-8639-4FAE-8DF9-5829C665A5EB}"/>
              </a:ext>
            </a:extLst>
          </p:cNvPr>
          <p:cNvCxnSpPr>
            <a:cxnSpLocks/>
          </p:cNvCxnSpPr>
          <p:nvPr/>
        </p:nvCxnSpPr>
        <p:spPr bwMode="auto">
          <a:xfrm flipV="1">
            <a:off x="4296792" y="2889098"/>
            <a:ext cx="674703" cy="3246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BF98A2A-EAAF-4B18-AB94-E8C7E86346ED}"/>
              </a:ext>
            </a:extLst>
          </p:cNvPr>
          <p:cNvCxnSpPr>
            <a:cxnSpLocks/>
            <a:endCxn id="5" idx="7"/>
          </p:cNvCxnSpPr>
          <p:nvPr/>
        </p:nvCxnSpPr>
        <p:spPr bwMode="auto">
          <a:xfrm flipV="1">
            <a:off x="4296792" y="3001960"/>
            <a:ext cx="784683" cy="3271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A903A31-05F2-4B58-B258-2D1C0E9EFA68}"/>
              </a:ext>
            </a:extLst>
          </p:cNvPr>
          <p:cNvCxnSpPr>
            <a:cxnSpLocks/>
          </p:cNvCxnSpPr>
          <p:nvPr/>
        </p:nvCxnSpPr>
        <p:spPr bwMode="auto">
          <a:xfrm flipV="1">
            <a:off x="4165107" y="3101491"/>
            <a:ext cx="1019452" cy="4229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B2919AF-AF61-419B-AD3D-91016B1BC990}"/>
              </a:ext>
            </a:extLst>
          </p:cNvPr>
          <p:cNvCxnSpPr>
            <a:stCxn id="8" idx="2"/>
          </p:cNvCxnSpPr>
          <p:nvPr/>
        </p:nvCxnSpPr>
        <p:spPr bwMode="auto">
          <a:xfrm flipV="1">
            <a:off x="4165107" y="3165543"/>
            <a:ext cx="1019452" cy="60746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A02CF72-7B26-4640-ADF7-8FA68D4E6C0F}"/>
              </a:ext>
            </a:extLst>
          </p:cNvPr>
          <p:cNvCxnSpPr>
            <a:stCxn id="8" idx="2"/>
          </p:cNvCxnSpPr>
          <p:nvPr/>
        </p:nvCxnSpPr>
        <p:spPr bwMode="auto">
          <a:xfrm flipV="1">
            <a:off x="4165107" y="3213718"/>
            <a:ext cx="1109708" cy="55929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E3AF2EC-ACB2-46C9-8C88-0EB8AB0B9B2F}"/>
              </a:ext>
            </a:extLst>
          </p:cNvPr>
          <p:cNvCxnSpPr>
            <a:stCxn id="8" idx="2"/>
          </p:cNvCxnSpPr>
          <p:nvPr/>
        </p:nvCxnSpPr>
        <p:spPr bwMode="auto">
          <a:xfrm flipV="1">
            <a:off x="4165107" y="3329126"/>
            <a:ext cx="1109708" cy="4438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A994198-CA81-4FB9-94B0-3EC8550F3BB7}"/>
              </a:ext>
            </a:extLst>
          </p:cNvPr>
          <p:cNvCxnSpPr/>
          <p:nvPr/>
        </p:nvCxnSpPr>
        <p:spPr bwMode="auto">
          <a:xfrm flipH="1">
            <a:off x="4165107" y="3429000"/>
            <a:ext cx="1179250" cy="49493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A1321B4-1367-4317-9306-2BF4AEE8BEC8}"/>
              </a:ext>
            </a:extLst>
          </p:cNvPr>
          <p:cNvCxnSpPr/>
          <p:nvPr/>
        </p:nvCxnSpPr>
        <p:spPr bwMode="auto">
          <a:xfrm flipV="1">
            <a:off x="4165107" y="3551068"/>
            <a:ext cx="1241394" cy="50602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361" name="Straight Connector 15360">
            <a:extLst>
              <a:ext uri="{FF2B5EF4-FFF2-40B4-BE49-F238E27FC236}">
                <a16:creationId xmlns:a16="http://schemas.microsoft.com/office/drawing/2014/main" id="{139108E4-E351-4200-A76D-FBB140C6E33E}"/>
              </a:ext>
            </a:extLst>
          </p:cNvPr>
          <p:cNvCxnSpPr>
            <a:cxnSpLocks/>
          </p:cNvCxnSpPr>
          <p:nvPr/>
        </p:nvCxnSpPr>
        <p:spPr bwMode="auto">
          <a:xfrm flipV="1">
            <a:off x="4165107" y="3656492"/>
            <a:ext cx="1312415" cy="48272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367" name="Straight Connector 15366">
            <a:extLst>
              <a:ext uri="{FF2B5EF4-FFF2-40B4-BE49-F238E27FC236}">
                <a16:creationId xmlns:a16="http://schemas.microsoft.com/office/drawing/2014/main" id="{782CE911-362E-4A36-A982-AB77C23BDB4F}"/>
              </a:ext>
            </a:extLst>
          </p:cNvPr>
          <p:cNvCxnSpPr>
            <a:cxnSpLocks/>
            <a:endCxn id="5" idx="6"/>
          </p:cNvCxnSpPr>
          <p:nvPr/>
        </p:nvCxnSpPr>
        <p:spPr bwMode="auto">
          <a:xfrm flipV="1">
            <a:off x="4165107" y="3755255"/>
            <a:ext cx="1241394" cy="43327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373" name="Straight Connector 15372">
            <a:extLst>
              <a:ext uri="{FF2B5EF4-FFF2-40B4-BE49-F238E27FC236}">
                <a16:creationId xmlns:a16="http://schemas.microsoft.com/office/drawing/2014/main" id="{B976FFF3-0D67-4F54-9753-D1AF736EFE45}"/>
              </a:ext>
            </a:extLst>
          </p:cNvPr>
          <p:cNvCxnSpPr/>
          <p:nvPr/>
        </p:nvCxnSpPr>
        <p:spPr bwMode="auto">
          <a:xfrm flipV="1">
            <a:off x="4296792" y="3881518"/>
            <a:ext cx="1109709" cy="36311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375" name="Straight Connector 15374">
            <a:extLst>
              <a:ext uri="{FF2B5EF4-FFF2-40B4-BE49-F238E27FC236}">
                <a16:creationId xmlns:a16="http://schemas.microsoft.com/office/drawing/2014/main" id="{701C18ED-DB3D-455C-8B0C-F7ABB42EC5C1}"/>
              </a:ext>
            </a:extLst>
          </p:cNvPr>
          <p:cNvCxnSpPr/>
          <p:nvPr/>
        </p:nvCxnSpPr>
        <p:spPr bwMode="auto">
          <a:xfrm flipV="1">
            <a:off x="4296792" y="4015846"/>
            <a:ext cx="1109709" cy="35196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377" name="Straight Connector 15376">
            <a:extLst>
              <a:ext uri="{FF2B5EF4-FFF2-40B4-BE49-F238E27FC236}">
                <a16:creationId xmlns:a16="http://schemas.microsoft.com/office/drawing/2014/main" id="{FA9AB6FE-594B-40B3-BC65-048EFD799841}"/>
              </a:ext>
            </a:extLst>
          </p:cNvPr>
          <p:cNvCxnSpPr/>
          <p:nvPr/>
        </p:nvCxnSpPr>
        <p:spPr bwMode="auto">
          <a:xfrm flipV="1">
            <a:off x="4394447" y="4162519"/>
            <a:ext cx="946211" cy="29925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379" name="Straight Connector 15378">
            <a:extLst>
              <a:ext uri="{FF2B5EF4-FFF2-40B4-BE49-F238E27FC236}">
                <a16:creationId xmlns:a16="http://schemas.microsoft.com/office/drawing/2014/main" id="{F277EBCC-EF5B-4FC4-A845-13D175B27D6F}"/>
              </a:ext>
            </a:extLst>
          </p:cNvPr>
          <p:cNvCxnSpPr>
            <a:stCxn id="8" idx="3"/>
          </p:cNvCxnSpPr>
          <p:nvPr/>
        </p:nvCxnSpPr>
        <p:spPr bwMode="auto">
          <a:xfrm flipV="1">
            <a:off x="4490133" y="4297034"/>
            <a:ext cx="784682" cy="22927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381" name="Straight Connector 15380">
            <a:extLst>
              <a:ext uri="{FF2B5EF4-FFF2-40B4-BE49-F238E27FC236}">
                <a16:creationId xmlns:a16="http://schemas.microsoft.com/office/drawing/2014/main" id="{8E0FFF76-ED19-4347-A37B-22320F72A19E}"/>
              </a:ext>
            </a:extLst>
          </p:cNvPr>
          <p:cNvCxnSpPr>
            <a:endCxn id="5" idx="5"/>
          </p:cNvCxnSpPr>
          <p:nvPr/>
        </p:nvCxnSpPr>
        <p:spPr bwMode="auto">
          <a:xfrm flipV="1">
            <a:off x="4572000" y="4508550"/>
            <a:ext cx="509475" cy="10783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382" name="TextBox 15381">
            <a:extLst>
              <a:ext uri="{FF2B5EF4-FFF2-40B4-BE49-F238E27FC236}">
                <a16:creationId xmlns:a16="http://schemas.microsoft.com/office/drawing/2014/main" id="{3C61C926-FC65-47F8-9743-78C04A96E4D8}"/>
              </a:ext>
            </a:extLst>
          </p:cNvPr>
          <p:cNvSpPr txBox="1"/>
          <p:nvPr/>
        </p:nvSpPr>
        <p:spPr>
          <a:xfrm>
            <a:off x="3701988" y="3709536"/>
            <a:ext cx="45719" cy="40011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endParaRPr lang="en-US" dirty="0"/>
          </a:p>
        </p:txBody>
      </p:sp>
      <p:sp>
        <p:nvSpPr>
          <p:cNvPr id="15383" name="TextBox 15382">
            <a:extLst>
              <a:ext uri="{FF2B5EF4-FFF2-40B4-BE49-F238E27FC236}">
                <a16:creationId xmlns:a16="http://schemas.microsoft.com/office/drawing/2014/main" id="{1ED87013-7B5E-419D-B0EA-8FEE00C36A1A}"/>
              </a:ext>
            </a:extLst>
          </p:cNvPr>
          <p:cNvSpPr txBox="1"/>
          <p:nvPr/>
        </p:nvSpPr>
        <p:spPr>
          <a:xfrm>
            <a:off x="3587967" y="3600390"/>
            <a:ext cx="356188" cy="400110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</a:t>
            </a:r>
          </a:p>
        </p:txBody>
      </p:sp>
      <p:sp>
        <p:nvSpPr>
          <p:cNvPr id="15384" name="TextBox 15383">
            <a:extLst>
              <a:ext uri="{FF2B5EF4-FFF2-40B4-BE49-F238E27FC236}">
                <a16:creationId xmlns:a16="http://schemas.microsoft.com/office/drawing/2014/main" id="{F56E0810-198D-4B08-A720-C02DF19136E7}"/>
              </a:ext>
            </a:extLst>
          </p:cNvPr>
          <p:cNvSpPr txBox="1"/>
          <p:nvPr/>
        </p:nvSpPr>
        <p:spPr>
          <a:xfrm>
            <a:off x="5665284" y="3512620"/>
            <a:ext cx="158617" cy="40011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15385" name="Rectangle 15384">
            <a:extLst>
              <a:ext uri="{FF2B5EF4-FFF2-40B4-BE49-F238E27FC236}">
                <a16:creationId xmlns:a16="http://schemas.microsoft.com/office/drawing/2014/main" id="{FF774B58-1F87-46C8-9067-352EA5668341}"/>
              </a:ext>
            </a:extLst>
          </p:cNvPr>
          <p:cNvSpPr/>
          <p:nvPr/>
        </p:nvSpPr>
        <p:spPr>
          <a:xfrm>
            <a:off x="2395446" y="5326602"/>
            <a:ext cx="464903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  <a:sym typeface="Symbol" panose="05050102010706020507" pitchFamily="18" charset="2"/>
              </a:rPr>
              <a:t>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i="1" baseline="-30000" dirty="0">
                <a:ea typeface="新細明體" panose="02020500000000000000" pitchFamily="18" charset="-120"/>
                <a:cs typeface="Times New Roman" panose="02020603050405020304" pitchFamily="18" charset="0"/>
              </a:rPr>
              <a:t>Name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(</a:t>
            </a:r>
            <a:r>
              <a:rPr lang="en-US" altLang="zh-TW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cs typeface="Times New Roman" panose="02020603050405020304" pitchFamily="18" charset="0"/>
              </a:rPr>
              <a:t>Administrator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) 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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 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  <a:sym typeface="Symbol" panose="05050102010706020507" pitchFamily="18" charset="2"/>
              </a:rPr>
              <a:t>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i="1" baseline="-30000" dirty="0">
                <a:ea typeface="新細明體" panose="02020500000000000000" pitchFamily="18" charset="-120"/>
                <a:cs typeface="Times New Roman" panose="02020603050405020304" pitchFamily="18" charset="0"/>
              </a:rPr>
              <a:t>Name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(</a:t>
            </a:r>
            <a:r>
              <a:rPr lang="en-US" altLang="zh-TW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cs typeface="Times New Roman" panose="02020603050405020304" pitchFamily="18" charset="0"/>
              </a:rPr>
              <a:t>Professor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)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BB0CB9-A390-42CD-A918-217DD95EE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205802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Rectangle 2">
            <a:extLst>
              <a:ext uri="{FF2B5EF4-FFF2-40B4-BE49-F238E27FC236}">
                <a16:creationId xmlns:a16="http://schemas.microsoft.com/office/drawing/2014/main" id="{62AD1DDC-99CB-4A66-A8BC-4FC69C5E2E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Union 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</a:t>
            </a:r>
            <a:endParaRPr lang="en-US" altLang="zh-TW" dirty="0">
              <a:ea typeface="新細明體" panose="02020500000000000000" pitchFamily="18" charset="-12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7BBFC39-9982-451F-8367-D86E8C00B422}"/>
              </a:ext>
            </a:extLst>
          </p:cNvPr>
          <p:cNvSpPr/>
          <p:nvPr/>
        </p:nvSpPr>
        <p:spPr bwMode="auto">
          <a:xfrm>
            <a:off x="3187084" y="2689935"/>
            <a:ext cx="2219417" cy="2130640"/>
          </a:xfrm>
          <a:prstGeom prst="ellipse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C0698D0-5BEB-4DDC-82D8-9C898E7B54B9}"/>
              </a:ext>
            </a:extLst>
          </p:cNvPr>
          <p:cNvSpPr/>
          <p:nvPr/>
        </p:nvSpPr>
        <p:spPr bwMode="auto">
          <a:xfrm>
            <a:off x="4165107" y="2707691"/>
            <a:ext cx="2219417" cy="2130640"/>
          </a:xfrm>
          <a:prstGeom prst="ellipse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F4D398-F988-492F-946C-0A660B7F0501}"/>
              </a:ext>
            </a:extLst>
          </p:cNvPr>
          <p:cNvSpPr txBox="1"/>
          <p:nvPr/>
        </p:nvSpPr>
        <p:spPr>
          <a:xfrm>
            <a:off x="3755254" y="3555200"/>
            <a:ext cx="169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FDF092-BBB4-4E58-BF4F-6E6EF901B2DB}"/>
              </a:ext>
            </a:extLst>
          </p:cNvPr>
          <p:cNvSpPr txBox="1"/>
          <p:nvPr/>
        </p:nvSpPr>
        <p:spPr>
          <a:xfrm>
            <a:off x="5647337" y="3555200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097EE97-A9E0-4389-BCB9-9BA0398895E8}"/>
              </a:ext>
            </a:extLst>
          </p:cNvPr>
          <p:cNvSpPr/>
          <p:nvPr/>
        </p:nvSpPr>
        <p:spPr>
          <a:xfrm>
            <a:off x="2617388" y="5303486"/>
            <a:ext cx="464903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  <a:sym typeface="Symbol" panose="05050102010706020507" pitchFamily="18" charset="2"/>
              </a:rPr>
              <a:t>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i="1" baseline="-30000" dirty="0">
                <a:ea typeface="新細明體" panose="02020500000000000000" pitchFamily="18" charset="-120"/>
                <a:cs typeface="Times New Roman" panose="02020603050405020304" pitchFamily="18" charset="0"/>
              </a:rPr>
              <a:t>Name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(</a:t>
            </a:r>
            <a:r>
              <a:rPr lang="en-US" altLang="zh-TW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cs typeface="Times New Roman" panose="02020603050405020304" pitchFamily="18" charset="0"/>
              </a:rPr>
              <a:t>Administrator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) 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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 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  <a:sym typeface="Symbol" panose="05050102010706020507" pitchFamily="18" charset="2"/>
              </a:rPr>
              <a:t>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i="1" baseline="-30000" dirty="0">
                <a:ea typeface="新細明體" panose="02020500000000000000" pitchFamily="18" charset="-120"/>
                <a:cs typeface="Times New Roman" panose="02020603050405020304" pitchFamily="18" charset="0"/>
              </a:rPr>
              <a:t>Name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(</a:t>
            </a:r>
            <a:r>
              <a:rPr lang="en-US" altLang="zh-TW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cs typeface="Times New Roman" panose="02020603050405020304" pitchFamily="18" charset="0"/>
              </a:rPr>
              <a:t>Professor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)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504799-10F5-4894-8A08-DC2195321C04}"/>
              </a:ext>
            </a:extLst>
          </p:cNvPr>
          <p:cNvCxnSpPr/>
          <p:nvPr/>
        </p:nvCxnSpPr>
        <p:spPr bwMode="auto">
          <a:xfrm>
            <a:off x="5131293" y="3107184"/>
            <a:ext cx="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651AF0-3D15-4D3E-9D26-CF3A9C63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601119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Rectangle 2">
            <a:extLst>
              <a:ext uri="{FF2B5EF4-FFF2-40B4-BE49-F238E27FC236}">
                <a16:creationId xmlns:a16="http://schemas.microsoft.com/office/drawing/2014/main" id="{62AD1DDC-99CB-4A66-A8BC-4FC69C5E2E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Set Difference 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-</a:t>
            </a:r>
            <a:endParaRPr lang="en-US" altLang="zh-TW" dirty="0">
              <a:ea typeface="新細明體" panose="02020500000000000000" pitchFamily="18" charset="-12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7BBFC39-9982-451F-8367-D86E8C00B422}"/>
              </a:ext>
            </a:extLst>
          </p:cNvPr>
          <p:cNvSpPr/>
          <p:nvPr/>
        </p:nvSpPr>
        <p:spPr bwMode="auto">
          <a:xfrm>
            <a:off x="754603" y="1734844"/>
            <a:ext cx="2219417" cy="2130640"/>
          </a:xfrm>
          <a:prstGeom prst="ellipse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C0698D0-5BEB-4DDC-82D8-9C898E7B54B9}"/>
              </a:ext>
            </a:extLst>
          </p:cNvPr>
          <p:cNvSpPr/>
          <p:nvPr/>
        </p:nvSpPr>
        <p:spPr bwMode="auto">
          <a:xfrm>
            <a:off x="1732626" y="1752600"/>
            <a:ext cx="2219417" cy="213064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F4D398-F988-492F-946C-0A660B7F0501}"/>
              </a:ext>
            </a:extLst>
          </p:cNvPr>
          <p:cNvSpPr txBox="1"/>
          <p:nvPr/>
        </p:nvSpPr>
        <p:spPr>
          <a:xfrm>
            <a:off x="1322773" y="2600109"/>
            <a:ext cx="169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FDF092-BBB4-4E58-BF4F-6E6EF901B2DB}"/>
              </a:ext>
            </a:extLst>
          </p:cNvPr>
          <p:cNvSpPr txBox="1"/>
          <p:nvPr/>
        </p:nvSpPr>
        <p:spPr>
          <a:xfrm>
            <a:off x="3214856" y="2600109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097EE97-A9E0-4389-BCB9-9BA0398895E8}"/>
              </a:ext>
            </a:extLst>
          </p:cNvPr>
          <p:cNvSpPr/>
          <p:nvPr/>
        </p:nvSpPr>
        <p:spPr>
          <a:xfrm>
            <a:off x="2617388" y="5303486"/>
            <a:ext cx="464903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  <a:sym typeface="Symbol" panose="05050102010706020507" pitchFamily="18" charset="2"/>
              </a:rPr>
              <a:t>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i="1" baseline="-30000" dirty="0">
                <a:ea typeface="新細明體" panose="02020500000000000000" pitchFamily="18" charset="-120"/>
                <a:cs typeface="Times New Roman" panose="02020603050405020304" pitchFamily="18" charset="0"/>
              </a:rPr>
              <a:t>Name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(</a:t>
            </a:r>
            <a:r>
              <a:rPr lang="en-US" altLang="zh-TW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cs typeface="Times New Roman" panose="02020603050405020304" pitchFamily="18" charset="0"/>
              </a:rPr>
              <a:t>Administrator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) 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-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 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  <a:sym typeface="Symbol" panose="05050102010706020507" pitchFamily="18" charset="2"/>
              </a:rPr>
              <a:t>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i="1" baseline="-30000" dirty="0">
                <a:ea typeface="新細明體" panose="02020500000000000000" pitchFamily="18" charset="-120"/>
                <a:cs typeface="Times New Roman" panose="02020603050405020304" pitchFamily="18" charset="0"/>
              </a:rPr>
              <a:t>Name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(</a:t>
            </a:r>
            <a:r>
              <a:rPr lang="en-US" altLang="zh-TW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cs typeface="Times New Roman" panose="02020603050405020304" pitchFamily="18" charset="0"/>
              </a:rPr>
              <a:t>Professor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)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504799-10F5-4894-8A08-DC2195321C04}"/>
              </a:ext>
            </a:extLst>
          </p:cNvPr>
          <p:cNvCxnSpPr/>
          <p:nvPr/>
        </p:nvCxnSpPr>
        <p:spPr bwMode="auto">
          <a:xfrm>
            <a:off x="2698812" y="2152093"/>
            <a:ext cx="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795568C-728E-4B42-B125-C635F444F0E7}"/>
              </a:ext>
            </a:extLst>
          </p:cNvPr>
          <p:cNvSpPr txBox="1"/>
          <p:nvPr/>
        </p:nvSpPr>
        <p:spPr>
          <a:xfrm flipH="1">
            <a:off x="1865642" y="4193253"/>
            <a:ext cx="1108378" cy="40011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 - S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2EEA7C6-A465-44E7-9FCA-A4CDC46A894F}"/>
              </a:ext>
            </a:extLst>
          </p:cNvPr>
          <p:cNvSpPr/>
          <p:nvPr/>
        </p:nvSpPr>
        <p:spPr bwMode="auto">
          <a:xfrm>
            <a:off x="6156709" y="1620915"/>
            <a:ext cx="2219417" cy="2130640"/>
          </a:xfrm>
          <a:prstGeom prst="ellipse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3E8690-1A42-43CC-BD41-9D2C2EB4B7B2}"/>
              </a:ext>
            </a:extLst>
          </p:cNvPr>
          <p:cNvSpPr txBox="1"/>
          <p:nvPr/>
        </p:nvSpPr>
        <p:spPr>
          <a:xfrm>
            <a:off x="5746856" y="2468424"/>
            <a:ext cx="169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B8146A-3054-4FB9-87CD-B1671E32C60D}"/>
              </a:ext>
            </a:extLst>
          </p:cNvPr>
          <p:cNvSpPr txBox="1"/>
          <p:nvPr/>
        </p:nvSpPr>
        <p:spPr>
          <a:xfrm>
            <a:off x="7638939" y="2468424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0C0F5E5-63E4-4C69-8565-1499AE3ED1F7}"/>
              </a:ext>
            </a:extLst>
          </p:cNvPr>
          <p:cNvCxnSpPr/>
          <p:nvPr/>
        </p:nvCxnSpPr>
        <p:spPr bwMode="auto">
          <a:xfrm>
            <a:off x="7122895" y="2020408"/>
            <a:ext cx="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1D6F766-00E2-4EA6-B09F-36D08ADF75EC}"/>
              </a:ext>
            </a:extLst>
          </p:cNvPr>
          <p:cNvSpPr txBox="1"/>
          <p:nvPr/>
        </p:nvSpPr>
        <p:spPr>
          <a:xfrm flipH="1">
            <a:off x="6397322" y="3927355"/>
            <a:ext cx="1108378" cy="40011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 - R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D0665C8-33E6-48CB-8D68-A83D388921DE}"/>
              </a:ext>
            </a:extLst>
          </p:cNvPr>
          <p:cNvSpPr/>
          <p:nvPr/>
        </p:nvSpPr>
        <p:spPr bwMode="auto">
          <a:xfrm>
            <a:off x="5178686" y="1603159"/>
            <a:ext cx="2219417" cy="213064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398734-1BC0-403D-BA63-898586192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532554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Rectangle 2">
            <a:extLst>
              <a:ext uri="{FF2B5EF4-FFF2-40B4-BE49-F238E27FC236}">
                <a16:creationId xmlns:a16="http://schemas.microsoft.com/office/drawing/2014/main" id="{62AD1DDC-99CB-4A66-A8BC-4FC69C5E2E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Set Difference 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-</a:t>
            </a:r>
            <a:endParaRPr lang="en-US" altLang="zh-TW" dirty="0">
              <a:ea typeface="新細明體" panose="02020500000000000000" pitchFamily="18" charset="-12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7BBFC39-9982-451F-8367-D86E8C00B422}"/>
              </a:ext>
            </a:extLst>
          </p:cNvPr>
          <p:cNvSpPr/>
          <p:nvPr/>
        </p:nvSpPr>
        <p:spPr bwMode="auto">
          <a:xfrm>
            <a:off x="3186718" y="1866400"/>
            <a:ext cx="2219417" cy="2130640"/>
          </a:xfrm>
          <a:prstGeom prst="ellipse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F4D398-F988-492F-946C-0A660B7F0501}"/>
              </a:ext>
            </a:extLst>
          </p:cNvPr>
          <p:cNvSpPr txBox="1"/>
          <p:nvPr/>
        </p:nvSpPr>
        <p:spPr>
          <a:xfrm>
            <a:off x="3549962" y="2761892"/>
            <a:ext cx="169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FDF092-BBB4-4E58-BF4F-6E6EF901B2DB}"/>
              </a:ext>
            </a:extLst>
          </p:cNvPr>
          <p:cNvSpPr txBox="1"/>
          <p:nvPr/>
        </p:nvSpPr>
        <p:spPr>
          <a:xfrm>
            <a:off x="4462120" y="2704372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097EE97-A9E0-4389-BCB9-9BA0398895E8}"/>
              </a:ext>
            </a:extLst>
          </p:cNvPr>
          <p:cNvSpPr/>
          <p:nvPr/>
        </p:nvSpPr>
        <p:spPr>
          <a:xfrm>
            <a:off x="2617388" y="5303486"/>
            <a:ext cx="464903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  <a:sym typeface="Symbol" panose="05050102010706020507" pitchFamily="18" charset="2"/>
              </a:rPr>
              <a:t>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i="1" baseline="-30000" dirty="0">
                <a:ea typeface="新細明體" panose="02020500000000000000" pitchFamily="18" charset="-120"/>
                <a:cs typeface="Times New Roman" panose="02020603050405020304" pitchFamily="18" charset="0"/>
              </a:rPr>
              <a:t>Name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(</a:t>
            </a:r>
            <a:r>
              <a:rPr lang="en-US" altLang="zh-TW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cs typeface="Times New Roman" panose="02020603050405020304" pitchFamily="18" charset="0"/>
              </a:rPr>
              <a:t>Administrator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) 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-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 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  <a:sym typeface="Symbol" panose="05050102010706020507" pitchFamily="18" charset="2"/>
              </a:rPr>
              <a:t>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i="1" baseline="-30000" dirty="0">
                <a:ea typeface="新細明體" panose="02020500000000000000" pitchFamily="18" charset="-120"/>
                <a:cs typeface="Times New Roman" panose="02020603050405020304" pitchFamily="18" charset="0"/>
              </a:rPr>
              <a:t>Name</a:t>
            </a:r>
            <a:r>
              <a:rPr lang="en-US" altLang="zh-TW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(</a:t>
            </a:r>
            <a:r>
              <a:rPr lang="en-US" altLang="zh-TW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cs typeface="Times New Roman" panose="02020603050405020304" pitchFamily="18" charset="0"/>
              </a:rPr>
              <a:t>Professor</a:t>
            </a:r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)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504799-10F5-4894-8A08-DC2195321C04}"/>
              </a:ext>
            </a:extLst>
          </p:cNvPr>
          <p:cNvCxnSpPr/>
          <p:nvPr/>
        </p:nvCxnSpPr>
        <p:spPr bwMode="auto">
          <a:xfrm>
            <a:off x="5130927" y="2283649"/>
            <a:ext cx="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795568C-728E-4B42-B125-C635F444F0E7}"/>
              </a:ext>
            </a:extLst>
          </p:cNvPr>
          <p:cNvSpPr txBox="1"/>
          <p:nvPr/>
        </p:nvSpPr>
        <p:spPr>
          <a:xfrm flipH="1">
            <a:off x="3907931" y="4141137"/>
            <a:ext cx="1108378" cy="1015663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 – S = negation(S)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B8146A-3054-4FB9-87CD-B1671E32C60D}"/>
              </a:ext>
            </a:extLst>
          </p:cNvPr>
          <p:cNvSpPr txBox="1"/>
          <p:nvPr/>
        </p:nvSpPr>
        <p:spPr>
          <a:xfrm>
            <a:off x="4363128" y="2609290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0C0F5E5-63E4-4C69-8565-1499AE3ED1F7}"/>
              </a:ext>
            </a:extLst>
          </p:cNvPr>
          <p:cNvCxnSpPr/>
          <p:nvPr/>
        </p:nvCxnSpPr>
        <p:spPr bwMode="auto">
          <a:xfrm>
            <a:off x="7122895" y="2020408"/>
            <a:ext cx="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FD0665C8-33E6-48CB-8D68-A83D388921DE}"/>
              </a:ext>
            </a:extLst>
          </p:cNvPr>
          <p:cNvSpPr/>
          <p:nvPr/>
        </p:nvSpPr>
        <p:spPr bwMode="auto">
          <a:xfrm>
            <a:off x="3830867" y="2360220"/>
            <a:ext cx="1218636" cy="1143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0D556E-4829-4C00-9A9A-B92877055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934516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7" name="Rectangle 2">
            <a:extLst>
              <a:ext uri="{FF2B5EF4-FFF2-40B4-BE49-F238E27FC236}">
                <a16:creationId xmlns:a16="http://schemas.microsoft.com/office/drawing/2014/main" id="{69615CF1-CA60-4231-9523-2E830E146D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Union Compatible Relations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6355F66C-D5E2-468F-A986-92880695A2F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Two relations are </a:t>
            </a:r>
            <a:r>
              <a:rPr lang="en-US" i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union compatible</a:t>
            </a:r>
            <a:r>
              <a:rPr lang="en-US" dirty="0"/>
              <a:t> if</a:t>
            </a:r>
          </a:p>
          <a:p>
            <a:pPr lvl="1">
              <a:defRPr/>
            </a:pPr>
            <a:r>
              <a:rPr lang="en-US" dirty="0"/>
              <a:t>Both have same number of columns</a:t>
            </a:r>
          </a:p>
          <a:p>
            <a:pPr lvl="1">
              <a:defRPr/>
            </a:pPr>
            <a:r>
              <a:rPr lang="en-US" dirty="0"/>
              <a:t>Names of attributes are the same in both</a:t>
            </a:r>
          </a:p>
          <a:p>
            <a:pPr lvl="1">
              <a:defRPr/>
            </a:pPr>
            <a:r>
              <a:rPr lang="en-US" dirty="0"/>
              <a:t>Attributes with the same name in both relations have the same domain</a:t>
            </a:r>
          </a:p>
          <a:p>
            <a:pPr>
              <a:defRPr/>
            </a:pPr>
            <a:r>
              <a:rPr lang="en-US" dirty="0"/>
              <a:t>Union compatible relations can be combined using </a:t>
            </a:r>
            <a:r>
              <a:rPr lang="en-US" i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union</a:t>
            </a:r>
            <a:r>
              <a:rPr lang="en-US" dirty="0"/>
              <a:t>, </a:t>
            </a:r>
            <a:r>
              <a:rPr lang="en-US" i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intersection</a:t>
            </a:r>
            <a:r>
              <a:rPr lang="en-US" dirty="0"/>
              <a:t>, and </a:t>
            </a:r>
            <a:r>
              <a:rPr lang="en-US" i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set</a:t>
            </a:r>
            <a:r>
              <a:rPr lang="en-US" dirty="0"/>
              <a:t> </a:t>
            </a:r>
            <a:r>
              <a:rPr lang="en-US" i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difference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A7381BC-01FA-489E-B60A-8C0F20385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18</a:t>
            </a:fld>
            <a:endParaRPr lang="en-US" altLang="zh-TW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2">
            <a:extLst>
              <a:ext uri="{FF2B5EF4-FFF2-40B4-BE49-F238E27FC236}">
                <a16:creationId xmlns:a16="http://schemas.microsoft.com/office/drawing/2014/main" id="{AEEE1942-3F79-4574-A8B0-B5AB46F23B3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6858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Example</a:t>
            </a:r>
          </a:p>
        </p:txBody>
      </p:sp>
      <p:sp>
        <p:nvSpPr>
          <p:cNvPr id="17412" name="Text Box 4">
            <a:extLst>
              <a:ext uri="{FF2B5EF4-FFF2-40B4-BE49-F238E27FC236}">
                <a16:creationId xmlns:a16="http://schemas.microsoft.com/office/drawing/2014/main" id="{7013A3E7-E910-41F2-A11E-FE435AF991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1447800"/>
            <a:ext cx="6326188" cy="216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800"/>
              <a:t>Tables:</a:t>
            </a:r>
          </a:p>
          <a:p>
            <a:pPr>
              <a:defRPr/>
            </a:pPr>
            <a:r>
              <a:rPr lang="en-US" sz="2800"/>
              <a:t>        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Person</a:t>
            </a:r>
            <a:r>
              <a:rPr lang="en-US" sz="2800" i="1"/>
              <a:t> </a:t>
            </a:r>
            <a:r>
              <a:rPr lang="en-US" sz="2800"/>
              <a:t>(</a:t>
            </a:r>
            <a:r>
              <a:rPr lang="en-US" sz="2800" i="1"/>
              <a:t>SSN, Name, Address, Hobby</a:t>
            </a:r>
            <a:r>
              <a:rPr lang="en-US" sz="2800"/>
              <a:t>)</a:t>
            </a:r>
          </a:p>
          <a:p>
            <a:pPr>
              <a:defRPr/>
            </a:pPr>
            <a:r>
              <a:rPr lang="en-US" sz="2800" i="1"/>
              <a:t>        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Professor</a:t>
            </a:r>
            <a:r>
              <a:rPr lang="en-US" sz="2800" i="1"/>
              <a:t> </a:t>
            </a:r>
            <a:r>
              <a:rPr lang="en-US" sz="2800"/>
              <a:t>(</a:t>
            </a:r>
            <a:r>
              <a:rPr lang="en-US" sz="2800" i="1"/>
              <a:t>Id, Name, Office, Phone</a:t>
            </a:r>
            <a:r>
              <a:rPr lang="en-US" sz="2800"/>
              <a:t>)</a:t>
            </a:r>
          </a:p>
          <a:p>
            <a:pPr>
              <a:defRPr/>
            </a:pPr>
            <a:r>
              <a:rPr lang="en-US" sz="2800"/>
              <a:t>are </a:t>
            </a:r>
            <a:r>
              <a:rPr lang="en-US" sz="2800" u="sng"/>
              <a:t>not</a:t>
            </a:r>
            <a:r>
              <a:rPr lang="en-US" sz="2800"/>
              <a:t> union compatible.</a:t>
            </a:r>
          </a:p>
          <a:p>
            <a:pPr>
              <a:defRPr/>
            </a:pPr>
            <a:r>
              <a:rPr lang="en-US" sz="2400"/>
              <a:t>         </a:t>
            </a:r>
          </a:p>
        </p:txBody>
      </p:sp>
      <p:sp>
        <p:nvSpPr>
          <p:cNvPr id="17414" name="Text Box 6">
            <a:extLst>
              <a:ext uri="{FF2B5EF4-FFF2-40B4-BE49-F238E27FC236}">
                <a16:creationId xmlns:a16="http://schemas.microsoft.com/office/drawing/2014/main" id="{BDAE23EB-5303-4DC0-A31F-DFEB3E5846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657600"/>
            <a:ext cx="7315200" cy="2630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But</a:t>
            </a:r>
          </a:p>
          <a:p>
            <a:r>
              <a:rPr lang="en-US" altLang="zh-TW" dirty="0">
                <a:ea typeface="新細明體" panose="02020500000000000000" pitchFamily="18" charset="-120"/>
                <a:cs typeface="Times New Roman" panose="02020603050405020304" pitchFamily="18" charset="0"/>
              </a:rPr>
              <a:t>            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  <a:sym typeface="Symbol" panose="05050102010706020507" pitchFamily="18" charset="2"/>
              </a:rPr>
              <a:t>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2800" i="1" baseline="-30000" dirty="0">
                <a:ea typeface="新細明體" panose="02020500000000000000" pitchFamily="18" charset="-120"/>
                <a:cs typeface="Times New Roman" panose="02020603050405020304" pitchFamily="18" charset="0"/>
              </a:rPr>
              <a:t>Name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(</a:t>
            </a:r>
            <a:r>
              <a:rPr lang="en-US" altLang="zh-TW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cs typeface="Times New Roman" panose="02020603050405020304" pitchFamily="18" charset="0"/>
              </a:rPr>
              <a:t>Person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)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 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and  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  <a:sym typeface="Symbol" panose="05050102010706020507" pitchFamily="18" charset="2"/>
              </a:rPr>
              <a:t>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2800" i="1" baseline="-30000" dirty="0">
                <a:ea typeface="新細明體" panose="02020500000000000000" pitchFamily="18" charset="-120"/>
                <a:cs typeface="Times New Roman" panose="02020603050405020304" pitchFamily="18" charset="0"/>
              </a:rPr>
              <a:t>Name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(</a:t>
            </a:r>
            <a:r>
              <a:rPr lang="en-US" altLang="zh-TW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cs typeface="Times New Roman" panose="02020603050405020304" pitchFamily="18" charset="0"/>
              </a:rPr>
              <a:t>Professor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 altLang="zh-TW" sz="2800" u="sng" dirty="0">
                <a:ea typeface="新細明體" panose="02020500000000000000" pitchFamily="18" charset="-120"/>
                <a:cs typeface="Times New Roman" panose="02020603050405020304" pitchFamily="18" charset="0"/>
              </a:rPr>
              <a:t>are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 union compatible so</a:t>
            </a:r>
          </a:p>
          <a:p>
            <a:pPr>
              <a:lnSpc>
                <a:spcPct val="120000"/>
              </a:lnSpc>
            </a:pP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         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  <a:sym typeface="Symbol" panose="05050102010706020507" pitchFamily="18" charset="2"/>
              </a:rPr>
              <a:t>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2800" i="1" baseline="-30000" dirty="0">
                <a:ea typeface="新細明體" panose="02020500000000000000" pitchFamily="18" charset="-120"/>
                <a:cs typeface="Times New Roman" panose="02020603050405020304" pitchFamily="18" charset="0"/>
              </a:rPr>
              <a:t>Name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(</a:t>
            </a:r>
            <a:r>
              <a:rPr lang="en-US" altLang="zh-TW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cs typeface="Times New Roman" panose="02020603050405020304" pitchFamily="18" charset="0"/>
              </a:rPr>
              <a:t>Person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) 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36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-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 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  <a:sym typeface="Symbol" panose="05050102010706020507" pitchFamily="18" charset="2"/>
              </a:rPr>
              <a:t>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2800" i="1" baseline="-30000" dirty="0">
                <a:ea typeface="新細明體" panose="02020500000000000000" pitchFamily="18" charset="-120"/>
                <a:cs typeface="Times New Roman" panose="02020603050405020304" pitchFamily="18" charset="0"/>
              </a:rPr>
              <a:t>Name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(</a:t>
            </a:r>
            <a:r>
              <a:rPr lang="en-US" altLang="zh-TW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cs typeface="Times New Roman" panose="02020603050405020304" pitchFamily="18" charset="0"/>
              </a:rPr>
              <a:t>Professor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makes sense.</a:t>
            </a:r>
            <a:endParaRPr lang="en-US" altLang="zh-TW" sz="28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0B7DA4A-A4F8-4776-AD4C-FD8BB2731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19</a:t>
            </a:fld>
            <a:endParaRPr lang="en-US" altLang="zh-TW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2">
            <a:extLst>
              <a:ext uri="{FF2B5EF4-FFF2-40B4-BE49-F238E27FC236}">
                <a16:creationId xmlns:a16="http://schemas.microsoft.com/office/drawing/2014/main" id="{6795CE64-4F0B-4603-99C4-F7F5C907AB1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1143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Cartesian Product</a:t>
            </a:r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CBC0E285-6AAA-494C-ABFC-C8E52203AB0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066800"/>
            <a:ext cx="7696200" cy="27432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If </a:t>
            </a:r>
            <a:r>
              <a:rPr lang="en-US" altLang="zh-TW" sz="2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R</a:t>
            </a:r>
            <a:r>
              <a:rPr lang="en-US" altLang="zh-TW" sz="2800">
                <a:latin typeface="Arial Narrow" panose="020B0606020202030204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2800">
                <a:ea typeface="新細明體" panose="02020500000000000000" pitchFamily="18" charset="-120"/>
              </a:rPr>
              <a:t>and </a:t>
            </a:r>
            <a:r>
              <a:rPr lang="en-US" altLang="zh-TW" sz="2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S</a:t>
            </a:r>
            <a:r>
              <a:rPr lang="en-US" altLang="zh-TW" sz="2800">
                <a:latin typeface="Arial Narrow" panose="020B0606020202030204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2800">
                <a:ea typeface="新細明體" panose="02020500000000000000" pitchFamily="18" charset="-120"/>
              </a:rPr>
              <a:t>are two relations, </a:t>
            </a:r>
            <a:r>
              <a:rPr lang="en-US" altLang="zh-TW" sz="2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R</a:t>
            </a:r>
            <a:r>
              <a:rPr lang="en-US" altLang="zh-TW" sz="2800" i="1">
                <a:ea typeface="新細明體" panose="02020500000000000000" pitchFamily="18" charset="-120"/>
              </a:rPr>
              <a:t> 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</a:t>
            </a:r>
            <a:r>
              <a:rPr lang="en-US" altLang="zh-TW" sz="2800" i="1">
                <a:ea typeface="新細明體" panose="02020500000000000000" pitchFamily="18" charset="-120"/>
              </a:rPr>
              <a:t> </a:t>
            </a:r>
            <a:r>
              <a:rPr lang="en-US" altLang="zh-TW" sz="2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S</a:t>
            </a:r>
            <a:r>
              <a:rPr lang="en-US" altLang="zh-TW" sz="2800">
                <a:ea typeface="新細明體" panose="02020500000000000000" pitchFamily="18" charset="-120"/>
              </a:rPr>
              <a:t> is the set of all concatenated tuples </a:t>
            </a:r>
            <a:r>
              <a:rPr lang="en-US" altLang="zh-TW" sz="2800" i="1">
                <a:ea typeface="新細明體" panose="02020500000000000000" pitchFamily="18" charset="-120"/>
              </a:rPr>
              <a:t>&lt;x,y&gt;,</a:t>
            </a:r>
            <a:r>
              <a:rPr lang="en-US" altLang="zh-TW" sz="2800">
                <a:ea typeface="新細明體" panose="02020500000000000000" pitchFamily="18" charset="-120"/>
              </a:rPr>
              <a:t> where </a:t>
            </a:r>
            <a:r>
              <a:rPr lang="en-US" altLang="zh-TW" sz="2800" i="1">
                <a:ea typeface="新細明體" panose="02020500000000000000" pitchFamily="18" charset="-120"/>
              </a:rPr>
              <a:t>x</a:t>
            </a:r>
            <a:r>
              <a:rPr lang="en-US" altLang="zh-TW" sz="2800">
                <a:ea typeface="新細明體" panose="02020500000000000000" pitchFamily="18" charset="-120"/>
              </a:rPr>
              <a:t> is a tuple in </a:t>
            </a:r>
            <a:r>
              <a:rPr lang="en-US" altLang="zh-TW" sz="2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R</a:t>
            </a:r>
            <a:r>
              <a:rPr lang="en-US" altLang="zh-TW" sz="2800">
                <a:ea typeface="新細明體" panose="02020500000000000000" pitchFamily="18" charset="-120"/>
              </a:rPr>
              <a:t> and </a:t>
            </a:r>
            <a:r>
              <a:rPr lang="en-US" altLang="zh-TW" sz="2800" i="1">
                <a:ea typeface="新細明體" panose="02020500000000000000" pitchFamily="18" charset="-120"/>
              </a:rPr>
              <a:t>y</a:t>
            </a:r>
            <a:r>
              <a:rPr lang="en-US" altLang="zh-TW" sz="2800">
                <a:ea typeface="新細明體" panose="02020500000000000000" pitchFamily="18" charset="-120"/>
              </a:rPr>
              <a:t> is a tuple in </a:t>
            </a:r>
            <a:r>
              <a:rPr lang="en-US" altLang="zh-TW" sz="2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S</a:t>
            </a:r>
          </a:p>
          <a:p>
            <a:pPr lvl="1">
              <a:lnSpc>
                <a:spcPct val="90000"/>
              </a:lnSpc>
            </a:pPr>
            <a:r>
              <a:rPr lang="en-US" altLang="zh-TW" sz="2400" i="1">
                <a:solidFill>
                  <a:srgbClr val="9900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R</a:t>
            </a:r>
            <a:r>
              <a:rPr lang="en-US" altLang="zh-TW" sz="2400">
                <a:solidFill>
                  <a:srgbClr val="990033"/>
                </a:solidFill>
                <a:ea typeface="新細明體" panose="02020500000000000000" pitchFamily="18" charset="-120"/>
              </a:rPr>
              <a:t> and </a:t>
            </a:r>
            <a:r>
              <a:rPr lang="en-US" altLang="zh-TW" sz="2400" i="1">
                <a:solidFill>
                  <a:srgbClr val="9900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S</a:t>
            </a:r>
            <a:r>
              <a:rPr lang="en-US" altLang="zh-TW" sz="2400">
                <a:solidFill>
                  <a:srgbClr val="990033"/>
                </a:solidFill>
                <a:ea typeface="新細明體" panose="02020500000000000000" pitchFamily="18" charset="-120"/>
              </a:rPr>
              <a:t> need not be union compatible.</a:t>
            </a:r>
          </a:p>
          <a:p>
            <a:pPr lvl="1">
              <a:lnSpc>
                <a:spcPct val="90000"/>
              </a:lnSpc>
            </a:pPr>
            <a:r>
              <a:rPr lang="en-US" altLang="zh-TW" sz="2400" i="1">
                <a:solidFill>
                  <a:srgbClr val="9900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But R</a:t>
            </a:r>
            <a:r>
              <a:rPr lang="en-US" altLang="zh-TW" sz="2400">
                <a:solidFill>
                  <a:srgbClr val="990033"/>
                </a:solidFill>
                <a:ea typeface="新細明體" panose="02020500000000000000" pitchFamily="18" charset="-120"/>
              </a:rPr>
              <a:t> and </a:t>
            </a:r>
            <a:r>
              <a:rPr lang="en-US" altLang="zh-TW" sz="2400" i="1">
                <a:solidFill>
                  <a:srgbClr val="9900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S</a:t>
            </a:r>
            <a:r>
              <a:rPr lang="en-US" altLang="zh-TW" sz="2400">
                <a:solidFill>
                  <a:srgbClr val="990033"/>
                </a:solidFill>
                <a:ea typeface="新細明體" panose="02020500000000000000" pitchFamily="18" charset="-120"/>
              </a:rPr>
              <a:t> must have distinct attribute names. Why?</a:t>
            </a:r>
          </a:p>
          <a:p>
            <a:pPr>
              <a:lnSpc>
                <a:spcPct val="90000"/>
              </a:lnSpc>
            </a:pPr>
            <a:r>
              <a:rPr lang="en-US" altLang="zh-TW" sz="2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R</a:t>
            </a:r>
            <a:r>
              <a:rPr lang="en-US" altLang="zh-TW" sz="2800" i="1">
                <a:ea typeface="新細明體" panose="02020500000000000000" pitchFamily="18" charset="-120"/>
              </a:rPr>
              <a:t> 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</a:t>
            </a:r>
            <a:r>
              <a:rPr lang="en-US" altLang="zh-TW" sz="2800" i="1">
                <a:ea typeface="新細明體" panose="02020500000000000000" pitchFamily="18" charset="-120"/>
              </a:rPr>
              <a:t> </a:t>
            </a:r>
            <a:r>
              <a:rPr lang="en-US" altLang="zh-TW" sz="2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S</a:t>
            </a:r>
            <a:r>
              <a:rPr lang="en-US" altLang="zh-TW" sz="2800">
                <a:ea typeface="新細明體" panose="02020500000000000000" pitchFamily="18" charset="-120"/>
              </a:rPr>
              <a:t>  is </a:t>
            </a:r>
            <a:r>
              <a:rPr lang="en-US" altLang="zh-TW" sz="2800" u="sng">
                <a:ea typeface="新細明體" panose="02020500000000000000" pitchFamily="18" charset="-120"/>
              </a:rPr>
              <a:t>expensive to compute. But why?</a:t>
            </a:r>
            <a:endParaRPr lang="en-US" altLang="zh-TW" sz="2800">
              <a:ea typeface="新細明體" panose="02020500000000000000" pitchFamily="18" charset="-120"/>
            </a:endParaRPr>
          </a:p>
          <a:p>
            <a:pPr lvl="1">
              <a:lnSpc>
                <a:spcPct val="90000"/>
              </a:lnSpc>
              <a:buFontTx/>
              <a:buNone/>
            </a:pPr>
            <a:endParaRPr lang="en-US" altLang="zh-TW" sz="2400">
              <a:ea typeface="新細明體" panose="02020500000000000000" pitchFamily="18" charset="-120"/>
            </a:endParaRPr>
          </a:p>
        </p:txBody>
      </p:sp>
      <p:grpSp>
        <p:nvGrpSpPr>
          <p:cNvPr id="18437" name="Group 34">
            <a:extLst>
              <a:ext uri="{FF2B5EF4-FFF2-40B4-BE49-F238E27FC236}">
                <a16:creationId xmlns:a16="http://schemas.microsoft.com/office/drawing/2014/main" id="{9C2CA8F2-9678-40B6-A29D-B7D8BDDB39EE}"/>
              </a:ext>
            </a:extLst>
          </p:cNvPr>
          <p:cNvGrpSpPr>
            <a:grpSpLocks/>
          </p:cNvGrpSpPr>
          <p:nvPr/>
        </p:nvGrpSpPr>
        <p:grpSpPr bwMode="auto">
          <a:xfrm>
            <a:off x="1219200" y="3733800"/>
            <a:ext cx="5824538" cy="2697163"/>
            <a:chOff x="768" y="2352"/>
            <a:chExt cx="3669" cy="1699"/>
          </a:xfrm>
        </p:grpSpPr>
        <p:sp>
          <p:nvSpPr>
            <p:cNvPr id="19460" name="Text Box 4">
              <a:extLst>
                <a:ext uri="{FF2B5EF4-FFF2-40B4-BE49-F238E27FC236}">
                  <a16:creationId xmlns:a16="http://schemas.microsoft.com/office/drawing/2014/main" id="{D93D4DF4-7984-47F6-B63F-D04CFB1826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8" y="2352"/>
              <a:ext cx="3669" cy="16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2800"/>
                <a:t>  </a:t>
              </a:r>
              <a:r>
                <a:rPr lang="en-US" sz="2800" i="1"/>
                <a:t>A     B       C    D             A    B    C   D</a:t>
              </a:r>
            </a:p>
            <a:p>
              <a:pPr>
                <a:defRPr/>
              </a:pPr>
              <a:r>
                <a:rPr lang="en-US" sz="2800"/>
                <a:t> x1   x2       y1   y2           x1  x2  y1  y2</a:t>
              </a:r>
            </a:p>
            <a:p>
              <a:pPr>
                <a:defRPr/>
              </a:pPr>
              <a:r>
                <a:rPr lang="en-US" sz="2800"/>
                <a:t> x3   x4       y3   y4           x1  x2  y3  y4</a:t>
              </a:r>
            </a:p>
            <a:p>
              <a:pPr>
                <a:defRPr/>
              </a:pPr>
              <a:r>
                <a:rPr lang="en-US" sz="2800"/>
                <a:t>                                         x3  x4  y1  y2</a:t>
              </a:r>
            </a:p>
            <a:p>
              <a:pPr>
                <a:defRPr/>
              </a:pPr>
              <a:r>
                <a:rPr lang="en-US" sz="2800"/>
                <a:t>      </a:t>
              </a:r>
              <a:r>
                <a:rPr lang="en-US" sz="2800" i="1">
                  <a:effectLst>
                    <a:outerShdw blurRad="38100" dist="38100" dir="2700000" algn="tl">
                      <a:srgbClr val="C0C0C0"/>
                    </a:outerShdw>
                  </a:effectLst>
                </a:rPr>
                <a:t>R</a:t>
              </a:r>
              <a:r>
                <a:rPr lang="en-US" sz="2800"/>
                <a:t>               </a:t>
              </a:r>
              <a:r>
                <a:rPr lang="en-US" sz="2800" i="1">
                  <a:effectLst>
                    <a:outerShdw blurRad="38100" dist="38100" dir="2700000" algn="tl">
                      <a:srgbClr val="C0C0C0"/>
                    </a:outerShdw>
                  </a:effectLst>
                </a:rPr>
                <a:t>S</a:t>
              </a:r>
              <a:r>
                <a:rPr lang="en-US" sz="2800"/>
                <a:t>                x3  x4  y3  y4</a:t>
              </a:r>
            </a:p>
            <a:p>
              <a:pPr>
                <a:lnSpc>
                  <a:spcPct val="110000"/>
                </a:lnSpc>
                <a:defRPr/>
              </a:pPr>
              <a:r>
                <a:rPr lang="en-US" sz="2800"/>
                <a:t>                                               </a:t>
              </a:r>
              <a:r>
                <a:rPr lang="en-US" sz="2800" i="1">
                  <a:effectLst>
                    <a:outerShdw blurRad="38100" dist="38100" dir="2700000" algn="tl">
                      <a:srgbClr val="C0C0C0"/>
                    </a:outerShdw>
                  </a:effectLst>
                </a:rPr>
                <a:t>R</a:t>
              </a:r>
              <a:r>
                <a:rPr lang="en-US" sz="2400" i="1">
                  <a:sym typeface="Symbol" pitchFamily="18" charset="2"/>
                </a:rPr>
                <a:t></a:t>
              </a:r>
              <a:r>
                <a:rPr lang="en-US" sz="2800" i="1"/>
                <a:t> </a:t>
              </a:r>
              <a:r>
                <a:rPr lang="en-US" sz="2800" i="1">
                  <a:effectLst>
                    <a:outerShdw blurRad="38100" dist="38100" dir="2700000" algn="tl">
                      <a:srgbClr val="C0C0C0"/>
                    </a:outerShdw>
                  </a:effectLst>
                </a:rPr>
                <a:t>S</a:t>
              </a:r>
            </a:p>
          </p:txBody>
        </p:sp>
        <p:sp>
          <p:nvSpPr>
            <p:cNvPr id="18439" name="Line 5">
              <a:extLst>
                <a:ext uri="{FF2B5EF4-FFF2-40B4-BE49-F238E27FC236}">
                  <a16:creationId xmlns:a16="http://schemas.microsoft.com/office/drawing/2014/main" id="{ECB879D7-DDBD-4055-8A40-BBF9B39CC3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2688"/>
              <a:ext cx="7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TW" altLang="en-US"/>
            </a:p>
          </p:txBody>
        </p:sp>
        <p:sp>
          <p:nvSpPr>
            <p:cNvPr id="18440" name="Line 6">
              <a:extLst>
                <a:ext uri="{FF2B5EF4-FFF2-40B4-BE49-F238E27FC236}">
                  <a16:creationId xmlns:a16="http://schemas.microsoft.com/office/drawing/2014/main" id="{1972B2C9-92C4-40EC-9374-91F9075ED5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268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TW" altLang="en-US"/>
            </a:p>
          </p:txBody>
        </p:sp>
        <p:sp>
          <p:nvSpPr>
            <p:cNvPr id="18441" name="Line 7">
              <a:extLst>
                <a:ext uri="{FF2B5EF4-FFF2-40B4-BE49-F238E27FC236}">
                  <a16:creationId xmlns:a16="http://schemas.microsoft.com/office/drawing/2014/main" id="{F00F17EA-7060-4C90-9C66-50E5E42C04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2" y="2640"/>
              <a:ext cx="0" cy="11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TW" altLang="en-US"/>
            </a:p>
          </p:txBody>
        </p:sp>
        <p:sp>
          <p:nvSpPr>
            <p:cNvPr id="18442" name="Line 25">
              <a:extLst>
                <a:ext uri="{FF2B5EF4-FFF2-40B4-BE49-F238E27FC236}">
                  <a16:creationId xmlns:a16="http://schemas.microsoft.com/office/drawing/2014/main" id="{290DD718-2514-4AB5-A272-EB40526098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2" y="2640"/>
              <a:ext cx="134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TW" altLang="en-US"/>
            </a:p>
          </p:txBody>
        </p:sp>
        <p:sp>
          <p:nvSpPr>
            <p:cNvPr id="18443" name="Line 26">
              <a:extLst>
                <a:ext uri="{FF2B5EF4-FFF2-40B4-BE49-F238E27FC236}">
                  <a16:creationId xmlns:a16="http://schemas.microsoft.com/office/drawing/2014/main" id="{9D245A07-C06E-4A80-B2BF-00E054C215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2" y="3744"/>
              <a:ext cx="134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TW" altLang="en-US"/>
            </a:p>
          </p:txBody>
        </p:sp>
        <p:sp>
          <p:nvSpPr>
            <p:cNvPr id="18444" name="Line 27">
              <a:extLst>
                <a:ext uri="{FF2B5EF4-FFF2-40B4-BE49-F238E27FC236}">
                  <a16:creationId xmlns:a16="http://schemas.microsoft.com/office/drawing/2014/main" id="{8A06804A-7070-4285-A43D-EB2D890D9B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16" y="2640"/>
              <a:ext cx="0" cy="11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TW" altLang="en-US"/>
            </a:p>
          </p:txBody>
        </p:sp>
        <p:sp>
          <p:nvSpPr>
            <p:cNvPr id="18445" name="Line 28">
              <a:extLst>
                <a:ext uri="{FF2B5EF4-FFF2-40B4-BE49-F238E27FC236}">
                  <a16:creationId xmlns:a16="http://schemas.microsoft.com/office/drawing/2014/main" id="{C7347F75-053C-412B-BCA5-6C5BD275E5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84" y="268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TW" altLang="en-US"/>
            </a:p>
          </p:txBody>
        </p:sp>
        <p:sp>
          <p:nvSpPr>
            <p:cNvPr id="18446" name="Line 29">
              <a:extLst>
                <a:ext uri="{FF2B5EF4-FFF2-40B4-BE49-F238E27FC236}">
                  <a16:creationId xmlns:a16="http://schemas.microsoft.com/office/drawing/2014/main" id="{3CD4742A-7CDF-4A9C-A9E6-1D42DE5440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4" y="268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TW" altLang="en-US"/>
            </a:p>
          </p:txBody>
        </p:sp>
        <p:sp>
          <p:nvSpPr>
            <p:cNvPr id="18447" name="Line 30">
              <a:extLst>
                <a:ext uri="{FF2B5EF4-FFF2-40B4-BE49-F238E27FC236}">
                  <a16:creationId xmlns:a16="http://schemas.microsoft.com/office/drawing/2014/main" id="{1253A2D3-099C-4F60-972D-CEC0585F33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44" y="268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TW" altLang="en-US"/>
            </a:p>
          </p:txBody>
        </p:sp>
        <p:sp>
          <p:nvSpPr>
            <p:cNvPr id="18448" name="Line 31">
              <a:extLst>
                <a:ext uri="{FF2B5EF4-FFF2-40B4-BE49-F238E27FC236}">
                  <a16:creationId xmlns:a16="http://schemas.microsoft.com/office/drawing/2014/main" id="{2D9F5173-460B-41D8-B4F9-DDA494D7A2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3264"/>
              <a:ext cx="7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TW" altLang="en-US"/>
            </a:p>
          </p:txBody>
        </p:sp>
        <p:sp>
          <p:nvSpPr>
            <p:cNvPr id="18449" name="Line 32">
              <a:extLst>
                <a:ext uri="{FF2B5EF4-FFF2-40B4-BE49-F238E27FC236}">
                  <a16:creationId xmlns:a16="http://schemas.microsoft.com/office/drawing/2014/main" id="{5B78AC4A-AAE5-43B6-827B-FAED19E1DB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4" y="2688"/>
              <a:ext cx="72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TW" altLang="en-US"/>
            </a:p>
          </p:txBody>
        </p:sp>
        <p:sp>
          <p:nvSpPr>
            <p:cNvPr id="18450" name="Line 33">
              <a:extLst>
                <a:ext uri="{FF2B5EF4-FFF2-40B4-BE49-F238E27FC236}">
                  <a16:creationId xmlns:a16="http://schemas.microsoft.com/office/drawing/2014/main" id="{5852DA05-A448-4CD8-A955-7952ABA9FD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4" y="3264"/>
              <a:ext cx="72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TW" altLang="en-US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6E6CD1-5DD0-4324-886D-D1FE86702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20</a:t>
            </a:fld>
            <a:endParaRPr lang="en-US" altLang="zh-TW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2">
            <a:extLst>
              <a:ext uri="{FF2B5EF4-FFF2-40B4-BE49-F238E27FC236}">
                <a16:creationId xmlns:a16="http://schemas.microsoft.com/office/drawing/2014/main" id="{45C9CD99-11B2-4406-A55F-7D601AF351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6858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Renaming</a:t>
            </a:r>
          </a:p>
        </p:txBody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2F968835-8E30-4E52-9568-4F57059846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219200"/>
            <a:ext cx="7772400" cy="4876800"/>
          </a:xfrm>
        </p:spPr>
        <p:txBody>
          <a:bodyPr/>
          <a:lstStyle/>
          <a:p>
            <a:r>
              <a:rPr lang="en-US" altLang="zh-TW" sz="2800">
                <a:ea typeface="新細明體" panose="02020500000000000000" pitchFamily="18" charset="-120"/>
              </a:rPr>
              <a:t>Result of expression evaluation is a relation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Attributes of relation must have distinct names.  This is not guaranteed with Cartesian product</a:t>
            </a:r>
          </a:p>
          <a:p>
            <a:pPr lvl="1"/>
            <a:r>
              <a:rPr lang="en-US" altLang="zh-TW" sz="2400">
                <a:ea typeface="新細明體" panose="02020500000000000000" pitchFamily="18" charset="-120"/>
              </a:rPr>
              <a:t>e.g., suppose in previous example </a:t>
            </a:r>
            <a:r>
              <a:rPr lang="en-US" altLang="zh-TW" sz="2400" i="1">
                <a:ea typeface="新細明體" panose="02020500000000000000" pitchFamily="18" charset="-120"/>
              </a:rPr>
              <a:t>A</a:t>
            </a:r>
            <a:r>
              <a:rPr lang="en-US" altLang="zh-TW" sz="2400">
                <a:ea typeface="新細明體" panose="02020500000000000000" pitchFamily="18" charset="-120"/>
              </a:rPr>
              <a:t> and</a:t>
            </a:r>
            <a:r>
              <a:rPr lang="en-US" altLang="zh-TW" sz="2400" i="1">
                <a:ea typeface="新細明體" panose="02020500000000000000" pitchFamily="18" charset="-120"/>
              </a:rPr>
              <a:t> C </a:t>
            </a:r>
            <a:r>
              <a:rPr lang="en-US" altLang="zh-TW" sz="2400">
                <a:ea typeface="新細明體" panose="02020500000000000000" pitchFamily="18" charset="-120"/>
              </a:rPr>
              <a:t>have the same name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Renaming operator tidies this up.  To assign the names </a:t>
            </a:r>
            <a:r>
              <a:rPr lang="en-US" altLang="zh-TW" sz="2800" i="1">
                <a:ea typeface="新細明體" panose="02020500000000000000" pitchFamily="18" charset="-120"/>
              </a:rPr>
              <a:t>A</a:t>
            </a:r>
            <a:r>
              <a:rPr lang="en-US" altLang="zh-TW" sz="2800" baseline="-25000">
                <a:ea typeface="新細明體" panose="02020500000000000000" pitchFamily="18" charset="-120"/>
              </a:rPr>
              <a:t>1</a:t>
            </a:r>
            <a:r>
              <a:rPr lang="en-US" altLang="zh-TW" sz="2800">
                <a:ea typeface="新細明體" panose="02020500000000000000" pitchFamily="18" charset="-120"/>
              </a:rPr>
              <a:t>, </a:t>
            </a:r>
            <a:r>
              <a:rPr lang="en-US" altLang="zh-TW" sz="2800" i="1">
                <a:ea typeface="新細明體" panose="02020500000000000000" pitchFamily="18" charset="-120"/>
              </a:rPr>
              <a:t>A</a:t>
            </a:r>
            <a:r>
              <a:rPr lang="en-US" altLang="zh-TW" sz="2800" baseline="-25000">
                <a:ea typeface="新細明體" panose="02020500000000000000" pitchFamily="18" charset="-120"/>
              </a:rPr>
              <a:t>2</a:t>
            </a:r>
            <a:r>
              <a:rPr lang="en-US" altLang="zh-TW" sz="2800">
                <a:ea typeface="新細明體" panose="02020500000000000000" pitchFamily="18" charset="-120"/>
              </a:rPr>
              <a:t>,… </a:t>
            </a:r>
            <a:r>
              <a:rPr lang="en-US" altLang="zh-TW" sz="2800" i="1">
                <a:ea typeface="新細明體" panose="02020500000000000000" pitchFamily="18" charset="-120"/>
              </a:rPr>
              <a:t>A</a:t>
            </a:r>
            <a:r>
              <a:rPr lang="en-US" altLang="zh-TW" sz="2800" baseline="-25000">
                <a:ea typeface="新細明體" panose="02020500000000000000" pitchFamily="18" charset="-120"/>
              </a:rPr>
              <a:t>n</a:t>
            </a:r>
            <a:r>
              <a:rPr lang="en-US" altLang="zh-TW" sz="2800">
                <a:ea typeface="新細明體" panose="02020500000000000000" pitchFamily="18" charset="-120"/>
              </a:rPr>
              <a:t> to the attributes of the </a:t>
            </a:r>
            <a:r>
              <a:rPr lang="en-US" altLang="zh-TW" sz="2800" i="1">
                <a:ea typeface="新細明體" panose="02020500000000000000" pitchFamily="18" charset="-120"/>
              </a:rPr>
              <a:t>n</a:t>
            </a:r>
            <a:r>
              <a:rPr lang="en-US" altLang="zh-TW" sz="2800">
                <a:ea typeface="新細明體" panose="02020500000000000000" pitchFamily="18" charset="-120"/>
              </a:rPr>
              <a:t> column relation produced by expression </a:t>
            </a:r>
            <a:r>
              <a:rPr lang="en-US" altLang="zh-TW" sz="2800" i="1">
                <a:ea typeface="新細明體" panose="02020500000000000000" pitchFamily="18" charset="-120"/>
              </a:rPr>
              <a:t>expr </a:t>
            </a:r>
            <a:r>
              <a:rPr lang="en-US" altLang="zh-TW" sz="2800">
                <a:ea typeface="新細明體" panose="02020500000000000000" pitchFamily="18" charset="-120"/>
              </a:rPr>
              <a:t>use       	 </a:t>
            </a:r>
            <a:r>
              <a:rPr lang="en-US" altLang="zh-TW" sz="2800" i="1">
                <a:ea typeface="新細明體" panose="02020500000000000000" pitchFamily="18" charset="-120"/>
              </a:rPr>
              <a:t>expr </a:t>
            </a:r>
            <a:r>
              <a:rPr lang="en-US" altLang="zh-TW" sz="2800">
                <a:ea typeface="新細明體" panose="02020500000000000000" pitchFamily="18" charset="-120"/>
              </a:rPr>
              <a:t>[</a:t>
            </a:r>
            <a:r>
              <a:rPr lang="en-US" altLang="zh-TW" sz="2800" i="1">
                <a:ea typeface="新細明體" panose="02020500000000000000" pitchFamily="18" charset="-120"/>
              </a:rPr>
              <a:t>A</a:t>
            </a:r>
            <a:r>
              <a:rPr lang="en-US" altLang="zh-TW" sz="2800" i="1" baseline="-25000">
                <a:ea typeface="新細明體" panose="02020500000000000000" pitchFamily="18" charset="-120"/>
              </a:rPr>
              <a:t>1</a:t>
            </a:r>
            <a:r>
              <a:rPr lang="en-US" altLang="zh-TW" sz="2800" i="1">
                <a:ea typeface="新細明體" panose="02020500000000000000" pitchFamily="18" charset="-120"/>
              </a:rPr>
              <a:t>, A</a:t>
            </a:r>
            <a:r>
              <a:rPr lang="en-US" altLang="zh-TW" sz="2800" i="1" baseline="-25000">
                <a:ea typeface="新細明體" panose="02020500000000000000" pitchFamily="18" charset="-120"/>
              </a:rPr>
              <a:t>2</a:t>
            </a:r>
            <a:r>
              <a:rPr lang="en-US" altLang="zh-TW" sz="2800" i="1">
                <a:ea typeface="新細明體" panose="02020500000000000000" pitchFamily="18" charset="-120"/>
              </a:rPr>
              <a:t>, … A</a:t>
            </a:r>
            <a:r>
              <a:rPr lang="en-US" altLang="zh-TW" sz="2800" i="1" baseline="-25000">
                <a:ea typeface="新細明體" panose="02020500000000000000" pitchFamily="18" charset="-120"/>
              </a:rPr>
              <a:t>n</a:t>
            </a:r>
            <a:r>
              <a:rPr lang="en-US" altLang="zh-TW" sz="2800">
                <a:ea typeface="新細明體" panose="02020500000000000000" pitchFamily="18" charset="-120"/>
              </a:rPr>
              <a:t>]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B41A94-59D5-49AC-B9F6-9D6AB2293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21</a:t>
            </a:fld>
            <a:endParaRPr lang="en-US" altLang="zh-TW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2">
            <a:extLst>
              <a:ext uri="{FF2B5EF4-FFF2-40B4-BE49-F238E27FC236}">
                <a16:creationId xmlns:a16="http://schemas.microsoft.com/office/drawing/2014/main" id="{13F794F0-EB7D-4918-9DFC-7EF7974CEA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6858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Example</a:t>
            </a:r>
          </a:p>
        </p:txBody>
      </p:sp>
      <p:sp>
        <p:nvSpPr>
          <p:cNvPr id="20484" name="Text Box 5">
            <a:extLst>
              <a:ext uri="{FF2B5EF4-FFF2-40B4-BE49-F238E27FC236}">
                <a16:creationId xmlns:a16="http://schemas.microsoft.com/office/drawing/2014/main" id="{E1C1B382-AC72-4D41-BBCF-F7D376B2E9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5410200"/>
            <a:ext cx="76962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dirty="0">
                <a:ea typeface="新細明體" panose="02020500000000000000" pitchFamily="18" charset="-120"/>
              </a:rPr>
              <a:t>This cross product results in a relation with 4 attributes: </a:t>
            </a:r>
          </a:p>
          <a:p>
            <a:r>
              <a:rPr lang="en-US" altLang="zh-TW" sz="2400" dirty="0">
                <a:ea typeface="新細明體" panose="02020500000000000000" pitchFamily="18" charset="-120"/>
              </a:rPr>
              <a:t>                     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StudId</a:t>
            </a:r>
            <a:r>
              <a:rPr lang="en-US" altLang="zh-TW" sz="2400" i="1" dirty="0">
                <a:ea typeface="新細明體" panose="02020500000000000000" pitchFamily="18" charset="-120"/>
              </a:rPr>
              <a:t>, </a:t>
            </a:r>
            <a:r>
              <a:rPr lang="en-US" altLang="zh-TW" sz="2400" i="1" dirty="0">
                <a:solidFill>
                  <a:schemeClr val="accent2"/>
                </a:solidFill>
                <a:ea typeface="新細明體" panose="02020500000000000000" pitchFamily="18" charset="-120"/>
              </a:rPr>
              <a:t>CrsCode1</a:t>
            </a:r>
            <a:r>
              <a:rPr lang="en-US" altLang="zh-TW" sz="2400" i="1" dirty="0">
                <a:ea typeface="新細明體" panose="02020500000000000000" pitchFamily="18" charset="-120"/>
              </a:rPr>
              <a:t>, 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ProfId</a:t>
            </a:r>
            <a:r>
              <a:rPr lang="en-US" altLang="zh-TW" sz="2400" i="1" dirty="0">
                <a:ea typeface="新細明體" panose="02020500000000000000" pitchFamily="18" charset="-120"/>
              </a:rPr>
              <a:t>, </a:t>
            </a:r>
            <a:r>
              <a:rPr lang="en-US" altLang="zh-TW" sz="2400" i="1" dirty="0">
                <a:solidFill>
                  <a:srgbClr val="008000"/>
                </a:solidFill>
                <a:ea typeface="新細明體" panose="02020500000000000000" pitchFamily="18" charset="-120"/>
              </a:rPr>
              <a:t>CrsCode2</a:t>
            </a:r>
          </a:p>
        </p:txBody>
      </p:sp>
      <p:sp>
        <p:nvSpPr>
          <p:cNvPr id="21510" name="Text Box 6">
            <a:extLst>
              <a:ext uri="{FF2B5EF4-FFF2-40B4-BE49-F238E27FC236}">
                <a16:creationId xmlns:a16="http://schemas.microsoft.com/office/drawing/2014/main" id="{E2A73A82-28EC-4DB2-BFDF-A6943B1E3E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1684338"/>
            <a:ext cx="7696200" cy="312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zh-TW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cs typeface="Times New Roman" panose="02020603050405020304" pitchFamily="18" charset="0"/>
              </a:rPr>
              <a:t>Transcript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 (</a:t>
            </a:r>
            <a:r>
              <a:rPr lang="en-US" altLang="zh-TW" sz="2800" i="1" dirty="0" err="1">
                <a:ea typeface="新細明體" panose="02020500000000000000" pitchFamily="18" charset="-120"/>
                <a:cs typeface="Times New Roman" panose="02020603050405020304" pitchFamily="18" charset="0"/>
              </a:rPr>
              <a:t>StudId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, </a:t>
            </a:r>
            <a:r>
              <a:rPr lang="en-US" altLang="zh-TW" sz="2800" i="1" dirty="0" err="1">
                <a:solidFill>
                  <a:schemeClr val="accent2"/>
                </a:solidFill>
                <a:ea typeface="新細明體" panose="02020500000000000000" pitchFamily="18" charset="-120"/>
                <a:cs typeface="Times New Roman" panose="02020603050405020304" pitchFamily="18" charset="0"/>
              </a:rPr>
              <a:t>CrsCode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, Semester, Grade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 altLang="zh-TW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cs typeface="Times New Roman" panose="02020603050405020304" pitchFamily="18" charset="0"/>
              </a:rPr>
              <a:t>Teaching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 (</a:t>
            </a:r>
            <a:r>
              <a:rPr lang="en-US" altLang="zh-TW" sz="2800" i="1" dirty="0" err="1">
                <a:ea typeface="新細明體" panose="02020500000000000000" pitchFamily="18" charset="-120"/>
                <a:cs typeface="Times New Roman" panose="02020603050405020304" pitchFamily="18" charset="0"/>
              </a:rPr>
              <a:t>ProfId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, </a:t>
            </a:r>
            <a:r>
              <a:rPr lang="en-US" altLang="zh-TW" sz="2800" i="1" dirty="0" err="1">
                <a:solidFill>
                  <a:srgbClr val="008000"/>
                </a:solidFill>
                <a:ea typeface="新細明體" panose="02020500000000000000" pitchFamily="18" charset="-120"/>
                <a:cs typeface="Times New Roman" panose="02020603050405020304" pitchFamily="18" charset="0"/>
              </a:rPr>
              <a:t>CrsCode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, Semester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 </a:t>
            </a:r>
            <a:endParaRPr lang="en-US" altLang="zh-TW" sz="2800" dirty="0"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0000"/>
              </a:lnSpc>
            </a:pP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  <a:sym typeface="Symbol" panose="05050102010706020507" pitchFamily="18" charset="2"/>
              </a:rPr>
              <a:t>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2800" i="1" baseline="-30000" dirty="0" err="1">
                <a:ea typeface="新細明體" panose="02020500000000000000" pitchFamily="18" charset="-120"/>
                <a:cs typeface="Times New Roman" panose="02020603050405020304" pitchFamily="18" charset="0"/>
              </a:rPr>
              <a:t>StudId</a:t>
            </a:r>
            <a:r>
              <a:rPr lang="en-US" altLang="zh-TW" sz="2800" i="1" baseline="-30000" dirty="0">
                <a:ea typeface="新細明體" panose="02020500000000000000" pitchFamily="18" charset="-120"/>
                <a:cs typeface="Times New Roman" panose="02020603050405020304" pitchFamily="18" charset="0"/>
              </a:rPr>
              <a:t>, </a:t>
            </a:r>
            <a:r>
              <a:rPr lang="en-US" altLang="zh-TW" sz="2800" i="1" baseline="-30000" dirty="0" err="1">
                <a:solidFill>
                  <a:schemeClr val="accent2"/>
                </a:solidFill>
                <a:ea typeface="新細明體" panose="02020500000000000000" pitchFamily="18" charset="-120"/>
                <a:cs typeface="Times New Roman" panose="02020603050405020304" pitchFamily="18" charset="0"/>
              </a:rPr>
              <a:t>CrsCode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(</a:t>
            </a:r>
            <a:r>
              <a:rPr lang="en-US" altLang="zh-TW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cs typeface="Times New Roman" panose="02020603050405020304" pitchFamily="18" charset="0"/>
              </a:rPr>
              <a:t>Transcript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)[</a:t>
            </a:r>
            <a:r>
              <a:rPr lang="en-US" altLang="zh-TW" sz="2800" i="1" dirty="0" err="1">
                <a:ea typeface="新細明體" panose="02020500000000000000" pitchFamily="18" charset="-120"/>
                <a:cs typeface="Times New Roman" panose="02020603050405020304" pitchFamily="18" charset="0"/>
              </a:rPr>
              <a:t>StudId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, </a:t>
            </a:r>
            <a:r>
              <a:rPr lang="en-US" altLang="zh-TW" sz="2800" i="1" dirty="0">
                <a:solidFill>
                  <a:schemeClr val="accent2"/>
                </a:solidFill>
                <a:ea typeface="新細明體" panose="02020500000000000000" pitchFamily="18" charset="-120"/>
                <a:cs typeface="Times New Roman" panose="02020603050405020304" pitchFamily="18" charset="0"/>
              </a:rPr>
              <a:t>CrsCode1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]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endParaRPr lang="en-US" altLang="zh-TW" sz="2800" dirty="0"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40000"/>
              </a:lnSpc>
            </a:pP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        </a:t>
            </a:r>
            <a:r>
              <a:rPr lang="en-US" altLang="zh-TW" sz="2800" dirty="0">
                <a:solidFill>
                  <a:srgbClr val="990033"/>
                </a:solidFill>
                <a:ea typeface="新細明體" panose="02020500000000000000" pitchFamily="18" charset="-120"/>
                <a:cs typeface="Times New Roman" panose="02020603050405020304" pitchFamily="18" charset="0"/>
                <a:sym typeface="Symbol" panose="05050102010706020507" pitchFamily="18" charset="2"/>
              </a:rPr>
              <a:t> 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  <a:sym typeface="Symbol" panose="05050102010706020507" pitchFamily="18" charset="2"/>
              </a:rPr>
              <a:t>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2800" i="1" baseline="-30000" dirty="0" err="1">
                <a:ea typeface="新細明體" panose="02020500000000000000" pitchFamily="18" charset="-120"/>
                <a:cs typeface="Times New Roman" panose="02020603050405020304" pitchFamily="18" charset="0"/>
              </a:rPr>
              <a:t>ProfId</a:t>
            </a:r>
            <a:r>
              <a:rPr lang="en-US" altLang="zh-TW" sz="2800" i="1" baseline="-30000" dirty="0">
                <a:ea typeface="新細明體" panose="02020500000000000000" pitchFamily="18" charset="-120"/>
                <a:cs typeface="Times New Roman" panose="02020603050405020304" pitchFamily="18" charset="0"/>
              </a:rPr>
              <a:t>, </a:t>
            </a:r>
            <a:r>
              <a:rPr lang="en-US" altLang="zh-TW" sz="2800" i="1" baseline="-30000" dirty="0" err="1">
                <a:solidFill>
                  <a:srgbClr val="008000"/>
                </a:solidFill>
                <a:ea typeface="新細明體" panose="02020500000000000000" pitchFamily="18" charset="-120"/>
                <a:cs typeface="Times New Roman" panose="02020603050405020304" pitchFamily="18" charset="0"/>
              </a:rPr>
              <a:t>CrsCode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(</a:t>
            </a:r>
            <a:r>
              <a:rPr lang="en-US" altLang="zh-TW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cs typeface="Times New Roman" panose="02020603050405020304" pitchFamily="18" charset="0"/>
              </a:rPr>
              <a:t>Teaching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) [</a:t>
            </a:r>
            <a:r>
              <a:rPr lang="en-US" altLang="zh-TW" sz="2800" i="1" dirty="0" err="1">
                <a:ea typeface="新細明體" panose="02020500000000000000" pitchFamily="18" charset="-120"/>
                <a:cs typeface="Times New Roman" panose="02020603050405020304" pitchFamily="18" charset="0"/>
              </a:rPr>
              <a:t>ProfId</a:t>
            </a:r>
            <a:r>
              <a:rPr lang="en-US" altLang="zh-TW" sz="2800" i="1" dirty="0">
                <a:ea typeface="新細明體" panose="02020500000000000000" pitchFamily="18" charset="-120"/>
                <a:cs typeface="Times New Roman" panose="02020603050405020304" pitchFamily="18" charset="0"/>
              </a:rPr>
              <a:t>, </a:t>
            </a:r>
            <a:r>
              <a:rPr lang="en-US" altLang="zh-TW" sz="2800" i="1" dirty="0">
                <a:solidFill>
                  <a:srgbClr val="008000"/>
                </a:solidFill>
                <a:ea typeface="新細明體" panose="02020500000000000000" pitchFamily="18" charset="-120"/>
                <a:cs typeface="Times New Roman" panose="02020603050405020304" pitchFamily="18" charset="0"/>
              </a:rPr>
              <a:t>CrsCode2</a:t>
            </a:r>
            <a:r>
              <a:rPr lang="en-US" altLang="zh-TW" sz="2800" dirty="0">
                <a:ea typeface="新細明體" panose="02020500000000000000" pitchFamily="18" charset="-120"/>
                <a:cs typeface="Times New Roman" panose="02020603050405020304" pitchFamily="18" charset="0"/>
              </a:rPr>
              <a:t>]</a:t>
            </a:r>
          </a:p>
          <a:p>
            <a:endParaRPr lang="en-US" altLang="zh-TW" sz="28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86A71B-DCD8-4E5F-81B2-074348B0D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22</a:t>
            </a:fld>
            <a:endParaRPr lang="en-US" altLang="zh-TW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2">
            <a:extLst>
              <a:ext uri="{FF2B5EF4-FFF2-40B4-BE49-F238E27FC236}">
                <a16:creationId xmlns:a16="http://schemas.microsoft.com/office/drawing/2014/main" id="{BB7709CA-3F91-4A82-8359-E29242D3C9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152400"/>
            <a:ext cx="7772400" cy="6858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 </a:t>
            </a:r>
            <a:r>
              <a:rPr lang="en-US" altLang="zh-TW" sz="4000">
                <a:ea typeface="新細明體" panose="02020500000000000000" pitchFamily="18" charset="-120"/>
              </a:rPr>
              <a:t>Derived Operation: Join</a:t>
            </a:r>
          </a:p>
        </p:txBody>
      </p:sp>
      <p:sp>
        <p:nvSpPr>
          <p:cNvPr id="22531" name="Rectangle 3">
            <a:extLst>
              <a:ext uri="{FF2B5EF4-FFF2-40B4-BE49-F238E27FC236}">
                <a16:creationId xmlns:a16="http://schemas.microsoft.com/office/drawing/2014/main" id="{154B24C0-05DB-4228-A8E6-6171EE4DC6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1066800"/>
            <a:ext cx="8229600" cy="5245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ea typeface="新細明體" panose="02020500000000000000" pitchFamily="18" charset="-120"/>
              </a:rPr>
              <a:t>A (</a:t>
            </a:r>
            <a:r>
              <a:rPr lang="en-US" altLang="zh-TW" sz="2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general</a:t>
            </a:r>
            <a:r>
              <a:rPr lang="en-US" altLang="zh-TW" sz="2800">
                <a:ea typeface="新細明體" panose="02020500000000000000" pitchFamily="18" charset="-120"/>
              </a:rPr>
              <a:t> or </a:t>
            </a:r>
            <a:r>
              <a:rPr lang="en-US" altLang="zh-TW" sz="2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theta</a:t>
            </a:r>
            <a:r>
              <a:rPr lang="en-US" altLang="zh-TW" sz="2800">
                <a:ea typeface="新細明體" panose="02020500000000000000" pitchFamily="18" charset="-120"/>
              </a:rPr>
              <a:t>)  </a:t>
            </a:r>
            <a:r>
              <a:rPr lang="en-US" altLang="zh-TW" sz="2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join </a:t>
            </a:r>
            <a:r>
              <a:rPr lang="en-US" altLang="zh-TW" sz="2800">
                <a:ea typeface="新細明體" panose="02020500000000000000" pitchFamily="18" charset="-120"/>
              </a:rPr>
              <a:t> of 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R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 and 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S 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is the</a:t>
            </a:r>
            <a:r>
              <a:rPr lang="en-US" altLang="zh-TW" sz="2800">
                <a:ea typeface="新細明體" panose="02020500000000000000" pitchFamily="18" charset="-120"/>
              </a:rPr>
              <a:t> expression 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	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R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        </a:t>
            </a:r>
            <a:r>
              <a:rPr lang="en-US" altLang="zh-TW" sz="28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c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S</a:t>
            </a:r>
          </a:p>
          <a:p>
            <a:pPr>
              <a:lnSpc>
                <a:spcPct val="110000"/>
              </a:lnSpc>
            </a:pP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where </a:t>
            </a:r>
            <a:r>
              <a:rPr lang="en-US" altLang="zh-TW" sz="2400" i="1">
                <a:ea typeface="新細明體" panose="02020500000000000000" pitchFamily="18" charset="-120"/>
                <a:sym typeface="Symbol" panose="05050102010706020507" pitchFamily="18" charset="2"/>
              </a:rPr>
              <a:t>join-condition c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 is a 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conjunction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 of terms:</a:t>
            </a:r>
          </a:p>
          <a:p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          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A</a:t>
            </a:r>
            <a:r>
              <a:rPr lang="en-US" altLang="zh-TW" sz="28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i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  oper B</a:t>
            </a:r>
            <a:r>
              <a:rPr lang="en-US" altLang="zh-TW" sz="28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i</a:t>
            </a:r>
            <a:endParaRPr lang="en-US" altLang="zh-TW" sz="2800" i="1">
              <a:ea typeface="新細明體" panose="02020500000000000000" pitchFamily="18" charset="-120"/>
              <a:sym typeface="Symbol" panose="05050102010706020507" pitchFamily="18" charset="2"/>
            </a:endParaRPr>
          </a:p>
          <a:p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in which 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A</a:t>
            </a:r>
            <a:r>
              <a:rPr lang="en-US" altLang="zh-TW" sz="28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i 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is an attribute of 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R;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  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B</a:t>
            </a:r>
            <a:r>
              <a:rPr lang="en-US" altLang="zh-TW" sz="28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i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 is an attribute of 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S; 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and 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oper 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is one of =, &lt;, &gt;,  , . </a:t>
            </a:r>
          </a:p>
          <a:p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Q: </a:t>
            </a:r>
            <a:r>
              <a:rPr lang="en-US" altLang="zh-TW" sz="2800">
                <a:solidFill>
                  <a:srgbClr val="990033"/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Any difference between join condition and selection condition?</a:t>
            </a:r>
          </a:p>
          <a:p>
            <a:r>
              <a:rPr lang="en-US" altLang="zh-TW" sz="2400">
                <a:ea typeface="新細明體" panose="02020500000000000000" pitchFamily="18" charset="-120"/>
                <a:sym typeface="Symbol" panose="05050102010706020507" pitchFamily="18" charset="2"/>
              </a:rPr>
              <a:t>The meaning  is:</a:t>
            </a:r>
          </a:p>
          <a:p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	 </a:t>
            </a:r>
            <a:r>
              <a:rPr lang="en-US" altLang="zh-TW" sz="28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c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R 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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 S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)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endParaRPr lang="en-US" altLang="zh-TW" sz="2800">
              <a:ea typeface="新細明體" panose="02020500000000000000" pitchFamily="18" charset="-120"/>
              <a:sym typeface="Symbol" panose="05050102010706020507" pitchFamily="18" charset="2"/>
            </a:endParaRPr>
          </a:p>
          <a:p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Where join-condition c becomes a select condition c</a:t>
            </a:r>
          </a:p>
          <a:p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except for possible renamings of attributes (next)</a:t>
            </a:r>
          </a:p>
        </p:txBody>
      </p:sp>
      <p:grpSp>
        <p:nvGrpSpPr>
          <p:cNvPr id="21509" name="Group 8">
            <a:extLst>
              <a:ext uri="{FF2B5EF4-FFF2-40B4-BE49-F238E27FC236}">
                <a16:creationId xmlns:a16="http://schemas.microsoft.com/office/drawing/2014/main" id="{627660BB-9A51-4FAC-9AF2-E567B6F906F2}"/>
              </a:ext>
            </a:extLst>
          </p:cNvPr>
          <p:cNvGrpSpPr>
            <a:grpSpLocks/>
          </p:cNvGrpSpPr>
          <p:nvPr/>
        </p:nvGrpSpPr>
        <p:grpSpPr bwMode="auto">
          <a:xfrm>
            <a:off x="1905000" y="1676400"/>
            <a:ext cx="457200" cy="152400"/>
            <a:chOff x="2352" y="2064"/>
            <a:chExt cx="288" cy="96"/>
          </a:xfrm>
        </p:grpSpPr>
        <p:sp>
          <p:nvSpPr>
            <p:cNvPr id="21510" name="AutoShape 9">
              <a:extLst>
                <a:ext uri="{FF2B5EF4-FFF2-40B4-BE49-F238E27FC236}">
                  <a16:creationId xmlns:a16="http://schemas.microsoft.com/office/drawing/2014/main" id="{CDA8506F-3E68-43A1-A595-F5FAEC8CCAD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21511" name="AutoShape 10">
              <a:extLst>
                <a:ext uri="{FF2B5EF4-FFF2-40B4-BE49-F238E27FC236}">
                  <a16:creationId xmlns:a16="http://schemas.microsoft.com/office/drawing/2014/main" id="{A367C8E9-1101-43D8-8D96-6152791F943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47897C-D486-43DF-A204-B129C092D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23</a:t>
            </a:fld>
            <a:endParaRPr lang="en-US" altLang="zh-TW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2">
            <a:extLst>
              <a:ext uri="{FF2B5EF4-FFF2-40B4-BE49-F238E27FC236}">
                <a16:creationId xmlns:a16="http://schemas.microsoft.com/office/drawing/2014/main" id="{EC1F4BF2-81EA-486B-AB9F-BFE26EA09A9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6858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Join and Renaming</a:t>
            </a:r>
          </a:p>
        </p:txBody>
      </p:sp>
      <p:sp>
        <p:nvSpPr>
          <p:cNvPr id="78851" name="Rectangle 3">
            <a:extLst>
              <a:ext uri="{FF2B5EF4-FFF2-40B4-BE49-F238E27FC236}">
                <a16:creationId xmlns:a16="http://schemas.microsoft.com/office/drawing/2014/main" id="{F11A9D93-B934-448E-B43D-A82BAD00C1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371600"/>
            <a:ext cx="7772400" cy="4724400"/>
          </a:xfrm>
        </p:spPr>
        <p:txBody>
          <a:bodyPr/>
          <a:lstStyle/>
          <a:p>
            <a:pPr marL="609600" indent="-609600">
              <a:lnSpc>
                <a:spcPct val="90000"/>
              </a:lnSpc>
            </a:pPr>
            <a:r>
              <a:rPr lang="en-US" altLang="zh-TW" sz="2800" b="1">
                <a:ea typeface="新細明體" panose="02020500000000000000" pitchFamily="18" charset="-120"/>
              </a:rPr>
              <a:t>Problem</a:t>
            </a:r>
            <a:r>
              <a:rPr lang="en-US" altLang="zh-TW" sz="2800">
                <a:ea typeface="新細明體" panose="02020500000000000000" pitchFamily="18" charset="-120"/>
              </a:rPr>
              <a:t>: </a:t>
            </a:r>
            <a:r>
              <a:rPr lang="en-US" altLang="zh-TW" sz="2800" i="1">
                <a:ea typeface="新細明體" panose="02020500000000000000" pitchFamily="18" charset="-120"/>
              </a:rPr>
              <a:t>R</a:t>
            </a:r>
            <a:r>
              <a:rPr lang="en-US" altLang="zh-TW" sz="2800">
                <a:ea typeface="新細明體" panose="02020500000000000000" pitchFamily="18" charset="-120"/>
              </a:rPr>
              <a:t> and </a:t>
            </a:r>
            <a:r>
              <a:rPr lang="en-US" altLang="zh-TW" sz="2800" i="1">
                <a:ea typeface="新細明體" panose="02020500000000000000" pitchFamily="18" charset="-120"/>
              </a:rPr>
              <a:t>S</a:t>
            </a:r>
            <a:r>
              <a:rPr lang="en-US" altLang="zh-TW" sz="2800">
                <a:ea typeface="新細明體" panose="02020500000000000000" pitchFamily="18" charset="-120"/>
              </a:rPr>
              <a:t> might have attributes with the same name – in which case the Cartesian product is not defined</a:t>
            </a:r>
          </a:p>
          <a:p>
            <a:pPr marL="609600" indent="-609600">
              <a:lnSpc>
                <a:spcPct val="90000"/>
              </a:lnSpc>
            </a:pPr>
            <a:r>
              <a:rPr lang="en-US" altLang="zh-TW" sz="2800" b="1">
                <a:ea typeface="新細明體" panose="02020500000000000000" pitchFamily="18" charset="-120"/>
              </a:rPr>
              <a:t>Solutions</a:t>
            </a:r>
            <a:r>
              <a:rPr lang="en-US" altLang="zh-TW" sz="2800">
                <a:ea typeface="新細明體" panose="02020500000000000000" pitchFamily="18" charset="-120"/>
              </a:rPr>
              <a:t>: </a:t>
            </a:r>
          </a:p>
          <a:p>
            <a:pPr marL="990600" lvl="1" indent="-533400">
              <a:lnSpc>
                <a:spcPct val="90000"/>
              </a:lnSpc>
              <a:buFontTx/>
              <a:buAutoNum type="arabicPeriod"/>
            </a:pPr>
            <a:r>
              <a:rPr lang="en-US" altLang="zh-TW" sz="2400">
                <a:ea typeface="新細明體" panose="02020500000000000000" pitchFamily="18" charset="-120"/>
              </a:rPr>
              <a:t>Rename attributes prior to forming the product and use new names in </a:t>
            </a:r>
            <a:r>
              <a:rPr lang="en-US" altLang="zh-TW" sz="2400" i="1">
                <a:ea typeface="新細明體" panose="02020500000000000000" pitchFamily="18" charset="-120"/>
              </a:rPr>
              <a:t>join-condition</a:t>
            </a:r>
            <a:r>
              <a:rPr lang="en-US" altLang="zh-TW" sz="2400" b="1" i="1">
                <a:solidFill>
                  <a:srgbClr val="990033"/>
                </a:solidFill>
                <a:ea typeface="新細明體" panose="02020500000000000000" pitchFamily="18" charset="-120"/>
                <a:cs typeface="Times New Roman" panose="02020603050405020304" pitchFamily="18" charset="0"/>
                <a:sym typeface="Symbol" panose="05050102010706020507" pitchFamily="18" charset="2"/>
              </a:rPr>
              <a:t>´</a:t>
            </a:r>
            <a:r>
              <a:rPr lang="en-US" altLang="zh-TW" sz="2400">
                <a:ea typeface="新細明體" panose="02020500000000000000" pitchFamily="18" charset="-120"/>
              </a:rPr>
              <a:t>.</a:t>
            </a:r>
          </a:p>
          <a:p>
            <a:pPr marL="990600" lvl="1" indent="-533400">
              <a:lnSpc>
                <a:spcPct val="90000"/>
              </a:lnSpc>
              <a:buFontTx/>
              <a:buAutoNum type="arabicPeriod"/>
            </a:pPr>
            <a:r>
              <a:rPr lang="en-US" altLang="zh-TW" sz="2400">
                <a:ea typeface="新細明體" panose="02020500000000000000" pitchFamily="18" charset="-120"/>
              </a:rPr>
              <a:t>Qualify common attribute names with relation names (thereby disambiguating the names). For instance: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Transcript.</a:t>
            </a:r>
            <a:r>
              <a:rPr lang="en-US" altLang="zh-TW" sz="24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CrsCode</a:t>
            </a:r>
            <a:r>
              <a:rPr lang="en-US" altLang="zh-TW" sz="2400">
                <a:ea typeface="新細明體" panose="02020500000000000000" pitchFamily="18" charset="-120"/>
              </a:rPr>
              <a:t> or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Teaching.</a:t>
            </a:r>
            <a:r>
              <a:rPr lang="en-US" altLang="zh-TW" sz="24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CrsCode</a:t>
            </a:r>
          </a:p>
          <a:p>
            <a:pPr marL="1371600" lvl="2" indent="-457200">
              <a:lnSpc>
                <a:spcPct val="90000"/>
              </a:lnSpc>
              <a:buFontTx/>
              <a:buChar char="–"/>
            </a:pPr>
            <a:r>
              <a:rPr lang="en-US" altLang="zh-TW" sz="2000">
                <a:ea typeface="新細明體" panose="02020500000000000000" pitchFamily="18" charset="-120"/>
              </a:rPr>
              <a:t>This solution is nice, but doesn’t always work: consider</a:t>
            </a:r>
          </a:p>
          <a:p>
            <a:pPr marL="1752600" lvl="3" indent="-381000" algn="ctr">
              <a:lnSpc>
                <a:spcPct val="110000"/>
              </a:lnSpc>
              <a:buFontTx/>
              <a:buNone/>
            </a:pPr>
            <a:r>
              <a:rPr lang="en-US" altLang="zh-TW" sz="1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R</a:t>
            </a:r>
            <a:r>
              <a:rPr lang="en-US" altLang="zh-TW" sz="1800">
                <a:ea typeface="新細明體" panose="02020500000000000000" pitchFamily="18" charset="-120"/>
              </a:rPr>
              <a:t>             </a:t>
            </a:r>
            <a:r>
              <a:rPr lang="en-US" altLang="zh-TW" sz="2800" i="1" baseline="-25000">
                <a:ea typeface="新細明體" panose="02020500000000000000" pitchFamily="18" charset="-120"/>
              </a:rPr>
              <a:t>join_condition</a:t>
            </a:r>
            <a:r>
              <a:rPr lang="en-US" altLang="zh-TW" sz="1800">
                <a:ea typeface="新細明體" panose="02020500000000000000" pitchFamily="18" charset="-120"/>
              </a:rPr>
              <a:t>  </a:t>
            </a:r>
            <a:r>
              <a:rPr lang="en-US" altLang="zh-TW" sz="1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R</a:t>
            </a:r>
          </a:p>
          <a:p>
            <a:pPr marL="1752600" lvl="3" indent="-381000">
              <a:lnSpc>
                <a:spcPct val="140000"/>
              </a:lnSpc>
              <a:buFontTx/>
              <a:buNone/>
            </a:pPr>
            <a:r>
              <a:rPr lang="en-US" altLang="zh-TW" sz="1800">
                <a:ea typeface="新細明體" panose="02020500000000000000" pitchFamily="18" charset="-120"/>
              </a:rPr>
              <a:t>In </a:t>
            </a:r>
            <a:r>
              <a:rPr lang="en-US" altLang="zh-TW" sz="1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R</a:t>
            </a:r>
            <a:r>
              <a:rPr lang="en-US" altLang="zh-TW" sz="1800" i="1">
                <a:ea typeface="新細明體" panose="02020500000000000000" pitchFamily="18" charset="-120"/>
              </a:rPr>
              <a:t>.A</a:t>
            </a:r>
            <a:r>
              <a:rPr lang="en-US" altLang="zh-TW" sz="1800">
                <a:ea typeface="新細明體" panose="02020500000000000000" pitchFamily="18" charset="-120"/>
              </a:rPr>
              <a:t>, how do we know which R is meant?</a:t>
            </a:r>
          </a:p>
        </p:txBody>
      </p:sp>
      <p:grpSp>
        <p:nvGrpSpPr>
          <p:cNvPr id="22533" name="Group 4">
            <a:extLst>
              <a:ext uri="{FF2B5EF4-FFF2-40B4-BE49-F238E27FC236}">
                <a16:creationId xmlns:a16="http://schemas.microsoft.com/office/drawing/2014/main" id="{608AD977-080C-4454-89B7-FF4D72AAD79A}"/>
              </a:ext>
            </a:extLst>
          </p:cNvPr>
          <p:cNvGrpSpPr>
            <a:grpSpLocks/>
          </p:cNvGrpSpPr>
          <p:nvPr/>
        </p:nvGrpSpPr>
        <p:grpSpPr bwMode="auto">
          <a:xfrm>
            <a:off x="4343400" y="5334000"/>
            <a:ext cx="457200" cy="152400"/>
            <a:chOff x="2352" y="2064"/>
            <a:chExt cx="288" cy="96"/>
          </a:xfrm>
        </p:grpSpPr>
        <p:sp>
          <p:nvSpPr>
            <p:cNvPr id="22534" name="AutoShape 5">
              <a:extLst>
                <a:ext uri="{FF2B5EF4-FFF2-40B4-BE49-F238E27FC236}">
                  <a16:creationId xmlns:a16="http://schemas.microsoft.com/office/drawing/2014/main" id="{9D807BE7-BE0D-450E-8DC8-2DFCAA90C53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22535" name="AutoShape 6">
              <a:extLst>
                <a:ext uri="{FF2B5EF4-FFF2-40B4-BE49-F238E27FC236}">
                  <a16:creationId xmlns:a16="http://schemas.microsoft.com/office/drawing/2014/main" id="{591B8450-0B4E-4F4C-8AE7-7C1D8CEC58D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6195F7-B187-4540-A051-FC05D2380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24</a:t>
            </a:fld>
            <a:endParaRPr lang="en-US" altLang="zh-TW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1026">
            <a:extLst>
              <a:ext uri="{FF2B5EF4-FFF2-40B4-BE49-F238E27FC236}">
                <a16:creationId xmlns:a16="http://schemas.microsoft.com/office/drawing/2014/main" id="{C8A90ADF-C890-4DFA-91B8-C37EE76F4A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81000"/>
            <a:ext cx="7772400" cy="8382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Theta Join – Example</a:t>
            </a:r>
            <a:br>
              <a:rPr lang="en-US" altLang="zh-TW">
                <a:ea typeface="新細明體" panose="02020500000000000000" pitchFamily="18" charset="-120"/>
              </a:rPr>
            </a:br>
            <a:endParaRPr lang="en-US" altLang="zh-TW" sz="2800">
              <a:ea typeface="新細明體" panose="02020500000000000000" pitchFamily="18" charset="-120"/>
            </a:endParaRPr>
          </a:p>
        </p:txBody>
      </p:sp>
      <p:sp>
        <p:nvSpPr>
          <p:cNvPr id="76804" name="Text Box 1028">
            <a:extLst>
              <a:ext uri="{FF2B5EF4-FFF2-40B4-BE49-F238E27FC236}">
                <a16:creationId xmlns:a16="http://schemas.microsoft.com/office/drawing/2014/main" id="{7611C337-424F-48E5-9580-07F061A1AC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2325" y="990600"/>
            <a:ext cx="7456488" cy="1858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defRPr/>
            </a:pP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     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Employee(</a:t>
            </a:r>
            <a:r>
              <a:rPr lang="en-US" sz="2400" i="1">
                <a:effectLst>
                  <a:outerShdw blurRad="38100" dist="38100" dir="2700000" algn="tl">
                    <a:srgbClr val="C0C0C0"/>
                  </a:outerShdw>
                </a:effectLst>
              </a:rPr>
              <a:t>Name,Id,MngrId,Salary</a:t>
            </a:r>
            <a:r>
              <a:rPr lang="en-US" sz="2400"/>
              <a:t>)</a:t>
            </a:r>
          </a:p>
          <a:p>
            <a:pPr>
              <a:defRPr/>
            </a:pP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      Manager(</a:t>
            </a:r>
            <a:r>
              <a:rPr lang="en-US" sz="2400" i="1">
                <a:effectLst>
                  <a:outerShdw blurRad="38100" dist="38100" dir="2700000" algn="tl">
                    <a:srgbClr val="C0C0C0"/>
                  </a:outerShdw>
                </a:effectLst>
              </a:rPr>
              <a:t>Name,Id,Salary</a:t>
            </a:r>
            <a:r>
              <a:rPr lang="en-US" sz="2400"/>
              <a:t>)</a:t>
            </a:r>
          </a:p>
          <a:p>
            <a:pPr>
              <a:defRPr/>
            </a:pPr>
            <a:r>
              <a:rPr lang="en-US" sz="3200"/>
              <a:t>Output  the names of all employees that earn</a:t>
            </a:r>
          </a:p>
          <a:p>
            <a:pPr>
              <a:defRPr/>
            </a:pPr>
            <a:r>
              <a:rPr lang="en-US" sz="3200"/>
              <a:t>more than their managers.</a:t>
            </a:r>
          </a:p>
        </p:txBody>
      </p:sp>
      <p:sp>
        <p:nvSpPr>
          <p:cNvPr id="76805" name="Text Box 1029">
            <a:extLst>
              <a:ext uri="{FF2B5EF4-FFF2-40B4-BE49-F238E27FC236}">
                <a16:creationId xmlns:a16="http://schemas.microsoft.com/office/drawing/2014/main" id="{236B24F6-CCAE-4B3F-A951-FC2FDDE9C3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3021013"/>
            <a:ext cx="8458200" cy="94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2400" baseline="-250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Employee</a:t>
            </a:r>
            <a:r>
              <a:rPr lang="en-US" altLang="zh-TW" sz="24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.Name</a:t>
            </a:r>
            <a:r>
              <a:rPr lang="en-US" altLang="zh-TW" sz="28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Employee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         </a:t>
            </a:r>
            <a:r>
              <a:rPr lang="en-US" altLang="zh-TW" sz="24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MngrId=Id  </a:t>
            </a:r>
            <a:r>
              <a:rPr lang="en-US" altLang="zh-TW" baseline="-25000">
                <a:ea typeface="新細明體" panose="02020500000000000000" pitchFamily="18" charset="-120"/>
                <a:sym typeface="Symbol" panose="05050102010706020507" pitchFamily="18" charset="2"/>
              </a:rPr>
              <a:t>AND</a:t>
            </a:r>
            <a:r>
              <a:rPr lang="en-US" altLang="zh-TW" sz="2400" baseline="-25000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sz="24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 Employee.Salary&gt; Manager.Salary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 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Manager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)</a:t>
            </a:r>
            <a:endParaRPr lang="en-US" altLang="zh-TW" sz="2400">
              <a:ea typeface="新細明體" panose="02020500000000000000" pitchFamily="18" charset="-120"/>
              <a:sym typeface="Symbol" panose="05050102010706020507" pitchFamily="18" charset="2"/>
            </a:endParaRPr>
          </a:p>
        </p:txBody>
      </p:sp>
      <p:sp>
        <p:nvSpPr>
          <p:cNvPr id="76808" name="Text Box 1032">
            <a:extLst>
              <a:ext uri="{FF2B5EF4-FFF2-40B4-BE49-F238E27FC236}">
                <a16:creationId xmlns:a16="http://schemas.microsoft.com/office/drawing/2014/main" id="{2B27B5AA-6C1F-40B1-B760-8658B3C26D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4065588"/>
            <a:ext cx="8177213" cy="1187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/>
              <a:t>The join yields a table with attributes:</a:t>
            </a:r>
          </a:p>
          <a:p>
            <a:pPr>
              <a:defRPr/>
            </a:pPr>
            <a:r>
              <a:rPr lang="en-US" sz="2400"/>
              <a:t>	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Employee</a:t>
            </a:r>
            <a:r>
              <a:rPr lang="en-US" sz="2400"/>
              <a:t>.</a:t>
            </a:r>
            <a:r>
              <a:rPr lang="en-US" sz="2400" i="1"/>
              <a:t>Name</a:t>
            </a:r>
            <a:r>
              <a:rPr lang="en-US" sz="2400"/>
              <a:t>, 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Employee</a:t>
            </a:r>
            <a:r>
              <a:rPr lang="en-US" sz="2400"/>
              <a:t>.</a:t>
            </a:r>
            <a:r>
              <a:rPr lang="en-US" sz="2400" i="1"/>
              <a:t>Id</a:t>
            </a:r>
            <a:r>
              <a:rPr lang="en-US" sz="2400"/>
              <a:t>, 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Employee</a:t>
            </a:r>
            <a:r>
              <a:rPr lang="en-US" sz="2400"/>
              <a:t>.</a:t>
            </a:r>
            <a:r>
              <a:rPr lang="en-US" sz="2400" i="1"/>
              <a:t>Salary</a:t>
            </a:r>
            <a:r>
              <a:rPr lang="en-US" sz="2400"/>
              <a:t>, </a:t>
            </a:r>
            <a:r>
              <a:rPr lang="en-US" sz="2400" i="1"/>
              <a:t>MngrId</a:t>
            </a:r>
          </a:p>
          <a:p>
            <a:pPr>
              <a:defRPr/>
            </a:pPr>
            <a:r>
              <a:rPr lang="en-US" sz="2400"/>
              <a:t>	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Manager</a:t>
            </a:r>
            <a:r>
              <a:rPr lang="en-US" sz="2400"/>
              <a:t>.</a:t>
            </a:r>
            <a:r>
              <a:rPr lang="en-US" sz="2400" i="1"/>
              <a:t>Name</a:t>
            </a:r>
            <a:r>
              <a:rPr lang="en-US" sz="2400"/>
              <a:t>, 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Manager</a:t>
            </a:r>
            <a:r>
              <a:rPr lang="en-US" sz="2400"/>
              <a:t>.</a:t>
            </a:r>
            <a:r>
              <a:rPr lang="en-US" sz="2400" i="1"/>
              <a:t>Id</a:t>
            </a:r>
            <a:r>
              <a:rPr lang="en-US" sz="2400"/>
              <a:t>, 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Manager</a:t>
            </a:r>
            <a:r>
              <a:rPr lang="en-US" sz="2400"/>
              <a:t>.</a:t>
            </a:r>
            <a:r>
              <a:rPr lang="en-US" sz="2400" i="1"/>
              <a:t>Salary</a:t>
            </a:r>
          </a:p>
        </p:txBody>
      </p:sp>
      <p:grpSp>
        <p:nvGrpSpPr>
          <p:cNvPr id="23559" name="Group 1034">
            <a:extLst>
              <a:ext uri="{FF2B5EF4-FFF2-40B4-BE49-F238E27FC236}">
                <a16:creationId xmlns:a16="http://schemas.microsoft.com/office/drawing/2014/main" id="{6E6B946C-5BA9-48F6-8A1E-939FCF1DEBA0}"/>
              </a:ext>
            </a:extLst>
          </p:cNvPr>
          <p:cNvGrpSpPr>
            <a:grpSpLocks/>
          </p:cNvGrpSpPr>
          <p:nvPr/>
        </p:nvGrpSpPr>
        <p:grpSpPr bwMode="auto">
          <a:xfrm>
            <a:off x="3733800" y="3276600"/>
            <a:ext cx="457200" cy="152400"/>
            <a:chOff x="2352" y="2064"/>
            <a:chExt cx="288" cy="96"/>
          </a:xfrm>
        </p:grpSpPr>
        <p:sp>
          <p:nvSpPr>
            <p:cNvPr id="23560" name="AutoShape 1030">
              <a:extLst>
                <a:ext uri="{FF2B5EF4-FFF2-40B4-BE49-F238E27FC236}">
                  <a16:creationId xmlns:a16="http://schemas.microsoft.com/office/drawing/2014/main" id="{BBFC51A7-BBB4-4BC6-A43A-FFC39BEE291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23561" name="AutoShape 1033">
              <a:extLst>
                <a:ext uri="{FF2B5EF4-FFF2-40B4-BE49-F238E27FC236}">
                  <a16:creationId xmlns:a16="http://schemas.microsoft.com/office/drawing/2014/main" id="{199A5F0D-509B-4FD7-A425-15CE8327EB3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BADAF5-AE59-4474-BCA6-3B0ACA09F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25</a:t>
            </a:fld>
            <a:endParaRPr lang="en-US" altLang="zh-TW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2">
            <a:extLst>
              <a:ext uri="{FF2B5EF4-FFF2-40B4-BE49-F238E27FC236}">
                <a16:creationId xmlns:a16="http://schemas.microsoft.com/office/drawing/2014/main" id="{3744CA62-9D06-4E02-811F-2B3C644BA5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152400"/>
            <a:ext cx="7772400" cy="609600"/>
          </a:xfrm>
        </p:spPr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Equijoin  - Example</a:t>
            </a:r>
          </a:p>
        </p:txBody>
      </p:sp>
      <p:sp>
        <p:nvSpPr>
          <p:cNvPr id="23556" name="Text Box 4">
            <a:extLst>
              <a:ext uri="{FF2B5EF4-FFF2-40B4-BE49-F238E27FC236}">
                <a16:creationId xmlns:a16="http://schemas.microsoft.com/office/drawing/2014/main" id="{8C21F81D-9A3C-44D3-9EB7-EFBF51EFD84E}"/>
              </a:ext>
            </a:extLst>
          </p:cNvPr>
          <p:cNvSpPr txBox="1">
            <a:spLocks noChangeArrowheads="1"/>
          </p:cNvSpPr>
          <p:nvPr/>
        </p:nvSpPr>
        <p:spPr bwMode="auto">
          <a:xfrm rot="10800000" flipV="1">
            <a:off x="304800" y="1600200"/>
            <a:ext cx="3200400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sz="2800" dirty="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2800" i="1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Name,CrsCode</a:t>
            </a:r>
            <a:r>
              <a:rPr lang="en-US" altLang="zh-TW" sz="2800" dirty="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sz="24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Student</a:t>
            </a:r>
            <a:r>
              <a:rPr lang="en-US" altLang="zh-TW" sz="2800" i="1" dirty="0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endParaRPr lang="en-US" altLang="zh-TW" sz="2800" i="1" dirty="0">
              <a:ea typeface="新細明體" panose="02020500000000000000" pitchFamily="18" charset="-120"/>
            </a:endParaRPr>
          </a:p>
        </p:txBody>
      </p:sp>
      <p:sp>
        <p:nvSpPr>
          <p:cNvPr id="23559" name="Text Box 7">
            <a:extLst>
              <a:ext uri="{FF2B5EF4-FFF2-40B4-BE49-F238E27FC236}">
                <a16:creationId xmlns:a16="http://schemas.microsoft.com/office/drawing/2014/main" id="{6F34AE85-8331-4C10-B6CE-4E0929D553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2400" y="1676400"/>
            <a:ext cx="4541838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 i="1" baseline="-25000">
                <a:ea typeface="新細明體" panose="02020500000000000000" pitchFamily="18" charset="-120"/>
              </a:rPr>
              <a:t>Id=StudId   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</a:t>
            </a:r>
            <a:r>
              <a:rPr lang="en-US" altLang="zh-TW" sz="28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Grade=‘A’ 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sz="28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Transcript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))</a:t>
            </a:r>
            <a:endParaRPr lang="en-US" altLang="zh-TW" sz="2800">
              <a:ea typeface="新細明體" panose="02020500000000000000" pitchFamily="18" charset="-120"/>
            </a:endParaRPr>
          </a:p>
        </p:txBody>
      </p:sp>
      <p:sp>
        <p:nvSpPr>
          <p:cNvPr id="24582" name="Text Box 10">
            <a:extLst>
              <a:ext uri="{FF2B5EF4-FFF2-40B4-BE49-F238E27FC236}">
                <a16:creationId xmlns:a16="http://schemas.microsoft.com/office/drawing/2014/main" id="{0FDFAF95-A601-4E40-8D34-4A23061306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5125" y="2936875"/>
            <a:ext cx="3798888" cy="216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i="1">
                <a:ea typeface="新細明體" panose="02020500000000000000" pitchFamily="18" charset="-120"/>
              </a:rPr>
              <a:t>Id       Name     Addr     Status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111  John      …..      …..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222  Mary     …..      …..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333  Bill        …..      …..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444  Joe         …..      …..</a:t>
            </a:r>
            <a:endParaRPr lang="en-US" altLang="zh-TW" sz="3200">
              <a:ea typeface="新細明體" panose="02020500000000000000" pitchFamily="18" charset="-120"/>
            </a:endParaRPr>
          </a:p>
        </p:txBody>
      </p:sp>
      <p:sp>
        <p:nvSpPr>
          <p:cNvPr id="24583" name="Text Box 11">
            <a:extLst>
              <a:ext uri="{FF2B5EF4-FFF2-40B4-BE49-F238E27FC236}">
                <a16:creationId xmlns:a16="http://schemas.microsoft.com/office/drawing/2014/main" id="{308484D2-8C86-4E7D-A5F9-6A9B80623F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3400" y="2946400"/>
            <a:ext cx="4341813" cy="173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i="1">
                <a:ea typeface="新細明體" panose="02020500000000000000" pitchFamily="18" charset="-120"/>
              </a:rPr>
              <a:t>StudId      CrsCode   Sem    Grade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  111      CSE305  S00     B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  222      CSE306  S99     A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  333      CSE304  F99     A</a:t>
            </a:r>
          </a:p>
        </p:txBody>
      </p:sp>
      <p:sp>
        <p:nvSpPr>
          <p:cNvPr id="24584" name="Line 12">
            <a:extLst>
              <a:ext uri="{FF2B5EF4-FFF2-40B4-BE49-F238E27FC236}">
                <a16:creationId xmlns:a16="http://schemas.microsoft.com/office/drawing/2014/main" id="{B8F2DA4D-1B47-47E0-B8EF-FDB35D2D4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81000" y="2895600"/>
            <a:ext cx="3733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24585" name="Line 13">
            <a:extLst>
              <a:ext uri="{FF2B5EF4-FFF2-40B4-BE49-F238E27FC236}">
                <a16:creationId xmlns:a16="http://schemas.microsoft.com/office/drawing/2014/main" id="{41410E36-9BB8-4C97-9BD6-67B6DA567145}"/>
              </a:ext>
            </a:extLst>
          </p:cNvPr>
          <p:cNvSpPr>
            <a:spLocks noChangeShapeType="1"/>
          </p:cNvSpPr>
          <p:nvPr/>
        </p:nvSpPr>
        <p:spPr bwMode="auto">
          <a:xfrm>
            <a:off x="381000" y="2895600"/>
            <a:ext cx="0" cy="213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24586" name="Line 14">
            <a:extLst>
              <a:ext uri="{FF2B5EF4-FFF2-40B4-BE49-F238E27FC236}">
                <a16:creationId xmlns:a16="http://schemas.microsoft.com/office/drawing/2014/main" id="{5A7A72D8-56A3-4C9A-B156-879F8520831E}"/>
              </a:ext>
            </a:extLst>
          </p:cNvPr>
          <p:cNvSpPr>
            <a:spLocks noChangeShapeType="1"/>
          </p:cNvSpPr>
          <p:nvPr/>
        </p:nvSpPr>
        <p:spPr bwMode="auto">
          <a:xfrm>
            <a:off x="4419600" y="2895600"/>
            <a:ext cx="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24587" name="Line 15">
            <a:extLst>
              <a:ext uri="{FF2B5EF4-FFF2-40B4-BE49-F238E27FC236}">
                <a16:creationId xmlns:a16="http://schemas.microsoft.com/office/drawing/2014/main" id="{3D1C69D9-ABBD-4B8E-BA54-EFD02107E421}"/>
              </a:ext>
            </a:extLst>
          </p:cNvPr>
          <p:cNvSpPr>
            <a:spLocks noChangeShapeType="1"/>
          </p:cNvSpPr>
          <p:nvPr/>
        </p:nvSpPr>
        <p:spPr bwMode="auto">
          <a:xfrm>
            <a:off x="4419600" y="2895600"/>
            <a:ext cx="426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24588" name="Line 17">
            <a:extLst>
              <a:ext uri="{FF2B5EF4-FFF2-40B4-BE49-F238E27FC236}">
                <a16:creationId xmlns:a16="http://schemas.microsoft.com/office/drawing/2014/main" id="{B516F421-C5AB-46A8-AB03-7AE37980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419600" y="3352800"/>
            <a:ext cx="426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24589" name="Line 18">
            <a:extLst>
              <a:ext uri="{FF2B5EF4-FFF2-40B4-BE49-F238E27FC236}">
                <a16:creationId xmlns:a16="http://schemas.microsoft.com/office/drawing/2014/main" id="{D40A827D-EDD2-43AB-9A05-E503779869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419600" y="4648200"/>
            <a:ext cx="426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24590" name="Line 19">
            <a:extLst>
              <a:ext uri="{FF2B5EF4-FFF2-40B4-BE49-F238E27FC236}">
                <a16:creationId xmlns:a16="http://schemas.microsoft.com/office/drawing/2014/main" id="{2B04691A-1742-4AB1-8388-326B8AD9ACE9}"/>
              </a:ext>
            </a:extLst>
          </p:cNvPr>
          <p:cNvSpPr>
            <a:spLocks noChangeShapeType="1"/>
          </p:cNvSpPr>
          <p:nvPr/>
        </p:nvSpPr>
        <p:spPr bwMode="auto">
          <a:xfrm>
            <a:off x="8686800" y="2895600"/>
            <a:ext cx="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24591" name="Line 20">
            <a:extLst>
              <a:ext uri="{FF2B5EF4-FFF2-40B4-BE49-F238E27FC236}">
                <a16:creationId xmlns:a16="http://schemas.microsoft.com/office/drawing/2014/main" id="{601E8D77-167B-4D2D-BDDF-3DB9DA840CEC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2895600"/>
            <a:ext cx="0" cy="213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24592" name="Line 21">
            <a:extLst>
              <a:ext uri="{FF2B5EF4-FFF2-40B4-BE49-F238E27FC236}">
                <a16:creationId xmlns:a16="http://schemas.microsoft.com/office/drawing/2014/main" id="{0CDFE3C4-B862-4108-9985-DE1FABD1134C}"/>
              </a:ext>
            </a:extLst>
          </p:cNvPr>
          <p:cNvSpPr>
            <a:spLocks noChangeShapeType="1"/>
          </p:cNvSpPr>
          <p:nvPr/>
        </p:nvSpPr>
        <p:spPr bwMode="auto">
          <a:xfrm>
            <a:off x="381000" y="5029200"/>
            <a:ext cx="3733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24593" name="Line 22">
            <a:extLst>
              <a:ext uri="{FF2B5EF4-FFF2-40B4-BE49-F238E27FC236}">
                <a16:creationId xmlns:a16="http://schemas.microsoft.com/office/drawing/2014/main" id="{3E7461AB-3922-4DFD-ACAD-E2257F1C40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81000" y="3352800"/>
            <a:ext cx="3733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24594" name="Text Box 23">
            <a:extLst>
              <a:ext uri="{FF2B5EF4-FFF2-40B4-BE49-F238E27FC236}">
                <a16:creationId xmlns:a16="http://schemas.microsoft.com/office/drawing/2014/main" id="{66D82CA5-45C2-4584-BA53-94CA0FEF9D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7725" y="5324475"/>
            <a:ext cx="25241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ea typeface="新細明體" panose="02020500000000000000" pitchFamily="18" charset="-120"/>
              </a:rPr>
              <a:t>Mary    CSE306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Bill       CSE304</a:t>
            </a:r>
            <a:endParaRPr lang="en-US" altLang="zh-TW" sz="3200">
              <a:ea typeface="新細明體" panose="02020500000000000000" pitchFamily="18" charset="-120"/>
            </a:endParaRPr>
          </a:p>
        </p:txBody>
      </p:sp>
      <p:sp>
        <p:nvSpPr>
          <p:cNvPr id="24595" name="Line 25">
            <a:extLst>
              <a:ext uri="{FF2B5EF4-FFF2-40B4-BE49-F238E27FC236}">
                <a16:creationId xmlns:a16="http://schemas.microsoft.com/office/drawing/2014/main" id="{DE946806-E39D-4926-BB2C-ABA10705C731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3600" y="53340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24596" name="Line 26">
            <a:extLst>
              <a:ext uri="{FF2B5EF4-FFF2-40B4-BE49-F238E27FC236}">
                <a16:creationId xmlns:a16="http://schemas.microsoft.com/office/drawing/2014/main" id="{7111E899-E78F-4B2C-A712-3477031A960C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3600" y="5334000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24597" name="Line 28">
            <a:extLst>
              <a:ext uri="{FF2B5EF4-FFF2-40B4-BE49-F238E27FC236}">
                <a16:creationId xmlns:a16="http://schemas.microsoft.com/office/drawing/2014/main" id="{5AB8FAAC-8FF5-4523-B0E8-04914330B16E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8200" y="5334000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24598" name="Line 29">
            <a:extLst>
              <a:ext uri="{FF2B5EF4-FFF2-40B4-BE49-F238E27FC236}">
                <a16:creationId xmlns:a16="http://schemas.microsoft.com/office/drawing/2014/main" id="{B1C7E142-0B2C-4128-819C-CBDC04720F9C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3600" y="62484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24599" name="Text Box 31">
            <a:extLst>
              <a:ext uri="{FF2B5EF4-FFF2-40B4-BE49-F238E27FC236}">
                <a16:creationId xmlns:a16="http://schemas.microsoft.com/office/drawing/2014/main" id="{409A23A6-4A0B-46E3-BC00-32F1BEEE58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57800" y="4926013"/>
            <a:ext cx="3624263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i="1">
                <a:solidFill>
                  <a:srgbClr val="000066"/>
                </a:solidFill>
                <a:ea typeface="新細明體" panose="02020500000000000000" pitchFamily="18" charset="-120"/>
              </a:rPr>
              <a:t>The equijoin is used very</a:t>
            </a:r>
          </a:p>
          <a:p>
            <a:r>
              <a:rPr lang="en-US" altLang="zh-TW" i="1">
                <a:solidFill>
                  <a:srgbClr val="000066"/>
                </a:solidFill>
                <a:ea typeface="新細明體" panose="02020500000000000000" pitchFamily="18" charset="-120"/>
              </a:rPr>
              <a:t>frequently since it combines</a:t>
            </a:r>
          </a:p>
          <a:p>
            <a:r>
              <a:rPr lang="en-US" altLang="zh-TW" i="1">
                <a:solidFill>
                  <a:srgbClr val="000066"/>
                </a:solidFill>
                <a:ea typeface="新細明體" panose="02020500000000000000" pitchFamily="18" charset="-120"/>
              </a:rPr>
              <a:t>related data in different relations.</a:t>
            </a:r>
          </a:p>
        </p:txBody>
      </p:sp>
      <p:sp>
        <p:nvSpPr>
          <p:cNvPr id="23587" name="Text Box 35">
            <a:extLst>
              <a:ext uri="{FF2B5EF4-FFF2-40B4-BE49-F238E27FC236}">
                <a16:creationId xmlns:a16="http://schemas.microsoft.com/office/drawing/2014/main" id="{38D6A611-D23E-41FA-84DA-DC66B759B7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6400" y="2362200"/>
            <a:ext cx="111442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Student</a:t>
            </a:r>
            <a:endParaRPr lang="en-US" altLang="zh-TW">
              <a:effectLst>
                <a:outerShdw blurRad="38100" dist="38100" dir="2700000" algn="tl">
                  <a:srgbClr val="C0C0C0"/>
                </a:outerShdw>
              </a:effectLst>
              <a:ea typeface="新細明體" panose="02020500000000000000" pitchFamily="18" charset="-120"/>
            </a:endParaRPr>
          </a:p>
        </p:txBody>
      </p:sp>
      <p:sp>
        <p:nvSpPr>
          <p:cNvPr id="23588" name="Text Box 36">
            <a:extLst>
              <a:ext uri="{FF2B5EF4-FFF2-40B4-BE49-F238E27FC236}">
                <a16:creationId xmlns:a16="http://schemas.microsoft.com/office/drawing/2014/main" id="{5E610540-E605-4EAF-87D6-3DC0B33ADD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2438400"/>
            <a:ext cx="14351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Transcript</a:t>
            </a:r>
            <a:endParaRPr lang="en-US" altLang="zh-TW">
              <a:effectLst>
                <a:outerShdw blurRad="38100" dist="38100" dir="2700000" algn="tl">
                  <a:srgbClr val="C0C0C0"/>
                </a:outerShdw>
              </a:effectLst>
              <a:ea typeface="新細明體" panose="02020500000000000000" pitchFamily="18" charset="-120"/>
            </a:endParaRPr>
          </a:p>
        </p:txBody>
      </p:sp>
      <p:sp>
        <p:nvSpPr>
          <p:cNvPr id="23589" name="Text Box 37">
            <a:extLst>
              <a:ext uri="{FF2B5EF4-FFF2-40B4-BE49-F238E27FC236}">
                <a16:creationId xmlns:a16="http://schemas.microsoft.com/office/drawing/2014/main" id="{D7181A79-0139-453D-B1C5-8BB93C2CBC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800" y="990600"/>
            <a:ext cx="7897813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800" i="1">
                <a:effectLst>
                  <a:outerShdw blurRad="38100" dist="38100" dir="2700000" algn="tl">
                    <a:srgbClr val="C0C0C0"/>
                  </a:outerShdw>
                </a:effectLst>
              </a:rPr>
              <a:t>Equijoin</a:t>
            </a:r>
            <a:r>
              <a:rPr lang="en-US" sz="2800"/>
              <a:t>: Join condition is a conjunction of </a:t>
            </a:r>
            <a:r>
              <a:rPr lang="en-US" sz="2800" i="1"/>
              <a:t>equalities</a:t>
            </a:r>
            <a:r>
              <a:rPr lang="en-US" sz="2800"/>
              <a:t>.</a:t>
            </a:r>
          </a:p>
        </p:txBody>
      </p:sp>
      <p:grpSp>
        <p:nvGrpSpPr>
          <p:cNvPr id="24603" name="Group 38">
            <a:extLst>
              <a:ext uri="{FF2B5EF4-FFF2-40B4-BE49-F238E27FC236}">
                <a16:creationId xmlns:a16="http://schemas.microsoft.com/office/drawing/2014/main" id="{75786A2B-51B3-4F9B-8A7B-DF33F8154229}"/>
              </a:ext>
            </a:extLst>
          </p:cNvPr>
          <p:cNvGrpSpPr>
            <a:grpSpLocks/>
          </p:cNvGrpSpPr>
          <p:nvPr/>
        </p:nvGrpSpPr>
        <p:grpSpPr bwMode="auto">
          <a:xfrm>
            <a:off x="3505200" y="1828800"/>
            <a:ext cx="457200" cy="152400"/>
            <a:chOff x="2352" y="2064"/>
            <a:chExt cx="288" cy="96"/>
          </a:xfrm>
        </p:grpSpPr>
        <p:sp>
          <p:nvSpPr>
            <p:cNvPr id="24604" name="AutoShape 39">
              <a:extLst>
                <a:ext uri="{FF2B5EF4-FFF2-40B4-BE49-F238E27FC236}">
                  <a16:creationId xmlns:a16="http://schemas.microsoft.com/office/drawing/2014/main" id="{19A6CD8F-B6CA-4F53-99C1-A4CD8663D7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24605" name="AutoShape 40">
              <a:extLst>
                <a:ext uri="{FF2B5EF4-FFF2-40B4-BE49-F238E27FC236}">
                  <a16:creationId xmlns:a16="http://schemas.microsoft.com/office/drawing/2014/main" id="{4796DF1B-DF5E-42D0-8C4A-0FB96A798CB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162A9B-3711-413C-866B-E94227AF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26</a:t>
            </a:fld>
            <a:endParaRPr lang="en-US" altLang="zh-TW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2">
            <a:extLst>
              <a:ext uri="{FF2B5EF4-FFF2-40B4-BE49-F238E27FC236}">
                <a16:creationId xmlns:a16="http://schemas.microsoft.com/office/drawing/2014/main" id="{3744CA62-9D06-4E02-811F-2B3C644BA5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152400"/>
            <a:ext cx="7772400" cy="1241394"/>
          </a:xfrm>
        </p:spPr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Difference between Theta Join and Equijoin</a:t>
            </a:r>
          </a:p>
        </p:txBody>
      </p:sp>
      <p:sp>
        <p:nvSpPr>
          <p:cNvPr id="30" name="Rectangle 3">
            <a:extLst>
              <a:ext uri="{FF2B5EF4-FFF2-40B4-BE49-F238E27FC236}">
                <a16:creationId xmlns:a16="http://schemas.microsoft.com/office/drawing/2014/main" id="{4FD6FC53-2E56-4C89-9207-509706C1D2A9}"/>
              </a:ext>
            </a:extLst>
          </p:cNvPr>
          <p:cNvSpPr txBox="1">
            <a:spLocks noChangeArrowheads="1"/>
          </p:cNvSpPr>
          <p:nvPr/>
        </p:nvSpPr>
        <p:spPr>
          <a:xfrm>
            <a:off x="685800" y="1981200"/>
            <a:ext cx="7772400" cy="41148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defRPr/>
            </a:pPr>
            <a:r>
              <a:rPr lang="en-US" dirty="0"/>
              <a:t>A </a:t>
            </a:r>
            <a:r>
              <a:rPr lang="en-US" b="1" dirty="0"/>
              <a:t>theta join</a:t>
            </a:r>
            <a:r>
              <a:rPr lang="en-US" dirty="0"/>
              <a:t> allows for arbitrary comparison relationships (such as ≥). </a:t>
            </a:r>
          </a:p>
          <a:p>
            <a:pPr>
              <a:defRPr/>
            </a:pPr>
            <a:r>
              <a:rPr lang="en-US" dirty="0"/>
              <a:t>An </a:t>
            </a:r>
            <a:r>
              <a:rPr lang="en-US" b="1" dirty="0"/>
              <a:t>equijoin</a:t>
            </a:r>
            <a:r>
              <a:rPr lang="en-US" dirty="0"/>
              <a:t> is a </a:t>
            </a:r>
            <a:r>
              <a:rPr lang="en-US" b="1" dirty="0"/>
              <a:t>theta join</a:t>
            </a:r>
            <a:r>
              <a:rPr lang="en-US" dirty="0"/>
              <a:t> that allows ONLY the equality operator.</a:t>
            </a:r>
            <a:endParaRPr lang="en-US" kern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A31906-C467-4344-BEA8-30D57959C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27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409507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2">
            <a:extLst>
              <a:ext uri="{FF2B5EF4-FFF2-40B4-BE49-F238E27FC236}">
                <a16:creationId xmlns:a16="http://schemas.microsoft.com/office/drawing/2014/main" id="{95CA572C-7276-454F-B865-0A66928A81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81000"/>
            <a:ext cx="7772400" cy="6096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Natural Join</a:t>
            </a:r>
          </a:p>
        </p:txBody>
      </p:sp>
      <p:sp>
        <p:nvSpPr>
          <p:cNvPr id="25604" name="Rectangle 3">
            <a:extLst>
              <a:ext uri="{FF2B5EF4-FFF2-40B4-BE49-F238E27FC236}">
                <a16:creationId xmlns:a16="http://schemas.microsoft.com/office/drawing/2014/main" id="{B7C57541-C4EA-4156-B0D5-3CC35CC2F89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81000" y="1219200"/>
            <a:ext cx="8229600" cy="1981200"/>
          </a:xfrm>
        </p:spPr>
        <p:txBody>
          <a:bodyPr/>
          <a:lstStyle/>
          <a:p>
            <a:r>
              <a:rPr lang="en-US" altLang="zh-TW" sz="2800">
                <a:ea typeface="新細明體" panose="02020500000000000000" pitchFamily="18" charset="-120"/>
              </a:rPr>
              <a:t>Special case of equijoin: </a:t>
            </a:r>
          </a:p>
          <a:p>
            <a:pPr lvl="1"/>
            <a:r>
              <a:rPr lang="en-US" altLang="zh-TW" sz="2400">
                <a:ea typeface="新細明體" panose="02020500000000000000" pitchFamily="18" charset="-120"/>
              </a:rPr>
              <a:t>join condition equates </a:t>
            </a:r>
            <a:r>
              <a:rPr lang="en-US" altLang="zh-TW" sz="2400" i="1">
                <a:ea typeface="新細明體" panose="02020500000000000000" pitchFamily="18" charset="-120"/>
              </a:rPr>
              <a:t>all</a:t>
            </a:r>
            <a:r>
              <a:rPr lang="en-US" altLang="zh-TW" sz="2400">
                <a:ea typeface="新細明體" panose="02020500000000000000" pitchFamily="18" charset="-120"/>
              </a:rPr>
              <a:t> and </a:t>
            </a:r>
            <a:r>
              <a:rPr lang="en-US" altLang="zh-TW" sz="2400" i="1">
                <a:ea typeface="新細明體" panose="02020500000000000000" pitchFamily="18" charset="-120"/>
              </a:rPr>
              <a:t>only</a:t>
            </a:r>
            <a:r>
              <a:rPr lang="en-US" altLang="zh-TW" sz="2400">
                <a:ea typeface="新細明體" panose="02020500000000000000" pitchFamily="18" charset="-120"/>
              </a:rPr>
              <a:t> those attributes with the same name (condition doesn’t have to be explicitly stated)</a:t>
            </a:r>
          </a:p>
          <a:p>
            <a:pPr lvl="1"/>
            <a:r>
              <a:rPr lang="en-US" altLang="zh-TW" sz="2400">
                <a:solidFill>
                  <a:srgbClr val="990033"/>
                </a:solidFill>
                <a:ea typeface="新細明體" panose="02020500000000000000" pitchFamily="18" charset="-120"/>
              </a:rPr>
              <a:t>duplicate columns eliminated from the result</a:t>
            </a:r>
          </a:p>
        </p:txBody>
      </p:sp>
      <p:sp>
        <p:nvSpPr>
          <p:cNvPr id="26628" name="Text Box 4">
            <a:extLst>
              <a:ext uri="{FF2B5EF4-FFF2-40B4-BE49-F238E27FC236}">
                <a16:creationId xmlns:a16="http://schemas.microsoft.com/office/drawing/2014/main" id="{3B7BC846-BB80-4636-8FFC-F22272A407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3175000"/>
            <a:ext cx="5348288" cy="8318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Transcript</a:t>
            </a:r>
            <a:r>
              <a:rPr lang="en-US" sz="2400"/>
              <a:t> (</a:t>
            </a:r>
            <a:r>
              <a:rPr lang="en-US" sz="2400" i="1"/>
              <a:t>StudId, </a:t>
            </a:r>
            <a:r>
              <a:rPr lang="en-US" sz="2400" i="1">
                <a:solidFill>
                  <a:srgbClr val="990033"/>
                </a:solidFill>
              </a:rPr>
              <a:t>CrsCode</a:t>
            </a:r>
            <a:r>
              <a:rPr lang="en-US" sz="2400" i="1"/>
              <a:t>, </a:t>
            </a:r>
            <a:r>
              <a:rPr lang="en-US" sz="2400" i="1">
                <a:solidFill>
                  <a:srgbClr val="008000"/>
                </a:solidFill>
              </a:rPr>
              <a:t>Sem</a:t>
            </a:r>
            <a:r>
              <a:rPr lang="en-US" sz="2400" i="1"/>
              <a:t>, Grade</a:t>
            </a:r>
            <a:r>
              <a:rPr lang="en-US" sz="2400"/>
              <a:t>)</a:t>
            </a:r>
          </a:p>
          <a:p>
            <a:pPr>
              <a:defRPr/>
            </a:pP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Teaching (</a:t>
            </a:r>
            <a:r>
              <a:rPr lang="en-US" sz="2400" i="1"/>
              <a:t>ProfId, </a:t>
            </a:r>
            <a:r>
              <a:rPr lang="en-US" sz="2400" i="1">
                <a:solidFill>
                  <a:srgbClr val="990033"/>
                </a:solidFill>
              </a:rPr>
              <a:t>CrsCode</a:t>
            </a:r>
            <a:r>
              <a:rPr lang="en-US" sz="2400" i="1"/>
              <a:t>, </a:t>
            </a:r>
            <a:r>
              <a:rPr lang="en-US" sz="2400" i="1">
                <a:solidFill>
                  <a:srgbClr val="008000"/>
                </a:solidFill>
              </a:rPr>
              <a:t>Sem</a:t>
            </a:r>
            <a:r>
              <a:rPr lang="en-US" sz="2400"/>
              <a:t>)</a:t>
            </a:r>
          </a:p>
        </p:txBody>
      </p:sp>
      <p:sp>
        <p:nvSpPr>
          <p:cNvPr id="26629" name="Text Box 5">
            <a:extLst>
              <a:ext uri="{FF2B5EF4-FFF2-40B4-BE49-F238E27FC236}">
                <a16:creationId xmlns:a16="http://schemas.microsoft.com/office/drawing/2014/main" id="{C1EDDB0F-FB64-486B-8AEF-BCB2E874DA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4365625"/>
            <a:ext cx="15113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Transcript</a:t>
            </a:r>
            <a:r>
              <a:rPr lang="en-US" sz="2400" i="1"/>
              <a:t> </a:t>
            </a:r>
          </a:p>
        </p:txBody>
      </p:sp>
      <p:sp>
        <p:nvSpPr>
          <p:cNvPr id="26632" name="Text Box 8">
            <a:extLst>
              <a:ext uri="{FF2B5EF4-FFF2-40B4-BE49-F238E27FC236}">
                <a16:creationId xmlns:a16="http://schemas.microsoft.com/office/drawing/2014/main" id="{0B227E37-B7F5-41F4-BF29-4D65D56862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4600" y="4267200"/>
            <a:ext cx="1746250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Teaching</a:t>
            </a:r>
            <a:r>
              <a:rPr lang="en-US" sz="2800" i="1"/>
              <a:t> =</a:t>
            </a:r>
            <a:r>
              <a:rPr lang="en-US" sz="3200"/>
              <a:t> </a:t>
            </a:r>
          </a:p>
        </p:txBody>
      </p:sp>
      <p:sp>
        <p:nvSpPr>
          <p:cNvPr id="26633" name="Text Box 9">
            <a:extLst>
              <a:ext uri="{FF2B5EF4-FFF2-40B4-BE49-F238E27FC236}">
                <a16:creationId xmlns:a16="http://schemas.microsoft.com/office/drawing/2014/main" id="{43EFCE1E-9643-44A3-A109-F2F13E59B9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4697413"/>
            <a:ext cx="5311775" cy="94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24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StudId, Transcript.</a:t>
            </a:r>
            <a:r>
              <a:rPr lang="en-US" altLang="zh-TW" sz="2400" i="1" baseline="-25000">
                <a:solidFill>
                  <a:srgbClr val="990033"/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24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, Transcript.</a:t>
            </a:r>
            <a:r>
              <a:rPr lang="en-US" altLang="zh-TW" sz="2400" i="1" baseline="-25000">
                <a:solidFill>
                  <a:srgbClr val="008000"/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Sem</a:t>
            </a:r>
            <a:r>
              <a:rPr lang="en-US" altLang="zh-TW" sz="24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, Grade, ProfId</a:t>
            </a:r>
            <a:r>
              <a:rPr lang="en-US" altLang="zh-TW" sz="28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endParaRPr lang="en-US" altLang="zh-TW" sz="2800">
              <a:ea typeface="新細明體" panose="02020500000000000000" pitchFamily="18" charset="-120"/>
              <a:sym typeface="Symbol" panose="05050102010706020507" pitchFamily="18" charset="2"/>
            </a:endParaRPr>
          </a:p>
          <a:p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          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Transcript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endParaRPr lang="en-US" altLang="zh-TW" sz="2800" i="1">
              <a:ea typeface="新細明體" panose="02020500000000000000" pitchFamily="18" charset="-120"/>
            </a:endParaRPr>
          </a:p>
        </p:txBody>
      </p:sp>
      <p:sp>
        <p:nvSpPr>
          <p:cNvPr id="26636" name="Text Box 12">
            <a:extLst>
              <a:ext uri="{FF2B5EF4-FFF2-40B4-BE49-F238E27FC236}">
                <a16:creationId xmlns:a16="http://schemas.microsoft.com/office/drawing/2014/main" id="{510F3C85-5A89-416B-BA80-0763B1623E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0" y="5253038"/>
            <a:ext cx="4583113" cy="763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i="1" baseline="-25000">
                <a:ea typeface="新細明體" panose="02020500000000000000" pitchFamily="18" charset="-120"/>
              </a:rPr>
              <a:t>         </a:t>
            </a:r>
            <a:r>
              <a:rPr lang="en-US" altLang="zh-TW" sz="2400" i="1" baseline="-25000">
                <a:solidFill>
                  <a:srgbClr val="990033"/>
                </a:solidFill>
                <a:ea typeface="新細明體" panose="02020500000000000000" pitchFamily="18" charset="-120"/>
              </a:rPr>
              <a:t>Transcipt.CrsCode</a:t>
            </a:r>
            <a:r>
              <a:rPr lang="en-US" altLang="zh-TW" sz="2400" i="1" baseline="-25000">
                <a:ea typeface="新細明體" panose="02020500000000000000" pitchFamily="18" charset="-120"/>
              </a:rPr>
              <a:t>=</a:t>
            </a:r>
            <a:r>
              <a:rPr lang="en-US" altLang="zh-TW" sz="2400" i="1" baseline="-25000">
                <a:solidFill>
                  <a:srgbClr val="990033"/>
                </a:solidFill>
                <a:ea typeface="新細明體" panose="02020500000000000000" pitchFamily="18" charset="-120"/>
              </a:rPr>
              <a:t>Teaching.CrsCode</a:t>
            </a:r>
            <a:r>
              <a:rPr lang="en-US" altLang="zh-TW" sz="2400" i="1" baseline="-25000"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sz="2400" baseline="-25000">
                <a:ea typeface="新細明體" panose="02020500000000000000" pitchFamily="18" charset="-120"/>
              </a:rPr>
              <a:t>AND</a:t>
            </a:r>
            <a:r>
              <a:rPr lang="en-US" altLang="zh-TW" sz="2400" i="1" baseline="-25000">
                <a:ea typeface="新細明體" panose="02020500000000000000" pitchFamily="18" charset="-120"/>
              </a:rPr>
              <a:t> </a:t>
            </a:r>
            <a:r>
              <a:rPr lang="en-US" altLang="zh-TW" sz="2400" i="1" baseline="-25000">
                <a:solidFill>
                  <a:srgbClr val="008000"/>
                </a:solidFill>
                <a:ea typeface="新細明體" panose="02020500000000000000" pitchFamily="18" charset="-120"/>
              </a:rPr>
              <a:t>Transcirpt.Sem=Teaching.Sem</a:t>
            </a:r>
            <a:r>
              <a:rPr lang="en-US" altLang="zh-TW" sz="2400" i="1" baseline="-25000">
                <a:solidFill>
                  <a:srgbClr val="008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Teaching </a:t>
            </a:r>
            <a:r>
              <a:rPr lang="en-US" altLang="zh-TW" sz="2800">
                <a:ea typeface="新細明體" panose="02020500000000000000" pitchFamily="18" charset="-120"/>
              </a:rPr>
              <a:t>)</a:t>
            </a:r>
            <a:endParaRPr lang="en-US" altLang="zh-TW" sz="2800" i="1">
              <a:ea typeface="新細明體" panose="02020500000000000000" pitchFamily="18" charset="-120"/>
            </a:endParaRPr>
          </a:p>
        </p:txBody>
      </p:sp>
      <p:sp>
        <p:nvSpPr>
          <p:cNvPr id="25610" name="Text Box 15">
            <a:extLst>
              <a:ext uri="{FF2B5EF4-FFF2-40B4-BE49-F238E27FC236}">
                <a16:creationId xmlns:a16="http://schemas.microsoft.com/office/drawing/2014/main" id="{1770E74F-56D8-40B4-9C9F-6132503050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5943600"/>
            <a:ext cx="543877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ea typeface="新細明體" panose="02020500000000000000" pitchFamily="18" charset="-120"/>
              </a:rPr>
              <a:t>    [</a:t>
            </a:r>
            <a:r>
              <a:rPr lang="en-US" altLang="zh-TW" sz="2400" i="1">
                <a:ea typeface="新細明體" panose="02020500000000000000" pitchFamily="18" charset="-120"/>
                <a:sym typeface="Symbol" panose="05050102010706020507" pitchFamily="18" charset="2"/>
              </a:rPr>
              <a:t>StudId, CrsCode, Sem, Grade, ProfId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sz="2800">
                <a:ea typeface="新細明體" panose="02020500000000000000" pitchFamily="18" charset="-120"/>
              </a:rPr>
              <a:t>]</a:t>
            </a:r>
          </a:p>
        </p:txBody>
      </p:sp>
      <p:grpSp>
        <p:nvGrpSpPr>
          <p:cNvPr id="25611" name="Group 16">
            <a:extLst>
              <a:ext uri="{FF2B5EF4-FFF2-40B4-BE49-F238E27FC236}">
                <a16:creationId xmlns:a16="http://schemas.microsoft.com/office/drawing/2014/main" id="{653A7051-03FF-4832-BCD5-39ED2426FEAA}"/>
              </a:ext>
            </a:extLst>
          </p:cNvPr>
          <p:cNvGrpSpPr>
            <a:grpSpLocks/>
          </p:cNvGrpSpPr>
          <p:nvPr/>
        </p:nvGrpSpPr>
        <p:grpSpPr bwMode="auto">
          <a:xfrm>
            <a:off x="3200400" y="5334000"/>
            <a:ext cx="457200" cy="152400"/>
            <a:chOff x="2352" y="2064"/>
            <a:chExt cx="288" cy="96"/>
          </a:xfrm>
        </p:grpSpPr>
        <p:sp>
          <p:nvSpPr>
            <p:cNvPr id="25616" name="AutoShape 17">
              <a:extLst>
                <a:ext uri="{FF2B5EF4-FFF2-40B4-BE49-F238E27FC236}">
                  <a16:creationId xmlns:a16="http://schemas.microsoft.com/office/drawing/2014/main" id="{6339A7BF-1744-470A-A064-C21F978AC6F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25617" name="AutoShape 18">
              <a:extLst>
                <a:ext uri="{FF2B5EF4-FFF2-40B4-BE49-F238E27FC236}">
                  <a16:creationId xmlns:a16="http://schemas.microsoft.com/office/drawing/2014/main" id="{DC1F5731-37B3-420C-8504-702B6363F39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grpSp>
        <p:nvGrpSpPr>
          <p:cNvPr id="25612" name="Group 19">
            <a:extLst>
              <a:ext uri="{FF2B5EF4-FFF2-40B4-BE49-F238E27FC236}">
                <a16:creationId xmlns:a16="http://schemas.microsoft.com/office/drawing/2014/main" id="{00695A34-ABCE-426A-92AB-6506A8D3F04E}"/>
              </a:ext>
            </a:extLst>
          </p:cNvPr>
          <p:cNvGrpSpPr>
            <a:grpSpLocks/>
          </p:cNvGrpSpPr>
          <p:nvPr/>
        </p:nvGrpSpPr>
        <p:grpSpPr bwMode="auto">
          <a:xfrm>
            <a:off x="1905000" y="4495800"/>
            <a:ext cx="457200" cy="152400"/>
            <a:chOff x="2352" y="2064"/>
            <a:chExt cx="288" cy="96"/>
          </a:xfrm>
        </p:grpSpPr>
        <p:sp>
          <p:nvSpPr>
            <p:cNvPr id="25614" name="AutoShape 20">
              <a:extLst>
                <a:ext uri="{FF2B5EF4-FFF2-40B4-BE49-F238E27FC236}">
                  <a16:creationId xmlns:a16="http://schemas.microsoft.com/office/drawing/2014/main" id="{770731E7-9D5B-4801-928D-12265DFA63C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25615" name="AutoShape 21">
              <a:extLst>
                <a:ext uri="{FF2B5EF4-FFF2-40B4-BE49-F238E27FC236}">
                  <a16:creationId xmlns:a16="http://schemas.microsoft.com/office/drawing/2014/main" id="{61335420-4F5D-4054-AE9C-8787E0AC1A8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sp>
        <p:nvSpPr>
          <p:cNvPr id="25613" name="Text Box 22">
            <a:extLst>
              <a:ext uri="{FF2B5EF4-FFF2-40B4-BE49-F238E27FC236}">
                <a16:creationId xmlns:a16="http://schemas.microsoft.com/office/drawing/2014/main" id="{29FE4350-4483-4BE6-90EE-BDF6EE702F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324600"/>
            <a:ext cx="73152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>
                <a:ea typeface="新細明體" panose="02020500000000000000" pitchFamily="18" charset="-120"/>
              </a:rPr>
              <a:t>Q: but why natural join is a derived operator? Because…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C268D1-3AC9-46AD-B509-2AE09B664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28</a:t>
            </a:fld>
            <a:endParaRPr lang="en-US" altLang="zh-TW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>
            <a:extLst>
              <a:ext uri="{FF2B5EF4-FFF2-40B4-BE49-F238E27FC236}">
                <a16:creationId xmlns:a16="http://schemas.microsoft.com/office/drawing/2014/main" id="{6AF8F1C7-7A20-4597-8ECA-45BDE8B8D8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609600"/>
            <a:ext cx="7772400" cy="6858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Natural Join (cont’d)</a:t>
            </a:r>
          </a:p>
        </p:txBody>
      </p:sp>
      <p:sp>
        <p:nvSpPr>
          <p:cNvPr id="26628" name="Rectangle 3">
            <a:extLst>
              <a:ext uri="{FF2B5EF4-FFF2-40B4-BE49-F238E27FC236}">
                <a16:creationId xmlns:a16="http://schemas.microsoft.com/office/drawing/2014/main" id="{FC423729-457F-48CB-A717-9CA5636BDF9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600200"/>
            <a:ext cx="7543800" cy="6858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More generally:</a:t>
            </a:r>
          </a:p>
        </p:txBody>
      </p:sp>
      <p:sp>
        <p:nvSpPr>
          <p:cNvPr id="27652" name="Text Box 4">
            <a:extLst>
              <a:ext uri="{FF2B5EF4-FFF2-40B4-BE49-F238E27FC236}">
                <a16:creationId xmlns:a16="http://schemas.microsoft.com/office/drawing/2014/main" id="{7E17F296-FE3A-4313-85F7-B5EA9096AB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0" y="2133600"/>
            <a:ext cx="431800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32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R</a:t>
            </a:r>
            <a:endParaRPr lang="en-US" altLang="zh-TW" sz="3200">
              <a:effectLst>
                <a:outerShdw blurRad="38100" dist="38100" dir="2700000" algn="tl">
                  <a:srgbClr val="C0C0C0"/>
                </a:outerShdw>
              </a:effectLst>
              <a:ea typeface="新細明體" panose="02020500000000000000" pitchFamily="18" charset="-120"/>
            </a:endParaRPr>
          </a:p>
        </p:txBody>
      </p:sp>
      <p:sp>
        <p:nvSpPr>
          <p:cNvPr id="27655" name="Text Box 7">
            <a:extLst>
              <a:ext uri="{FF2B5EF4-FFF2-40B4-BE49-F238E27FC236}">
                <a16:creationId xmlns:a16="http://schemas.microsoft.com/office/drawing/2014/main" id="{64654CC5-E64E-4D19-B81B-7228EEB2D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2133600"/>
            <a:ext cx="4932363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32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S</a:t>
            </a:r>
            <a:r>
              <a:rPr lang="en-US" altLang="zh-TW" sz="3200" i="1">
                <a:ea typeface="新細明體" panose="02020500000000000000" pitchFamily="18" charset="-120"/>
              </a:rPr>
              <a:t> = 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attr-list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</a:t>
            </a:r>
            <a:r>
              <a:rPr lang="en-US" altLang="zh-TW" sz="32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join-cond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sz="32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R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 × </a:t>
            </a:r>
            <a:r>
              <a:rPr lang="en-US" altLang="zh-TW" sz="32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S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) )</a:t>
            </a:r>
            <a:endParaRPr lang="en-US" altLang="zh-TW" sz="3200">
              <a:ea typeface="新細明體" panose="02020500000000000000" pitchFamily="18" charset="-120"/>
            </a:endParaRPr>
          </a:p>
        </p:txBody>
      </p:sp>
      <p:sp>
        <p:nvSpPr>
          <p:cNvPr id="27656" name="Text Box 8">
            <a:extLst>
              <a:ext uri="{FF2B5EF4-FFF2-40B4-BE49-F238E27FC236}">
                <a16:creationId xmlns:a16="http://schemas.microsoft.com/office/drawing/2014/main" id="{EAD21CCD-155D-43C5-886F-7C687EE50A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2819400"/>
            <a:ext cx="7715250" cy="35036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3200">
                <a:ea typeface="新細明體" panose="02020500000000000000" pitchFamily="18" charset="-120"/>
              </a:rPr>
              <a:t>where</a:t>
            </a:r>
          </a:p>
          <a:p>
            <a:r>
              <a:rPr lang="en-US" altLang="zh-TW" sz="3200">
                <a:ea typeface="新細明體" panose="02020500000000000000" pitchFamily="18" charset="-120"/>
              </a:rPr>
              <a:t>   </a:t>
            </a:r>
            <a:r>
              <a:rPr lang="en-US" altLang="zh-TW" sz="3200" i="1">
                <a:ea typeface="新細明體" panose="02020500000000000000" pitchFamily="18" charset="-120"/>
              </a:rPr>
              <a:t>attr-list = attributes </a:t>
            </a:r>
            <a:r>
              <a:rPr lang="en-US" altLang="zh-TW" sz="3200">
                <a:ea typeface="新細明體" panose="02020500000000000000" pitchFamily="18" charset="-120"/>
              </a:rPr>
              <a:t>(</a:t>
            </a:r>
            <a:r>
              <a:rPr lang="en-US" altLang="zh-TW" sz="32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R</a:t>
            </a:r>
            <a:r>
              <a:rPr lang="en-US" altLang="zh-TW" sz="3200">
                <a:ea typeface="新細明體" panose="02020500000000000000" pitchFamily="18" charset="-120"/>
              </a:rPr>
              <a:t>)</a:t>
            </a:r>
            <a:r>
              <a:rPr lang="en-US" altLang="zh-TW" sz="3200" i="1">
                <a:ea typeface="新細明體" panose="02020500000000000000" pitchFamily="18" charset="-120"/>
              </a:rPr>
              <a:t> 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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 attributes 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sz="32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S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)</a:t>
            </a:r>
          </a:p>
          <a:p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(duplicates are eliminated) and  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join-cond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 has </a:t>
            </a:r>
          </a:p>
          <a:p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the form:</a:t>
            </a:r>
          </a:p>
          <a:p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   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R.A</a:t>
            </a:r>
            <a:r>
              <a:rPr lang="en-US" altLang="zh-TW" sz="32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1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 = S.A</a:t>
            </a:r>
            <a:r>
              <a:rPr lang="en-US" altLang="zh-TW" sz="32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1</a:t>
            </a:r>
            <a:r>
              <a:rPr lang="en-US" altLang="zh-TW" sz="3200" baseline="-25000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sz="2400">
                <a:ea typeface="新細明體" panose="02020500000000000000" pitchFamily="18" charset="-120"/>
                <a:sym typeface="Symbol" panose="05050102010706020507" pitchFamily="18" charset="2"/>
              </a:rPr>
              <a:t>AND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 … </a:t>
            </a:r>
            <a:r>
              <a:rPr lang="en-US" altLang="zh-TW" sz="2400">
                <a:ea typeface="新細明體" panose="02020500000000000000" pitchFamily="18" charset="-120"/>
                <a:sym typeface="Symbol" panose="05050102010706020507" pitchFamily="18" charset="2"/>
              </a:rPr>
              <a:t>AND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R.A</a:t>
            </a:r>
            <a:r>
              <a:rPr lang="en-US" altLang="zh-TW" sz="32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n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 = S.A</a:t>
            </a:r>
            <a:r>
              <a:rPr lang="en-US" altLang="zh-TW" sz="32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n</a:t>
            </a:r>
            <a:endParaRPr lang="en-US" altLang="zh-TW" sz="3200" i="1">
              <a:ea typeface="新細明體" panose="02020500000000000000" pitchFamily="18" charset="-120"/>
              <a:sym typeface="Symbol" panose="05050102010706020507" pitchFamily="18" charset="2"/>
            </a:endParaRPr>
          </a:p>
          <a:p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where </a:t>
            </a:r>
          </a:p>
          <a:p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   {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A</a:t>
            </a:r>
            <a:r>
              <a:rPr lang="en-US" altLang="zh-TW" sz="32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1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 … A</a:t>
            </a:r>
            <a:r>
              <a:rPr lang="en-US" altLang="zh-TW" sz="32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n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}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 = attributes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sz="32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R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)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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 attributes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sz="32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S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)</a:t>
            </a:r>
            <a:endParaRPr lang="en-US" altLang="zh-TW" sz="3200">
              <a:ea typeface="新細明體" panose="02020500000000000000" pitchFamily="18" charset="-120"/>
            </a:endParaRPr>
          </a:p>
        </p:txBody>
      </p:sp>
      <p:grpSp>
        <p:nvGrpSpPr>
          <p:cNvPr id="26632" name="Group 10">
            <a:extLst>
              <a:ext uri="{FF2B5EF4-FFF2-40B4-BE49-F238E27FC236}">
                <a16:creationId xmlns:a16="http://schemas.microsoft.com/office/drawing/2014/main" id="{49E18633-F311-432B-A158-CAC0B8866E08}"/>
              </a:ext>
            </a:extLst>
          </p:cNvPr>
          <p:cNvGrpSpPr>
            <a:grpSpLocks/>
          </p:cNvGrpSpPr>
          <p:nvPr/>
        </p:nvGrpSpPr>
        <p:grpSpPr bwMode="auto">
          <a:xfrm>
            <a:off x="2209800" y="2362200"/>
            <a:ext cx="457200" cy="152400"/>
            <a:chOff x="2352" y="2064"/>
            <a:chExt cx="288" cy="96"/>
          </a:xfrm>
        </p:grpSpPr>
        <p:sp>
          <p:nvSpPr>
            <p:cNvPr id="26633" name="AutoShape 11">
              <a:extLst>
                <a:ext uri="{FF2B5EF4-FFF2-40B4-BE49-F238E27FC236}">
                  <a16:creationId xmlns:a16="http://schemas.microsoft.com/office/drawing/2014/main" id="{0F135A61-42B1-4F66-8B72-8F0ED0C6280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26634" name="AutoShape 12">
              <a:extLst>
                <a:ext uri="{FF2B5EF4-FFF2-40B4-BE49-F238E27FC236}">
                  <a16:creationId xmlns:a16="http://schemas.microsoft.com/office/drawing/2014/main" id="{9C4EAC00-96CB-42FE-B4C1-78DE9B5D825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776A21-B7D7-463F-9FCE-33E22FB24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29</a:t>
            </a:fld>
            <a:endParaRPr lang="en-US" altLang="zh-TW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2">
            <a:extLst>
              <a:ext uri="{FF2B5EF4-FFF2-40B4-BE49-F238E27FC236}">
                <a16:creationId xmlns:a16="http://schemas.microsoft.com/office/drawing/2014/main" id="{B88B3DE5-A8BB-40DB-BA9C-E85318659F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Natural Join Example</a:t>
            </a:r>
          </a:p>
        </p:txBody>
      </p:sp>
      <p:sp>
        <p:nvSpPr>
          <p:cNvPr id="27652" name="Rectangle 3">
            <a:extLst>
              <a:ext uri="{FF2B5EF4-FFF2-40B4-BE49-F238E27FC236}">
                <a16:creationId xmlns:a16="http://schemas.microsoft.com/office/drawing/2014/main" id="{28B8D8B8-CB33-47D1-B91F-CDF74F005EC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981200"/>
            <a:ext cx="7772400" cy="9906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>
                <a:ea typeface="新細明體" panose="02020500000000000000" pitchFamily="18" charset="-120"/>
              </a:rPr>
              <a:t>List all Ids of students who took at least two different courses:</a:t>
            </a:r>
          </a:p>
        </p:txBody>
      </p:sp>
      <p:sp>
        <p:nvSpPr>
          <p:cNvPr id="28676" name="Text Box 4">
            <a:extLst>
              <a:ext uri="{FF2B5EF4-FFF2-40B4-BE49-F238E27FC236}">
                <a16:creationId xmlns:a16="http://schemas.microsoft.com/office/drawing/2014/main" id="{4684E25A-A5A8-4189-B903-72E786A14C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3200400"/>
            <a:ext cx="4197350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StudId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 </a:t>
            </a:r>
            <a:r>
              <a:rPr lang="en-US" altLang="zh-TW" sz="32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CrsCode  CrsCode2 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</a:p>
          <a:p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     </a:t>
            </a:r>
            <a:r>
              <a:rPr lang="en-US" altLang="zh-TW" sz="28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Transcript</a:t>
            </a:r>
            <a:r>
              <a:rPr lang="en-US" altLang="zh-TW" sz="3200" i="1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endParaRPr lang="en-US" altLang="zh-TW" sz="3200" i="1">
              <a:ea typeface="新細明體" panose="02020500000000000000" pitchFamily="18" charset="-120"/>
            </a:endParaRPr>
          </a:p>
        </p:txBody>
      </p:sp>
      <p:sp>
        <p:nvSpPr>
          <p:cNvPr id="28680" name="Text Box 8">
            <a:extLst>
              <a:ext uri="{FF2B5EF4-FFF2-40B4-BE49-F238E27FC236}">
                <a16:creationId xmlns:a16="http://schemas.microsoft.com/office/drawing/2014/main" id="{22AA46CF-5159-4A2E-A05F-BA3B2DA3C4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8075" y="4191000"/>
            <a:ext cx="7789863" cy="1797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  Transcript</a:t>
            </a:r>
            <a:r>
              <a:rPr lang="en-US" sz="3200" i="1"/>
              <a:t> </a:t>
            </a:r>
            <a:r>
              <a:rPr lang="en-US" sz="3200"/>
              <a:t>[</a:t>
            </a:r>
            <a:r>
              <a:rPr lang="en-US" sz="2800" i="1"/>
              <a:t>StudId, CrsCode2, Sem2, Grade2</a:t>
            </a:r>
            <a:r>
              <a:rPr lang="en-US" sz="3200"/>
              <a:t>] ))</a:t>
            </a:r>
          </a:p>
          <a:p>
            <a:pPr>
              <a:defRPr/>
            </a:pPr>
            <a:r>
              <a:rPr lang="en-US" sz="3200" i="1"/>
              <a:t>                        </a:t>
            </a:r>
          </a:p>
          <a:p>
            <a:pPr>
              <a:defRPr/>
            </a:pPr>
            <a:r>
              <a:rPr lang="en-US" sz="2400"/>
              <a:t>We don’t want to join on </a:t>
            </a:r>
            <a:r>
              <a:rPr lang="en-US" sz="2400" i="1"/>
              <a:t>CrsCode</a:t>
            </a:r>
            <a:r>
              <a:rPr lang="en-US" sz="2400"/>
              <a:t>, </a:t>
            </a:r>
            <a:r>
              <a:rPr lang="en-US" sz="2400" i="1"/>
              <a:t>Sem</a:t>
            </a:r>
            <a:r>
              <a:rPr lang="en-US" sz="2400"/>
              <a:t>, and </a:t>
            </a:r>
            <a:r>
              <a:rPr lang="en-US" sz="2400" i="1"/>
              <a:t>Grade</a:t>
            </a:r>
            <a:r>
              <a:rPr lang="en-US" sz="2400"/>
              <a:t> attributes,</a:t>
            </a:r>
          </a:p>
          <a:p>
            <a:pPr>
              <a:defRPr/>
            </a:pPr>
            <a:r>
              <a:rPr lang="en-US" sz="2400"/>
              <a:t>hence renaming!</a:t>
            </a:r>
          </a:p>
        </p:txBody>
      </p:sp>
      <p:grpSp>
        <p:nvGrpSpPr>
          <p:cNvPr id="27655" name="Group 9">
            <a:extLst>
              <a:ext uri="{FF2B5EF4-FFF2-40B4-BE49-F238E27FC236}">
                <a16:creationId xmlns:a16="http://schemas.microsoft.com/office/drawing/2014/main" id="{FFD99C4E-1E70-49AF-A073-1E9E4D70BF1E}"/>
              </a:ext>
            </a:extLst>
          </p:cNvPr>
          <p:cNvGrpSpPr>
            <a:grpSpLocks/>
          </p:cNvGrpSpPr>
          <p:nvPr/>
        </p:nvGrpSpPr>
        <p:grpSpPr bwMode="auto">
          <a:xfrm>
            <a:off x="2743200" y="3962400"/>
            <a:ext cx="457200" cy="152400"/>
            <a:chOff x="2352" y="2064"/>
            <a:chExt cx="288" cy="96"/>
          </a:xfrm>
        </p:grpSpPr>
        <p:sp>
          <p:nvSpPr>
            <p:cNvPr id="27656" name="AutoShape 10">
              <a:extLst>
                <a:ext uri="{FF2B5EF4-FFF2-40B4-BE49-F238E27FC236}">
                  <a16:creationId xmlns:a16="http://schemas.microsoft.com/office/drawing/2014/main" id="{E3608804-1FB5-460F-BAD5-EA5D82BD80A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27657" name="AutoShape 11">
              <a:extLst>
                <a:ext uri="{FF2B5EF4-FFF2-40B4-BE49-F238E27FC236}">
                  <a16:creationId xmlns:a16="http://schemas.microsoft.com/office/drawing/2014/main" id="{5212664E-A529-4DB5-81FE-971D745EEFC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31D467-C6A8-41B9-8B81-278072AF5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30</a:t>
            </a:fld>
            <a:endParaRPr lang="en-US" altLang="zh-TW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1F988F5-61ED-4361-9F2C-D77995B04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9899256"/>
              </p:ext>
            </p:extLst>
          </p:nvPr>
        </p:nvGraphicFramePr>
        <p:xfrm>
          <a:off x="188536" y="2367960"/>
          <a:ext cx="419492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6374">
                  <a:extLst>
                    <a:ext uri="{9D8B030D-6E8A-4147-A177-3AD203B41FA5}">
                      <a16:colId xmlns:a16="http://schemas.microsoft.com/office/drawing/2014/main" val="1274345623"/>
                    </a:ext>
                  </a:extLst>
                </a:gridCol>
                <a:gridCol w="1049518">
                  <a:extLst>
                    <a:ext uri="{9D8B030D-6E8A-4147-A177-3AD203B41FA5}">
                      <a16:colId xmlns:a16="http://schemas.microsoft.com/office/drawing/2014/main" val="3620598874"/>
                    </a:ext>
                  </a:extLst>
                </a:gridCol>
                <a:gridCol w="1049518">
                  <a:extLst>
                    <a:ext uri="{9D8B030D-6E8A-4147-A177-3AD203B41FA5}">
                      <a16:colId xmlns:a16="http://schemas.microsoft.com/office/drawing/2014/main" val="1555861144"/>
                    </a:ext>
                  </a:extLst>
                </a:gridCol>
                <a:gridCol w="1049518">
                  <a:extLst>
                    <a:ext uri="{9D8B030D-6E8A-4147-A177-3AD203B41FA5}">
                      <a16:colId xmlns:a16="http://schemas.microsoft.com/office/drawing/2014/main" val="29105234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StudId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CrsCode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7348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aseline="0" dirty="0">
                          <a:solidFill>
                            <a:srgbClr val="FF0000"/>
                          </a:solidFill>
                        </a:rPr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>
                          <a:solidFill>
                            <a:srgbClr val="FF0000"/>
                          </a:solidFill>
                        </a:rPr>
                        <a:t>csc4710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>
                          <a:solidFill>
                            <a:srgbClr val="FF0000"/>
                          </a:solidFill>
                        </a:rPr>
                        <a:t>f2001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>
                          <a:solidFill>
                            <a:srgbClr val="FF0000"/>
                          </a:solidFill>
                        </a:rPr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6887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csc6710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w2002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58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csc4110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w2002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5199470"/>
                  </a:ext>
                </a:extLst>
              </a:tr>
            </a:tbl>
          </a:graphicData>
        </a:graphic>
      </p:graphicFrame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E9327944-A518-4075-AA3F-ED01AC12D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1349097"/>
              </p:ext>
            </p:extLst>
          </p:nvPr>
        </p:nvGraphicFramePr>
        <p:xfrm>
          <a:off x="4945928" y="2367960"/>
          <a:ext cx="419807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9518">
                  <a:extLst>
                    <a:ext uri="{9D8B030D-6E8A-4147-A177-3AD203B41FA5}">
                      <a16:colId xmlns:a16="http://schemas.microsoft.com/office/drawing/2014/main" val="1274345623"/>
                    </a:ext>
                  </a:extLst>
                </a:gridCol>
                <a:gridCol w="1049518">
                  <a:extLst>
                    <a:ext uri="{9D8B030D-6E8A-4147-A177-3AD203B41FA5}">
                      <a16:colId xmlns:a16="http://schemas.microsoft.com/office/drawing/2014/main" val="3620598874"/>
                    </a:ext>
                  </a:extLst>
                </a:gridCol>
                <a:gridCol w="1049518">
                  <a:extLst>
                    <a:ext uri="{9D8B030D-6E8A-4147-A177-3AD203B41FA5}">
                      <a16:colId xmlns:a16="http://schemas.microsoft.com/office/drawing/2014/main" val="1555861144"/>
                    </a:ext>
                  </a:extLst>
                </a:gridCol>
                <a:gridCol w="1049518">
                  <a:extLst>
                    <a:ext uri="{9D8B030D-6E8A-4147-A177-3AD203B41FA5}">
                      <a16:colId xmlns:a16="http://schemas.microsoft.com/office/drawing/2014/main" val="29105234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StudId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CrsCode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7348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csc4710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f2001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6887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csc6710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w2002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58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aseline="0" dirty="0">
                          <a:solidFill>
                            <a:srgbClr val="FF0000"/>
                          </a:solidFill>
                        </a:rPr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>
                          <a:solidFill>
                            <a:srgbClr val="FF0000"/>
                          </a:solidFill>
                        </a:rPr>
                        <a:t>csc4110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>
                          <a:solidFill>
                            <a:srgbClr val="FF0000"/>
                          </a:solidFill>
                        </a:rPr>
                        <a:t>w2002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>
                          <a:solidFill>
                            <a:srgbClr val="FF0000"/>
                          </a:solidFill>
                        </a:rPr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5199470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D994B07-1EA3-42FE-80A4-300B087F01AB}"/>
              </a:ext>
            </a:extLst>
          </p:cNvPr>
          <p:cNvCxnSpPr/>
          <p:nvPr/>
        </p:nvCxnSpPr>
        <p:spPr bwMode="auto">
          <a:xfrm>
            <a:off x="4383464" y="2875175"/>
            <a:ext cx="562464" cy="82013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9AB3BA-F1A7-424D-9E72-C00F3AAF1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31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173049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>
            <a:extLst>
              <a:ext uri="{FF2B5EF4-FFF2-40B4-BE49-F238E27FC236}">
                <a16:creationId xmlns:a16="http://schemas.microsoft.com/office/drawing/2014/main" id="{E93B71DB-E17E-4CB6-BAA2-F5E94EF80E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62000" y="304800"/>
            <a:ext cx="7772400" cy="6858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Division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FA0E6E2F-A738-43F3-A950-6A4330D2DBB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9600" y="1219200"/>
            <a:ext cx="8077200" cy="51054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If A </a:t>
            </a:r>
            <a:r>
              <a:rPr lang="en-US" altLang="zh-TW">
                <a:ea typeface="新細明體" panose="02020500000000000000" pitchFamily="18" charset="-120"/>
                <a:sym typeface="Symbol" panose="05050102010706020507" pitchFamily="18" charset="2"/>
              </a:rPr>
              <a:t> B = C, then C/A = B and C/B = A</a:t>
            </a:r>
          </a:p>
          <a:p>
            <a:r>
              <a:rPr lang="en-US" altLang="zh-TW">
                <a:ea typeface="新細明體" panose="02020500000000000000" pitchFamily="18" charset="-120"/>
              </a:rPr>
              <a:t>Goal: Produce the tuples in one relation, A, that match </a:t>
            </a:r>
            <a:r>
              <a:rPr lang="en-US" altLang="zh-TW" i="1">
                <a:ea typeface="新細明體" panose="02020500000000000000" pitchFamily="18" charset="-120"/>
              </a:rPr>
              <a:t>each </a:t>
            </a:r>
            <a:r>
              <a:rPr lang="en-US" altLang="zh-TW">
                <a:ea typeface="新細明體" panose="02020500000000000000" pitchFamily="18" charset="-120"/>
              </a:rPr>
              <a:t>tuple in another relation, B</a:t>
            </a:r>
          </a:p>
          <a:p>
            <a:pPr lvl="1"/>
            <a:r>
              <a:rPr lang="en-US" altLang="zh-TW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</a:t>
            </a:r>
            <a:r>
              <a:rPr lang="en-US" altLang="zh-TW" i="1">
                <a:ea typeface="新細明體" panose="02020500000000000000" pitchFamily="18" charset="-120"/>
              </a:rPr>
              <a:t>(A</a:t>
            </a:r>
            <a:r>
              <a:rPr lang="en-US" altLang="zh-TW" i="1" baseline="-25000">
                <a:ea typeface="新細明體" panose="02020500000000000000" pitchFamily="18" charset="-120"/>
              </a:rPr>
              <a:t>1</a:t>
            </a:r>
            <a:r>
              <a:rPr lang="en-US" altLang="zh-TW" i="1">
                <a:ea typeface="新細明體" panose="02020500000000000000" pitchFamily="18" charset="-120"/>
              </a:rPr>
              <a:t>, …A</a:t>
            </a:r>
            <a:r>
              <a:rPr lang="en-US" altLang="zh-TW" i="1" baseline="-25000">
                <a:ea typeface="新細明體" panose="02020500000000000000" pitchFamily="18" charset="-120"/>
              </a:rPr>
              <a:t>n</a:t>
            </a:r>
            <a:r>
              <a:rPr lang="en-US" altLang="zh-TW" i="1">
                <a:ea typeface="新細明體" panose="02020500000000000000" pitchFamily="18" charset="-120"/>
              </a:rPr>
              <a:t>, B</a:t>
            </a:r>
            <a:r>
              <a:rPr lang="en-US" altLang="zh-TW" i="1" baseline="-25000">
                <a:ea typeface="新細明體" panose="02020500000000000000" pitchFamily="18" charset="-120"/>
              </a:rPr>
              <a:t>1</a:t>
            </a:r>
            <a:r>
              <a:rPr lang="en-US" altLang="zh-TW" i="1">
                <a:ea typeface="新細明體" panose="02020500000000000000" pitchFamily="18" charset="-120"/>
              </a:rPr>
              <a:t>, …B</a:t>
            </a:r>
            <a:r>
              <a:rPr lang="en-US" altLang="zh-TW" i="1" baseline="-25000">
                <a:ea typeface="新細明體" panose="02020500000000000000" pitchFamily="18" charset="-120"/>
              </a:rPr>
              <a:t>m</a:t>
            </a:r>
            <a:r>
              <a:rPr lang="en-US" altLang="zh-TW" i="1">
                <a:ea typeface="新細明體" panose="02020500000000000000" pitchFamily="18" charset="-120"/>
              </a:rPr>
              <a:t>)</a:t>
            </a:r>
          </a:p>
          <a:p>
            <a:pPr lvl="1"/>
            <a:r>
              <a:rPr lang="en-US" altLang="zh-TW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B</a:t>
            </a:r>
            <a:r>
              <a:rPr lang="en-US" altLang="zh-TW" i="1">
                <a:ea typeface="新細明體" panose="02020500000000000000" pitchFamily="18" charset="-120"/>
              </a:rPr>
              <a:t>(B</a:t>
            </a:r>
            <a:r>
              <a:rPr lang="en-US" altLang="zh-TW" i="1" baseline="-25000">
                <a:ea typeface="新細明體" panose="02020500000000000000" pitchFamily="18" charset="-120"/>
              </a:rPr>
              <a:t>1</a:t>
            </a:r>
            <a:r>
              <a:rPr lang="en-US" altLang="zh-TW" i="1">
                <a:ea typeface="新細明體" panose="02020500000000000000" pitchFamily="18" charset="-120"/>
              </a:rPr>
              <a:t> …B</a:t>
            </a:r>
            <a:r>
              <a:rPr lang="en-US" altLang="zh-TW" i="1" baseline="-25000">
                <a:ea typeface="新細明體" panose="02020500000000000000" pitchFamily="18" charset="-120"/>
              </a:rPr>
              <a:t>m</a:t>
            </a:r>
            <a:r>
              <a:rPr lang="en-US" altLang="zh-TW" i="1">
                <a:ea typeface="新細明體" panose="02020500000000000000" pitchFamily="18" charset="-120"/>
              </a:rPr>
              <a:t>)</a:t>
            </a:r>
            <a:endParaRPr lang="en-US" altLang="zh-TW">
              <a:ea typeface="新細明體" panose="02020500000000000000" pitchFamily="18" charset="-120"/>
            </a:endParaRPr>
          </a:p>
          <a:p>
            <a:pPr lvl="1"/>
            <a:r>
              <a:rPr lang="en-US" altLang="zh-TW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</a:t>
            </a:r>
            <a:r>
              <a:rPr lang="en-US" altLang="zh-TW" i="1">
                <a:ea typeface="新細明體" panose="02020500000000000000" pitchFamily="18" charset="-120"/>
              </a:rPr>
              <a:t>/</a:t>
            </a:r>
            <a:r>
              <a:rPr lang="en-US" altLang="zh-TW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B</a:t>
            </a:r>
            <a:r>
              <a:rPr lang="en-US" altLang="zh-TW">
                <a:ea typeface="新細明體" panose="02020500000000000000" pitchFamily="18" charset="-120"/>
              </a:rPr>
              <a:t>, with attributes </a:t>
            </a:r>
            <a:r>
              <a:rPr lang="en-US" altLang="zh-TW" i="1">
                <a:ea typeface="新細明體" panose="02020500000000000000" pitchFamily="18" charset="-120"/>
              </a:rPr>
              <a:t>A</a:t>
            </a:r>
            <a:r>
              <a:rPr lang="en-US" altLang="zh-TW" i="1" baseline="-25000">
                <a:ea typeface="新細明體" panose="02020500000000000000" pitchFamily="18" charset="-120"/>
              </a:rPr>
              <a:t>1</a:t>
            </a:r>
            <a:r>
              <a:rPr lang="en-US" altLang="zh-TW" i="1">
                <a:ea typeface="新細明體" panose="02020500000000000000" pitchFamily="18" charset="-120"/>
              </a:rPr>
              <a:t>, …A</a:t>
            </a:r>
            <a:r>
              <a:rPr lang="en-US" altLang="zh-TW" i="1" baseline="-25000">
                <a:ea typeface="新細明體" panose="02020500000000000000" pitchFamily="18" charset="-120"/>
              </a:rPr>
              <a:t>n</a:t>
            </a:r>
            <a:r>
              <a:rPr lang="en-US" altLang="zh-TW">
                <a:ea typeface="新細明體" panose="02020500000000000000" pitchFamily="18" charset="-120"/>
              </a:rPr>
              <a:t>, is the set of all tuples </a:t>
            </a:r>
            <a:r>
              <a:rPr lang="en-US" altLang="zh-TW" i="1">
                <a:ea typeface="新細明體" panose="02020500000000000000" pitchFamily="18" charset="-120"/>
              </a:rPr>
              <a:t>&lt;a&gt;</a:t>
            </a:r>
            <a:r>
              <a:rPr lang="en-US" altLang="zh-TW">
                <a:ea typeface="新細明體" panose="02020500000000000000" pitchFamily="18" charset="-120"/>
              </a:rPr>
              <a:t> such that for every tuple </a:t>
            </a:r>
            <a:r>
              <a:rPr lang="en-US" altLang="zh-TW" i="1">
                <a:ea typeface="新細明體" panose="02020500000000000000" pitchFamily="18" charset="-120"/>
              </a:rPr>
              <a:t>&lt;b&gt;</a:t>
            </a:r>
            <a:r>
              <a:rPr lang="en-US" altLang="zh-TW">
                <a:ea typeface="新細明體" panose="02020500000000000000" pitchFamily="18" charset="-120"/>
              </a:rPr>
              <a:t> in</a:t>
            </a:r>
            <a:r>
              <a:rPr lang="en-US" altLang="zh-TW" i="1">
                <a:ea typeface="新細明體" panose="02020500000000000000" pitchFamily="18" charset="-120"/>
              </a:rPr>
              <a:t> </a:t>
            </a:r>
            <a:r>
              <a:rPr lang="en-US" altLang="zh-TW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B</a:t>
            </a:r>
            <a:r>
              <a:rPr lang="en-US" altLang="zh-TW" i="1">
                <a:ea typeface="新細明體" panose="02020500000000000000" pitchFamily="18" charset="-120"/>
              </a:rPr>
              <a:t>,</a:t>
            </a:r>
            <a:r>
              <a:rPr lang="en-US" altLang="zh-TW">
                <a:ea typeface="新細明體" panose="02020500000000000000" pitchFamily="18" charset="-120"/>
              </a:rPr>
              <a:t> </a:t>
            </a:r>
            <a:r>
              <a:rPr lang="en-US" altLang="zh-TW" i="1">
                <a:ea typeface="新細明體" panose="02020500000000000000" pitchFamily="18" charset="-120"/>
              </a:rPr>
              <a:t>&lt;a,b&gt;</a:t>
            </a:r>
            <a:r>
              <a:rPr lang="en-US" altLang="zh-TW">
                <a:ea typeface="新細明體" panose="02020500000000000000" pitchFamily="18" charset="-120"/>
              </a:rPr>
              <a:t> is in </a:t>
            </a:r>
            <a:r>
              <a:rPr lang="en-US" altLang="zh-TW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 (&lt;a&gt; has a match with each tuple in B&gt;</a:t>
            </a:r>
            <a:endParaRPr lang="en-US" altLang="zh-TW">
              <a:effectLst>
                <a:outerShdw blurRad="38100" dist="38100" dir="2700000" algn="tl">
                  <a:srgbClr val="C0C0C0"/>
                </a:outerShdw>
              </a:effectLst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F69D57-F23C-4C64-9FE3-67237A7C2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32</a:t>
            </a:fld>
            <a:endParaRPr lang="en-US" altLang="zh-TW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>
            <a:extLst>
              <a:ext uri="{FF2B5EF4-FFF2-40B4-BE49-F238E27FC236}">
                <a16:creationId xmlns:a16="http://schemas.microsoft.com/office/drawing/2014/main" id="{E93B71DB-E17E-4CB6-BAA2-F5E94EF80E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62000" y="304800"/>
            <a:ext cx="7772400" cy="685800"/>
          </a:xfrm>
        </p:spPr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Recap of arithmetic division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FA0E6E2F-A738-43F3-A950-6A4330D2DBB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9600" y="1219200"/>
            <a:ext cx="8077200" cy="5105400"/>
          </a:xfrm>
        </p:spPr>
        <p:txBody>
          <a:bodyPr/>
          <a:lstStyle/>
          <a:p>
            <a:pPr marL="0" indent="0">
              <a:buNone/>
            </a:pPr>
            <a:r>
              <a:rPr lang="en-US" altLang="zh-TW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3 * 4 = 12</a:t>
            </a:r>
          </a:p>
          <a:p>
            <a:pPr marL="0" indent="0">
              <a:buNone/>
            </a:pPr>
            <a:r>
              <a:rPr lang="en-US" altLang="zh-TW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12/3 = 4</a:t>
            </a:r>
          </a:p>
          <a:p>
            <a:pPr marL="0" indent="0">
              <a:buNone/>
            </a:pPr>
            <a:r>
              <a:rPr lang="en-US" altLang="zh-TW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12/4 = 3</a:t>
            </a:r>
          </a:p>
          <a:p>
            <a:pPr marL="0" indent="0">
              <a:buNone/>
            </a:pPr>
            <a:endParaRPr lang="en-US" altLang="zh-TW" dirty="0">
              <a:effectLst>
                <a:outerShdw blurRad="38100" dist="38100" dir="2700000" algn="tl">
                  <a:srgbClr val="C0C0C0"/>
                </a:outerShdw>
              </a:effectLst>
              <a:ea typeface="新細明體" panose="02020500000000000000" pitchFamily="18" charset="-120"/>
            </a:endParaRPr>
          </a:p>
          <a:p>
            <a:pPr marL="0" indent="0">
              <a:buNone/>
            </a:pPr>
            <a:r>
              <a:rPr lang="en-US" altLang="zh-TW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13/3 =  4 R </a:t>
            </a:r>
            <a:r>
              <a:rPr lang="en-US" altLang="zh-TW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1</a:t>
            </a:r>
          </a:p>
          <a:p>
            <a:pPr marL="0" indent="0">
              <a:buNone/>
            </a:pPr>
            <a:r>
              <a:rPr lang="en-US" altLang="zh-TW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13/4 = 3 R </a:t>
            </a:r>
            <a:r>
              <a:rPr lang="en-US" altLang="zh-TW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E7A9B-593C-44AE-9DB6-433500F28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33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883583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74668950-ECB8-4B76-B679-143EA4F4E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3858728"/>
              </p:ext>
            </p:extLst>
          </p:nvPr>
        </p:nvGraphicFramePr>
        <p:xfrm>
          <a:off x="1976487" y="1684884"/>
          <a:ext cx="19073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3678">
                  <a:extLst>
                    <a:ext uri="{9D8B030D-6E8A-4147-A177-3AD203B41FA5}">
                      <a16:colId xmlns:a16="http://schemas.microsoft.com/office/drawing/2014/main" val="3384702175"/>
                    </a:ext>
                  </a:extLst>
                </a:gridCol>
                <a:gridCol w="953678">
                  <a:extLst>
                    <a:ext uri="{9D8B030D-6E8A-4147-A177-3AD203B41FA5}">
                      <a16:colId xmlns:a16="http://schemas.microsoft.com/office/drawing/2014/main" val="10376048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7335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85299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0599681"/>
                  </a:ext>
                </a:extLst>
              </a:tr>
            </a:tbl>
          </a:graphicData>
        </a:graphic>
      </p:graphicFrame>
      <p:graphicFrame>
        <p:nvGraphicFramePr>
          <p:cNvPr id="21" name="Table 3">
            <a:extLst>
              <a:ext uri="{FF2B5EF4-FFF2-40B4-BE49-F238E27FC236}">
                <a16:creationId xmlns:a16="http://schemas.microsoft.com/office/drawing/2014/main" id="{5B87DEE2-D4BE-49EF-AB1A-181C747EE6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0552634"/>
              </p:ext>
            </p:extLst>
          </p:nvPr>
        </p:nvGraphicFramePr>
        <p:xfrm>
          <a:off x="4881516" y="1693674"/>
          <a:ext cx="19073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3678">
                  <a:extLst>
                    <a:ext uri="{9D8B030D-6E8A-4147-A177-3AD203B41FA5}">
                      <a16:colId xmlns:a16="http://schemas.microsoft.com/office/drawing/2014/main" val="3384702175"/>
                    </a:ext>
                  </a:extLst>
                </a:gridCol>
                <a:gridCol w="953678">
                  <a:extLst>
                    <a:ext uri="{9D8B030D-6E8A-4147-A177-3AD203B41FA5}">
                      <a16:colId xmlns:a16="http://schemas.microsoft.com/office/drawing/2014/main" val="10376048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7335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85299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Y3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Y4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0599681"/>
                  </a:ext>
                </a:extLst>
              </a:tr>
            </a:tbl>
          </a:graphicData>
        </a:graphic>
      </p:graphicFrame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B8B1119C-303A-4439-B0F1-1BC5A032D9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8458799"/>
              </p:ext>
            </p:extLst>
          </p:nvPr>
        </p:nvGraphicFramePr>
        <p:xfrm>
          <a:off x="1524000" y="3429000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66475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203869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92576814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8979000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0929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Y2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07150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Y3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Y4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65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X4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Y2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6486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X4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Y3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Y4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967942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68229D4-7376-46C6-8AEC-E14D5BEF0A99}"/>
              </a:ext>
            </a:extLst>
          </p:cNvPr>
          <p:cNvSpPr txBox="1"/>
          <p:nvPr/>
        </p:nvSpPr>
        <p:spPr>
          <a:xfrm>
            <a:off x="2413261" y="1293564"/>
            <a:ext cx="895547" cy="40011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2E1B96-AEE0-47C0-9143-E8F09A28B0C2}"/>
              </a:ext>
            </a:extLst>
          </p:cNvPr>
          <p:cNvSpPr txBox="1"/>
          <p:nvPr/>
        </p:nvSpPr>
        <p:spPr>
          <a:xfrm>
            <a:off x="5260159" y="1302354"/>
            <a:ext cx="848412" cy="40011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87CBB8-320C-44C0-A4ED-74B0DA3700EC}"/>
              </a:ext>
            </a:extLst>
          </p:cNvPr>
          <p:cNvSpPr txBox="1"/>
          <p:nvPr/>
        </p:nvSpPr>
        <p:spPr>
          <a:xfrm>
            <a:off x="3959257" y="3028890"/>
            <a:ext cx="997673" cy="40011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75CBBB9E-1D01-455D-B84B-92BC9C5532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150564"/>
            <a:ext cx="7772400" cy="1143000"/>
          </a:xfrm>
        </p:spPr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Recap of Cartesian Product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50B0BC1-19EB-4B24-AEDC-19E83B4B8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34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4718658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">
            <a:extLst>
              <a:ext uri="{FF2B5EF4-FFF2-40B4-BE49-F238E27FC236}">
                <a16:creationId xmlns:a16="http://schemas.microsoft.com/office/drawing/2014/main" id="{E88FBD4F-FA50-41BD-88AC-4F7AB5A1D0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62000" y="304800"/>
            <a:ext cx="7772400" cy="6858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Division (con’t)</a:t>
            </a:r>
          </a:p>
        </p:txBody>
      </p:sp>
      <p:sp>
        <p:nvSpPr>
          <p:cNvPr id="29700" name="Rectangle 3">
            <a:extLst>
              <a:ext uri="{FF2B5EF4-FFF2-40B4-BE49-F238E27FC236}">
                <a16:creationId xmlns:a16="http://schemas.microsoft.com/office/drawing/2014/main" id="{7ADCFD6B-91E8-4065-8666-21497EC21B4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9600" y="1219200"/>
            <a:ext cx="8077200" cy="5105400"/>
          </a:xfrm>
        </p:spPr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If A 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 B = C, then C/A = B and C/B = A</a:t>
            </a:r>
          </a:p>
          <a:p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Challenge: C’ = C  R, R is some remainder tuples, then C’/A = B, C’/B = A</a:t>
            </a:r>
          </a:p>
          <a:p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How can I tell what tuples in C’ are cross product result (red) or remainder tuples?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65C33BC-F71F-4977-B919-868B7308E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35</a:t>
            </a:fld>
            <a:endParaRPr lang="en-US" altLang="zh-TW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74668950-ECB8-4B76-B679-143EA4F4E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188516"/>
              </p:ext>
            </p:extLst>
          </p:nvPr>
        </p:nvGraphicFramePr>
        <p:xfrm>
          <a:off x="1976487" y="1684884"/>
          <a:ext cx="19073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3678">
                  <a:extLst>
                    <a:ext uri="{9D8B030D-6E8A-4147-A177-3AD203B41FA5}">
                      <a16:colId xmlns:a16="http://schemas.microsoft.com/office/drawing/2014/main" val="3384702175"/>
                    </a:ext>
                  </a:extLst>
                </a:gridCol>
                <a:gridCol w="953678">
                  <a:extLst>
                    <a:ext uri="{9D8B030D-6E8A-4147-A177-3AD203B41FA5}">
                      <a16:colId xmlns:a16="http://schemas.microsoft.com/office/drawing/2014/main" val="10376048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7335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85299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0599681"/>
                  </a:ext>
                </a:extLst>
              </a:tr>
            </a:tbl>
          </a:graphicData>
        </a:graphic>
      </p:graphicFrame>
      <p:graphicFrame>
        <p:nvGraphicFramePr>
          <p:cNvPr id="21" name="Table 3">
            <a:extLst>
              <a:ext uri="{FF2B5EF4-FFF2-40B4-BE49-F238E27FC236}">
                <a16:creationId xmlns:a16="http://schemas.microsoft.com/office/drawing/2014/main" id="{5B87DEE2-D4BE-49EF-AB1A-181C747EE6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588756"/>
              </p:ext>
            </p:extLst>
          </p:nvPr>
        </p:nvGraphicFramePr>
        <p:xfrm>
          <a:off x="4881516" y="1693674"/>
          <a:ext cx="19073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3678">
                  <a:extLst>
                    <a:ext uri="{9D8B030D-6E8A-4147-A177-3AD203B41FA5}">
                      <a16:colId xmlns:a16="http://schemas.microsoft.com/office/drawing/2014/main" val="3384702175"/>
                    </a:ext>
                  </a:extLst>
                </a:gridCol>
                <a:gridCol w="953678">
                  <a:extLst>
                    <a:ext uri="{9D8B030D-6E8A-4147-A177-3AD203B41FA5}">
                      <a16:colId xmlns:a16="http://schemas.microsoft.com/office/drawing/2014/main" val="10376048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7335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85299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Y3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Y4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0599681"/>
                  </a:ext>
                </a:extLst>
              </a:tr>
            </a:tbl>
          </a:graphicData>
        </a:graphic>
      </p:graphicFrame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B8B1119C-303A-4439-B0F1-1BC5A032D9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6915540"/>
              </p:ext>
            </p:extLst>
          </p:nvPr>
        </p:nvGraphicFramePr>
        <p:xfrm>
          <a:off x="1524000" y="3429000"/>
          <a:ext cx="60960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66475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203869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92576814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8979000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0929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Y2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07150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Y3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Y4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65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73784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0234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X4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Y2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6486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X4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Y3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Y4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967942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68229D4-7376-46C6-8AEC-E14D5BEF0A99}"/>
              </a:ext>
            </a:extLst>
          </p:cNvPr>
          <p:cNvSpPr txBox="1"/>
          <p:nvPr/>
        </p:nvSpPr>
        <p:spPr>
          <a:xfrm>
            <a:off x="2413261" y="1293564"/>
            <a:ext cx="895547" cy="40011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2E1B96-AEE0-47C0-9143-E8F09A28B0C2}"/>
              </a:ext>
            </a:extLst>
          </p:cNvPr>
          <p:cNvSpPr txBox="1"/>
          <p:nvPr/>
        </p:nvSpPr>
        <p:spPr>
          <a:xfrm>
            <a:off x="5260159" y="1302354"/>
            <a:ext cx="848412" cy="40011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87CBB8-320C-44C0-A4ED-74B0DA3700EC}"/>
              </a:ext>
            </a:extLst>
          </p:cNvPr>
          <p:cNvSpPr txBox="1"/>
          <p:nvPr/>
        </p:nvSpPr>
        <p:spPr>
          <a:xfrm>
            <a:off x="3959257" y="3028890"/>
            <a:ext cx="997673" cy="40011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C’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B3F561-8249-4837-96DB-BAAF59C17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36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1762088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CCE36-7536-DEAD-CE93-474D858B9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457295-9BEF-D52A-E85A-0133E8B52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37</a:t>
            </a:fld>
            <a:endParaRPr lang="en-US" altLang="zh-TW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CB6A50E-626A-F9C5-2911-82636F218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888" y="1099812"/>
            <a:ext cx="8764223" cy="46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9089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3" name="Rectangle 2">
            <a:extLst>
              <a:ext uri="{FF2B5EF4-FFF2-40B4-BE49-F238E27FC236}">
                <a16:creationId xmlns:a16="http://schemas.microsoft.com/office/drawing/2014/main" id="{72B65D88-9E05-4285-8C51-25D7D00CCF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152400"/>
            <a:ext cx="7772400" cy="6858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Division (cont’d)</a:t>
            </a:r>
          </a:p>
        </p:txBody>
      </p:sp>
      <p:pic>
        <p:nvPicPr>
          <p:cNvPr id="30724" name="Picture 5">
            <a:extLst>
              <a:ext uri="{FF2B5EF4-FFF2-40B4-BE49-F238E27FC236}">
                <a16:creationId xmlns:a16="http://schemas.microsoft.com/office/drawing/2014/main" id="{5178DF8D-A4B2-4A9E-8498-98A008922F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152034"/>
            <a:ext cx="7315200" cy="5286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25" name="TextBox 4">
            <a:extLst>
              <a:ext uri="{FF2B5EF4-FFF2-40B4-BE49-F238E27FC236}">
                <a16:creationId xmlns:a16="http://schemas.microsoft.com/office/drawing/2014/main" id="{C6AA8283-F2BF-4AF7-ABFF-9DC88A8F40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24400" y="6096000"/>
            <a:ext cx="533400" cy="40005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C’</a:t>
            </a:r>
          </a:p>
        </p:txBody>
      </p:sp>
      <p:sp>
        <p:nvSpPr>
          <p:cNvPr id="30726" name="TextBox 5">
            <a:extLst>
              <a:ext uri="{FF2B5EF4-FFF2-40B4-BE49-F238E27FC236}">
                <a16:creationId xmlns:a16="http://schemas.microsoft.com/office/drawing/2014/main" id="{A0AF7569-861A-4504-8D9A-41D6DB955B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400" y="4267200"/>
            <a:ext cx="533400" cy="40005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>
                <a:ea typeface="新細明體" panose="02020500000000000000" pitchFamily="18" charset="-120"/>
              </a:rPr>
              <a:t>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EC7C40-E6F3-44D3-B8FC-647A35DF86E5}"/>
              </a:ext>
            </a:extLst>
          </p:cNvPr>
          <p:cNvSpPr txBox="1"/>
          <p:nvPr/>
        </p:nvSpPr>
        <p:spPr>
          <a:xfrm>
            <a:off x="3124200" y="1219200"/>
            <a:ext cx="1295400" cy="400050"/>
          </a:xfrm>
          <a:prstGeom prst="rect">
            <a:avLst/>
          </a:prstGeom>
          <a:solidFill>
            <a:srgbClr val="FFFFFF"/>
          </a:solidFill>
          <a:ln w="3175">
            <a:solidFill>
              <a:schemeClr val="tx1"/>
            </a:solidFill>
          </a:ln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>
                <a:ea typeface="新細明體" panose="02020500000000000000" pitchFamily="18" charset="-120"/>
              </a:rPr>
              <a:t>A</a:t>
            </a:r>
            <a:r>
              <a:rPr lang="en-US" altLang="zh-TW" sz="1000">
                <a:ea typeface="新細明體" panose="02020500000000000000" pitchFamily="18" charset="-120"/>
              </a:rPr>
              <a:t>1</a:t>
            </a:r>
            <a:endParaRPr lang="en-US" altLang="zh-TW">
              <a:ea typeface="新細明體" panose="02020500000000000000" pitchFamily="18" charset="-12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B494C-FDFF-4EE8-9C7B-CC140DD5EC5E}"/>
              </a:ext>
            </a:extLst>
          </p:cNvPr>
          <p:cNvSpPr txBox="1"/>
          <p:nvPr/>
        </p:nvSpPr>
        <p:spPr>
          <a:xfrm>
            <a:off x="4419600" y="1219200"/>
            <a:ext cx="1295400" cy="400050"/>
          </a:xfrm>
          <a:prstGeom prst="rect">
            <a:avLst/>
          </a:prstGeom>
          <a:solidFill>
            <a:srgbClr val="FFFFFF"/>
          </a:solidFill>
          <a:ln w="3175">
            <a:solidFill>
              <a:schemeClr val="tx1"/>
            </a:solidFill>
          </a:ln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>
                <a:ea typeface="新細明體" panose="02020500000000000000" pitchFamily="18" charset="-120"/>
              </a:rPr>
              <a:t>B</a:t>
            </a:r>
            <a:r>
              <a:rPr lang="en-US" altLang="zh-TW" sz="1000">
                <a:ea typeface="新細明體" panose="02020500000000000000" pitchFamily="18" charset="-120"/>
              </a:rPr>
              <a:t>1</a:t>
            </a:r>
            <a:endParaRPr lang="en-US" altLang="zh-TW">
              <a:ea typeface="新細明體" panose="02020500000000000000" pitchFamily="18" charset="-12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298620-B9A2-44F3-8F93-3C0DA498CEB1}"/>
              </a:ext>
            </a:extLst>
          </p:cNvPr>
          <p:cNvSpPr txBox="1"/>
          <p:nvPr/>
        </p:nvSpPr>
        <p:spPr>
          <a:xfrm>
            <a:off x="6858000" y="1905000"/>
            <a:ext cx="1295400" cy="400050"/>
          </a:xfrm>
          <a:prstGeom prst="rect">
            <a:avLst/>
          </a:prstGeom>
          <a:solidFill>
            <a:srgbClr val="FFFFFF"/>
          </a:solidFill>
          <a:ln w="3175">
            <a:solidFill>
              <a:schemeClr val="tx1"/>
            </a:solidFill>
          </a:ln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>
                <a:ea typeface="新細明體" panose="02020500000000000000" pitchFamily="18" charset="-120"/>
              </a:rPr>
              <a:t>B</a:t>
            </a:r>
            <a:r>
              <a:rPr lang="en-US" altLang="zh-TW" sz="1000">
                <a:ea typeface="新細明體" panose="02020500000000000000" pitchFamily="18" charset="-120"/>
              </a:rPr>
              <a:t>1</a:t>
            </a:r>
            <a:endParaRPr lang="en-US" altLang="zh-TW">
              <a:ea typeface="新細明體" panose="02020500000000000000" pitchFamily="18" charset="-120"/>
            </a:endParaRPr>
          </a:p>
        </p:txBody>
      </p:sp>
      <p:sp>
        <p:nvSpPr>
          <p:cNvPr id="30730" name="TextBox 9">
            <a:extLst>
              <a:ext uri="{FF2B5EF4-FFF2-40B4-BE49-F238E27FC236}">
                <a16:creationId xmlns:a16="http://schemas.microsoft.com/office/drawing/2014/main" id="{9013CB75-EB4E-4DAB-8644-40BB240C8C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3600" y="3200400"/>
            <a:ext cx="685800" cy="40005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>
                <a:ea typeface="新細明體" panose="02020500000000000000" pitchFamily="18" charset="-120"/>
              </a:rPr>
              <a:t>C/B</a:t>
            </a:r>
          </a:p>
        </p:txBody>
      </p:sp>
      <p:sp>
        <p:nvSpPr>
          <p:cNvPr id="30731" name="TextBox 10">
            <a:extLst>
              <a:ext uri="{FF2B5EF4-FFF2-40B4-BE49-F238E27FC236}">
                <a16:creationId xmlns:a16="http://schemas.microsoft.com/office/drawing/2014/main" id="{15968932-0264-4681-921E-76D9B275C5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4953000"/>
            <a:ext cx="685800" cy="40005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>
                <a:ea typeface="新細明體" panose="02020500000000000000" pitchFamily="18" charset="-120"/>
              </a:rPr>
              <a:t>C/B</a:t>
            </a: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70D7FE26-B237-4FE9-8E1B-437A67D25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9241180"/>
              </p:ext>
            </p:extLst>
          </p:nvPr>
        </p:nvGraphicFramePr>
        <p:xfrm>
          <a:off x="7315200" y="4983480"/>
          <a:ext cx="6858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1371923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6315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567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2580805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35D359-766A-4E0A-A890-9BC4B8B43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38</a:t>
            </a:fld>
            <a:endParaRPr lang="en-US" altLang="zh-TW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93255-B9BA-492D-32CA-5490FF513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6288E8-CE50-9DB2-E497-32BB55EE6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39</a:t>
            </a:fld>
            <a:endParaRPr lang="en-US" altLang="zh-TW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A5B2BB-0BEA-E65F-7259-A30ECB4F2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757" y="775917"/>
            <a:ext cx="8678486" cy="5306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5407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7" name="Rectangle 2">
            <a:extLst>
              <a:ext uri="{FF2B5EF4-FFF2-40B4-BE49-F238E27FC236}">
                <a16:creationId xmlns:a16="http://schemas.microsoft.com/office/drawing/2014/main" id="{EEC75DF8-62CE-4E81-859B-0A013B4FEA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228600"/>
            <a:ext cx="7772400" cy="533400"/>
          </a:xfrm>
        </p:spPr>
        <p:txBody>
          <a:bodyPr/>
          <a:lstStyle/>
          <a:p>
            <a:r>
              <a:rPr lang="en-US" altLang="zh-TW">
                <a:ea typeface="新細明體"/>
              </a:rPr>
              <a:t>Division – Example 1</a:t>
            </a:r>
            <a:endParaRPr lang="zh-TW" altLang="en-US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20343A7-5994-4B15-B4D2-7C43698EF3B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066800"/>
            <a:ext cx="7696200" cy="51054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dirty="0">
                <a:ea typeface="新細明體" panose="02020500000000000000" pitchFamily="18" charset="-120"/>
              </a:rPr>
              <a:t>List the Ids of students who have passed </a:t>
            </a:r>
            <a:r>
              <a:rPr lang="en-US" altLang="zh-TW" i="1" u="sng" dirty="0">
                <a:ea typeface="新細明體" panose="02020500000000000000" pitchFamily="18" charset="-120"/>
              </a:rPr>
              <a:t>all</a:t>
            </a:r>
            <a:r>
              <a:rPr lang="en-US" altLang="zh-TW" dirty="0">
                <a:ea typeface="新細明體" panose="02020500000000000000" pitchFamily="18" charset="-120"/>
              </a:rPr>
              <a:t> courses that were taught in spring 2000</a:t>
            </a:r>
          </a:p>
          <a:p>
            <a:pPr>
              <a:lnSpc>
                <a:spcPct val="90000"/>
              </a:lnSpc>
            </a:pPr>
            <a:r>
              <a:rPr lang="en-US" altLang="zh-TW" i="1" dirty="0">
                <a:ea typeface="新細明體" panose="02020500000000000000" pitchFamily="18" charset="-120"/>
              </a:rPr>
              <a:t>Numerator</a:t>
            </a:r>
            <a:r>
              <a:rPr lang="en-US" altLang="zh-TW" dirty="0">
                <a:ea typeface="新細明體" panose="02020500000000000000" pitchFamily="18" charset="-120"/>
              </a:rPr>
              <a:t>:  </a:t>
            </a:r>
          </a:p>
          <a:p>
            <a:pPr lvl="1">
              <a:lnSpc>
                <a:spcPct val="90000"/>
              </a:lnSpc>
            </a:pPr>
            <a:r>
              <a:rPr lang="en-US" altLang="zh-TW" i="1" dirty="0" err="1">
                <a:ea typeface="新細明體" panose="02020500000000000000" pitchFamily="18" charset="-120"/>
              </a:rPr>
              <a:t>StudId</a:t>
            </a:r>
            <a:r>
              <a:rPr lang="en-US" altLang="zh-TW" dirty="0">
                <a:ea typeface="新細明體" panose="02020500000000000000" pitchFamily="18" charset="-120"/>
              </a:rPr>
              <a:t> and </a:t>
            </a:r>
            <a:r>
              <a:rPr lang="en-US" altLang="zh-TW" i="1" dirty="0" err="1">
                <a:ea typeface="新細明體" panose="02020500000000000000" pitchFamily="18" charset="-120"/>
              </a:rPr>
              <a:t>CrsCode</a:t>
            </a:r>
            <a:r>
              <a:rPr lang="en-US" altLang="zh-TW" dirty="0">
                <a:ea typeface="新細明體" panose="02020500000000000000" pitchFamily="18" charset="-120"/>
              </a:rPr>
              <a:t> for every course passed by every student:</a:t>
            </a:r>
          </a:p>
          <a:p>
            <a:pPr lvl="1">
              <a:lnSpc>
                <a:spcPct val="70000"/>
              </a:lnSpc>
              <a:buFontTx/>
              <a:buNone/>
            </a:pPr>
            <a:r>
              <a:rPr lang="en-US" altLang="zh-TW" i="1" dirty="0">
                <a:ea typeface="新細明體" panose="02020500000000000000" pitchFamily="18" charset="-120"/>
                <a:sym typeface="Symbol" panose="05050102010706020507" pitchFamily="18" charset="2"/>
              </a:rPr>
              <a:t>			</a:t>
            </a:r>
            <a:r>
              <a:rPr lang="en-US" altLang="zh-TW" i="1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StudId</a:t>
            </a:r>
            <a:r>
              <a:rPr lang="en-US" altLang="zh-TW" i="1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, </a:t>
            </a:r>
            <a:r>
              <a:rPr lang="en-US" altLang="zh-TW" i="1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i="1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i="1" dirty="0">
                <a:ea typeface="新細明體" panose="02020500000000000000" pitchFamily="18" charset="-120"/>
                <a:sym typeface="Symbol" panose="05050102010706020507" pitchFamily="18" charset="2"/>
              </a:rPr>
              <a:t></a:t>
            </a:r>
            <a:r>
              <a:rPr lang="en-US" altLang="zh-TW" i="1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Grade ‘F’ </a:t>
            </a:r>
            <a:r>
              <a:rPr lang="en-US" altLang="zh-TW" i="1" dirty="0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Transcript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) )</a:t>
            </a:r>
          </a:p>
          <a:p>
            <a:pPr>
              <a:lnSpc>
                <a:spcPct val="90000"/>
              </a:lnSpc>
            </a:pPr>
            <a:r>
              <a:rPr lang="en-US" altLang="zh-TW" i="1" dirty="0">
                <a:ea typeface="新細明體" panose="02020500000000000000" pitchFamily="18" charset="-120"/>
              </a:rPr>
              <a:t>Denominator</a:t>
            </a:r>
            <a:r>
              <a:rPr lang="en-US" altLang="zh-TW" dirty="0">
                <a:ea typeface="新細明體" panose="02020500000000000000" pitchFamily="18" charset="-120"/>
              </a:rPr>
              <a:t>:</a:t>
            </a:r>
          </a:p>
          <a:p>
            <a:pPr lvl="1">
              <a:lnSpc>
                <a:spcPct val="90000"/>
              </a:lnSpc>
            </a:pPr>
            <a:r>
              <a:rPr lang="en-US" altLang="zh-TW" dirty="0">
                <a:ea typeface="新細明體" panose="02020500000000000000" pitchFamily="18" charset="-120"/>
              </a:rPr>
              <a:t>  </a:t>
            </a:r>
            <a:r>
              <a:rPr lang="en-US" altLang="zh-TW" i="1" dirty="0" err="1">
                <a:ea typeface="新細明體" panose="02020500000000000000" pitchFamily="18" charset="-120"/>
              </a:rPr>
              <a:t>CrsCode</a:t>
            </a:r>
            <a:r>
              <a:rPr lang="en-US" altLang="zh-TW" dirty="0">
                <a:ea typeface="新細明體" panose="02020500000000000000" pitchFamily="18" charset="-120"/>
              </a:rPr>
              <a:t> of all courses taught in spring 2000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			</a:t>
            </a:r>
            <a:r>
              <a:rPr lang="en-US" altLang="zh-TW" i="1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i="1" dirty="0">
                <a:ea typeface="新細明體" panose="02020500000000000000" pitchFamily="18" charset="-120"/>
                <a:sym typeface="Symbol" panose="05050102010706020507" pitchFamily="18" charset="2"/>
              </a:rPr>
              <a:t> 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i="1" dirty="0">
                <a:ea typeface="新細明體" panose="02020500000000000000" pitchFamily="18" charset="-120"/>
                <a:sym typeface="Symbol" panose="05050102010706020507" pitchFamily="18" charset="2"/>
              </a:rPr>
              <a:t></a:t>
            </a:r>
            <a:r>
              <a:rPr lang="en-US" altLang="zh-TW" i="1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Semester=‘S2000’ 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Teaching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) )</a:t>
            </a:r>
          </a:p>
          <a:p>
            <a:pPr>
              <a:lnSpc>
                <a:spcPct val="90000"/>
              </a:lnSpc>
            </a:pP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Result is </a:t>
            </a:r>
            <a:r>
              <a:rPr lang="en-US" altLang="zh-TW" i="1" dirty="0">
                <a:ea typeface="新細明體" panose="02020500000000000000" pitchFamily="18" charset="-120"/>
                <a:sym typeface="Symbol" panose="05050102010706020507" pitchFamily="18" charset="2"/>
              </a:rPr>
              <a:t>numerator/denominator</a:t>
            </a:r>
          </a:p>
          <a:p>
            <a:pPr>
              <a:lnSpc>
                <a:spcPct val="90000"/>
              </a:lnSpc>
            </a:pPr>
            <a:r>
              <a:rPr lang="en-US" altLang="zh-TW" i="1" dirty="0">
                <a:ea typeface="新細明體" panose="02020500000000000000" pitchFamily="18" charset="-120"/>
                <a:sym typeface="Symbol" panose="05050102010706020507" pitchFamily="18" charset="2"/>
              </a:rPr>
              <a:t>Give me something that is linked to each denominator</a:t>
            </a:r>
            <a:endParaRPr lang="en-US" altLang="zh-TW" i="1" dirty="0">
              <a:ea typeface="新細明體" panose="02020500000000000000" pitchFamily="18" charset="-120"/>
            </a:endParaRPr>
          </a:p>
          <a:p>
            <a:pPr lvl="1">
              <a:lnSpc>
                <a:spcPct val="90000"/>
              </a:lnSpc>
            </a:pPr>
            <a:endParaRPr lang="en-US" altLang="zh-TW" sz="2400" dirty="0">
              <a:ea typeface="新細明體" panose="02020500000000000000" pitchFamily="18" charset="-120"/>
            </a:endParaRPr>
          </a:p>
        </p:txBody>
      </p:sp>
      <p:sp>
        <p:nvSpPr>
          <p:cNvPr id="19" name="Text Box 28">
            <a:extLst>
              <a:ext uri="{FF2B5EF4-FFF2-40B4-BE49-F238E27FC236}">
                <a16:creationId xmlns:a16="http://schemas.microsoft.com/office/drawing/2014/main" id="{F7BDD62D-C03A-482D-B59C-D6EC4F5836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04472" y="4814207"/>
            <a:ext cx="13366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defPPr>
              <a:defRPr lang="en-US"/>
            </a:defPPr>
            <a:lvl1pPr algn="l" rtl="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en-US"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</a:rPr>
              <a:t>Professor</a:t>
            </a:r>
          </a:p>
        </p:txBody>
      </p:sp>
      <p:sp>
        <p:nvSpPr>
          <p:cNvPr id="21" name="Text Box 30">
            <a:extLst>
              <a:ext uri="{FF2B5EF4-FFF2-40B4-BE49-F238E27FC236}">
                <a16:creationId xmlns:a16="http://schemas.microsoft.com/office/drawing/2014/main" id="{E0DF8605-B709-46EB-9DF0-5986D0B7EF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9077" y="3240088"/>
            <a:ext cx="395287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>
            <a:defPPr>
              <a:defRPr lang="en-US"/>
            </a:defPPr>
            <a:lvl1pPr algn="l" rtl="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2000" i="1"/>
              <a:t>Id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FDE86A-63DF-4726-B9E9-C4374EC00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40</a:t>
            </a:fld>
            <a:endParaRPr lang="en-US" altLang="zh-TW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9">
            <a:extLst>
              <a:ext uri="{FF2B5EF4-FFF2-40B4-BE49-F238E27FC236}">
                <a16:creationId xmlns:a16="http://schemas.microsoft.com/office/drawing/2014/main" id="{74303FDA-1F50-45C6-927F-990C8F19C9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241" y="2231572"/>
            <a:ext cx="12954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9" name="Rectangle 40">
            <a:extLst>
              <a:ext uri="{FF2B5EF4-FFF2-40B4-BE49-F238E27FC236}">
                <a16:creationId xmlns:a16="http://schemas.microsoft.com/office/drawing/2014/main" id="{8BB96AF8-9900-479E-B03E-252F313D54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2041" y="2231572"/>
            <a:ext cx="16764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10" name="Text Box 41">
            <a:extLst>
              <a:ext uri="{FF2B5EF4-FFF2-40B4-BE49-F238E27FC236}">
                <a16:creationId xmlns:a16="http://schemas.microsoft.com/office/drawing/2014/main" id="{44FD6E3F-B284-4891-8068-609D7D6C33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20445" y="2609478"/>
            <a:ext cx="12509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en-US"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</a:rPr>
              <a:t>WorksIn</a:t>
            </a:r>
          </a:p>
        </p:txBody>
      </p:sp>
      <p:sp>
        <p:nvSpPr>
          <p:cNvPr id="11" name="Text Box 42">
            <a:extLst>
              <a:ext uri="{FF2B5EF4-FFF2-40B4-BE49-F238E27FC236}">
                <a16:creationId xmlns:a16="http://schemas.microsoft.com/office/drawing/2014/main" id="{A8692118-D75F-46B0-99E7-371DCA02CA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241" y="2307772"/>
            <a:ext cx="13366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en-US"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</a:rPr>
              <a:t>Professor</a:t>
            </a:r>
          </a:p>
        </p:txBody>
      </p:sp>
      <p:sp>
        <p:nvSpPr>
          <p:cNvPr id="12" name="Text Box 43">
            <a:extLst>
              <a:ext uri="{FF2B5EF4-FFF2-40B4-BE49-F238E27FC236}">
                <a16:creationId xmlns:a16="http://schemas.microsoft.com/office/drawing/2014/main" id="{E7779219-004F-4117-BFDF-E34FCB4B9F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8241" y="2307772"/>
            <a:ext cx="182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en-US"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</a:rPr>
              <a:t>Department</a:t>
            </a:r>
          </a:p>
        </p:txBody>
      </p:sp>
      <p:sp>
        <p:nvSpPr>
          <p:cNvPr id="15" name="AutoShape 38">
            <a:extLst>
              <a:ext uri="{FF2B5EF4-FFF2-40B4-BE49-F238E27FC236}">
                <a16:creationId xmlns:a16="http://schemas.microsoft.com/office/drawing/2014/main" id="{9350DD50-7790-4B69-B2F3-96B78A1469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4794" y="2311252"/>
            <a:ext cx="1968048" cy="914400"/>
          </a:xfrm>
          <a:prstGeom prst="diamond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en-US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B21A591D-744F-4BC3-B594-40E0CC191584}"/>
              </a:ext>
            </a:extLst>
          </p:cNvPr>
          <p:cNvCxnSpPr/>
          <p:nvPr/>
        </p:nvCxnSpPr>
        <p:spPr bwMode="auto">
          <a:xfrm flipV="1">
            <a:off x="5054729" y="2528525"/>
            <a:ext cx="1297334" cy="25761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7FA7A254-5519-4B81-8398-5B36F5F34D1E}"/>
              </a:ext>
            </a:extLst>
          </p:cNvPr>
          <p:cNvCxnSpPr>
            <a:cxnSpLocks/>
          </p:cNvCxnSpPr>
          <p:nvPr/>
        </p:nvCxnSpPr>
        <p:spPr bwMode="auto">
          <a:xfrm>
            <a:off x="1968048" y="2530845"/>
            <a:ext cx="1192898" cy="24136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21" name="表格 21">
            <a:extLst>
              <a:ext uri="{FF2B5EF4-FFF2-40B4-BE49-F238E27FC236}">
                <a16:creationId xmlns:a16="http://schemas.microsoft.com/office/drawing/2014/main" id="{954925E8-8132-4615-AC45-0D841EE9FB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3012821"/>
              </p:ext>
            </p:extLst>
          </p:nvPr>
        </p:nvGraphicFramePr>
        <p:xfrm>
          <a:off x="6270370" y="1012478"/>
          <a:ext cx="218209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045">
                  <a:extLst>
                    <a:ext uri="{9D8B030D-6E8A-4147-A177-3AD203B41FA5}">
                      <a16:colId xmlns:a16="http://schemas.microsoft.com/office/drawing/2014/main" val="3330574142"/>
                    </a:ext>
                  </a:extLst>
                </a:gridCol>
                <a:gridCol w="1091045">
                  <a:extLst>
                    <a:ext uri="{9D8B030D-6E8A-4147-A177-3AD203B41FA5}">
                      <a16:colId xmlns:a16="http://schemas.microsoft.com/office/drawing/2014/main" val="34898226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/>
                        <a:t>deptid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1223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/>
                        <a:t>aaa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256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/>
                        <a:t>bbb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CHE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21070"/>
                  </a:ext>
                </a:extLst>
              </a:tr>
            </a:tbl>
          </a:graphicData>
        </a:graphic>
      </p:graphicFrame>
      <p:graphicFrame>
        <p:nvGraphicFramePr>
          <p:cNvPr id="23" name="表格 24">
            <a:extLst>
              <a:ext uri="{FF2B5EF4-FFF2-40B4-BE49-F238E27FC236}">
                <a16:creationId xmlns:a16="http://schemas.microsoft.com/office/drawing/2014/main" id="{B99D6F54-065E-4B2A-BD0F-E8C4884730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9134134"/>
              </p:ext>
            </p:extLst>
          </p:nvPr>
        </p:nvGraphicFramePr>
        <p:xfrm>
          <a:off x="131822" y="664356"/>
          <a:ext cx="240646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2156">
                  <a:extLst>
                    <a:ext uri="{9D8B030D-6E8A-4147-A177-3AD203B41FA5}">
                      <a16:colId xmlns:a16="http://schemas.microsoft.com/office/drawing/2014/main" val="4037064148"/>
                    </a:ext>
                  </a:extLst>
                </a:gridCol>
                <a:gridCol w="802156">
                  <a:extLst>
                    <a:ext uri="{9D8B030D-6E8A-4147-A177-3AD203B41FA5}">
                      <a16:colId xmlns:a16="http://schemas.microsoft.com/office/drawing/2014/main" val="2690061881"/>
                    </a:ext>
                  </a:extLst>
                </a:gridCol>
                <a:gridCol w="802156">
                  <a:extLst>
                    <a:ext uri="{9D8B030D-6E8A-4147-A177-3AD203B41FA5}">
                      <a16:colId xmlns:a16="http://schemas.microsoft.com/office/drawing/2014/main" val="2331991773"/>
                    </a:ext>
                  </a:extLst>
                </a:gridCol>
              </a:tblGrid>
              <a:tr h="262961">
                <a:tc>
                  <a:txBody>
                    <a:bodyPr/>
                    <a:lstStyle/>
                    <a:p>
                      <a:r>
                        <a:rPr lang="zh-TW" altLang="en-US"/>
                        <a:t>facid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380227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zh-TW" altLang="en-US"/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4334414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zh-TW" altLang="en-US"/>
                        <a:t>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kathy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605648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zh-TW" altLang="en-US"/>
                        <a:t>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frank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4471104"/>
                  </a:ext>
                </a:extLst>
              </a:tr>
            </a:tbl>
          </a:graphicData>
        </a:graphic>
      </p:graphicFrame>
      <p:graphicFrame>
        <p:nvGraphicFramePr>
          <p:cNvPr id="26" name="表格 26">
            <a:extLst>
              <a:ext uri="{FF2B5EF4-FFF2-40B4-BE49-F238E27FC236}">
                <a16:creationId xmlns:a16="http://schemas.microsoft.com/office/drawing/2014/main" id="{8CB6F0BC-CF6E-4E24-821A-C6D98D094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5151426"/>
              </p:ext>
            </p:extLst>
          </p:nvPr>
        </p:nvGraphicFramePr>
        <p:xfrm>
          <a:off x="3237532" y="34812"/>
          <a:ext cx="187659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8299">
                  <a:extLst>
                    <a:ext uri="{9D8B030D-6E8A-4147-A177-3AD203B41FA5}">
                      <a16:colId xmlns:a16="http://schemas.microsoft.com/office/drawing/2014/main" val="2203868746"/>
                    </a:ext>
                  </a:extLst>
                </a:gridCol>
                <a:gridCol w="938299">
                  <a:extLst>
                    <a:ext uri="{9D8B030D-6E8A-4147-A177-3AD203B41FA5}">
                      <a16:colId xmlns:a16="http://schemas.microsoft.com/office/drawing/2014/main" val="1626733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/>
                        <a:t>facid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deptid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913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111</a:t>
                      </a:r>
                      <a:endParaRPr lang="zh-TW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aaa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19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bbb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9075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/>
                        <a:t>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bbb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77027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aaa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3677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bbb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3565017"/>
                  </a:ext>
                </a:extLst>
              </a:tr>
            </a:tbl>
          </a:graphicData>
        </a:graphic>
      </p:graphicFrame>
      <p:sp>
        <p:nvSpPr>
          <p:cNvPr id="32" name="Text Box 6">
            <a:extLst>
              <a:ext uri="{FF2B5EF4-FFF2-40B4-BE49-F238E27FC236}">
                <a16:creationId xmlns:a16="http://schemas.microsoft.com/office/drawing/2014/main" id="{F079C6B5-DB54-422D-85B2-84765DB052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5334000"/>
            <a:ext cx="5081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 i="1">
                <a:latin typeface="Times New Roman"/>
                <a:ea typeface="新細明體"/>
                <a:cs typeface="Times New Roman"/>
                <a:sym typeface="Symbol" panose="05050102010706020507" pitchFamily="18" charset="2"/>
              </a:rPr>
              <a:t>1) </a:t>
            </a:r>
            <a:r>
              <a:rPr lang="en-US" altLang="zh-TW" sz="2800" i="1" err="1">
                <a:latin typeface="Times New Roman"/>
                <a:ea typeface="新細明體"/>
                <a:cs typeface="Times New Roman"/>
                <a:sym typeface="Symbol" panose="05050102010706020507" pitchFamily="18" charset="2"/>
              </a:rPr>
              <a:t>WorksIn</a:t>
            </a:r>
            <a:r>
              <a:rPr lang="en-US" altLang="zh-TW" sz="2800" i="1">
                <a:latin typeface="Times New Roman"/>
                <a:ea typeface="新細明體"/>
                <a:cs typeface="Times New Roman"/>
              </a:rPr>
              <a:t>/</a:t>
            </a:r>
            <a:r>
              <a:rPr lang="en-US" altLang="zh-TW" sz="2800" i="1">
                <a:latin typeface="Times New Roman"/>
                <a:ea typeface="新細明體"/>
                <a:cs typeface="Times New Roman"/>
                <a:sym typeface="Symbol" panose="05050102010706020507" pitchFamily="18" charset="2"/>
              </a:rPr>
              <a:t></a:t>
            </a:r>
            <a:r>
              <a:rPr lang="en-US" altLang="zh-TW" sz="2800" i="1" baseline="-25000" err="1">
                <a:latin typeface="Times New Roman"/>
                <a:ea typeface="新細明體"/>
                <a:cs typeface="Times New Roman"/>
                <a:sym typeface="Symbol" panose="05050102010706020507" pitchFamily="18" charset="2"/>
              </a:rPr>
              <a:t>deptid</a:t>
            </a:r>
            <a:r>
              <a:rPr lang="en-US" altLang="zh-TW" sz="2800">
                <a:latin typeface="Times New Roman"/>
                <a:ea typeface="新細明體"/>
                <a:cs typeface="Times New Roman"/>
                <a:sym typeface="Symbol" panose="05050102010706020507" pitchFamily="18" charset="2"/>
              </a:rPr>
              <a:t>(Department)</a:t>
            </a:r>
            <a:endParaRPr lang="en-US" altLang="zh-TW" sz="2800">
              <a:effectLst>
                <a:outerShdw blurRad="38100" dist="38100" dir="2700000" algn="tl">
                  <a:srgbClr val="C0C0C0"/>
                </a:outerShdw>
              </a:effectLst>
              <a:ea typeface="新細明體" panose="02020500000000000000" pitchFamily="18" charset="-120"/>
            </a:endParaRPr>
          </a:p>
        </p:txBody>
      </p:sp>
      <p:sp>
        <p:nvSpPr>
          <p:cNvPr id="34" name="語音泡泡: 圓角矩形 33">
            <a:extLst>
              <a:ext uri="{FF2B5EF4-FFF2-40B4-BE49-F238E27FC236}">
                <a16:creationId xmlns:a16="http://schemas.microsoft.com/office/drawing/2014/main" id="{2E8BD5F3-F646-4CDE-9041-0E998C554960}"/>
              </a:ext>
            </a:extLst>
          </p:cNvPr>
          <p:cNvSpPr/>
          <p:nvPr/>
        </p:nvSpPr>
        <p:spPr bwMode="auto">
          <a:xfrm>
            <a:off x="5557330" y="4251895"/>
            <a:ext cx="1749892" cy="682272"/>
          </a:xfrm>
          <a:prstGeom prst="wedgeRoundRectCallou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zh-TW" altLang="en-US" dirty="0">
                <a:latin typeface="Times New Roman"/>
                <a:cs typeface="Times New Roman"/>
              </a:rPr>
              <a:t> For </a:t>
            </a:r>
            <a:r>
              <a:rPr lang="en-US" altLang="zh-TW" dirty="0">
                <a:latin typeface="Times New Roman"/>
                <a:cs typeface="Times New Roman"/>
              </a:rPr>
              <a:t>each</a:t>
            </a:r>
            <a:r>
              <a:rPr lang="zh-TW" altLang="en-US" dirty="0">
                <a:latin typeface="Times New Roman"/>
                <a:cs typeface="Times New Roman"/>
              </a:rPr>
              <a:t> department</a:t>
            </a:r>
            <a:endParaRPr kumimoji="0" lang="zh-TW" altLang="en-US" sz="2000" b="0" i="0" u="none" strike="noStrike" cap="none" normalizeH="0" baseline="0" dirty="0">
              <a:ln>
                <a:noFill/>
              </a:ln>
              <a:effectLst/>
              <a:latin typeface="Times New Roman" pitchFamily="18" charset="0"/>
            </a:endParaRPr>
          </a:p>
        </p:txBody>
      </p:sp>
      <p:cxnSp>
        <p:nvCxnSpPr>
          <p:cNvPr id="36" name="直線單箭頭接點 35">
            <a:extLst>
              <a:ext uri="{FF2B5EF4-FFF2-40B4-BE49-F238E27FC236}">
                <a16:creationId xmlns:a16="http://schemas.microsoft.com/office/drawing/2014/main" id="{2D189ADD-D03F-4ABA-BD49-6ACD62759F90}"/>
              </a:ext>
            </a:extLst>
          </p:cNvPr>
          <p:cNvCxnSpPr/>
          <p:nvPr/>
        </p:nvCxnSpPr>
        <p:spPr bwMode="auto">
          <a:xfrm flipV="1">
            <a:off x="5421707" y="5030650"/>
            <a:ext cx="659111" cy="54771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CF8ED6F9-3A49-4A6A-A06D-51888DCF6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7338253"/>
              </p:ext>
            </p:extLst>
          </p:nvPr>
        </p:nvGraphicFramePr>
        <p:xfrm>
          <a:off x="5829775" y="5479712"/>
          <a:ext cx="163580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5807">
                  <a:extLst>
                    <a:ext uri="{9D8B030D-6E8A-4147-A177-3AD203B41FA5}">
                      <a16:colId xmlns:a16="http://schemas.microsoft.com/office/drawing/2014/main" val="8785386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Facid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193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249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4485799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DCE44-5FD4-4A36-A4C9-FE567E73E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41</a:t>
            </a:fld>
            <a:endParaRPr lang="en-US" altLang="zh-TW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9">
            <a:extLst>
              <a:ext uri="{FF2B5EF4-FFF2-40B4-BE49-F238E27FC236}">
                <a16:creationId xmlns:a16="http://schemas.microsoft.com/office/drawing/2014/main" id="{74303FDA-1F50-45C6-927F-990C8F19C9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241" y="2231572"/>
            <a:ext cx="12954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9" name="Rectangle 40">
            <a:extLst>
              <a:ext uri="{FF2B5EF4-FFF2-40B4-BE49-F238E27FC236}">
                <a16:creationId xmlns:a16="http://schemas.microsoft.com/office/drawing/2014/main" id="{8BB96AF8-9900-479E-B03E-252F313D54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2041" y="2231572"/>
            <a:ext cx="16764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10" name="Text Box 41">
            <a:extLst>
              <a:ext uri="{FF2B5EF4-FFF2-40B4-BE49-F238E27FC236}">
                <a16:creationId xmlns:a16="http://schemas.microsoft.com/office/drawing/2014/main" id="{44FD6E3F-B284-4891-8068-609D7D6C33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20445" y="2609478"/>
            <a:ext cx="12509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en-US"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</a:rPr>
              <a:t>WorksIn</a:t>
            </a:r>
          </a:p>
        </p:txBody>
      </p:sp>
      <p:sp>
        <p:nvSpPr>
          <p:cNvPr id="11" name="Text Box 42">
            <a:extLst>
              <a:ext uri="{FF2B5EF4-FFF2-40B4-BE49-F238E27FC236}">
                <a16:creationId xmlns:a16="http://schemas.microsoft.com/office/drawing/2014/main" id="{A8692118-D75F-46B0-99E7-371DCA02CA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241" y="2307772"/>
            <a:ext cx="13366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en-US"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</a:rPr>
              <a:t>Professor</a:t>
            </a:r>
          </a:p>
        </p:txBody>
      </p:sp>
      <p:sp>
        <p:nvSpPr>
          <p:cNvPr id="12" name="Text Box 43">
            <a:extLst>
              <a:ext uri="{FF2B5EF4-FFF2-40B4-BE49-F238E27FC236}">
                <a16:creationId xmlns:a16="http://schemas.microsoft.com/office/drawing/2014/main" id="{E7779219-004F-4117-BFDF-E34FCB4B9F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8241" y="2307772"/>
            <a:ext cx="182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en-US"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</a:rPr>
              <a:t>Department</a:t>
            </a:r>
          </a:p>
        </p:txBody>
      </p:sp>
      <p:sp>
        <p:nvSpPr>
          <p:cNvPr id="15" name="AutoShape 38">
            <a:extLst>
              <a:ext uri="{FF2B5EF4-FFF2-40B4-BE49-F238E27FC236}">
                <a16:creationId xmlns:a16="http://schemas.microsoft.com/office/drawing/2014/main" id="{9350DD50-7790-4B69-B2F3-96B78A1469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4794" y="2311252"/>
            <a:ext cx="1968048" cy="914400"/>
          </a:xfrm>
          <a:prstGeom prst="diamond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en-US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B21A591D-744F-4BC3-B594-40E0CC191584}"/>
              </a:ext>
            </a:extLst>
          </p:cNvPr>
          <p:cNvCxnSpPr/>
          <p:nvPr/>
        </p:nvCxnSpPr>
        <p:spPr bwMode="auto">
          <a:xfrm flipV="1">
            <a:off x="5054729" y="2528525"/>
            <a:ext cx="1297334" cy="25761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7FA7A254-5519-4B81-8398-5B36F5F34D1E}"/>
              </a:ext>
            </a:extLst>
          </p:cNvPr>
          <p:cNvCxnSpPr>
            <a:cxnSpLocks/>
          </p:cNvCxnSpPr>
          <p:nvPr/>
        </p:nvCxnSpPr>
        <p:spPr bwMode="auto">
          <a:xfrm>
            <a:off x="1968048" y="2530845"/>
            <a:ext cx="1192898" cy="24136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21" name="表格 21">
            <a:extLst>
              <a:ext uri="{FF2B5EF4-FFF2-40B4-BE49-F238E27FC236}">
                <a16:creationId xmlns:a16="http://schemas.microsoft.com/office/drawing/2014/main" id="{954925E8-8132-4615-AC45-0D841EE9FB28}"/>
              </a:ext>
            </a:extLst>
          </p:cNvPr>
          <p:cNvGraphicFramePr>
            <a:graphicFrameLocks noGrp="1"/>
          </p:cNvGraphicFramePr>
          <p:nvPr/>
        </p:nvGraphicFramePr>
        <p:xfrm>
          <a:off x="6270370" y="1012478"/>
          <a:ext cx="218209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045">
                  <a:extLst>
                    <a:ext uri="{9D8B030D-6E8A-4147-A177-3AD203B41FA5}">
                      <a16:colId xmlns:a16="http://schemas.microsoft.com/office/drawing/2014/main" val="3330574142"/>
                    </a:ext>
                  </a:extLst>
                </a:gridCol>
                <a:gridCol w="1091045">
                  <a:extLst>
                    <a:ext uri="{9D8B030D-6E8A-4147-A177-3AD203B41FA5}">
                      <a16:colId xmlns:a16="http://schemas.microsoft.com/office/drawing/2014/main" val="34898226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/>
                        <a:t>deptid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1223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/>
                        <a:t>aaa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256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/>
                        <a:t>bbb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CHE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21070"/>
                  </a:ext>
                </a:extLst>
              </a:tr>
            </a:tbl>
          </a:graphicData>
        </a:graphic>
      </p:graphicFrame>
      <p:graphicFrame>
        <p:nvGraphicFramePr>
          <p:cNvPr id="23" name="表格 24">
            <a:extLst>
              <a:ext uri="{FF2B5EF4-FFF2-40B4-BE49-F238E27FC236}">
                <a16:creationId xmlns:a16="http://schemas.microsoft.com/office/drawing/2014/main" id="{B99D6F54-065E-4B2A-BD0F-E8C488473045}"/>
              </a:ext>
            </a:extLst>
          </p:cNvPr>
          <p:cNvGraphicFramePr>
            <a:graphicFrameLocks noGrp="1"/>
          </p:cNvGraphicFramePr>
          <p:nvPr/>
        </p:nvGraphicFramePr>
        <p:xfrm>
          <a:off x="131822" y="664356"/>
          <a:ext cx="240646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2156">
                  <a:extLst>
                    <a:ext uri="{9D8B030D-6E8A-4147-A177-3AD203B41FA5}">
                      <a16:colId xmlns:a16="http://schemas.microsoft.com/office/drawing/2014/main" val="4037064148"/>
                    </a:ext>
                  </a:extLst>
                </a:gridCol>
                <a:gridCol w="802156">
                  <a:extLst>
                    <a:ext uri="{9D8B030D-6E8A-4147-A177-3AD203B41FA5}">
                      <a16:colId xmlns:a16="http://schemas.microsoft.com/office/drawing/2014/main" val="2690061881"/>
                    </a:ext>
                  </a:extLst>
                </a:gridCol>
                <a:gridCol w="802156">
                  <a:extLst>
                    <a:ext uri="{9D8B030D-6E8A-4147-A177-3AD203B41FA5}">
                      <a16:colId xmlns:a16="http://schemas.microsoft.com/office/drawing/2014/main" val="2331991773"/>
                    </a:ext>
                  </a:extLst>
                </a:gridCol>
              </a:tblGrid>
              <a:tr h="262961">
                <a:tc>
                  <a:txBody>
                    <a:bodyPr/>
                    <a:lstStyle/>
                    <a:p>
                      <a:r>
                        <a:rPr lang="zh-TW" altLang="en-US"/>
                        <a:t>facid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380227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zh-TW" altLang="en-US"/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4334414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zh-TW" altLang="en-US"/>
                        <a:t>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kathy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605648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zh-TW" altLang="en-US"/>
                        <a:t>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frank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4471104"/>
                  </a:ext>
                </a:extLst>
              </a:tr>
            </a:tbl>
          </a:graphicData>
        </a:graphic>
      </p:graphicFrame>
      <p:graphicFrame>
        <p:nvGraphicFramePr>
          <p:cNvPr id="26" name="表格 26">
            <a:extLst>
              <a:ext uri="{FF2B5EF4-FFF2-40B4-BE49-F238E27FC236}">
                <a16:creationId xmlns:a16="http://schemas.microsoft.com/office/drawing/2014/main" id="{8CB6F0BC-CF6E-4E24-821A-C6D98D094FB9}"/>
              </a:ext>
            </a:extLst>
          </p:cNvPr>
          <p:cNvGraphicFramePr>
            <a:graphicFrameLocks noGrp="1"/>
          </p:cNvGraphicFramePr>
          <p:nvPr/>
        </p:nvGraphicFramePr>
        <p:xfrm>
          <a:off x="3237532" y="34812"/>
          <a:ext cx="187659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8299">
                  <a:extLst>
                    <a:ext uri="{9D8B030D-6E8A-4147-A177-3AD203B41FA5}">
                      <a16:colId xmlns:a16="http://schemas.microsoft.com/office/drawing/2014/main" val="2203868746"/>
                    </a:ext>
                  </a:extLst>
                </a:gridCol>
                <a:gridCol w="938299">
                  <a:extLst>
                    <a:ext uri="{9D8B030D-6E8A-4147-A177-3AD203B41FA5}">
                      <a16:colId xmlns:a16="http://schemas.microsoft.com/office/drawing/2014/main" val="1626733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/>
                        <a:t>facid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deptid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913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111</a:t>
                      </a:r>
                      <a:endParaRPr lang="zh-TW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aaa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19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bbb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9075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/>
                        <a:t>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bbb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77027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aaa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3677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bbb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3565017"/>
                  </a:ext>
                </a:extLst>
              </a:tr>
            </a:tbl>
          </a:graphicData>
        </a:graphic>
      </p:graphicFrame>
      <p:sp>
        <p:nvSpPr>
          <p:cNvPr id="37" name="Text Box 6">
            <a:extLst>
              <a:ext uri="{FF2B5EF4-FFF2-40B4-BE49-F238E27FC236}">
                <a16:creationId xmlns:a16="http://schemas.microsoft.com/office/drawing/2014/main" id="{2BC405BE-1617-4056-8069-D8F3725676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6882" y="5001073"/>
            <a:ext cx="5081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 i="1">
                <a:latin typeface="Times New Roman"/>
                <a:ea typeface="新細明體"/>
                <a:cs typeface="Times New Roman"/>
                <a:sym typeface="Symbol" panose="05050102010706020507" pitchFamily="18" charset="2"/>
              </a:rPr>
              <a:t>2) </a:t>
            </a:r>
            <a:r>
              <a:rPr lang="en-US" altLang="zh-TW" sz="2800" i="1" err="1">
                <a:latin typeface="Times New Roman"/>
                <a:ea typeface="新細明體"/>
                <a:cs typeface="Times New Roman"/>
                <a:sym typeface="Symbol" panose="05050102010706020507" pitchFamily="18" charset="2"/>
              </a:rPr>
              <a:t>WorksIn</a:t>
            </a:r>
            <a:r>
              <a:rPr lang="en-US" altLang="zh-TW" sz="2800" i="1">
                <a:latin typeface="Times New Roman"/>
                <a:ea typeface="新細明體"/>
                <a:cs typeface="Times New Roman"/>
              </a:rPr>
              <a:t>/</a:t>
            </a:r>
            <a:r>
              <a:rPr lang="en-US" altLang="zh-TW" sz="2800" i="1">
                <a:latin typeface="Times New Roman"/>
                <a:ea typeface="新細明體"/>
                <a:cs typeface="Times New Roman"/>
                <a:sym typeface="Symbol" panose="05050102010706020507" pitchFamily="18" charset="2"/>
              </a:rPr>
              <a:t></a:t>
            </a:r>
            <a:r>
              <a:rPr lang="en-US" altLang="zh-TW" sz="2800" i="1" baseline="-25000" err="1">
                <a:latin typeface="Times New Roman"/>
                <a:ea typeface="新細明體"/>
                <a:cs typeface="Times New Roman"/>
                <a:sym typeface="Symbol" panose="05050102010706020507" pitchFamily="18" charset="2"/>
              </a:rPr>
              <a:t>facid</a:t>
            </a:r>
            <a:r>
              <a:rPr lang="en-US" altLang="zh-TW" sz="2800">
                <a:latin typeface="Times New Roman"/>
                <a:ea typeface="新細明體"/>
                <a:cs typeface="Times New Roman"/>
                <a:sym typeface="Symbol" panose="05050102010706020507" pitchFamily="18" charset="2"/>
              </a:rPr>
              <a:t>(Professor)</a:t>
            </a:r>
            <a:endParaRPr lang="en-US" altLang="zh-TW" sz="2800">
              <a:effectLst>
                <a:outerShdw blurRad="38100" dist="38100" dir="2700000" algn="tl">
                  <a:srgbClr val="C0C0C0"/>
                </a:outerShdw>
              </a:effectLst>
              <a:ea typeface="新細明體" panose="02020500000000000000" pitchFamily="18" charset="-120"/>
            </a:endParaRPr>
          </a:p>
        </p:txBody>
      </p:sp>
      <p:sp>
        <p:nvSpPr>
          <p:cNvPr id="40" name="語音泡泡: 圓角矩形 39">
            <a:extLst>
              <a:ext uri="{FF2B5EF4-FFF2-40B4-BE49-F238E27FC236}">
                <a16:creationId xmlns:a16="http://schemas.microsoft.com/office/drawing/2014/main" id="{A3B857A2-C519-43B7-9C8A-9EEFB6A230C7}"/>
              </a:ext>
            </a:extLst>
          </p:cNvPr>
          <p:cNvSpPr/>
          <p:nvPr/>
        </p:nvSpPr>
        <p:spPr bwMode="auto">
          <a:xfrm>
            <a:off x="5913439" y="4093029"/>
            <a:ext cx="1749892" cy="682272"/>
          </a:xfrm>
          <a:prstGeom prst="wedgeRoundRectCallou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zh-TW" altLang="en-US">
                <a:latin typeface="Times New Roman"/>
                <a:cs typeface="Times New Roman"/>
              </a:rPr>
              <a:t> For every professor</a:t>
            </a:r>
            <a:endParaRPr lang="zh-TW" altLang="en-US" sz="2000" b="0" i="0" u="none" strike="noStrike" cap="none" baseline="0">
              <a:latin typeface="Times New Roman" pitchFamily="18" charset="0"/>
              <a:cs typeface="Times New Roman"/>
            </a:endParaRPr>
          </a:p>
        </p:txBody>
      </p:sp>
      <p:cxnSp>
        <p:nvCxnSpPr>
          <p:cNvPr id="38" name="直線單箭頭接點 37">
            <a:extLst>
              <a:ext uri="{FF2B5EF4-FFF2-40B4-BE49-F238E27FC236}">
                <a16:creationId xmlns:a16="http://schemas.microsoft.com/office/drawing/2014/main" id="{746329D5-8F6A-4527-B43A-896171F49A6F}"/>
              </a:ext>
            </a:extLst>
          </p:cNvPr>
          <p:cNvCxnSpPr/>
          <p:nvPr/>
        </p:nvCxnSpPr>
        <p:spPr bwMode="auto">
          <a:xfrm flipV="1">
            <a:off x="4679058" y="4852202"/>
            <a:ext cx="1807911" cy="38525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FFCE2F02-5FAC-439F-90A8-1376C98FF4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3648748"/>
              </p:ext>
            </p:extLst>
          </p:nvPr>
        </p:nvGraphicFramePr>
        <p:xfrm>
          <a:off x="6152112" y="5608426"/>
          <a:ext cx="1087225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7225">
                  <a:extLst>
                    <a:ext uri="{9D8B030D-6E8A-4147-A177-3AD203B41FA5}">
                      <a16:colId xmlns:a16="http://schemas.microsoft.com/office/drawing/2014/main" val="31679553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deptid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5434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bbb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655824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3496B2-DD0B-4D82-83FA-E2AAC3D43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42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051182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1026">
            <a:extLst>
              <a:ext uri="{FF2B5EF4-FFF2-40B4-BE49-F238E27FC236}">
                <a16:creationId xmlns:a16="http://schemas.microsoft.com/office/drawing/2014/main" id="{B1018FEF-35A9-4BE3-AFFD-E4F66239AD9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5410200"/>
            <a:ext cx="7772400" cy="685800"/>
          </a:xfrm>
        </p:spPr>
        <p:txBody>
          <a:bodyPr/>
          <a:lstStyle/>
          <a:p>
            <a:r>
              <a:rPr lang="en-US" altLang="zh-TW" sz="3600">
                <a:ea typeface="新細明體" panose="02020500000000000000" pitchFamily="18" charset="-120"/>
              </a:rPr>
              <a:t>Schema for Student Registration System</a:t>
            </a:r>
          </a:p>
        </p:txBody>
      </p:sp>
      <p:sp>
        <p:nvSpPr>
          <p:cNvPr id="80899" name="Text Box 1027">
            <a:extLst>
              <a:ext uri="{FF2B5EF4-FFF2-40B4-BE49-F238E27FC236}">
                <a16:creationId xmlns:a16="http://schemas.microsoft.com/office/drawing/2014/main" id="{C0280321-85DA-4006-A337-5507101390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981200"/>
            <a:ext cx="7853363" cy="301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3200">
                <a:effectLst>
                  <a:outerShdw blurRad="38100" dist="38100" dir="2700000" algn="tl">
                    <a:srgbClr val="C0C0C0"/>
                  </a:outerShdw>
                </a:effectLst>
              </a:rPr>
              <a:t>Student</a:t>
            </a:r>
            <a:r>
              <a:rPr lang="en-US" sz="3200"/>
              <a:t> (</a:t>
            </a:r>
            <a:r>
              <a:rPr lang="en-US" sz="3200" i="1" u="sng"/>
              <a:t>Id</a:t>
            </a:r>
            <a:r>
              <a:rPr lang="en-US" sz="3200" i="1"/>
              <a:t>, Name, </a:t>
            </a:r>
            <a:r>
              <a:rPr lang="en-US" sz="3200" i="1" err="1"/>
              <a:t>Addr</a:t>
            </a:r>
            <a:r>
              <a:rPr lang="en-US" sz="3200" i="1"/>
              <a:t>, Status</a:t>
            </a:r>
            <a:r>
              <a:rPr lang="en-US" sz="3200"/>
              <a:t>)</a:t>
            </a:r>
          </a:p>
          <a:p>
            <a:pPr>
              <a:defRPr/>
            </a:pPr>
            <a:r>
              <a:rPr lang="en-US" sz="3200">
                <a:effectLst>
                  <a:outerShdw blurRad="38100" dist="38100" dir="2700000" algn="tl">
                    <a:srgbClr val="C0C0C0"/>
                  </a:outerShdw>
                </a:effectLst>
              </a:rPr>
              <a:t>Professor</a:t>
            </a:r>
            <a:r>
              <a:rPr lang="en-US" sz="3200"/>
              <a:t> (</a:t>
            </a:r>
            <a:r>
              <a:rPr lang="en-US" sz="3200" i="1" u="sng"/>
              <a:t>Id</a:t>
            </a:r>
            <a:r>
              <a:rPr lang="en-US" sz="3200" i="1"/>
              <a:t>, Name, </a:t>
            </a:r>
            <a:r>
              <a:rPr lang="en-US" sz="3200" i="1" err="1"/>
              <a:t>DeptId</a:t>
            </a:r>
            <a:r>
              <a:rPr lang="en-US" sz="3200"/>
              <a:t>)</a:t>
            </a:r>
          </a:p>
          <a:p>
            <a:pPr>
              <a:defRPr/>
            </a:pPr>
            <a:r>
              <a:rPr lang="en-US" sz="3200">
                <a:effectLst>
                  <a:outerShdw blurRad="38100" dist="38100" dir="2700000" algn="tl">
                    <a:srgbClr val="C0C0C0"/>
                  </a:outerShdw>
                </a:effectLst>
              </a:rPr>
              <a:t>Course</a:t>
            </a:r>
            <a:r>
              <a:rPr lang="en-US" sz="3200"/>
              <a:t> (</a:t>
            </a:r>
            <a:r>
              <a:rPr lang="en-US" sz="3200" i="1" err="1"/>
              <a:t>DeptId</a:t>
            </a:r>
            <a:r>
              <a:rPr lang="en-US" sz="3200" i="1"/>
              <a:t>, </a:t>
            </a:r>
            <a:r>
              <a:rPr lang="en-US" sz="3200" i="1" u="sng" err="1"/>
              <a:t>CrsCode</a:t>
            </a:r>
            <a:r>
              <a:rPr lang="en-US" sz="3200" i="1"/>
              <a:t>, </a:t>
            </a:r>
            <a:r>
              <a:rPr lang="en-US" sz="3200" i="1" err="1"/>
              <a:t>CrsName</a:t>
            </a:r>
            <a:r>
              <a:rPr lang="en-US" sz="3200" i="1"/>
              <a:t>, </a:t>
            </a:r>
            <a:r>
              <a:rPr lang="en-US" sz="3200" i="1" err="1"/>
              <a:t>Descr</a:t>
            </a:r>
            <a:r>
              <a:rPr lang="en-US" sz="3200"/>
              <a:t>)</a:t>
            </a:r>
          </a:p>
          <a:p>
            <a:pPr>
              <a:defRPr/>
            </a:pPr>
            <a:r>
              <a:rPr lang="en-US" sz="3200">
                <a:effectLst>
                  <a:outerShdw blurRad="38100" dist="38100" dir="2700000" algn="tl">
                    <a:srgbClr val="C0C0C0"/>
                  </a:outerShdw>
                </a:effectLst>
              </a:rPr>
              <a:t>Transcript</a:t>
            </a:r>
            <a:r>
              <a:rPr lang="en-US" sz="3200"/>
              <a:t> (</a:t>
            </a:r>
            <a:r>
              <a:rPr lang="en-US" sz="3200" i="1" u="sng" err="1"/>
              <a:t>StudId</a:t>
            </a:r>
            <a:r>
              <a:rPr lang="en-US" sz="3200" i="1" u="sng"/>
              <a:t>, </a:t>
            </a:r>
            <a:r>
              <a:rPr lang="en-US" sz="3200" i="1" u="sng" err="1"/>
              <a:t>CrsCode</a:t>
            </a:r>
            <a:r>
              <a:rPr lang="en-US" sz="3200" i="1" u="sng"/>
              <a:t>, Semester</a:t>
            </a:r>
            <a:r>
              <a:rPr lang="en-US" sz="3200" i="1"/>
              <a:t>, Grade</a:t>
            </a:r>
            <a:r>
              <a:rPr lang="en-US" sz="3200"/>
              <a:t>)</a:t>
            </a:r>
          </a:p>
          <a:p>
            <a:pPr>
              <a:defRPr/>
            </a:pPr>
            <a:r>
              <a:rPr lang="en-US" sz="3200">
                <a:effectLst>
                  <a:outerShdw blurRad="38100" dist="38100" dir="2700000" algn="tl">
                    <a:srgbClr val="C0C0C0"/>
                  </a:outerShdw>
                </a:effectLst>
              </a:rPr>
              <a:t>Teaching</a:t>
            </a:r>
            <a:r>
              <a:rPr lang="en-US" sz="3200"/>
              <a:t> (</a:t>
            </a:r>
            <a:r>
              <a:rPr lang="en-US" sz="3200" i="1" err="1"/>
              <a:t>ProfId</a:t>
            </a:r>
            <a:r>
              <a:rPr lang="en-US" sz="3200" i="1"/>
              <a:t>, </a:t>
            </a:r>
            <a:r>
              <a:rPr lang="en-US" sz="3200" i="1" u="sng" err="1"/>
              <a:t>CrsCode</a:t>
            </a:r>
            <a:r>
              <a:rPr lang="en-US" sz="3200" i="1" u="sng"/>
              <a:t>, Semester</a:t>
            </a:r>
            <a:r>
              <a:rPr lang="en-US" sz="3200"/>
              <a:t>)</a:t>
            </a:r>
          </a:p>
          <a:p>
            <a:pPr>
              <a:defRPr/>
            </a:pPr>
            <a:r>
              <a:rPr lang="en-US" sz="3200">
                <a:effectLst>
                  <a:outerShdw blurRad="38100" dist="38100" dir="2700000" algn="tl">
                    <a:srgbClr val="C0C0C0"/>
                  </a:outerShdw>
                </a:effectLst>
              </a:rPr>
              <a:t>Department</a:t>
            </a:r>
            <a:r>
              <a:rPr lang="en-US" sz="3200"/>
              <a:t> (</a:t>
            </a:r>
            <a:r>
              <a:rPr lang="en-US" sz="3200" i="1" u="sng" err="1"/>
              <a:t>DeptId</a:t>
            </a:r>
            <a:r>
              <a:rPr lang="en-US" sz="3200" i="1"/>
              <a:t>, Name</a:t>
            </a:r>
            <a:r>
              <a:rPr lang="en-US" sz="3200"/>
              <a:t>)</a:t>
            </a:r>
          </a:p>
        </p:txBody>
      </p:sp>
      <p:sp>
        <p:nvSpPr>
          <p:cNvPr id="5" name="Rectangle 1026">
            <a:extLst>
              <a:ext uri="{FF2B5EF4-FFF2-40B4-BE49-F238E27FC236}">
                <a16:creationId xmlns:a16="http://schemas.microsoft.com/office/drawing/2014/main" id="{85F34FB9-AB77-42FA-800B-B5FEC1B741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990600"/>
            <a:ext cx="7772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>
              <a:defRPr/>
            </a:pPr>
            <a:r>
              <a:rPr lang="en-US" sz="3600" ker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Learning SQL by Patterns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E133D4C-BEF9-42DD-9ED6-4EC46AEA0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43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8462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5" name="Rectangle 2">
            <a:extLst>
              <a:ext uri="{FF2B5EF4-FFF2-40B4-BE49-F238E27FC236}">
                <a16:creationId xmlns:a16="http://schemas.microsoft.com/office/drawing/2014/main" id="{449B0CBB-A103-4405-93C9-25B5BEAF61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1143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Query Sublanguage of SQL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4CEB623F-00F0-4E2F-AB39-288165929E4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2895600"/>
            <a:ext cx="8382000" cy="3581400"/>
          </a:xfrm>
        </p:spPr>
        <p:txBody>
          <a:bodyPr/>
          <a:lstStyle/>
          <a:p>
            <a:r>
              <a:rPr lang="en-US" altLang="zh-TW" sz="2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Tuple variable </a:t>
            </a:r>
            <a:r>
              <a:rPr lang="en-US" altLang="zh-TW" sz="2800">
                <a:ea typeface="新細明體" panose="02020500000000000000" pitchFamily="18" charset="-120"/>
              </a:rPr>
              <a:t> C ranges over rows of </a:t>
            </a:r>
            <a:r>
              <a:rPr lang="en-US" altLang="zh-TW" sz="28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Course</a:t>
            </a:r>
            <a:r>
              <a:rPr lang="en-US" altLang="zh-TW" sz="2800">
                <a:ea typeface="新細明體" panose="02020500000000000000" pitchFamily="18" charset="-120"/>
              </a:rPr>
              <a:t>.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Evaluation strategy:</a:t>
            </a:r>
          </a:p>
          <a:p>
            <a:pPr lvl="1"/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2400">
                <a:ea typeface="新細明體" panose="02020500000000000000" pitchFamily="18" charset="-120"/>
              </a:rPr>
              <a:t> clause produces Cartesian product of listed tables</a:t>
            </a:r>
          </a:p>
          <a:p>
            <a:pPr lvl="1"/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 sz="2400">
                <a:ea typeface="新細明體" panose="02020500000000000000" pitchFamily="18" charset="-120"/>
              </a:rPr>
              <a:t> clause assigns rows to C in sequence and produces table containing only rows satisfying condition</a:t>
            </a:r>
          </a:p>
          <a:p>
            <a:pPr lvl="1"/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2400">
                <a:ea typeface="新細明體" panose="02020500000000000000" pitchFamily="18" charset="-120"/>
              </a:rPr>
              <a:t> clause retains listed columns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Equivalent to:  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28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CrsName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</a:t>
            </a:r>
            <a:r>
              <a:rPr lang="en-US" altLang="zh-TW" sz="28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DeptId</a:t>
            </a:r>
            <a:r>
              <a:rPr lang="en-US" altLang="zh-TW" sz="2800" baseline="-25000">
                <a:ea typeface="新細明體" panose="02020500000000000000" pitchFamily="18" charset="-120"/>
                <a:sym typeface="Symbol" panose="05050102010706020507" pitchFamily="18" charset="2"/>
              </a:rPr>
              <a:t>=‘CS’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sz="28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Course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)</a:t>
            </a:r>
            <a:endParaRPr lang="en-US" altLang="zh-TW" sz="2800">
              <a:ea typeface="新細明體" panose="02020500000000000000" pitchFamily="18" charset="-120"/>
            </a:endParaRPr>
          </a:p>
        </p:txBody>
      </p:sp>
      <p:sp>
        <p:nvSpPr>
          <p:cNvPr id="32772" name="Text Box 4">
            <a:extLst>
              <a:ext uri="{FF2B5EF4-FFF2-40B4-BE49-F238E27FC236}">
                <a16:creationId xmlns:a16="http://schemas.microsoft.com/office/drawing/2014/main" id="{91E8A589-B0B2-4B0B-911D-D25503D027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9800" y="1219200"/>
            <a:ext cx="4459288" cy="1554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SELECT  </a:t>
            </a:r>
            <a:r>
              <a:rPr lang="en-US" altLang="zh-TW" sz="3200">
                <a:ea typeface="新細明體" panose="02020500000000000000" pitchFamily="18" charset="-120"/>
              </a:rPr>
              <a:t>C.</a:t>
            </a:r>
            <a:r>
              <a:rPr lang="en-US" altLang="zh-TW" sz="3200" i="1">
                <a:ea typeface="新細明體" panose="02020500000000000000" pitchFamily="18" charset="-120"/>
              </a:rPr>
              <a:t>CrsName</a:t>
            </a:r>
            <a:endParaRPr lang="en-US" altLang="zh-TW" sz="3200" i="1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FROM  </a:t>
            </a:r>
            <a:r>
              <a:rPr lang="en-US" altLang="zh-TW" sz="32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Course</a:t>
            </a:r>
            <a:r>
              <a:rPr lang="en-US" altLang="zh-TW" sz="3200">
                <a:ea typeface="新細明體" panose="02020500000000000000" pitchFamily="18" charset="-120"/>
              </a:rPr>
              <a:t> C</a:t>
            </a:r>
          </a:p>
          <a:p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WHERE  </a:t>
            </a:r>
            <a:r>
              <a:rPr lang="en-US" altLang="zh-TW" sz="3200">
                <a:ea typeface="新細明體" panose="02020500000000000000" pitchFamily="18" charset="-120"/>
              </a:rPr>
              <a:t>C.</a:t>
            </a:r>
            <a:r>
              <a:rPr lang="en-US" altLang="zh-TW" sz="3200" i="1">
                <a:ea typeface="新細明體" panose="02020500000000000000" pitchFamily="18" charset="-120"/>
              </a:rPr>
              <a:t>DeptId</a:t>
            </a:r>
            <a:r>
              <a:rPr lang="en-US" altLang="zh-TW" sz="3200">
                <a:ea typeface="新細明體" panose="02020500000000000000" pitchFamily="18" charset="-120"/>
              </a:rPr>
              <a:t> = ‘CS’</a:t>
            </a:r>
            <a:endParaRPr lang="en-US" altLang="zh-TW" sz="3200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C7D582-AE2E-4507-9586-5C77354CB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44</a:t>
            </a:fld>
            <a:endParaRPr lang="en-US" altLang="zh-TW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>
            <a:extLst>
              <a:ext uri="{FF2B5EF4-FFF2-40B4-BE49-F238E27FC236}">
                <a16:creationId xmlns:a16="http://schemas.microsoft.com/office/drawing/2014/main" id="{4D3C98EE-F02B-47A8-8A0B-A76662A0EE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1143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Join Queries</a:t>
            </a:r>
          </a:p>
        </p:txBody>
      </p:sp>
      <p:sp>
        <p:nvSpPr>
          <p:cNvPr id="34820" name="Rectangle 3">
            <a:extLst>
              <a:ext uri="{FF2B5EF4-FFF2-40B4-BE49-F238E27FC236}">
                <a16:creationId xmlns:a16="http://schemas.microsoft.com/office/drawing/2014/main" id="{DAE38304-BBE3-4AA2-B669-0B2AF11EE97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9600" y="2362200"/>
            <a:ext cx="7772400" cy="2971800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List CS courses taught in S2000</a:t>
            </a:r>
          </a:p>
          <a:p>
            <a:pPr>
              <a:lnSpc>
                <a:spcPct val="8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Tuple variables clarify meaning.</a:t>
            </a:r>
          </a:p>
          <a:p>
            <a:pPr>
              <a:lnSpc>
                <a:spcPct val="8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Join condition “C.</a:t>
            </a:r>
            <a:r>
              <a:rPr lang="en-US" altLang="zh-TW" sz="2800" i="1">
                <a:ea typeface="新細明體" panose="02020500000000000000" pitchFamily="18" charset="-120"/>
              </a:rPr>
              <a:t>CrsCode</a:t>
            </a:r>
            <a:r>
              <a:rPr lang="en-US" altLang="zh-TW" sz="2800">
                <a:ea typeface="新細明體" panose="02020500000000000000" pitchFamily="18" charset="-120"/>
              </a:rPr>
              <a:t>=T.</a:t>
            </a:r>
            <a:r>
              <a:rPr lang="en-US" altLang="zh-TW" sz="2800" i="1">
                <a:ea typeface="新細明體" panose="02020500000000000000" pitchFamily="18" charset="-120"/>
              </a:rPr>
              <a:t>CrsCode</a:t>
            </a:r>
            <a:r>
              <a:rPr lang="en-US" altLang="zh-TW" sz="2800">
                <a:ea typeface="新細明體" panose="02020500000000000000" pitchFamily="18" charset="-120"/>
              </a:rPr>
              <a:t>”</a:t>
            </a:r>
          </a:p>
          <a:p>
            <a:pPr lvl="1">
              <a:lnSpc>
                <a:spcPct val="8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 relates facts to each other</a:t>
            </a:r>
          </a:p>
          <a:p>
            <a:pPr>
              <a:lnSpc>
                <a:spcPct val="8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Selection condition “ T.</a:t>
            </a:r>
            <a:r>
              <a:rPr lang="en-US" altLang="zh-TW" sz="2800" i="1">
                <a:ea typeface="新細明體" panose="02020500000000000000" pitchFamily="18" charset="-120"/>
              </a:rPr>
              <a:t>Semester</a:t>
            </a:r>
            <a:r>
              <a:rPr lang="en-US" altLang="zh-TW" sz="2800">
                <a:ea typeface="新細明體" panose="02020500000000000000" pitchFamily="18" charset="-120"/>
              </a:rPr>
              <a:t>=‘S2000’ ” </a:t>
            </a:r>
          </a:p>
          <a:p>
            <a:pPr lvl="1">
              <a:lnSpc>
                <a:spcPct val="8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 eliminates irrelevant rows</a:t>
            </a:r>
          </a:p>
          <a:p>
            <a:pPr>
              <a:lnSpc>
                <a:spcPct val="8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Equivalent (using natural join) to:</a:t>
            </a:r>
          </a:p>
        </p:txBody>
      </p:sp>
      <p:sp>
        <p:nvSpPr>
          <p:cNvPr id="34821" name="Text Box 4">
            <a:extLst>
              <a:ext uri="{FF2B5EF4-FFF2-40B4-BE49-F238E27FC236}">
                <a16:creationId xmlns:a16="http://schemas.microsoft.com/office/drawing/2014/main" id="{ED21D14F-9A64-4105-991C-2AD8C0256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9125" y="1057275"/>
            <a:ext cx="1841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 sz="2800"/>
          </a:p>
        </p:txBody>
      </p:sp>
      <p:sp>
        <p:nvSpPr>
          <p:cNvPr id="2" name="Text Box 5">
            <a:extLst>
              <a:ext uri="{FF2B5EF4-FFF2-40B4-BE49-F238E27FC236}">
                <a16:creationId xmlns:a16="http://schemas.microsoft.com/office/drawing/2014/main" id="{2E04A051-0A51-4943-8F23-9A5621854A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990600"/>
            <a:ext cx="8077200" cy="1187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2400">
                <a:ea typeface="新細明體" panose="02020500000000000000" pitchFamily="18" charset="-120"/>
              </a:rPr>
              <a:t> C.</a:t>
            </a:r>
            <a:r>
              <a:rPr lang="en-US" altLang="zh-TW" sz="2400" i="1">
                <a:ea typeface="新細明體" panose="02020500000000000000" pitchFamily="18" charset="-120"/>
              </a:rPr>
              <a:t>CrsName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2400">
                <a:ea typeface="新細明體" panose="02020500000000000000" pitchFamily="18" charset="-120"/>
              </a:rPr>
              <a:t> 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Course</a:t>
            </a:r>
            <a:r>
              <a:rPr lang="en-US" altLang="zh-TW" sz="2400">
                <a:ea typeface="新細明體" panose="02020500000000000000" pitchFamily="18" charset="-120"/>
              </a:rPr>
              <a:t> C,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Teaching</a:t>
            </a:r>
            <a:r>
              <a:rPr lang="en-US" altLang="zh-TW" sz="2400">
                <a:ea typeface="新細明體" panose="02020500000000000000" pitchFamily="18" charset="-120"/>
              </a:rPr>
              <a:t> T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2400">
                <a:ea typeface="新細明體" panose="02020500000000000000" pitchFamily="18" charset="-120"/>
              </a:rPr>
              <a:t> C.</a:t>
            </a:r>
            <a:r>
              <a:rPr lang="en-US" altLang="zh-TW" sz="2400" i="1">
                <a:ea typeface="新細明體" panose="02020500000000000000" pitchFamily="18" charset="-120"/>
              </a:rPr>
              <a:t>CrsCode</a:t>
            </a:r>
            <a:r>
              <a:rPr lang="en-US" altLang="zh-TW" sz="2400">
                <a:ea typeface="新細明體" panose="02020500000000000000" pitchFamily="18" charset="-120"/>
              </a:rPr>
              <a:t>=T.</a:t>
            </a:r>
            <a:r>
              <a:rPr lang="en-US" altLang="zh-TW" sz="2400" i="1">
                <a:ea typeface="新細明體" panose="02020500000000000000" pitchFamily="18" charset="-120"/>
              </a:rPr>
              <a:t>CrsCode</a:t>
            </a:r>
            <a:r>
              <a:rPr lang="en-US" altLang="zh-TW" sz="2400">
                <a:ea typeface="新細明體" panose="02020500000000000000" pitchFamily="18" charset="-120"/>
              </a:rPr>
              <a:t>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AND </a:t>
            </a:r>
            <a:r>
              <a:rPr lang="en-US" altLang="zh-TW" sz="2400">
                <a:ea typeface="新細明體" panose="02020500000000000000" pitchFamily="18" charset="-120"/>
              </a:rPr>
              <a:t>T.</a:t>
            </a:r>
            <a:r>
              <a:rPr lang="en-US" altLang="zh-TW" sz="2400" i="1">
                <a:ea typeface="新細明體" panose="02020500000000000000" pitchFamily="18" charset="-120"/>
              </a:rPr>
              <a:t>Semester</a:t>
            </a:r>
            <a:r>
              <a:rPr lang="en-US" altLang="zh-TW" sz="2400">
                <a:ea typeface="新細明體" panose="02020500000000000000" pitchFamily="18" charset="-120"/>
              </a:rPr>
              <a:t>=‘S2000’</a:t>
            </a:r>
          </a:p>
        </p:txBody>
      </p:sp>
      <p:sp>
        <p:nvSpPr>
          <p:cNvPr id="33798" name="Text Box 6">
            <a:extLst>
              <a:ext uri="{FF2B5EF4-FFF2-40B4-BE49-F238E27FC236}">
                <a16:creationId xmlns:a16="http://schemas.microsoft.com/office/drawing/2014/main" id="{690D7618-09AA-436C-AE4E-D89FBBC863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5334000"/>
            <a:ext cx="2414588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28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CrsName</a:t>
            </a:r>
            <a:r>
              <a:rPr lang="en-US" altLang="zh-TW" sz="28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sz="28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Course</a:t>
            </a:r>
            <a:endParaRPr lang="en-US" altLang="zh-TW" sz="2800">
              <a:effectLst>
                <a:outerShdw blurRad="38100" dist="38100" dir="2700000" algn="tl">
                  <a:srgbClr val="C0C0C0"/>
                </a:outerShdw>
              </a:effectLst>
              <a:ea typeface="新細明體" panose="02020500000000000000" pitchFamily="18" charset="-120"/>
            </a:endParaRPr>
          </a:p>
        </p:txBody>
      </p:sp>
      <p:sp>
        <p:nvSpPr>
          <p:cNvPr id="33805" name="Text Box 13">
            <a:extLst>
              <a:ext uri="{FF2B5EF4-FFF2-40B4-BE49-F238E27FC236}">
                <a16:creationId xmlns:a16="http://schemas.microsoft.com/office/drawing/2014/main" id="{35A70E70-D9B2-4D49-B886-076392517A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91000" y="5334000"/>
            <a:ext cx="4037013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800" i="1">
                <a:sym typeface="Symbol" pitchFamily="18" charset="2"/>
              </a:rPr>
              <a:t></a:t>
            </a:r>
            <a:r>
              <a:rPr lang="en-US" sz="2800" i="1" baseline="-25000">
                <a:sym typeface="Symbol" pitchFamily="18" charset="2"/>
              </a:rPr>
              <a:t>Semester=‘</a:t>
            </a:r>
            <a:r>
              <a:rPr lang="en-US" sz="2800" baseline="-25000">
                <a:sym typeface="Symbol" pitchFamily="18" charset="2"/>
              </a:rPr>
              <a:t>S2000’</a:t>
            </a:r>
            <a:r>
              <a:rPr lang="en-US" sz="2800" i="1" baseline="-25000">
                <a:sym typeface="Symbol" pitchFamily="18" charset="2"/>
              </a:rPr>
              <a:t> </a:t>
            </a:r>
            <a:r>
              <a:rPr lang="en-US" sz="2800">
                <a:sym typeface="Symbol" pitchFamily="18" charset="2"/>
              </a:rPr>
              <a:t>(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Teaching</a:t>
            </a:r>
            <a:r>
              <a:rPr lang="en-US" sz="2800"/>
              <a:t>) )</a:t>
            </a:r>
          </a:p>
        </p:txBody>
      </p:sp>
      <p:sp>
        <p:nvSpPr>
          <p:cNvPr id="33810" name="Text Box 18">
            <a:extLst>
              <a:ext uri="{FF2B5EF4-FFF2-40B4-BE49-F238E27FC236}">
                <a16:creationId xmlns:a16="http://schemas.microsoft.com/office/drawing/2014/main" id="{3703B519-B65E-4566-8F6C-EEF457C24C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8525" y="5851525"/>
            <a:ext cx="6838950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800" i="1">
                <a:sym typeface="Symbol" pitchFamily="18" charset="2"/>
              </a:rPr>
              <a:t></a:t>
            </a:r>
            <a:r>
              <a:rPr lang="en-US" sz="2800" i="1" baseline="-25000">
                <a:sym typeface="Symbol" pitchFamily="18" charset="2"/>
              </a:rPr>
              <a:t>CrsName </a:t>
            </a:r>
            <a:r>
              <a:rPr lang="en-US" sz="2800" i="1">
                <a:sym typeface="Symbol" pitchFamily="18" charset="2"/>
              </a:rPr>
              <a:t>(</a:t>
            </a:r>
            <a:r>
              <a:rPr lang="en-US" sz="2800" i="1" baseline="-25000">
                <a:sym typeface="Symbol" pitchFamily="18" charset="2"/>
              </a:rPr>
              <a:t>Sem=‘</a:t>
            </a:r>
            <a:r>
              <a:rPr lang="en-US" sz="2800" baseline="-25000">
                <a:sym typeface="Symbol" pitchFamily="18" charset="2"/>
              </a:rPr>
              <a:t>S2000’</a:t>
            </a:r>
            <a:r>
              <a:rPr lang="en-US" sz="2800" i="1" baseline="-25000">
                <a:sym typeface="Symbol" pitchFamily="18" charset="2"/>
              </a:rPr>
              <a:t> </a:t>
            </a:r>
            <a:r>
              <a:rPr lang="en-US" sz="2800">
                <a:sym typeface="Symbol" pitchFamily="18" charset="2"/>
              </a:rPr>
              <a:t>(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  <a:sym typeface="Symbol" pitchFamily="18" charset="2"/>
              </a:rPr>
              <a:t>Course</a:t>
            </a:r>
            <a:r>
              <a:rPr lang="en-US" sz="2800" i="1">
                <a:sym typeface="Symbol" pitchFamily="18" charset="2"/>
              </a:rPr>
              <a:t>          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  <a:sym typeface="Symbol" pitchFamily="18" charset="2"/>
              </a:rPr>
              <a:t>Teaching</a:t>
            </a:r>
            <a:r>
              <a:rPr lang="en-US" sz="2800">
                <a:sym typeface="Symbol" pitchFamily="18" charset="2"/>
              </a:rPr>
              <a:t>) )</a:t>
            </a:r>
          </a:p>
        </p:txBody>
      </p:sp>
      <p:grpSp>
        <p:nvGrpSpPr>
          <p:cNvPr id="34826" name="Group 21">
            <a:extLst>
              <a:ext uri="{FF2B5EF4-FFF2-40B4-BE49-F238E27FC236}">
                <a16:creationId xmlns:a16="http://schemas.microsoft.com/office/drawing/2014/main" id="{E78C4770-8024-4F88-BE4E-0D2EDEEA987D}"/>
              </a:ext>
            </a:extLst>
          </p:cNvPr>
          <p:cNvGrpSpPr>
            <a:grpSpLocks/>
          </p:cNvGrpSpPr>
          <p:nvPr/>
        </p:nvGrpSpPr>
        <p:grpSpPr bwMode="auto">
          <a:xfrm>
            <a:off x="5257800" y="6019800"/>
            <a:ext cx="457200" cy="152400"/>
            <a:chOff x="2352" y="2064"/>
            <a:chExt cx="288" cy="96"/>
          </a:xfrm>
        </p:grpSpPr>
        <p:sp>
          <p:nvSpPr>
            <p:cNvPr id="34830" name="AutoShape 22">
              <a:extLst>
                <a:ext uri="{FF2B5EF4-FFF2-40B4-BE49-F238E27FC236}">
                  <a16:creationId xmlns:a16="http://schemas.microsoft.com/office/drawing/2014/main" id="{882AB829-F9A0-4BBA-87EF-BB372A997A2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34831" name="AutoShape 23">
              <a:extLst>
                <a:ext uri="{FF2B5EF4-FFF2-40B4-BE49-F238E27FC236}">
                  <a16:creationId xmlns:a16="http://schemas.microsoft.com/office/drawing/2014/main" id="{B471F70A-D50F-454C-93FA-AB4D8298D33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grpSp>
        <p:nvGrpSpPr>
          <p:cNvPr id="34827" name="Group 24">
            <a:extLst>
              <a:ext uri="{FF2B5EF4-FFF2-40B4-BE49-F238E27FC236}">
                <a16:creationId xmlns:a16="http://schemas.microsoft.com/office/drawing/2014/main" id="{897E9E41-204D-4A14-91B5-BE5282C10729}"/>
              </a:ext>
            </a:extLst>
          </p:cNvPr>
          <p:cNvGrpSpPr>
            <a:grpSpLocks/>
          </p:cNvGrpSpPr>
          <p:nvPr/>
        </p:nvGrpSpPr>
        <p:grpSpPr bwMode="auto">
          <a:xfrm>
            <a:off x="3657600" y="5562600"/>
            <a:ext cx="457200" cy="152400"/>
            <a:chOff x="2352" y="2064"/>
            <a:chExt cx="288" cy="96"/>
          </a:xfrm>
        </p:grpSpPr>
        <p:sp>
          <p:nvSpPr>
            <p:cNvPr id="34828" name="AutoShape 25">
              <a:extLst>
                <a:ext uri="{FF2B5EF4-FFF2-40B4-BE49-F238E27FC236}">
                  <a16:creationId xmlns:a16="http://schemas.microsoft.com/office/drawing/2014/main" id="{663264A8-2FCD-44F1-BFDD-E8D2D98FD14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34829" name="AutoShape 26">
              <a:extLst>
                <a:ext uri="{FF2B5EF4-FFF2-40B4-BE49-F238E27FC236}">
                  <a16:creationId xmlns:a16="http://schemas.microsoft.com/office/drawing/2014/main" id="{083CA242-EE7B-427C-A4A3-FAD7F6B1729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BF9C44-8B53-483E-98A6-1BB63413E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45</a:t>
            </a:fld>
            <a:endParaRPr lang="en-US" altLang="zh-TW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3" name="Rectangle 2">
            <a:extLst>
              <a:ext uri="{FF2B5EF4-FFF2-40B4-BE49-F238E27FC236}">
                <a16:creationId xmlns:a16="http://schemas.microsoft.com/office/drawing/2014/main" id="{D9EBE934-8676-4329-B07A-5E54C7DE9A1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81000"/>
            <a:ext cx="7772400" cy="11430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sz="3600">
                <a:ea typeface="新細明體" panose="02020500000000000000" pitchFamily="18" charset="-120"/>
              </a:rPr>
              <a:t>Correspondence Between SQL and Relational Algebra</a:t>
            </a:r>
          </a:p>
        </p:txBody>
      </p:sp>
      <p:sp>
        <p:nvSpPr>
          <p:cNvPr id="34820" name="Text Box 4">
            <a:extLst>
              <a:ext uri="{FF2B5EF4-FFF2-40B4-BE49-F238E27FC236}">
                <a16:creationId xmlns:a16="http://schemas.microsoft.com/office/drawing/2014/main" id="{D3BC8BDB-D1A6-4B50-A043-06CEEF278B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1651000"/>
            <a:ext cx="8012113" cy="1187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2400">
                <a:ea typeface="新細明體" panose="02020500000000000000" pitchFamily="18" charset="-120"/>
              </a:rPr>
              <a:t>   C.</a:t>
            </a:r>
            <a:r>
              <a:rPr lang="en-US" altLang="zh-TW" sz="2400" i="1">
                <a:ea typeface="新細明體" panose="02020500000000000000" pitchFamily="18" charset="-120"/>
              </a:rPr>
              <a:t>CrsName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2400">
                <a:ea typeface="新細明體" panose="02020500000000000000" pitchFamily="18" charset="-120"/>
              </a:rPr>
              <a:t>  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Course</a:t>
            </a:r>
            <a:r>
              <a:rPr lang="en-US" altLang="zh-TW" sz="2400">
                <a:ea typeface="新細明體" panose="02020500000000000000" pitchFamily="18" charset="-120"/>
              </a:rPr>
              <a:t> C,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Teaching</a:t>
            </a:r>
            <a:r>
              <a:rPr lang="en-US" altLang="zh-TW" sz="2400">
                <a:ea typeface="新細明體" panose="02020500000000000000" pitchFamily="18" charset="-120"/>
              </a:rPr>
              <a:t> T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 sz="2400">
                <a:ea typeface="新細明體" panose="02020500000000000000" pitchFamily="18" charset="-120"/>
              </a:rPr>
              <a:t>   C.</a:t>
            </a:r>
            <a:r>
              <a:rPr lang="en-US" altLang="zh-TW" sz="2400" i="1">
                <a:ea typeface="新細明體" panose="02020500000000000000" pitchFamily="18" charset="-120"/>
              </a:rPr>
              <a:t>CrsCode </a:t>
            </a:r>
            <a:r>
              <a:rPr lang="en-US" altLang="zh-TW" sz="2400">
                <a:ea typeface="新細明體" panose="02020500000000000000" pitchFamily="18" charset="-120"/>
              </a:rPr>
              <a:t>= T.</a:t>
            </a:r>
            <a:r>
              <a:rPr lang="en-US" altLang="zh-TW" sz="2400" i="1">
                <a:ea typeface="新細明體" panose="02020500000000000000" pitchFamily="18" charset="-120"/>
              </a:rPr>
              <a:t>CrsCode</a:t>
            </a:r>
            <a:r>
              <a:rPr lang="en-US" altLang="zh-TW" sz="2400">
                <a:ea typeface="新細明體" panose="02020500000000000000" pitchFamily="18" charset="-120"/>
              </a:rPr>
              <a:t>  </a:t>
            </a:r>
            <a:r>
              <a:rPr lang="en-US" altLang="zh-TW">
                <a:latin typeface="Century Gothic" panose="020B0502020202020204" pitchFamily="34" charset="0"/>
                <a:ea typeface="新細明體" panose="02020500000000000000" pitchFamily="18" charset="-120"/>
              </a:rPr>
              <a:t>AND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  </a:t>
            </a:r>
            <a:r>
              <a:rPr lang="en-US" altLang="zh-TW" sz="2400">
                <a:ea typeface="新細明體" panose="02020500000000000000" pitchFamily="18" charset="-120"/>
              </a:rPr>
              <a:t>T.</a:t>
            </a:r>
            <a:r>
              <a:rPr lang="en-US" altLang="zh-TW" sz="2400" i="1">
                <a:ea typeface="新細明體" panose="02020500000000000000" pitchFamily="18" charset="-120"/>
              </a:rPr>
              <a:t>Semester </a:t>
            </a:r>
            <a:r>
              <a:rPr lang="en-US" altLang="zh-TW" sz="2400">
                <a:ea typeface="新細明體" panose="02020500000000000000" pitchFamily="18" charset="-120"/>
              </a:rPr>
              <a:t>= ‘S2000’</a:t>
            </a:r>
          </a:p>
        </p:txBody>
      </p:sp>
      <p:sp>
        <p:nvSpPr>
          <p:cNvPr id="35845" name="Text Box 5">
            <a:extLst>
              <a:ext uri="{FF2B5EF4-FFF2-40B4-BE49-F238E27FC236}">
                <a16:creationId xmlns:a16="http://schemas.microsoft.com/office/drawing/2014/main" id="{D38B7266-FEAC-4B05-91C1-573724DFEB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2971800"/>
            <a:ext cx="288607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ea typeface="新細明體" panose="02020500000000000000" pitchFamily="18" charset="-120"/>
              </a:rPr>
              <a:t>Also equivalent to:</a:t>
            </a:r>
          </a:p>
        </p:txBody>
      </p:sp>
      <p:sp>
        <p:nvSpPr>
          <p:cNvPr id="34822" name="Text Box 6">
            <a:extLst>
              <a:ext uri="{FF2B5EF4-FFF2-40B4-BE49-F238E27FC236}">
                <a16:creationId xmlns:a16="http://schemas.microsoft.com/office/drawing/2014/main" id="{546D3D27-26F9-4066-A04F-556EA67924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3429000"/>
            <a:ext cx="6754813" cy="1373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28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CrsName </a:t>
            </a:r>
            <a:r>
              <a:rPr lang="en-US" altLang="zh-TW" sz="2800" i="1">
                <a:ea typeface="新細明體" panose="02020500000000000000" pitchFamily="18" charset="-120"/>
                <a:sym typeface="Symbol" panose="05050102010706020507" pitchFamily="18" charset="2"/>
              </a:rPr>
              <a:t></a:t>
            </a:r>
            <a:r>
              <a:rPr lang="en-US" altLang="zh-TW" sz="24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C_</a:t>
            </a:r>
            <a:r>
              <a:rPr lang="en-US" altLang="zh-TW" sz="2800" i="1" baseline="-25000">
                <a:ea typeface="新細明體" panose="02020500000000000000" pitchFamily="18" charset="-120"/>
                <a:sym typeface="Symbol" panose="05050102010706020507" pitchFamily="18" charset="2"/>
              </a:rPr>
              <a:t>CrsCode=T_CrsCode AND Semester=‘</a:t>
            </a:r>
            <a:r>
              <a:rPr lang="en-US" altLang="zh-TW" sz="2800" baseline="-25000">
                <a:ea typeface="新細明體" panose="02020500000000000000" pitchFamily="18" charset="-120"/>
                <a:sym typeface="Symbol" panose="05050102010706020507" pitchFamily="18" charset="2"/>
              </a:rPr>
              <a:t>S2000’</a:t>
            </a:r>
            <a:endParaRPr lang="en-US" altLang="zh-TW" sz="2400">
              <a:ea typeface="新細明體" panose="02020500000000000000" pitchFamily="18" charset="-120"/>
              <a:sym typeface="Symbol" panose="05050102010706020507" pitchFamily="18" charset="2"/>
            </a:endParaRPr>
          </a:p>
          <a:p>
            <a:r>
              <a:rPr lang="en-US" altLang="zh-TW" sz="2400" i="1">
                <a:ea typeface="新細明體" panose="02020500000000000000" pitchFamily="18" charset="-120"/>
              </a:rPr>
              <a:t>       </a:t>
            </a:r>
            <a:r>
              <a:rPr lang="en-US" altLang="zh-TW" sz="240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Course</a:t>
            </a:r>
            <a:r>
              <a:rPr lang="en-US" altLang="zh-TW" sz="2400">
                <a:ea typeface="新細明體" panose="02020500000000000000" pitchFamily="18" charset="-120"/>
              </a:rPr>
              <a:t> [</a:t>
            </a:r>
            <a:r>
              <a:rPr lang="en-US" altLang="zh-TW" sz="2400" i="1">
                <a:ea typeface="新細明體" panose="02020500000000000000" pitchFamily="18" charset="-120"/>
              </a:rPr>
              <a:t>C_CrsCode, DeptId, CrsName, Desc</a:t>
            </a:r>
            <a:r>
              <a:rPr lang="en-US" altLang="zh-TW" sz="2800">
                <a:ea typeface="新細明體" panose="02020500000000000000" pitchFamily="18" charset="-120"/>
              </a:rPr>
              <a:t>]</a:t>
            </a:r>
            <a:r>
              <a:rPr lang="en-US" altLang="zh-TW" sz="2800" i="1"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sz="2800" i="1">
                <a:ea typeface="新細明體" panose="02020500000000000000" pitchFamily="18" charset="-120"/>
              </a:rPr>
              <a:t>            </a:t>
            </a:r>
            <a:r>
              <a:rPr lang="en-US" altLang="zh-TW" sz="2400">
                <a:ea typeface="新細明體" panose="02020500000000000000" pitchFamily="18" charset="-120"/>
                <a:sym typeface="Symbol" panose="05050102010706020507" pitchFamily="18" charset="2"/>
              </a:rPr>
              <a:t></a:t>
            </a:r>
            <a:r>
              <a:rPr lang="en-US" altLang="zh-TW" sz="2400" i="1">
                <a:ea typeface="新細明體" panose="02020500000000000000" pitchFamily="18" charset="-120"/>
                <a:sym typeface="Symbol" panose="05050102010706020507" pitchFamily="18" charset="2"/>
              </a:rPr>
              <a:t> 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  <a:sym typeface="Symbol" panose="05050102010706020507" pitchFamily="18" charset="2"/>
              </a:rPr>
              <a:t>Teaching</a:t>
            </a:r>
            <a:r>
              <a:rPr lang="en-US" altLang="zh-TW" sz="2800">
                <a:ea typeface="新細明體" panose="02020500000000000000" pitchFamily="18" charset="-120"/>
              </a:rPr>
              <a:t> [</a:t>
            </a:r>
            <a:r>
              <a:rPr lang="en-US" altLang="zh-TW" sz="2400" i="1">
                <a:ea typeface="新細明體" panose="02020500000000000000" pitchFamily="18" charset="-120"/>
              </a:rPr>
              <a:t>ProfId, T_CrsCode, Semester</a:t>
            </a:r>
            <a:r>
              <a:rPr lang="en-US" altLang="zh-TW" sz="2800">
                <a:ea typeface="新細明體" panose="02020500000000000000" pitchFamily="18" charset="-120"/>
              </a:rPr>
              <a:t>])</a:t>
            </a:r>
          </a:p>
        </p:txBody>
      </p:sp>
      <p:sp>
        <p:nvSpPr>
          <p:cNvPr id="35847" name="Text Box 8">
            <a:extLst>
              <a:ext uri="{FF2B5EF4-FFF2-40B4-BE49-F238E27FC236}">
                <a16:creationId xmlns:a16="http://schemas.microsoft.com/office/drawing/2014/main" id="{0B2DD047-BF41-4DDE-A5A2-65B451439D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5029200"/>
            <a:ext cx="7658100" cy="1189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FontTx/>
              <a:buChar char="•"/>
            </a:pPr>
            <a:r>
              <a:rPr lang="en-US" altLang="zh-TW" sz="2800">
                <a:ea typeface="新細明體" panose="02020500000000000000" pitchFamily="18" charset="-120"/>
              </a:rPr>
              <a:t> </a:t>
            </a:r>
            <a:r>
              <a:rPr lang="en-US" altLang="zh-TW" sz="2400">
                <a:ea typeface="新細明體" panose="02020500000000000000" pitchFamily="18" charset="-120"/>
              </a:rPr>
              <a:t>This is the simplest evaluation algorithm for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2400">
                <a:ea typeface="新細明體" panose="02020500000000000000" pitchFamily="18" charset="-120"/>
              </a:rPr>
              <a:t>.</a:t>
            </a:r>
          </a:p>
          <a:p>
            <a:pPr>
              <a:buFontTx/>
              <a:buChar char="•"/>
            </a:pPr>
            <a:r>
              <a:rPr lang="en-US" altLang="zh-TW" sz="2400">
                <a:ea typeface="新細明體" panose="02020500000000000000" pitchFamily="18" charset="-120"/>
              </a:rPr>
              <a:t> Relational algebra expressions are procedural.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TW">
                <a:ea typeface="新細明體" panose="02020500000000000000" pitchFamily="18" charset="-120"/>
              </a:rPr>
              <a:t> Which of the two equivalent expressions is more easily evaluated?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24AF39-47AE-4035-BB19-5CEBCEBE9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46</a:t>
            </a:fld>
            <a:endParaRPr lang="en-US" altLang="zh-TW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7" name="Rectangle 2">
            <a:extLst>
              <a:ext uri="{FF2B5EF4-FFF2-40B4-BE49-F238E27FC236}">
                <a16:creationId xmlns:a16="http://schemas.microsoft.com/office/drawing/2014/main" id="{9316DFE3-F365-498C-827B-DF8DA91315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81000"/>
            <a:ext cx="7772400" cy="762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Self-join Queries</a:t>
            </a:r>
          </a:p>
        </p:txBody>
      </p:sp>
      <p:sp>
        <p:nvSpPr>
          <p:cNvPr id="36868" name="Text Box 3">
            <a:extLst>
              <a:ext uri="{FF2B5EF4-FFF2-40B4-BE49-F238E27FC236}">
                <a16:creationId xmlns:a16="http://schemas.microsoft.com/office/drawing/2014/main" id="{F6004AE9-0734-45B4-B7BA-0F50C208E6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295400"/>
            <a:ext cx="8001000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ea typeface="新細明體" panose="02020500000000000000" pitchFamily="18" charset="-120"/>
              </a:rPr>
              <a:t>Find Ids of all professors who taught at least two courses in the same semester: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BD293C67-B9FA-42D9-848D-F33A43B6A4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1600" y="2362200"/>
            <a:ext cx="4887913" cy="191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>
                <a:latin typeface="Century Gothic" pitchFamily="34" charset="0"/>
              </a:rPr>
              <a:t>SELECT</a:t>
            </a:r>
            <a:r>
              <a:rPr lang="en-US" sz="2400"/>
              <a:t>  T1.</a:t>
            </a:r>
            <a:r>
              <a:rPr lang="en-US" sz="2400" i="1"/>
              <a:t>ProfId</a:t>
            </a:r>
          </a:p>
          <a:p>
            <a:pPr>
              <a:defRPr/>
            </a:pPr>
            <a:r>
              <a:rPr lang="en-US" sz="2400">
                <a:latin typeface="Century Gothic" pitchFamily="34" charset="0"/>
              </a:rPr>
              <a:t>FROM  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Teaching</a:t>
            </a:r>
            <a:r>
              <a:rPr lang="en-US" sz="2400"/>
              <a:t> T1, 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Teaching</a:t>
            </a:r>
            <a:r>
              <a:rPr lang="en-US" sz="2400"/>
              <a:t> T2</a:t>
            </a:r>
          </a:p>
          <a:p>
            <a:pPr>
              <a:defRPr/>
            </a:pPr>
            <a:r>
              <a:rPr lang="en-US" sz="2400">
                <a:latin typeface="Century Gothic" pitchFamily="34" charset="0"/>
              </a:rPr>
              <a:t>WHERE</a:t>
            </a:r>
            <a:r>
              <a:rPr lang="en-US" sz="2400"/>
              <a:t>  T1.</a:t>
            </a:r>
            <a:r>
              <a:rPr lang="en-US" sz="2400" i="1"/>
              <a:t>ProfId</a:t>
            </a:r>
            <a:r>
              <a:rPr lang="en-US" sz="2400"/>
              <a:t> = T2.</a:t>
            </a:r>
            <a:r>
              <a:rPr lang="en-US" sz="2400" i="1"/>
              <a:t>ProfId</a:t>
            </a:r>
            <a:r>
              <a:rPr lang="en-US" sz="2400"/>
              <a:t> </a:t>
            </a:r>
          </a:p>
          <a:p>
            <a:pPr>
              <a:defRPr/>
            </a:pPr>
            <a:r>
              <a:rPr lang="en-US" sz="2400"/>
              <a:t>     </a:t>
            </a:r>
            <a:r>
              <a:rPr lang="en-US" sz="2400">
                <a:latin typeface="Century Gothic" pitchFamily="34" charset="0"/>
              </a:rPr>
              <a:t>AND  </a:t>
            </a:r>
            <a:r>
              <a:rPr lang="en-US" sz="2400"/>
              <a:t>T1.</a:t>
            </a:r>
            <a:r>
              <a:rPr lang="en-US" sz="2400" i="1"/>
              <a:t>Semester</a:t>
            </a:r>
            <a:r>
              <a:rPr lang="en-US" sz="2400"/>
              <a:t> = T2.</a:t>
            </a:r>
            <a:r>
              <a:rPr lang="en-US" sz="2400" i="1"/>
              <a:t>Semester</a:t>
            </a:r>
            <a:r>
              <a:rPr lang="en-US" sz="2400"/>
              <a:t> </a:t>
            </a:r>
          </a:p>
          <a:p>
            <a:pPr>
              <a:defRPr/>
            </a:pPr>
            <a:r>
              <a:rPr lang="en-US" sz="2400"/>
              <a:t>     </a:t>
            </a:r>
            <a:r>
              <a:rPr lang="en-US" sz="2400">
                <a:latin typeface="Century Gothic" pitchFamily="34" charset="0"/>
              </a:rPr>
              <a:t>AND</a:t>
            </a:r>
            <a:r>
              <a:rPr lang="en-US" sz="2400"/>
              <a:t>  T1.</a:t>
            </a:r>
            <a:r>
              <a:rPr lang="en-US" sz="2400" i="1"/>
              <a:t>CrsCode</a:t>
            </a:r>
            <a:r>
              <a:rPr lang="en-US" sz="2400"/>
              <a:t> &lt;&gt; T2.</a:t>
            </a:r>
            <a:r>
              <a:rPr lang="en-US" sz="2400" i="1"/>
              <a:t>CrsCode</a:t>
            </a:r>
          </a:p>
        </p:txBody>
      </p:sp>
      <p:sp>
        <p:nvSpPr>
          <p:cNvPr id="36870" name="Text Box 5">
            <a:extLst>
              <a:ext uri="{FF2B5EF4-FFF2-40B4-BE49-F238E27FC236}">
                <a16:creationId xmlns:a16="http://schemas.microsoft.com/office/drawing/2014/main" id="{6BEB0CB8-5197-4662-AAED-5664905732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4419600"/>
            <a:ext cx="54117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i="1">
                <a:ea typeface="新細明體" panose="02020500000000000000" pitchFamily="18" charset="-120"/>
              </a:rPr>
              <a:t>Tuple variables are essential in this query!</a:t>
            </a:r>
          </a:p>
        </p:txBody>
      </p:sp>
      <p:sp>
        <p:nvSpPr>
          <p:cNvPr id="3" name="Text Box 6">
            <a:extLst>
              <a:ext uri="{FF2B5EF4-FFF2-40B4-BE49-F238E27FC236}">
                <a16:creationId xmlns:a16="http://schemas.microsoft.com/office/drawing/2014/main" id="{A2E399A5-7CC1-4911-B128-0F259C3A7B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163" y="5029200"/>
            <a:ext cx="8682037" cy="1311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800"/>
              <a:t> Equivalent to:</a:t>
            </a:r>
          </a:p>
          <a:p>
            <a:pPr>
              <a:defRPr/>
            </a:pPr>
            <a:r>
              <a:rPr lang="en-US" sz="2800"/>
              <a:t> </a:t>
            </a:r>
            <a:r>
              <a:rPr lang="en-US" sz="2400" i="1">
                <a:sym typeface="Symbol" pitchFamily="18" charset="2"/>
              </a:rPr>
              <a:t></a:t>
            </a:r>
            <a:r>
              <a:rPr lang="en-US" sz="2400" i="1" baseline="-25000">
                <a:sym typeface="Symbol" pitchFamily="18" charset="2"/>
              </a:rPr>
              <a:t>ProfId </a:t>
            </a:r>
            <a:r>
              <a:rPr lang="en-US" sz="2400">
                <a:sym typeface="Symbol" pitchFamily="18" charset="2"/>
              </a:rPr>
              <a:t>(</a:t>
            </a:r>
            <a:r>
              <a:rPr lang="en-US" sz="2400" i="1">
                <a:sym typeface="Symbol" pitchFamily="18" charset="2"/>
              </a:rPr>
              <a:t></a:t>
            </a:r>
            <a:r>
              <a:rPr lang="en-US" sz="2400" i="1" baseline="-25000">
                <a:sym typeface="Symbol" pitchFamily="18" charset="2"/>
              </a:rPr>
              <a:t>T1.CrsCodeT2.CrsCode</a:t>
            </a:r>
            <a:r>
              <a:rPr lang="en-US" sz="2400">
                <a:sym typeface="Symbol" pitchFamily="18" charset="2"/>
              </a:rPr>
              <a:t>(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  <a:sym typeface="Symbol" pitchFamily="18" charset="2"/>
              </a:rPr>
              <a:t>Teaching</a:t>
            </a:r>
            <a:r>
              <a:rPr lang="en-US" sz="2400">
                <a:sym typeface="Symbol" pitchFamily="18" charset="2"/>
              </a:rPr>
              <a:t>[</a:t>
            </a:r>
            <a:r>
              <a:rPr lang="en-US" sz="2400" i="1">
                <a:sym typeface="Symbol" pitchFamily="18" charset="2"/>
              </a:rPr>
              <a:t>ProfId, T1.CrsCode, Semester</a:t>
            </a:r>
            <a:r>
              <a:rPr lang="en-US" sz="2400">
                <a:sym typeface="Symbol" pitchFamily="18" charset="2"/>
              </a:rPr>
              <a:t>]</a:t>
            </a:r>
          </a:p>
          <a:p>
            <a:pPr>
              <a:defRPr/>
            </a:pPr>
            <a:r>
              <a:rPr lang="en-US" sz="2400" i="1">
                <a:sym typeface="Symbol" pitchFamily="18" charset="2"/>
              </a:rPr>
              <a:t>                                           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  <a:sym typeface="Symbol" pitchFamily="18" charset="2"/>
              </a:rPr>
              <a:t>Teaching</a:t>
            </a:r>
            <a:r>
              <a:rPr lang="en-US" sz="2400">
                <a:sym typeface="Symbol" pitchFamily="18" charset="2"/>
              </a:rPr>
              <a:t>[</a:t>
            </a:r>
            <a:r>
              <a:rPr lang="en-US" sz="2400" i="1">
                <a:sym typeface="Symbol" pitchFamily="18" charset="2"/>
              </a:rPr>
              <a:t>ProfId, T2.CrsCode, Semester</a:t>
            </a:r>
            <a:r>
              <a:rPr lang="en-US" sz="2400">
                <a:sym typeface="Symbol" pitchFamily="18" charset="2"/>
              </a:rPr>
              <a:t>]))</a:t>
            </a:r>
          </a:p>
        </p:txBody>
      </p:sp>
      <p:grpSp>
        <p:nvGrpSpPr>
          <p:cNvPr id="36872" name="Group 9">
            <a:extLst>
              <a:ext uri="{FF2B5EF4-FFF2-40B4-BE49-F238E27FC236}">
                <a16:creationId xmlns:a16="http://schemas.microsoft.com/office/drawing/2014/main" id="{AA8E3399-7833-4DBD-85E6-4592FBCEB16D}"/>
              </a:ext>
            </a:extLst>
          </p:cNvPr>
          <p:cNvGrpSpPr>
            <a:grpSpLocks/>
          </p:cNvGrpSpPr>
          <p:nvPr/>
        </p:nvGrpSpPr>
        <p:grpSpPr bwMode="auto">
          <a:xfrm>
            <a:off x="2971800" y="6096000"/>
            <a:ext cx="457200" cy="152400"/>
            <a:chOff x="2352" y="2064"/>
            <a:chExt cx="288" cy="96"/>
          </a:xfrm>
        </p:grpSpPr>
        <p:sp>
          <p:nvSpPr>
            <p:cNvPr id="36873" name="AutoShape 10">
              <a:extLst>
                <a:ext uri="{FF2B5EF4-FFF2-40B4-BE49-F238E27FC236}">
                  <a16:creationId xmlns:a16="http://schemas.microsoft.com/office/drawing/2014/main" id="{D7AD4EF5-3195-43B4-819F-8871DF82914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36874" name="AutoShape 11">
              <a:extLst>
                <a:ext uri="{FF2B5EF4-FFF2-40B4-BE49-F238E27FC236}">
                  <a16:creationId xmlns:a16="http://schemas.microsoft.com/office/drawing/2014/main" id="{414419B2-8EFF-4EA0-9317-E6AE5F9E8E4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E8E9C-C0D6-41D7-9121-E86C683FB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47</a:t>
            </a:fld>
            <a:endParaRPr lang="en-US" altLang="zh-TW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1" name="Rectangle 2">
            <a:extLst>
              <a:ext uri="{FF2B5EF4-FFF2-40B4-BE49-F238E27FC236}">
                <a16:creationId xmlns:a16="http://schemas.microsoft.com/office/drawing/2014/main" id="{DA753C82-01A9-4F2A-815B-8295896245C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Duplicates</a:t>
            </a:r>
          </a:p>
        </p:txBody>
      </p:sp>
      <p:sp>
        <p:nvSpPr>
          <p:cNvPr id="37892" name="Rectangle 3">
            <a:extLst>
              <a:ext uri="{FF2B5EF4-FFF2-40B4-BE49-F238E27FC236}">
                <a16:creationId xmlns:a16="http://schemas.microsoft.com/office/drawing/2014/main" id="{D0176D11-39B6-4F77-B8B1-4BEC3C73936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Duplicate rows not allowed in a relation</a:t>
            </a:r>
          </a:p>
          <a:p>
            <a:r>
              <a:rPr lang="en-US" altLang="zh-TW">
                <a:ea typeface="新細明體" panose="02020500000000000000" pitchFamily="18" charset="-120"/>
              </a:rPr>
              <a:t>However, duplicate elimination from query result is costly and not done by default; must be explicitly requested:</a:t>
            </a:r>
          </a:p>
          <a:p>
            <a:endParaRPr lang="en-US" altLang="zh-TW">
              <a:ea typeface="新細明體" panose="02020500000000000000" pitchFamily="18" charset="-120"/>
            </a:endParaRPr>
          </a:p>
        </p:txBody>
      </p:sp>
      <p:sp>
        <p:nvSpPr>
          <p:cNvPr id="37893" name="Text Box 4">
            <a:extLst>
              <a:ext uri="{FF2B5EF4-FFF2-40B4-BE49-F238E27FC236}">
                <a16:creationId xmlns:a16="http://schemas.microsoft.com/office/drawing/2014/main" id="{85CEC8AD-2C35-4FB1-B96B-6A9A715BCC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925" y="4405313"/>
            <a:ext cx="3554413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2800">
                <a:solidFill>
                  <a:schemeClr val="accent2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DISTINCT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 …..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FROM …..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B58E55-C395-45F6-BA59-91C99F9F9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48</a:t>
            </a:fld>
            <a:endParaRPr lang="en-US" altLang="zh-TW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Text Box 5">
            <a:extLst>
              <a:ext uri="{FF2B5EF4-FFF2-40B4-BE49-F238E27FC236}">
                <a16:creationId xmlns:a16="http://schemas.microsoft.com/office/drawing/2014/main" id="{DE3A3FAB-227E-4B53-BB2F-86B47C57E1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752600"/>
            <a:ext cx="7848600" cy="1554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3200">
                <a:ea typeface="新細明體" panose="02020500000000000000" pitchFamily="18" charset="-120"/>
              </a:rPr>
              <a:t>Equality and comparison operators apply to strings (based on lexical ordering)</a:t>
            </a:r>
          </a:p>
          <a:p>
            <a:endParaRPr lang="en-US" altLang="zh-TW" sz="3200">
              <a:ea typeface="新細明體" panose="02020500000000000000" pitchFamily="18" charset="-120"/>
            </a:endParaRPr>
          </a:p>
        </p:txBody>
      </p:sp>
      <p:sp>
        <p:nvSpPr>
          <p:cNvPr id="38916" name="Rectangle 3">
            <a:extLst>
              <a:ext uri="{FF2B5EF4-FFF2-40B4-BE49-F238E27FC236}">
                <a16:creationId xmlns:a16="http://schemas.microsoft.com/office/drawing/2014/main" id="{A5BA09FA-1B2E-49DD-83BF-77BF449A196C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 flipH="1">
            <a:off x="7391400" y="6248400"/>
            <a:ext cx="76200" cy="76200"/>
          </a:xfrm>
        </p:spPr>
        <p:txBody>
          <a:bodyPr/>
          <a:lstStyle/>
          <a:p>
            <a:endParaRPr lang="zh-TW" altLang="zh-TW"/>
          </a:p>
        </p:txBody>
      </p:sp>
      <p:sp>
        <p:nvSpPr>
          <p:cNvPr id="38917" name="Text Box 4">
            <a:extLst>
              <a:ext uri="{FF2B5EF4-FFF2-40B4-BE49-F238E27FC236}">
                <a16:creationId xmlns:a16="http://schemas.microsoft.com/office/drawing/2014/main" id="{740D125B-3753-4CA4-8CBD-521F6C30C8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2814638"/>
            <a:ext cx="339407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2800">
                <a:ea typeface="新細明體" panose="02020500000000000000" pitchFamily="18" charset="-120"/>
              </a:rPr>
              <a:t>S.</a:t>
            </a:r>
            <a:r>
              <a:rPr lang="en-US" altLang="zh-TW" sz="2800" i="1">
                <a:ea typeface="新細明體" panose="02020500000000000000" pitchFamily="18" charset="-120"/>
              </a:rPr>
              <a:t>Name</a:t>
            </a:r>
            <a:r>
              <a:rPr lang="en-US" altLang="zh-TW" sz="2800">
                <a:ea typeface="新細明體" panose="02020500000000000000" pitchFamily="18" charset="-120"/>
              </a:rPr>
              <a:t> &lt; ‘P’</a:t>
            </a:r>
          </a:p>
        </p:txBody>
      </p:sp>
      <p:sp>
        <p:nvSpPr>
          <p:cNvPr id="38918" name="Rectangle 6">
            <a:extLst>
              <a:ext uri="{FF2B5EF4-FFF2-40B4-BE49-F238E27FC236}">
                <a16:creationId xmlns:a16="http://schemas.microsoft.com/office/drawing/2014/main" id="{F5454589-521D-4210-81CD-9B6AE4F0F8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Use of Expressions</a:t>
            </a:r>
          </a:p>
        </p:txBody>
      </p:sp>
      <p:sp>
        <p:nvSpPr>
          <p:cNvPr id="38919" name="Text Box 7">
            <a:extLst>
              <a:ext uri="{FF2B5EF4-FFF2-40B4-BE49-F238E27FC236}">
                <a16:creationId xmlns:a16="http://schemas.microsoft.com/office/drawing/2014/main" id="{94EC036C-58A2-4572-A8F9-794E60C0AA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3352800"/>
            <a:ext cx="6508750" cy="579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3200">
                <a:ea typeface="新細明體" panose="02020500000000000000" pitchFamily="18" charset="-120"/>
              </a:rPr>
              <a:t>Concatenate operator applies to strings</a:t>
            </a:r>
            <a:endParaRPr lang="en-US" altLang="zh-TW" sz="2800">
              <a:ea typeface="新細明體" panose="02020500000000000000" pitchFamily="18" charset="-120"/>
            </a:endParaRPr>
          </a:p>
        </p:txBody>
      </p:sp>
      <p:sp>
        <p:nvSpPr>
          <p:cNvPr id="38920" name="Text Box 9">
            <a:extLst>
              <a:ext uri="{FF2B5EF4-FFF2-40B4-BE49-F238E27FC236}">
                <a16:creationId xmlns:a16="http://schemas.microsoft.com/office/drawing/2014/main" id="{A83AC0A0-0C87-495C-9BFD-C110185B89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3957638"/>
            <a:ext cx="5942013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 sz="2800">
                <a:ea typeface="新細明體" panose="02020500000000000000" pitchFamily="18" charset="-120"/>
              </a:rPr>
              <a:t> S.</a:t>
            </a:r>
            <a:r>
              <a:rPr lang="en-US" altLang="zh-TW" sz="2800" i="1">
                <a:ea typeface="新細明體" panose="02020500000000000000" pitchFamily="18" charset="-120"/>
              </a:rPr>
              <a:t>Name</a:t>
            </a:r>
            <a:r>
              <a:rPr lang="en-US" altLang="zh-TW" sz="2800">
                <a:ea typeface="新細明體" panose="02020500000000000000" pitchFamily="18" charset="-120"/>
              </a:rPr>
              <a:t> || ‘--’ || S.</a:t>
            </a:r>
            <a:r>
              <a:rPr lang="en-US" altLang="zh-TW" sz="2800" i="1">
                <a:ea typeface="新細明體" panose="02020500000000000000" pitchFamily="18" charset="-120"/>
              </a:rPr>
              <a:t>Address</a:t>
            </a:r>
            <a:r>
              <a:rPr lang="en-US" altLang="zh-TW" sz="2800">
                <a:ea typeface="新細明體" panose="02020500000000000000" pitchFamily="18" charset="-120"/>
              </a:rPr>
              <a:t> = ….</a:t>
            </a:r>
          </a:p>
        </p:txBody>
      </p:sp>
      <p:sp>
        <p:nvSpPr>
          <p:cNvPr id="38921" name="Text Box 10">
            <a:extLst>
              <a:ext uri="{FF2B5EF4-FFF2-40B4-BE49-F238E27FC236}">
                <a16:creationId xmlns:a16="http://schemas.microsoft.com/office/drawing/2014/main" id="{68CB161B-C98C-412C-B136-D21AFA83D2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4572000"/>
            <a:ext cx="7972425" cy="579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3200">
                <a:ea typeface="新細明體" panose="02020500000000000000" pitchFamily="18" charset="-120"/>
              </a:rPr>
              <a:t>Expressions can also be used in </a:t>
            </a:r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3200">
                <a:ea typeface="新細明體" panose="02020500000000000000" pitchFamily="18" charset="-120"/>
              </a:rPr>
              <a:t> clause</a:t>
            </a:r>
            <a:r>
              <a:rPr lang="en-US" altLang="zh-TW" sz="2800">
                <a:ea typeface="新細明體" panose="02020500000000000000" pitchFamily="18" charset="-120"/>
              </a:rPr>
              <a:t>:</a:t>
            </a:r>
          </a:p>
        </p:txBody>
      </p:sp>
      <p:sp>
        <p:nvSpPr>
          <p:cNvPr id="38923" name="Text Box 11">
            <a:extLst>
              <a:ext uri="{FF2B5EF4-FFF2-40B4-BE49-F238E27FC236}">
                <a16:creationId xmlns:a16="http://schemas.microsoft.com/office/drawing/2014/main" id="{1C0400E3-D843-426D-A4B3-87CEF44A75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6400" y="5181600"/>
            <a:ext cx="6875463" cy="94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800">
                <a:latin typeface="Century Gothic" pitchFamily="34" charset="0"/>
              </a:rPr>
              <a:t>SELECT</a:t>
            </a:r>
            <a:r>
              <a:rPr lang="en-US" sz="2800"/>
              <a:t>  S.</a:t>
            </a:r>
            <a:r>
              <a:rPr lang="en-US" sz="2800" i="1"/>
              <a:t>Name</a:t>
            </a:r>
            <a:r>
              <a:rPr lang="en-US" sz="2800"/>
              <a:t> || ‘--’ || S.</a:t>
            </a:r>
            <a:r>
              <a:rPr lang="en-US" sz="2800" i="1"/>
              <a:t>Address</a:t>
            </a:r>
            <a:r>
              <a:rPr lang="en-US" sz="2800"/>
              <a:t> </a:t>
            </a:r>
            <a:r>
              <a:rPr lang="en-US" sz="2800">
                <a:latin typeface="Century Gothic" pitchFamily="34" charset="0"/>
              </a:rPr>
              <a:t>AS</a:t>
            </a:r>
            <a:r>
              <a:rPr lang="en-US" sz="2800"/>
              <a:t> </a:t>
            </a:r>
            <a:r>
              <a:rPr lang="en-US" sz="2800" i="1"/>
              <a:t>NmAdd</a:t>
            </a:r>
          </a:p>
          <a:p>
            <a:pPr>
              <a:defRPr/>
            </a:pPr>
            <a:r>
              <a:rPr lang="en-US" sz="2800">
                <a:latin typeface="Century Gothic" pitchFamily="34" charset="0"/>
              </a:rPr>
              <a:t>FROM</a:t>
            </a:r>
            <a:r>
              <a:rPr lang="en-US" sz="2800"/>
              <a:t> 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Student</a:t>
            </a:r>
            <a:r>
              <a:rPr lang="en-US" sz="2800"/>
              <a:t> 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C582E8-1845-40F4-A9B2-F8788A111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49</a:t>
            </a:fld>
            <a:endParaRPr lang="en-US" altLang="zh-TW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9" name="Rectangle 2">
            <a:extLst>
              <a:ext uri="{FF2B5EF4-FFF2-40B4-BE49-F238E27FC236}">
                <a16:creationId xmlns:a16="http://schemas.microsoft.com/office/drawing/2014/main" id="{35A5CEFB-48C8-4777-B951-6BD0782559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228600"/>
            <a:ext cx="7772400" cy="1143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Set Operators</a:t>
            </a:r>
          </a:p>
        </p:txBody>
      </p:sp>
      <p:sp>
        <p:nvSpPr>
          <p:cNvPr id="39940" name="Rectangle 3">
            <a:extLst>
              <a:ext uri="{FF2B5EF4-FFF2-40B4-BE49-F238E27FC236}">
                <a16:creationId xmlns:a16="http://schemas.microsoft.com/office/drawing/2014/main" id="{95406375-AFD8-4397-A030-469E4A3D3A8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81000" y="1524000"/>
            <a:ext cx="8534400" cy="16764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SQL provides 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UNION, EXCEPT</a:t>
            </a:r>
            <a:r>
              <a:rPr lang="en-US" altLang="zh-TW" sz="2800">
                <a:ea typeface="新細明體" panose="02020500000000000000" pitchFamily="18" charset="-120"/>
              </a:rPr>
              <a:t> (set difference), and 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INTERSECT </a:t>
            </a:r>
            <a:r>
              <a:rPr lang="en-US" altLang="zh-TW" sz="2800">
                <a:ea typeface="新細明體" panose="02020500000000000000" pitchFamily="18" charset="-120"/>
              </a:rPr>
              <a:t> for union compatible tables</a:t>
            </a:r>
          </a:p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Example:  Find all professors in the CS Department and all professors that have taught CS courses</a:t>
            </a:r>
          </a:p>
        </p:txBody>
      </p:sp>
      <p:sp>
        <p:nvSpPr>
          <p:cNvPr id="40964" name="Text Box 4">
            <a:extLst>
              <a:ext uri="{FF2B5EF4-FFF2-40B4-BE49-F238E27FC236}">
                <a16:creationId xmlns:a16="http://schemas.microsoft.com/office/drawing/2014/main" id="{CC9684D6-1DCA-4041-8DCD-DB1225A13F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3352800"/>
            <a:ext cx="8120063" cy="308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 dirty="0">
                <a:ea typeface="新細明體" panose="02020500000000000000" pitchFamily="18" charset="-120"/>
              </a:rPr>
              <a:t>(</a:t>
            </a:r>
            <a:r>
              <a:rPr lang="en-US" altLang="zh-TW" sz="2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2800" dirty="0">
                <a:ea typeface="新細明體" panose="02020500000000000000" pitchFamily="18" charset="-120"/>
              </a:rPr>
              <a:t>  </a:t>
            </a:r>
            <a:r>
              <a:rPr lang="en-US" altLang="zh-TW" sz="2800" dirty="0" err="1">
                <a:ea typeface="新細明體" panose="02020500000000000000" pitchFamily="18" charset="-120"/>
              </a:rPr>
              <a:t>P.</a:t>
            </a:r>
            <a:r>
              <a:rPr lang="en-US" altLang="zh-TW" sz="2800" i="1" dirty="0" err="1">
                <a:ea typeface="新細明體" panose="02020500000000000000" pitchFamily="18" charset="-120"/>
              </a:rPr>
              <a:t>Name</a:t>
            </a:r>
            <a:endParaRPr lang="en-US" altLang="zh-TW" sz="2800" i="1" dirty="0">
              <a:ea typeface="新細明體" panose="02020500000000000000" pitchFamily="18" charset="-120"/>
            </a:endParaRPr>
          </a:p>
          <a:p>
            <a:r>
              <a:rPr lang="en-US" altLang="zh-TW" sz="2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FROM</a:t>
            </a:r>
            <a:r>
              <a:rPr lang="en-US" altLang="zh-TW" sz="2800" dirty="0">
                <a:ea typeface="新細明體" panose="02020500000000000000" pitchFamily="18" charset="-120"/>
              </a:rPr>
              <a:t>   </a:t>
            </a:r>
            <a:r>
              <a:rPr lang="en-US" altLang="zh-TW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Professor</a:t>
            </a:r>
            <a:r>
              <a:rPr lang="en-US" altLang="zh-TW" sz="2800" dirty="0">
                <a:ea typeface="新細明體" panose="02020500000000000000" pitchFamily="18" charset="-120"/>
              </a:rPr>
              <a:t> P, </a:t>
            </a:r>
            <a:r>
              <a:rPr lang="en-US" altLang="zh-TW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Teaching</a:t>
            </a:r>
            <a:r>
              <a:rPr lang="en-US" altLang="zh-TW" sz="2800" dirty="0">
                <a:ea typeface="新細明體" panose="02020500000000000000" pitchFamily="18" charset="-120"/>
              </a:rPr>
              <a:t> T</a:t>
            </a:r>
          </a:p>
          <a:p>
            <a:r>
              <a:rPr lang="en-US" altLang="zh-TW" sz="2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WHERE</a:t>
            </a:r>
            <a:r>
              <a:rPr lang="en-US" altLang="zh-TW" sz="2800" dirty="0">
                <a:ea typeface="新細明體" panose="02020500000000000000" pitchFamily="18" charset="-120"/>
              </a:rPr>
              <a:t>  </a:t>
            </a:r>
            <a:r>
              <a:rPr lang="en-US" altLang="zh-TW" sz="2800" dirty="0" err="1">
                <a:ea typeface="新細明體" panose="02020500000000000000" pitchFamily="18" charset="-120"/>
              </a:rPr>
              <a:t>P.</a:t>
            </a:r>
            <a:r>
              <a:rPr lang="en-US" altLang="zh-TW" sz="2800" i="1" dirty="0" err="1">
                <a:ea typeface="新細明體" panose="02020500000000000000" pitchFamily="18" charset="-120"/>
              </a:rPr>
              <a:t>Id</a:t>
            </a:r>
            <a:r>
              <a:rPr lang="en-US" altLang="zh-TW" sz="2800" dirty="0">
                <a:ea typeface="新細明體" panose="02020500000000000000" pitchFamily="18" charset="-120"/>
              </a:rPr>
              <a:t>=</a:t>
            </a:r>
            <a:r>
              <a:rPr lang="en-US" altLang="zh-TW" sz="2800" dirty="0" err="1">
                <a:ea typeface="新細明體" panose="02020500000000000000" pitchFamily="18" charset="-120"/>
              </a:rPr>
              <a:t>T.</a:t>
            </a:r>
            <a:r>
              <a:rPr lang="en-US" altLang="zh-TW" sz="2800" i="1" dirty="0" err="1">
                <a:ea typeface="新細明體" panose="02020500000000000000" pitchFamily="18" charset="-120"/>
              </a:rPr>
              <a:t>ProfId</a:t>
            </a:r>
            <a:r>
              <a:rPr lang="en-US" altLang="zh-TW" sz="2800" dirty="0">
                <a:ea typeface="新細明體" panose="02020500000000000000" pitchFamily="18" charset="-120"/>
              </a:rPr>
              <a:t> </a:t>
            </a:r>
            <a:r>
              <a:rPr lang="en-US" altLang="zh-TW" sz="2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AND</a:t>
            </a:r>
            <a:r>
              <a:rPr lang="en-US" altLang="zh-TW" sz="2800" dirty="0">
                <a:ea typeface="新細明體" panose="02020500000000000000" pitchFamily="18" charset="-120"/>
              </a:rPr>
              <a:t> </a:t>
            </a:r>
            <a:r>
              <a:rPr lang="en-US" altLang="zh-TW" sz="2800" dirty="0" err="1">
                <a:ea typeface="新細明體" panose="02020500000000000000" pitchFamily="18" charset="-120"/>
              </a:rPr>
              <a:t>T.</a:t>
            </a:r>
            <a:r>
              <a:rPr lang="en-US" altLang="zh-TW" sz="2800" i="1" dirty="0" err="1">
                <a:ea typeface="新細明體" panose="02020500000000000000" pitchFamily="18" charset="-120"/>
              </a:rPr>
              <a:t>CrsCode</a:t>
            </a:r>
            <a:r>
              <a:rPr lang="en-US" altLang="zh-TW" sz="2800" dirty="0">
                <a:ea typeface="新細明體" panose="02020500000000000000" pitchFamily="18" charset="-120"/>
              </a:rPr>
              <a:t> </a:t>
            </a:r>
            <a:r>
              <a:rPr lang="en-US" altLang="zh-TW" sz="2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LIKE </a:t>
            </a:r>
            <a:r>
              <a:rPr lang="en-US" altLang="zh-TW" sz="2800" dirty="0">
                <a:ea typeface="新細明體" panose="02020500000000000000" pitchFamily="18" charset="-120"/>
              </a:rPr>
              <a:t>‘CS%’)</a:t>
            </a:r>
          </a:p>
          <a:p>
            <a:r>
              <a:rPr lang="en-US" altLang="zh-TW" sz="2800" dirty="0">
                <a:solidFill>
                  <a:schemeClr val="accent2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UNION</a:t>
            </a:r>
          </a:p>
          <a:p>
            <a:r>
              <a:rPr lang="en-US" altLang="zh-TW" sz="2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(SELECT </a:t>
            </a:r>
            <a:r>
              <a:rPr lang="en-US" altLang="zh-TW" sz="2800" dirty="0">
                <a:ea typeface="新細明體" panose="02020500000000000000" pitchFamily="18" charset="-120"/>
              </a:rPr>
              <a:t> </a:t>
            </a:r>
            <a:r>
              <a:rPr lang="en-US" altLang="zh-TW" sz="2800" dirty="0" err="1">
                <a:ea typeface="新細明體" panose="02020500000000000000" pitchFamily="18" charset="-120"/>
              </a:rPr>
              <a:t>P.</a:t>
            </a:r>
            <a:r>
              <a:rPr lang="en-US" altLang="zh-TW" sz="2800" i="1" dirty="0" err="1">
                <a:ea typeface="新細明體" panose="02020500000000000000" pitchFamily="18" charset="-120"/>
              </a:rPr>
              <a:t>Name</a:t>
            </a:r>
            <a:endParaRPr lang="en-US" altLang="zh-TW" sz="2800" i="1" dirty="0">
              <a:ea typeface="新細明體" panose="02020500000000000000" pitchFamily="18" charset="-120"/>
            </a:endParaRPr>
          </a:p>
          <a:p>
            <a:r>
              <a:rPr lang="en-US" altLang="zh-TW" sz="2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FROM </a:t>
            </a:r>
            <a:r>
              <a:rPr lang="en-US" altLang="zh-TW" sz="2800" dirty="0">
                <a:ea typeface="新細明體" panose="02020500000000000000" pitchFamily="18" charset="-120"/>
              </a:rPr>
              <a:t> </a:t>
            </a:r>
            <a:r>
              <a:rPr lang="en-US" altLang="zh-TW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Professor</a:t>
            </a:r>
            <a:r>
              <a:rPr lang="en-US" altLang="zh-TW" sz="2800" dirty="0">
                <a:ea typeface="新細明體" panose="02020500000000000000" pitchFamily="18" charset="-120"/>
              </a:rPr>
              <a:t> P</a:t>
            </a:r>
          </a:p>
          <a:p>
            <a:r>
              <a:rPr lang="en-US" altLang="zh-TW" sz="2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WHERE</a:t>
            </a:r>
            <a:r>
              <a:rPr lang="en-US" altLang="zh-TW" sz="2800" dirty="0">
                <a:ea typeface="新細明體" panose="02020500000000000000" pitchFamily="18" charset="-120"/>
              </a:rPr>
              <a:t>  </a:t>
            </a:r>
            <a:r>
              <a:rPr lang="en-US" altLang="zh-TW" sz="2800" dirty="0" err="1">
                <a:ea typeface="新細明體" panose="02020500000000000000" pitchFamily="18" charset="-120"/>
              </a:rPr>
              <a:t>P.</a:t>
            </a:r>
            <a:r>
              <a:rPr lang="en-US" altLang="zh-TW" sz="2800" i="1" dirty="0" err="1">
                <a:ea typeface="新細明體" panose="02020500000000000000" pitchFamily="18" charset="-120"/>
              </a:rPr>
              <a:t>DeptId</a:t>
            </a:r>
            <a:r>
              <a:rPr lang="en-US" altLang="zh-TW" sz="2800" dirty="0">
                <a:ea typeface="新細明體" panose="02020500000000000000" pitchFamily="18" charset="-120"/>
              </a:rPr>
              <a:t> = ‘CS’)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757291-8B41-43DB-BBE7-42AF3CE2E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50</a:t>
            </a:fld>
            <a:endParaRPr lang="en-US" altLang="zh-TW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3" name="Rectangle 2">
            <a:extLst>
              <a:ext uri="{FF2B5EF4-FFF2-40B4-BE49-F238E27FC236}">
                <a16:creationId xmlns:a16="http://schemas.microsoft.com/office/drawing/2014/main" id="{B17F2EEE-E53F-4DD8-B0A3-211425833D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381000"/>
            <a:ext cx="7772400" cy="1143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Nested Queries</a:t>
            </a:r>
          </a:p>
        </p:txBody>
      </p:sp>
      <p:sp>
        <p:nvSpPr>
          <p:cNvPr id="40964" name="Text Box 3">
            <a:extLst>
              <a:ext uri="{FF2B5EF4-FFF2-40B4-BE49-F238E27FC236}">
                <a16:creationId xmlns:a16="http://schemas.microsoft.com/office/drawing/2014/main" id="{65DBEA2B-EC14-47FF-871D-2B3B9F5118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1524000"/>
            <a:ext cx="66167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ea typeface="新細明體" panose="02020500000000000000" pitchFamily="18" charset="-120"/>
              </a:rPr>
              <a:t>List all courses that were not taught in S2000</a:t>
            </a:r>
          </a:p>
        </p:txBody>
      </p:sp>
      <p:sp>
        <p:nvSpPr>
          <p:cNvPr id="41988" name="Text Box 4">
            <a:extLst>
              <a:ext uri="{FF2B5EF4-FFF2-40B4-BE49-F238E27FC236}">
                <a16:creationId xmlns:a16="http://schemas.microsoft.com/office/drawing/2014/main" id="{6AC53349-0FE2-4656-92AA-A9D49BE07E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176463"/>
            <a:ext cx="5800725" cy="2654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2800">
                <a:ea typeface="新細明體" panose="02020500000000000000" pitchFamily="18" charset="-120"/>
              </a:rPr>
              <a:t> C.</a:t>
            </a:r>
            <a:r>
              <a:rPr lang="en-US" altLang="zh-TW" sz="2800" i="1">
                <a:ea typeface="新細明體" panose="02020500000000000000" pitchFamily="18" charset="-120"/>
              </a:rPr>
              <a:t>CrsName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2800">
                <a:ea typeface="新細明體" panose="02020500000000000000" pitchFamily="18" charset="-120"/>
              </a:rPr>
              <a:t> </a:t>
            </a:r>
            <a:r>
              <a:rPr lang="en-US" altLang="zh-TW" sz="28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Course</a:t>
            </a:r>
            <a:r>
              <a:rPr lang="en-US" altLang="zh-TW" sz="2800">
                <a:ea typeface="新細明體" panose="02020500000000000000" pitchFamily="18" charset="-120"/>
              </a:rPr>
              <a:t> C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 sz="2800">
                <a:ea typeface="新細明體" panose="02020500000000000000" pitchFamily="18" charset="-120"/>
              </a:rPr>
              <a:t> C.</a:t>
            </a:r>
            <a:r>
              <a:rPr lang="en-US" altLang="zh-TW" sz="2800" i="1">
                <a:ea typeface="新細明體" panose="02020500000000000000" pitchFamily="18" charset="-120"/>
              </a:rPr>
              <a:t>CrsCode</a:t>
            </a:r>
            <a:r>
              <a:rPr lang="en-US" altLang="zh-TW" sz="2800">
                <a:ea typeface="新細明體" panose="02020500000000000000" pitchFamily="18" charset="-120"/>
              </a:rPr>
              <a:t>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NOT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  IN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      </a:t>
            </a:r>
            <a:r>
              <a:rPr lang="en-US" altLang="zh-TW" sz="2800">
                <a:solidFill>
                  <a:schemeClr val="accent2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(SELECT</a:t>
            </a:r>
            <a:r>
              <a:rPr lang="en-US" altLang="zh-TW" sz="2800">
                <a:solidFill>
                  <a:schemeClr val="accent2"/>
                </a:solidFill>
                <a:ea typeface="新細明體" panose="02020500000000000000" pitchFamily="18" charset="-120"/>
              </a:rPr>
              <a:t> T.</a:t>
            </a:r>
            <a:r>
              <a:rPr lang="en-US" altLang="zh-TW" sz="2800" i="1">
                <a:solidFill>
                  <a:schemeClr val="accent2"/>
                </a:solidFill>
                <a:ea typeface="新細明體" panose="02020500000000000000" pitchFamily="18" charset="-120"/>
              </a:rPr>
              <a:t>CrsCode</a:t>
            </a:r>
            <a:r>
              <a:rPr lang="en-US" altLang="zh-TW" sz="2800">
                <a:solidFill>
                  <a:schemeClr val="accent2"/>
                </a:solidFill>
                <a:ea typeface="新細明體" panose="02020500000000000000" pitchFamily="18" charset="-120"/>
              </a:rPr>
              <a:t>      --</a:t>
            </a:r>
            <a:r>
              <a:rPr lang="en-US" altLang="zh-TW" sz="2800" i="1">
                <a:solidFill>
                  <a:schemeClr val="accent2"/>
                </a:solidFill>
                <a:ea typeface="新細明體" panose="02020500000000000000" pitchFamily="18" charset="-120"/>
              </a:rPr>
              <a:t>subquery</a:t>
            </a:r>
          </a:p>
          <a:p>
            <a:r>
              <a:rPr lang="en-US" altLang="zh-TW" sz="2800">
                <a:solidFill>
                  <a:schemeClr val="accent2"/>
                </a:solidFill>
                <a:ea typeface="新細明體" panose="02020500000000000000" pitchFamily="18" charset="-120"/>
              </a:rPr>
              <a:t>        </a:t>
            </a:r>
            <a:r>
              <a:rPr lang="en-US" altLang="zh-TW" sz="2800">
                <a:solidFill>
                  <a:schemeClr val="accent2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2800">
                <a:solidFill>
                  <a:schemeClr val="accent2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8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Teaching</a:t>
            </a:r>
            <a:r>
              <a:rPr lang="en-US" altLang="zh-TW" sz="2800">
                <a:solidFill>
                  <a:schemeClr val="accent2"/>
                </a:solidFill>
                <a:ea typeface="新細明體" panose="02020500000000000000" pitchFamily="18" charset="-120"/>
              </a:rPr>
              <a:t> T</a:t>
            </a:r>
          </a:p>
          <a:p>
            <a:r>
              <a:rPr lang="en-US" altLang="zh-TW" sz="2800">
                <a:solidFill>
                  <a:schemeClr val="accent2"/>
                </a:solidFill>
                <a:ea typeface="新細明體" panose="02020500000000000000" pitchFamily="18" charset="-120"/>
              </a:rPr>
              <a:t>        </a:t>
            </a:r>
            <a:r>
              <a:rPr lang="en-US" altLang="zh-TW" sz="2800">
                <a:solidFill>
                  <a:schemeClr val="accent2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 sz="2800">
                <a:solidFill>
                  <a:schemeClr val="accent2"/>
                </a:solidFill>
                <a:ea typeface="新細明體" panose="02020500000000000000" pitchFamily="18" charset="-120"/>
              </a:rPr>
              <a:t> T.</a:t>
            </a:r>
            <a:r>
              <a:rPr lang="en-US" altLang="zh-TW" sz="2800" i="1">
                <a:solidFill>
                  <a:schemeClr val="accent2"/>
                </a:solidFill>
                <a:ea typeface="新細明體" panose="02020500000000000000" pitchFamily="18" charset="-120"/>
              </a:rPr>
              <a:t>Sem</a:t>
            </a:r>
            <a:r>
              <a:rPr lang="en-US" altLang="zh-TW" sz="2800">
                <a:solidFill>
                  <a:schemeClr val="accent2"/>
                </a:solidFill>
                <a:ea typeface="新細明體" panose="02020500000000000000" pitchFamily="18" charset="-120"/>
              </a:rPr>
              <a:t> = ‘S2000’)</a:t>
            </a:r>
          </a:p>
        </p:txBody>
      </p:sp>
      <p:sp>
        <p:nvSpPr>
          <p:cNvPr id="40966" name="Text Box 5">
            <a:extLst>
              <a:ext uri="{FF2B5EF4-FFF2-40B4-BE49-F238E27FC236}">
                <a16:creationId xmlns:a16="http://schemas.microsoft.com/office/drawing/2014/main" id="{61E7E747-F021-4283-9ED2-FDEA2D86B1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5029200"/>
            <a:ext cx="7537450" cy="1373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ea typeface="新細明體" panose="02020500000000000000" pitchFamily="18" charset="-120"/>
              </a:rPr>
              <a:t>Evaluation strategy:  subquery evaluated once to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produces set of courses  taught in S2000.  Each row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(as C) tested against this set.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083A6D4-08D1-4BEC-A081-09ECDCF15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51</a:t>
            </a:fld>
            <a:endParaRPr lang="en-US" altLang="zh-TW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7" name="Rectangle 2">
            <a:extLst>
              <a:ext uri="{FF2B5EF4-FFF2-40B4-BE49-F238E27FC236}">
                <a16:creationId xmlns:a16="http://schemas.microsoft.com/office/drawing/2014/main" id="{29ECC1AA-372A-4ECA-861A-1066A1A324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228600"/>
            <a:ext cx="7772400" cy="1143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Correlated Nested Queries </a:t>
            </a:r>
          </a:p>
        </p:txBody>
      </p:sp>
      <p:sp>
        <p:nvSpPr>
          <p:cNvPr id="41988" name="Text Box 3">
            <a:extLst>
              <a:ext uri="{FF2B5EF4-FFF2-40B4-BE49-F238E27FC236}">
                <a16:creationId xmlns:a16="http://schemas.microsoft.com/office/drawing/2014/main" id="{C7F7A137-30D9-4B1E-8A37-CAECF804D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4838" y="1295400"/>
            <a:ext cx="82343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ea typeface="新細明體" panose="02020500000000000000" pitchFamily="18" charset="-120"/>
              </a:rPr>
              <a:t>Output a row &lt;</a:t>
            </a:r>
            <a:r>
              <a:rPr lang="en-US" altLang="zh-TW" sz="2800" i="1">
                <a:ea typeface="新細明體" panose="02020500000000000000" pitchFamily="18" charset="-120"/>
              </a:rPr>
              <a:t>prof, dept</a:t>
            </a:r>
            <a:r>
              <a:rPr lang="en-US" altLang="zh-TW" sz="2800">
                <a:ea typeface="新細明體" panose="02020500000000000000" pitchFamily="18" charset="-120"/>
              </a:rPr>
              <a:t>&gt; if </a:t>
            </a:r>
            <a:r>
              <a:rPr lang="en-US" altLang="zh-TW" sz="2800" i="1">
                <a:ea typeface="新細明體" panose="02020500000000000000" pitchFamily="18" charset="-120"/>
              </a:rPr>
              <a:t>prof</a:t>
            </a:r>
            <a:r>
              <a:rPr lang="en-US" altLang="zh-TW" sz="2800">
                <a:ea typeface="新細明體" panose="02020500000000000000" pitchFamily="18" charset="-120"/>
              </a:rPr>
              <a:t>  has taught a course</a:t>
            </a:r>
          </a:p>
          <a:p>
            <a:r>
              <a:rPr lang="en-US" altLang="zh-TW" sz="2800">
                <a:ea typeface="新細明體" panose="02020500000000000000" pitchFamily="18" charset="-120"/>
              </a:rPr>
              <a:t> in </a:t>
            </a:r>
            <a:r>
              <a:rPr lang="en-US" altLang="zh-TW" sz="2800" i="1">
                <a:ea typeface="新細明體" panose="02020500000000000000" pitchFamily="18" charset="-120"/>
              </a:rPr>
              <a:t>dept.</a:t>
            </a:r>
            <a:endParaRPr lang="en-US" altLang="zh-TW" sz="3200">
              <a:ea typeface="新細明體" panose="02020500000000000000" pitchFamily="18" charset="-120"/>
            </a:endParaRPr>
          </a:p>
        </p:txBody>
      </p:sp>
      <p:sp>
        <p:nvSpPr>
          <p:cNvPr id="43012" name="Text Box 4">
            <a:extLst>
              <a:ext uri="{FF2B5EF4-FFF2-40B4-BE49-F238E27FC236}">
                <a16:creationId xmlns:a16="http://schemas.microsoft.com/office/drawing/2014/main" id="{8023000E-CE77-4AE4-9F75-80B7623CDB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0" y="4114800"/>
            <a:ext cx="6026150" cy="191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>
                <a:solidFill>
                  <a:schemeClr val="accent2"/>
                </a:solidFill>
                <a:latin typeface="Century Gothic" pitchFamily="34" charset="0"/>
              </a:rPr>
              <a:t>(SELECT</a:t>
            </a:r>
            <a:r>
              <a:rPr lang="en-US" sz="2400">
                <a:solidFill>
                  <a:schemeClr val="accent2"/>
                </a:solidFill>
              </a:rPr>
              <a:t> T.ProfId                            </a:t>
            </a:r>
            <a:r>
              <a:rPr lang="en-US" sz="2400"/>
              <a:t>--</a:t>
            </a:r>
            <a:r>
              <a:rPr lang="en-US" sz="2400" i="1"/>
              <a:t>subquery</a:t>
            </a:r>
          </a:p>
          <a:p>
            <a:pPr>
              <a:defRPr/>
            </a:pPr>
            <a:r>
              <a:rPr lang="en-US" sz="2400">
                <a:solidFill>
                  <a:schemeClr val="accent2"/>
                </a:solidFill>
                <a:latin typeface="Century Gothic" pitchFamily="34" charset="0"/>
              </a:rPr>
              <a:t> FROM</a:t>
            </a:r>
            <a:r>
              <a:rPr lang="en-US" sz="2400">
                <a:solidFill>
                  <a:schemeClr val="accent2"/>
                </a:solidFill>
              </a:rPr>
              <a:t> </a:t>
            </a:r>
            <a:r>
              <a:rPr lang="en-US" sz="24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Teaching</a:t>
            </a:r>
            <a:r>
              <a:rPr lang="en-US" sz="2400">
                <a:solidFill>
                  <a:schemeClr val="accent2"/>
                </a:solidFill>
              </a:rPr>
              <a:t> T, </a:t>
            </a:r>
            <a:r>
              <a:rPr lang="en-US" sz="2400">
                <a:solidFill>
                  <a:srgbClr val="996633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Course</a:t>
            </a:r>
            <a:r>
              <a:rPr lang="en-US" sz="2400">
                <a:solidFill>
                  <a:schemeClr val="accent2"/>
                </a:solidFill>
              </a:rPr>
              <a:t> </a:t>
            </a:r>
            <a:r>
              <a:rPr lang="en-US" sz="2400">
                <a:solidFill>
                  <a:srgbClr val="996633"/>
                </a:solidFill>
              </a:rPr>
              <a:t>C</a:t>
            </a:r>
          </a:p>
          <a:p>
            <a:pPr>
              <a:defRPr/>
            </a:pPr>
            <a:r>
              <a:rPr lang="en-US" sz="2400">
                <a:solidFill>
                  <a:schemeClr val="accent2"/>
                </a:solidFill>
                <a:latin typeface="Century Gothic" pitchFamily="34" charset="0"/>
              </a:rPr>
              <a:t> WHERE</a:t>
            </a:r>
            <a:r>
              <a:rPr lang="en-US" sz="2400">
                <a:solidFill>
                  <a:schemeClr val="accent2"/>
                </a:solidFill>
              </a:rPr>
              <a:t> T.</a:t>
            </a:r>
            <a:r>
              <a:rPr lang="en-US" sz="2400" i="1">
                <a:solidFill>
                  <a:schemeClr val="accent2"/>
                </a:solidFill>
              </a:rPr>
              <a:t>CrsCode</a:t>
            </a:r>
            <a:r>
              <a:rPr lang="en-US" sz="2400">
                <a:solidFill>
                  <a:schemeClr val="accent2"/>
                </a:solidFill>
              </a:rPr>
              <a:t>=</a:t>
            </a:r>
            <a:r>
              <a:rPr lang="en-US" sz="2400">
                <a:solidFill>
                  <a:srgbClr val="996633"/>
                </a:solidFill>
              </a:rPr>
              <a:t>C</a:t>
            </a:r>
            <a:r>
              <a:rPr lang="en-US" sz="2400">
                <a:solidFill>
                  <a:schemeClr val="accent2"/>
                </a:solidFill>
              </a:rPr>
              <a:t>.</a:t>
            </a:r>
            <a:r>
              <a:rPr lang="en-US" sz="2400" i="1">
                <a:solidFill>
                  <a:schemeClr val="accent2"/>
                </a:solidFill>
              </a:rPr>
              <a:t>CrsCode</a:t>
            </a:r>
            <a:r>
              <a:rPr lang="en-US" sz="2400">
                <a:solidFill>
                  <a:schemeClr val="accent2"/>
                </a:solidFill>
              </a:rPr>
              <a:t>  </a:t>
            </a:r>
            <a:r>
              <a:rPr lang="en-US" sz="2400">
                <a:solidFill>
                  <a:schemeClr val="accent2"/>
                </a:solidFill>
                <a:latin typeface="Century Gothic" pitchFamily="34" charset="0"/>
              </a:rPr>
              <a:t>AND</a:t>
            </a:r>
            <a:r>
              <a:rPr lang="en-US" sz="2400">
                <a:solidFill>
                  <a:schemeClr val="accent2"/>
                </a:solidFill>
              </a:rPr>
              <a:t> </a:t>
            </a:r>
          </a:p>
          <a:p>
            <a:pPr>
              <a:defRPr/>
            </a:pPr>
            <a:r>
              <a:rPr lang="en-US" sz="2400">
                <a:solidFill>
                  <a:schemeClr val="accent2"/>
                </a:solidFill>
              </a:rPr>
              <a:t>                </a:t>
            </a:r>
            <a:r>
              <a:rPr lang="en-US" sz="2400">
                <a:solidFill>
                  <a:srgbClr val="996633"/>
                </a:solidFill>
              </a:rPr>
              <a:t>C</a:t>
            </a:r>
            <a:r>
              <a:rPr lang="en-US" sz="2400">
                <a:solidFill>
                  <a:schemeClr val="accent2"/>
                </a:solidFill>
              </a:rPr>
              <a:t>.</a:t>
            </a:r>
            <a:r>
              <a:rPr lang="en-US" sz="2400" i="1">
                <a:solidFill>
                  <a:srgbClr val="008000"/>
                </a:solidFill>
              </a:rPr>
              <a:t>DeptId</a:t>
            </a:r>
            <a:r>
              <a:rPr lang="en-US" sz="2400">
                <a:solidFill>
                  <a:schemeClr val="accent2"/>
                </a:solidFill>
              </a:rPr>
              <a:t>=</a:t>
            </a:r>
            <a:r>
              <a:rPr lang="en-US" sz="2400">
                <a:solidFill>
                  <a:srgbClr val="990033"/>
                </a:solidFill>
              </a:rPr>
              <a:t>D.</a:t>
            </a:r>
            <a:r>
              <a:rPr lang="en-US" sz="2400" i="1">
                <a:solidFill>
                  <a:srgbClr val="008000"/>
                </a:solidFill>
              </a:rPr>
              <a:t>DeptId</a:t>
            </a:r>
            <a:r>
              <a:rPr lang="en-US" sz="2400"/>
              <a:t>        --</a:t>
            </a:r>
            <a:r>
              <a:rPr lang="en-US" sz="2400" i="1"/>
              <a:t>correlation</a:t>
            </a:r>
          </a:p>
          <a:p>
            <a:pPr>
              <a:defRPr/>
            </a:pPr>
            <a:r>
              <a:rPr lang="en-US" sz="240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43013" name="Text Box 5">
            <a:extLst>
              <a:ext uri="{FF2B5EF4-FFF2-40B4-BE49-F238E27FC236}">
                <a16:creationId xmlns:a16="http://schemas.microsoft.com/office/drawing/2014/main" id="{4594B323-03BA-498D-9718-B9A4F9F2B6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2590800"/>
            <a:ext cx="8382000" cy="1552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2400">
                <a:ea typeface="新細明體" panose="02020500000000000000" pitchFamily="18" charset="-120"/>
              </a:rPr>
              <a:t> P.</a:t>
            </a:r>
            <a:r>
              <a:rPr lang="en-US" altLang="zh-TW" sz="2400" i="1">
                <a:ea typeface="新細明體" panose="02020500000000000000" pitchFamily="18" charset="-120"/>
              </a:rPr>
              <a:t>Name</a:t>
            </a:r>
            <a:r>
              <a:rPr lang="en-US" altLang="zh-TW" sz="2400">
                <a:ea typeface="新細明體" panose="02020500000000000000" pitchFamily="18" charset="-120"/>
              </a:rPr>
              <a:t>, D.</a:t>
            </a:r>
            <a:r>
              <a:rPr lang="en-US" altLang="zh-TW" sz="2400" i="1">
                <a:ea typeface="新細明體" panose="02020500000000000000" pitchFamily="18" charset="-120"/>
              </a:rPr>
              <a:t>Name</a:t>
            </a:r>
            <a:r>
              <a:rPr lang="en-US" altLang="zh-TW" sz="2400">
                <a:ea typeface="新細明體" panose="02020500000000000000" pitchFamily="18" charset="-120"/>
              </a:rPr>
              <a:t>                    --</a:t>
            </a:r>
            <a:r>
              <a:rPr lang="en-US" altLang="zh-TW" sz="2400" i="1">
                <a:ea typeface="新細明體" panose="02020500000000000000" pitchFamily="18" charset="-120"/>
              </a:rPr>
              <a:t>outer query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 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Professor</a:t>
            </a:r>
            <a:r>
              <a:rPr lang="en-US" altLang="zh-TW" sz="2400">
                <a:ea typeface="新細明體" panose="02020500000000000000" pitchFamily="18" charset="-120"/>
              </a:rPr>
              <a:t> P, </a:t>
            </a:r>
            <a:r>
              <a:rPr lang="en-US" altLang="zh-TW" sz="2400">
                <a:solidFill>
                  <a:srgbClr val="9900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Department</a:t>
            </a:r>
            <a:r>
              <a:rPr lang="en-US" altLang="zh-TW" sz="2400">
                <a:ea typeface="新細明體" panose="02020500000000000000" pitchFamily="18" charset="-120"/>
              </a:rPr>
              <a:t> </a:t>
            </a:r>
            <a:r>
              <a:rPr lang="en-US" altLang="zh-TW" sz="2400">
                <a:solidFill>
                  <a:srgbClr val="990033"/>
                </a:solidFill>
                <a:ea typeface="新細明體" panose="02020500000000000000" pitchFamily="18" charset="-120"/>
              </a:rPr>
              <a:t>D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 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2400">
                <a:ea typeface="新細明體" panose="02020500000000000000" pitchFamily="18" charset="-120"/>
              </a:rPr>
              <a:t> P.</a:t>
            </a:r>
            <a:r>
              <a:rPr lang="en-US" altLang="zh-TW" sz="2400" i="1">
                <a:ea typeface="新細明體" panose="02020500000000000000" pitchFamily="18" charset="-120"/>
              </a:rPr>
              <a:t>Id</a:t>
            </a:r>
            <a:r>
              <a:rPr lang="en-US" altLang="zh-TW" sz="2400">
                <a:ea typeface="新細明體" panose="02020500000000000000" pitchFamily="18" charset="-120"/>
              </a:rPr>
              <a:t>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IN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     </a:t>
            </a:r>
            <a:r>
              <a:rPr lang="en-US" altLang="zh-TW" sz="2400">
                <a:ea typeface="新細明體" panose="02020500000000000000" pitchFamily="18" charset="-120"/>
              </a:rPr>
              <a:t>           -- </a:t>
            </a:r>
            <a:r>
              <a:rPr lang="en-US" altLang="zh-TW" i="1">
                <a:ea typeface="新細明體" panose="02020500000000000000" pitchFamily="18" charset="-120"/>
              </a:rPr>
              <a:t>set of  all ProfId’s who have taught a course in D.DeptId</a:t>
            </a:r>
            <a:endParaRPr lang="en-US" altLang="zh-TW" sz="240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7C5D41-0E1D-474F-B82D-904AC6A93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52</a:t>
            </a:fld>
            <a:endParaRPr lang="en-US" altLang="zh-TW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185C54-2CDE-40BB-B00E-68C910AB8FCE}"/>
              </a:ext>
            </a:extLst>
          </p:cNvPr>
          <p:cNvSpPr/>
          <p:nvPr/>
        </p:nvSpPr>
        <p:spPr bwMode="auto">
          <a:xfrm>
            <a:off x="685800" y="5218386"/>
            <a:ext cx="8153400" cy="457200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7" name="Rectangle 2">
            <a:extLst>
              <a:ext uri="{FF2B5EF4-FFF2-40B4-BE49-F238E27FC236}">
                <a16:creationId xmlns:a16="http://schemas.microsoft.com/office/drawing/2014/main" id="{29ECC1AA-372A-4ECA-861A-1066A1A324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228600"/>
            <a:ext cx="7772400" cy="1143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Correlated Nested Queries </a:t>
            </a:r>
          </a:p>
        </p:txBody>
      </p:sp>
      <p:sp>
        <p:nvSpPr>
          <p:cNvPr id="41988" name="Text Box 3">
            <a:extLst>
              <a:ext uri="{FF2B5EF4-FFF2-40B4-BE49-F238E27FC236}">
                <a16:creationId xmlns:a16="http://schemas.microsoft.com/office/drawing/2014/main" id="{C7F7A137-30D9-4B1E-8A37-CAECF804D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4838" y="1295400"/>
            <a:ext cx="82343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 dirty="0">
                <a:ea typeface="新細明體" panose="02020500000000000000" pitchFamily="18" charset="-120"/>
              </a:rPr>
              <a:t>Output a row &lt;</a:t>
            </a:r>
            <a:r>
              <a:rPr lang="en-US" altLang="zh-TW" sz="2800" i="1" dirty="0">
                <a:ea typeface="新細明體" panose="02020500000000000000" pitchFamily="18" charset="-120"/>
              </a:rPr>
              <a:t>prof, dept</a:t>
            </a:r>
            <a:r>
              <a:rPr lang="en-US" altLang="zh-TW" sz="2800" dirty="0">
                <a:ea typeface="新細明體" panose="02020500000000000000" pitchFamily="18" charset="-120"/>
              </a:rPr>
              <a:t>&gt; if </a:t>
            </a:r>
            <a:r>
              <a:rPr lang="en-US" altLang="zh-TW" sz="2800" i="1" dirty="0">
                <a:ea typeface="新細明體" panose="02020500000000000000" pitchFamily="18" charset="-120"/>
              </a:rPr>
              <a:t>prof</a:t>
            </a:r>
            <a:r>
              <a:rPr lang="en-US" altLang="zh-TW" sz="2800" dirty="0">
                <a:ea typeface="新細明體" panose="02020500000000000000" pitchFamily="18" charset="-120"/>
              </a:rPr>
              <a:t>  has taught a course</a:t>
            </a:r>
          </a:p>
          <a:p>
            <a:r>
              <a:rPr lang="en-US" altLang="zh-TW" sz="2800" dirty="0">
                <a:ea typeface="新細明體" panose="02020500000000000000" pitchFamily="18" charset="-120"/>
              </a:rPr>
              <a:t> in </a:t>
            </a:r>
            <a:r>
              <a:rPr lang="en-US" altLang="zh-TW" sz="2800" i="1" dirty="0">
                <a:ea typeface="新細明體" panose="02020500000000000000" pitchFamily="18" charset="-120"/>
              </a:rPr>
              <a:t>dept.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43013" name="Text Box 5">
            <a:extLst>
              <a:ext uri="{FF2B5EF4-FFF2-40B4-BE49-F238E27FC236}">
                <a16:creationId xmlns:a16="http://schemas.microsoft.com/office/drawing/2014/main" id="{4594B323-03BA-498D-9718-B9A4F9F2B6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2590800"/>
            <a:ext cx="8382000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2400" dirty="0">
                <a:ea typeface="新細明體" panose="02020500000000000000" pitchFamily="18" charset="-120"/>
              </a:rPr>
              <a:t> </a:t>
            </a:r>
            <a:r>
              <a:rPr lang="en-US" altLang="zh-TW" sz="2400" dirty="0" err="1">
                <a:ea typeface="新細明體" panose="02020500000000000000" pitchFamily="18" charset="-120"/>
              </a:rPr>
              <a:t>P.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Name</a:t>
            </a:r>
            <a:r>
              <a:rPr lang="en-US" altLang="zh-TW" sz="2400" dirty="0">
                <a:ea typeface="新細明體" panose="02020500000000000000" pitchFamily="18" charset="-120"/>
              </a:rPr>
              <a:t>, </a:t>
            </a:r>
            <a:r>
              <a:rPr lang="en-US" altLang="zh-TW" sz="2400" dirty="0" err="1">
                <a:ea typeface="新細明體" panose="02020500000000000000" pitchFamily="18" charset="-120"/>
              </a:rPr>
              <a:t>D.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Name</a:t>
            </a:r>
            <a:r>
              <a:rPr lang="en-US" altLang="zh-TW" sz="2400" dirty="0">
                <a:ea typeface="新細明體" panose="02020500000000000000" pitchFamily="18" charset="-120"/>
              </a:rPr>
              <a:t>                    --</a:t>
            </a:r>
            <a:r>
              <a:rPr lang="en-US" altLang="zh-TW" sz="2400" i="1" dirty="0">
                <a:ea typeface="新細明體" panose="02020500000000000000" pitchFamily="18" charset="-120"/>
              </a:rPr>
              <a:t>outer query</a:t>
            </a: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</a:t>
            </a:r>
            <a:r>
              <a:rPr lang="en-US" altLang="zh-TW" sz="2400" dirty="0">
                <a:effectLst>
                  <a:outerShdw blurRad="38100" dist="38100" dir="2700000" algn="tl">
                    <a:srgbClr val="C0C0C0"/>
                  </a:outerShdw>
                </a:effectLst>
                <a:latin typeface="Century Gothic" panose="020B0502020202020204" pitchFamily="34" charset="0"/>
                <a:ea typeface="新細明體" panose="02020500000000000000" pitchFamily="18" charset="-120"/>
              </a:rPr>
              <a:t>each &lt;P, D&gt; pair</a:t>
            </a:r>
            <a:endParaRPr lang="en-US" altLang="zh-TW" sz="2400" dirty="0">
              <a:solidFill>
                <a:srgbClr val="990033"/>
              </a:solidFill>
              <a:ea typeface="新細明體" panose="02020500000000000000" pitchFamily="18" charset="-120"/>
            </a:endParaRP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2400" dirty="0">
                <a:ea typeface="新細明體" panose="02020500000000000000" pitchFamily="18" charset="-120"/>
              </a:rPr>
              <a:t> </a:t>
            </a:r>
            <a:r>
              <a:rPr lang="en-US" altLang="zh-TW" sz="2400" dirty="0" err="1">
                <a:ea typeface="新細明體" panose="02020500000000000000" pitchFamily="18" charset="-120"/>
              </a:rPr>
              <a:t>P.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Id</a:t>
            </a:r>
            <a:r>
              <a:rPr lang="en-US" altLang="zh-TW" sz="2400" dirty="0">
                <a:ea typeface="新細明體" panose="02020500000000000000" pitchFamily="18" charset="-120"/>
              </a:rPr>
              <a:t>  </a:t>
            </a:r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IN </a:t>
            </a: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</a:t>
            </a:r>
            <a:r>
              <a:rPr lang="en-US" altLang="zh-TW" sz="2400" dirty="0">
                <a:solidFill>
                  <a:srgbClr val="008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(the list of professor Ids that taught a course in </a:t>
            </a:r>
          </a:p>
          <a:p>
            <a:r>
              <a:rPr lang="en-US" altLang="zh-TW" sz="2400" dirty="0">
                <a:solidFill>
                  <a:srgbClr val="008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    </a:t>
            </a:r>
            <a:r>
              <a:rPr lang="en-US" altLang="zh-TW" sz="2400" dirty="0" err="1">
                <a:solidFill>
                  <a:srgbClr val="008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D.deptId</a:t>
            </a:r>
            <a:r>
              <a:rPr lang="en-US" altLang="zh-TW" sz="2400" dirty="0">
                <a:solidFill>
                  <a:srgbClr val="008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7C5D41-0E1D-474F-B82D-904AC6A93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53</a:t>
            </a:fld>
            <a:endParaRPr lang="en-US" altLang="zh-TW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824B0-E8E1-6335-D074-618F678D556B}"/>
              </a:ext>
            </a:extLst>
          </p:cNvPr>
          <p:cNvSpPr txBox="1"/>
          <p:nvPr/>
        </p:nvSpPr>
        <p:spPr>
          <a:xfrm>
            <a:off x="1266825" y="5248374"/>
            <a:ext cx="7572375" cy="461665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2">
                    <a:lumMod val="75000"/>
                  </a:schemeClr>
                </a:solidFill>
              </a:rPr>
              <a:t>Tip:  Consider P and D as two fixed tuples in the subquery.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836727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1" name="Rectangle 2">
            <a:extLst>
              <a:ext uri="{FF2B5EF4-FFF2-40B4-BE49-F238E27FC236}">
                <a16:creationId xmlns:a16="http://schemas.microsoft.com/office/drawing/2014/main" id="{3CC35A6F-EC05-4959-9DE6-700A7D664E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1143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Correlated Nested Queries (con’t)</a:t>
            </a:r>
          </a:p>
        </p:txBody>
      </p:sp>
      <p:sp>
        <p:nvSpPr>
          <p:cNvPr id="44035" name="Rectangle 3">
            <a:extLst>
              <a:ext uri="{FF2B5EF4-FFF2-40B4-BE49-F238E27FC236}">
                <a16:creationId xmlns:a16="http://schemas.microsoft.com/office/drawing/2014/main" id="{8C116AB2-7245-40A4-A547-D7692D951B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524000"/>
            <a:ext cx="8458200" cy="41148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Tuple variables T and C are </a:t>
            </a:r>
            <a:r>
              <a:rPr lang="en-US" altLang="zh-TW" sz="2800" i="1">
                <a:ea typeface="新細明體" panose="02020500000000000000" pitchFamily="18" charset="-120"/>
              </a:rPr>
              <a:t>local</a:t>
            </a:r>
            <a:r>
              <a:rPr lang="en-US" altLang="zh-TW" sz="2800">
                <a:ea typeface="新細明體" panose="02020500000000000000" pitchFamily="18" charset="-120"/>
              </a:rPr>
              <a:t> to subquery</a:t>
            </a:r>
          </a:p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Tuple variables P and D are </a:t>
            </a:r>
            <a:r>
              <a:rPr lang="en-US" altLang="zh-TW" sz="2800" i="1">
                <a:ea typeface="新細明體" panose="02020500000000000000" pitchFamily="18" charset="-120"/>
              </a:rPr>
              <a:t>global</a:t>
            </a:r>
            <a:r>
              <a:rPr lang="en-US" altLang="zh-TW" sz="2800">
                <a:ea typeface="新細明體" panose="02020500000000000000" pitchFamily="18" charset="-120"/>
              </a:rPr>
              <a:t> to subquery</a:t>
            </a:r>
          </a:p>
          <a:p>
            <a:pPr>
              <a:lnSpc>
                <a:spcPct val="90000"/>
              </a:lnSpc>
            </a:pPr>
            <a:r>
              <a:rPr lang="en-US" altLang="zh-TW" sz="2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Correlation</a:t>
            </a:r>
            <a:r>
              <a:rPr lang="en-US" altLang="zh-TW" sz="2800">
                <a:ea typeface="新細明體" panose="02020500000000000000" pitchFamily="18" charset="-120"/>
              </a:rPr>
              <a:t>: subquery  uses a global variable, D</a:t>
            </a:r>
          </a:p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The value of D.</a:t>
            </a:r>
            <a:r>
              <a:rPr lang="en-US" altLang="zh-TW" sz="2800" i="1">
                <a:ea typeface="新細明體" panose="02020500000000000000" pitchFamily="18" charset="-120"/>
              </a:rPr>
              <a:t>DeptId</a:t>
            </a:r>
            <a:r>
              <a:rPr lang="en-US" altLang="zh-TW" sz="2800">
                <a:ea typeface="新細明體" panose="02020500000000000000" pitchFamily="18" charset="-120"/>
              </a:rPr>
              <a:t>  parameterizes an evaluation of the subquery</a:t>
            </a:r>
          </a:p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Subquery must (at least) be  re-evaluated for each distinct value of D.</a:t>
            </a:r>
            <a:r>
              <a:rPr lang="en-US" altLang="zh-TW" sz="2800" i="1">
                <a:ea typeface="新細明體" panose="02020500000000000000" pitchFamily="18" charset="-120"/>
              </a:rPr>
              <a:t>DeptId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TW" sz="2800" i="1">
              <a:ea typeface="新細明體" panose="02020500000000000000" pitchFamily="18" charset="-120"/>
            </a:endParaRPr>
          </a:p>
          <a:p>
            <a:pPr>
              <a:lnSpc>
                <a:spcPct val="90000"/>
              </a:lnSpc>
            </a:pPr>
            <a:r>
              <a:rPr lang="en-US" altLang="zh-TW" sz="2800" i="1">
                <a:ea typeface="新細明體" panose="02020500000000000000" pitchFamily="18" charset="-120"/>
              </a:rPr>
              <a:t>Correlated queries can be expensive to evaluate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A25742-F6B5-4DFE-80D2-8A2B75BE1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54</a:t>
            </a:fld>
            <a:endParaRPr lang="en-US" altLang="zh-TW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5" name="Rectangle 2">
            <a:extLst>
              <a:ext uri="{FF2B5EF4-FFF2-40B4-BE49-F238E27FC236}">
                <a16:creationId xmlns:a16="http://schemas.microsoft.com/office/drawing/2014/main" id="{8E3857B8-6B76-4BEA-8634-9CD11BE744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152400"/>
            <a:ext cx="7772400" cy="6858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Division in SQL</a:t>
            </a:r>
          </a:p>
        </p:txBody>
      </p:sp>
      <p:sp>
        <p:nvSpPr>
          <p:cNvPr id="44036" name="Rectangle 3">
            <a:extLst>
              <a:ext uri="{FF2B5EF4-FFF2-40B4-BE49-F238E27FC236}">
                <a16:creationId xmlns:a16="http://schemas.microsoft.com/office/drawing/2014/main" id="{F5A3428D-962A-447D-AAA9-FB3260D729F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990600"/>
            <a:ext cx="7924800" cy="21336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sz="2800" i="1" dirty="0">
                <a:ea typeface="新細明體" panose="02020500000000000000" pitchFamily="18" charset="-120"/>
              </a:rPr>
              <a:t>Query type</a:t>
            </a:r>
            <a:r>
              <a:rPr lang="en-US" altLang="zh-TW" sz="2800" dirty="0">
                <a:ea typeface="新細明體" panose="02020500000000000000" pitchFamily="18" charset="-120"/>
              </a:rPr>
              <a:t>: Find the subset of items in one set that are related to </a:t>
            </a:r>
            <a:r>
              <a:rPr lang="en-US" altLang="zh-TW" sz="2800" i="1" dirty="0">
                <a:ea typeface="新細明體" panose="02020500000000000000" pitchFamily="18" charset="-120"/>
              </a:rPr>
              <a:t>all</a:t>
            </a:r>
            <a:r>
              <a:rPr lang="en-US" altLang="zh-TW" sz="2800" dirty="0">
                <a:ea typeface="新細明體" panose="02020500000000000000" pitchFamily="18" charset="-120"/>
              </a:rPr>
              <a:t> items in another set</a:t>
            </a:r>
          </a:p>
          <a:p>
            <a:pPr>
              <a:lnSpc>
                <a:spcPct val="90000"/>
              </a:lnSpc>
            </a:pPr>
            <a:r>
              <a:rPr lang="en-US" altLang="zh-TW" sz="2800" i="1" dirty="0">
                <a:solidFill>
                  <a:schemeClr val="accent2"/>
                </a:solidFill>
                <a:ea typeface="新細明體" panose="02020500000000000000" pitchFamily="18" charset="-120"/>
              </a:rPr>
              <a:t>Example</a:t>
            </a:r>
            <a:r>
              <a:rPr lang="en-US" altLang="zh-TW" sz="2800" dirty="0">
                <a:solidFill>
                  <a:schemeClr val="accent2"/>
                </a:solidFill>
                <a:ea typeface="新細明體" panose="02020500000000000000" pitchFamily="18" charset="-120"/>
              </a:rPr>
              <a:t>: Find professors who taught courses in </a:t>
            </a:r>
            <a:r>
              <a:rPr lang="en-US" altLang="zh-TW" sz="2800" i="1" dirty="0">
                <a:solidFill>
                  <a:schemeClr val="accent2"/>
                </a:solidFill>
                <a:ea typeface="新細明體" panose="02020500000000000000" pitchFamily="18" charset="-120"/>
              </a:rPr>
              <a:t>all</a:t>
            </a:r>
            <a:r>
              <a:rPr lang="en-US" altLang="zh-TW" sz="2800" dirty="0">
                <a:solidFill>
                  <a:schemeClr val="accent2"/>
                </a:solidFill>
                <a:ea typeface="新細明體" panose="02020500000000000000" pitchFamily="18" charset="-120"/>
              </a:rPr>
              <a:t> departments</a:t>
            </a:r>
          </a:p>
          <a:p>
            <a:pPr lvl="1">
              <a:lnSpc>
                <a:spcPct val="90000"/>
              </a:lnSpc>
            </a:pPr>
            <a:r>
              <a:rPr lang="en-US" altLang="zh-TW" sz="2400" dirty="0">
                <a:ea typeface="新細明體" panose="02020500000000000000" pitchFamily="18" charset="-120"/>
              </a:rPr>
              <a:t>Why does this involve division?</a:t>
            </a:r>
          </a:p>
        </p:txBody>
      </p:sp>
      <p:sp>
        <p:nvSpPr>
          <p:cNvPr id="44037" name="Rectangle 4">
            <a:extLst>
              <a:ext uri="{FF2B5EF4-FFF2-40B4-BE49-F238E27FC236}">
                <a16:creationId xmlns:a16="http://schemas.microsoft.com/office/drawing/2014/main" id="{9A91E09F-97FC-47E8-A8C8-2D9D2AE1FC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3657600"/>
            <a:ext cx="2133600" cy="1752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44038" name="Text Box 5">
            <a:extLst>
              <a:ext uri="{FF2B5EF4-FFF2-40B4-BE49-F238E27FC236}">
                <a16:creationId xmlns:a16="http://schemas.microsoft.com/office/drawing/2014/main" id="{224FBE37-BC2E-415C-930F-8FE0F9A0BD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0" y="3200400"/>
            <a:ext cx="20574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i="1">
                <a:ea typeface="新細明體" panose="02020500000000000000" pitchFamily="18" charset="-120"/>
              </a:rPr>
              <a:t>ProfId</a:t>
            </a:r>
            <a:r>
              <a:rPr lang="en-US" altLang="zh-TW">
                <a:ea typeface="新細明體" panose="02020500000000000000" pitchFamily="18" charset="-120"/>
              </a:rPr>
              <a:t>       </a:t>
            </a:r>
            <a:r>
              <a:rPr lang="en-US" altLang="zh-TW" i="1">
                <a:ea typeface="新細明體" panose="02020500000000000000" pitchFamily="18" charset="-120"/>
              </a:rPr>
              <a:t>DeptId</a:t>
            </a:r>
          </a:p>
        </p:txBody>
      </p:sp>
      <p:sp>
        <p:nvSpPr>
          <p:cNvPr id="44039" name="Rectangle 6">
            <a:extLst>
              <a:ext uri="{FF2B5EF4-FFF2-40B4-BE49-F238E27FC236}">
                <a16:creationId xmlns:a16="http://schemas.microsoft.com/office/drawing/2014/main" id="{5ECBBAD9-DCC8-43BB-9B60-716D5DD6DD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6400" y="3657600"/>
            <a:ext cx="9144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44040" name="Text Box 7">
            <a:extLst>
              <a:ext uri="{FF2B5EF4-FFF2-40B4-BE49-F238E27FC236}">
                <a16:creationId xmlns:a16="http://schemas.microsoft.com/office/drawing/2014/main" id="{85AB3E8D-FD76-4187-A7EF-246AB2CC4E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3200400"/>
            <a:ext cx="8890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i="1">
                <a:ea typeface="新細明體" panose="02020500000000000000" pitchFamily="18" charset="-120"/>
              </a:rPr>
              <a:t>DeptId</a:t>
            </a:r>
          </a:p>
        </p:txBody>
      </p:sp>
      <p:sp>
        <p:nvSpPr>
          <p:cNvPr id="44041" name="Text Box 8">
            <a:extLst>
              <a:ext uri="{FF2B5EF4-FFF2-40B4-BE49-F238E27FC236}">
                <a16:creationId xmlns:a16="http://schemas.microsoft.com/office/drawing/2014/main" id="{F2BFF6BA-ADBE-4BA5-9ACF-4B49C8272C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9400" y="3581400"/>
            <a:ext cx="208438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>
                <a:ea typeface="新細明體" panose="02020500000000000000" pitchFamily="18" charset="-120"/>
              </a:rPr>
              <a:t>All department Ids</a:t>
            </a:r>
          </a:p>
        </p:txBody>
      </p:sp>
      <p:sp>
        <p:nvSpPr>
          <p:cNvPr id="44042" name="Text Box 9">
            <a:extLst>
              <a:ext uri="{FF2B5EF4-FFF2-40B4-BE49-F238E27FC236}">
                <a16:creationId xmlns:a16="http://schemas.microsoft.com/office/drawing/2014/main" id="{C583AA64-9AE2-42A6-B95F-4935836EBB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3505200"/>
            <a:ext cx="2011363" cy="1616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>
                <a:ea typeface="新細明體" panose="02020500000000000000" pitchFamily="18" charset="-120"/>
              </a:rPr>
              <a:t>Contains row</a:t>
            </a:r>
          </a:p>
          <a:p>
            <a:r>
              <a:rPr lang="en-US" altLang="zh-TW">
                <a:ea typeface="新細明體" panose="02020500000000000000" pitchFamily="18" charset="-120"/>
              </a:rPr>
              <a:t>&lt;</a:t>
            </a:r>
            <a:r>
              <a:rPr lang="en-US" altLang="zh-TW" i="1">
                <a:ea typeface="新細明體" panose="02020500000000000000" pitchFamily="18" charset="-120"/>
              </a:rPr>
              <a:t>p,d</a:t>
            </a:r>
            <a:r>
              <a:rPr lang="en-US" altLang="zh-TW">
                <a:ea typeface="新細明體" panose="02020500000000000000" pitchFamily="18" charset="-120"/>
              </a:rPr>
              <a:t>&gt; if professor</a:t>
            </a:r>
          </a:p>
          <a:p>
            <a:r>
              <a:rPr lang="en-US" altLang="zh-TW" i="1">
                <a:ea typeface="新細明體" panose="02020500000000000000" pitchFamily="18" charset="-120"/>
              </a:rPr>
              <a:t>p</a:t>
            </a:r>
            <a:r>
              <a:rPr lang="en-US" altLang="zh-TW">
                <a:ea typeface="新細明體" panose="02020500000000000000" pitchFamily="18" charset="-120"/>
              </a:rPr>
              <a:t> taught a</a:t>
            </a:r>
          </a:p>
          <a:p>
            <a:r>
              <a:rPr lang="en-US" altLang="zh-TW">
                <a:ea typeface="新細明體" panose="02020500000000000000" pitchFamily="18" charset="-120"/>
              </a:rPr>
              <a:t>course in </a:t>
            </a:r>
          </a:p>
          <a:p>
            <a:r>
              <a:rPr lang="en-US" altLang="zh-TW">
                <a:ea typeface="新細明體" panose="02020500000000000000" pitchFamily="18" charset="-120"/>
              </a:rPr>
              <a:t>department </a:t>
            </a:r>
            <a:r>
              <a:rPr lang="en-US" altLang="zh-TW" i="1">
                <a:ea typeface="新細明體" panose="02020500000000000000" pitchFamily="18" charset="-120"/>
              </a:rPr>
              <a:t>d</a:t>
            </a:r>
          </a:p>
        </p:txBody>
      </p:sp>
      <p:sp>
        <p:nvSpPr>
          <p:cNvPr id="44043" name="Line 10">
            <a:extLst>
              <a:ext uri="{FF2B5EF4-FFF2-40B4-BE49-F238E27FC236}">
                <a16:creationId xmlns:a16="http://schemas.microsoft.com/office/drawing/2014/main" id="{6D36A06B-F08F-4522-8019-6A539073B6DC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3400" y="3657600"/>
            <a:ext cx="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44044" name="Line 12">
            <a:extLst>
              <a:ext uri="{FF2B5EF4-FFF2-40B4-BE49-F238E27FC236}">
                <a16:creationId xmlns:a16="http://schemas.microsoft.com/office/drawing/2014/main" id="{EB96D599-B55B-4F38-B3FA-DB0335911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3600" y="4495800"/>
            <a:ext cx="8382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44045" name="Line 13">
            <a:extLst>
              <a:ext uri="{FF2B5EF4-FFF2-40B4-BE49-F238E27FC236}">
                <a16:creationId xmlns:a16="http://schemas.microsoft.com/office/drawing/2014/main" id="{B2965A10-62BB-4FCF-9C1A-40543B5276B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553200" y="4038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44046" name="Text Box 14">
            <a:extLst>
              <a:ext uri="{FF2B5EF4-FFF2-40B4-BE49-F238E27FC236}">
                <a16:creationId xmlns:a16="http://schemas.microsoft.com/office/drawing/2014/main" id="{9CCE56B5-DBEF-4425-AABA-5CEE8E6AE2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5715000"/>
            <a:ext cx="736123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ea typeface="新細明體" panose="02020500000000000000" pitchFamily="18" charset="-120"/>
                <a:sym typeface="Symbol" panose="05050102010706020507" pitchFamily="18" charset="2"/>
              </a:rPr>
              <a:t>     </a:t>
            </a:r>
            <a:r>
              <a:rPr lang="en-US" altLang="zh-TW" sz="2400" baseline="-25000">
                <a:ea typeface="新細明體" panose="02020500000000000000" pitchFamily="18" charset="-120"/>
                <a:sym typeface="Symbol" panose="05050102010706020507" pitchFamily="18" charset="2"/>
              </a:rPr>
              <a:t>ProfId,DeptId</a:t>
            </a:r>
            <a:r>
              <a:rPr lang="en-US" altLang="zh-TW" sz="2400">
                <a:ea typeface="新細明體" panose="02020500000000000000" pitchFamily="18" charset="-120"/>
                <a:sym typeface="Symbol" panose="05050102010706020507" pitchFamily="18" charset="2"/>
              </a:rPr>
              <a:t>(Teaching       Course)  /  </a:t>
            </a:r>
            <a:r>
              <a:rPr lang="en-US" altLang="zh-TW" sz="2400" baseline="-25000">
                <a:ea typeface="新細明體" panose="02020500000000000000" pitchFamily="18" charset="-120"/>
                <a:sym typeface="Symbol" panose="05050102010706020507" pitchFamily="18" charset="2"/>
              </a:rPr>
              <a:t>DeptId</a:t>
            </a:r>
            <a:r>
              <a:rPr lang="en-US" altLang="zh-TW" sz="2400">
                <a:ea typeface="新細明體" panose="02020500000000000000" pitchFamily="18" charset="-120"/>
                <a:sym typeface="Symbol" panose="05050102010706020507" pitchFamily="18" charset="2"/>
              </a:rPr>
              <a:t>(Department)</a:t>
            </a:r>
            <a:endParaRPr lang="en-US" altLang="zh-TW" sz="2400">
              <a:ea typeface="新細明體" panose="02020500000000000000" pitchFamily="18" charset="-120"/>
            </a:endParaRPr>
          </a:p>
        </p:txBody>
      </p:sp>
      <p:grpSp>
        <p:nvGrpSpPr>
          <p:cNvPr id="44047" name="Group 15">
            <a:extLst>
              <a:ext uri="{FF2B5EF4-FFF2-40B4-BE49-F238E27FC236}">
                <a16:creationId xmlns:a16="http://schemas.microsoft.com/office/drawing/2014/main" id="{C13E3370-3466-470F-A0F0-4044003F293B}"/>
              </a:ext>
            </a:extLst>
          </p:cNvPr>
          <p:cNvGrpSpPr>
            <a:grpSpLocks/>
          </p:cNvGrpSpPr>
          <p:nvPr/>
        </p:nvGrpSpPr>
        <p:grpSpPr bwMode="auto">
          <a:xfrm>
            <a:off x="4267200" y="5867400"/>
            <a:ext cx="304800" cy="152400"/>
            <a:chOff x="2352" y="2064"/>
            <a:chExt cx="288" cy="96"/>
          </a:xfrm>
        </p:grpSpPr>
        <p:sp>
          <p:nvSpPr>
            <p:cNvPr id="44049" name="AutoShape 16">
              <a:extLst>
                <a:ext uri="{FF2B5EF4-FFF2-40B4-BE49-F238E27FC236}">
                  <a16:creationId xmlns:a16="http://schemas.microsoft.com/office/drawing/2014/main" id="{B905714B-7E65-43E4-8014-CFBC7F4A798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44050" name="AutoShape 17">
              <a:extLst>
                <a:ext uri="{FF2B5EF4-FFF2-40B4-BE49-F238E27FC236}">
                  <a16:creationId xmlns:a16="http://schemas.microsoft.com/office/drawing/2014/main" id="{118ED970-40CC-4963-B079-DE0E6C5D1DB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pic>
        <p:nvPicPr>
          <p:cNvPr id="44048" name="Picture 21" descr="C:\2007\csc6710_fall\slides\schema_exp.bmp">
            <a:extLst>
              <a:ext uri="{FF2B5EF4-FFF2-40B4-BE49-F238E27FC236}">
                <a16:creationId xmlns:a16="http://schemas.microsoft.com/office/drawing/2014/main" id="{90943992-6492-4F33-BEA9-E4CF407A8E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600" y="4648200"/>
            <a:ext cx="2952750" cy="1058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8B95878-96EF-4A6C-AEB4-AC27C5D62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55</a:t>
            </a:fld>
            <a:endParaRPr lang="en-US" altLang="zh-TW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9" name="Rectangle 1026">
            <a:extLst>
              <a:ext uri="{FF2B5EF4-FFF2-40B4-BE49-F238E27FC236}">
                <a16:creationId xmlns:a16="http://schemas.microsoft.com/office/drawing/2014/main" id="{E8D85D72-211A-4D32-83C1-8AE67EF48B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Division in SQL</a:t>
            </a:r>
          </a:p>
        </p:txBody>
      </p:sp>
      <p:sp>
        <p:nvSpPr>
          <p:cNvPr id="45060" name="Rectangle 1027">
            <a:extLst>
              <a:ext uri="{FF2B5EF4-FFF2-40B4-BE49-F238E27FC236}">
                <a16:creationId xmlns:a16="http://schemas.microsoft.com/office/drawing/2014/main" id="{59E34E5E-5587-4653-82FD-E8B3932E963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905000"/>
            <a:ext cx="8458200" cy="4191000"/>
          </a:xfrm>
        </p:spPr>
        <p:txBody>
          <a:bodyPr/>
          <a:lstStyle/>
          <a:p>
            <a:r>
              <a:rPr lang="en-US" altLang="zh-TW" sz="3600" i="1">
                <a:ea typeface="新細明體" panose="02020500000000000000" pitchFamily="18" charset="-120"/>
              </a:rPr>
              <a:t>Strategy for implementing division in SQL</a:t>
            </a:r>
            <a:r>
              <a:rPr lang="en-US" altLang="zh-TW" sz="3600">
                <a:ea typeface="新細明體" panose="02020500000000000000" pitchFamily="18" charset="-120"/>
              </a:rPr>
              <a:t>: </a:t>
            </a:r>
          </a:p>
          <a:p>
            <a:pPr lvl="1"/>
            <a:r>
              <a:rPr lang="en-US" altLang="zh-TW" sz="3200">
                <a:ea typeface="新細明體" panose="02020500000000000000" pitchFamily="18" charset="-120"/>
              </a:rPr>
              <a:t>Find set, A, of all departments in which a particular professor, </a:t>
            </a:r>
            <a:r>
              <a:rPr lang="en-US" altLang="zh-TW" sz="3200" i="1">
                <a:ea typeface="新細明體" panose="02020500000000000000" pitchFamily="18" charset="-120"/>
              </a:rPr>
              <a:t>p</a:t>
            </a:r>
            <a:r>
              <a:rPr lang="en-US" altLang="zh-TW" sz="3200">
                <a:ea typeface="新細明體" panose="02020500000000000000" pitchFamily="18" charset="-120"/>
              </a:rPr>
              <a:t>, has taught a course</a:t>
            </a:r>
          </a:p>
          <a:p>
            <a:pPr lvl="1"/>
            <a:r>
              <a:rPr lang="en-US" altLang="zh-TW" sz="3200">
                <a:ea typeface="新細明體" panose="02020500000000000000" pitchFamily="18" charset="-120"/>
              </a:rPr>
              <a:t>Find set, B, of all departments </a:t>
            </a:r>
          </a:p>
          <a:p>
            <a:pPr lvl="1"/>
            <a:r>
              <a:rPr lang="en-US" altLang="zh-TW" sz="3200">
                <a:ea typeface="新細明體" panose="02020500000000000000" pitchFamily="18" charset="-120"/>
              </a:rPr>
              <a:t>Output </a:t>
            </a:r>
            <a:r>
              <a:rPr lang="en-US" altLang="zh-TW" sz="3200" i="1">
                <a:ea typeface="新細明體" panose="02020500000000000000" pitchFamily="18" charset="-120"/>
              </a:rPr>
              <a:t>p </a:t>
            </a:r>
            <a:r>
              <a:rPr lang="en-US" altLang="zh-TW" sz="3200">
                <a:ea typeface="新細明體" panose="02020500000000000000" pitchFamily="18" charset="-120"/>
              </a:rPr>
              <a:t>if A 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 B, or, equivalently, if B–A is empty</a:t>
            </a:r>
          </a:p>
          <a:p>
            <a:r>
              <a:rPr lang="en-US" altLang="zh-TW" sz="3600" i="1">
                <a:ea typeface="新細明體" panose="02020500000000000000" pitchFamily="18" charset="-120"/>
              </a:rPr>
              <a:t>But how to do this exactly in SQL?</a:t>
            </a:r>
            <a:endParaRPr lang="en-US" altLang="zh-TW" sz="3600">
              <a:ea typeface="新細明體" panose="02020500000000000000" pitchFamily="18" charset="-120"/>
            </a:endParaRPr>
          </a:p>
          <a:p>
            <a:pPr lvl="1"/>
            <a:endParaRPr lang="en-US" altLang="zh-TW" sz="3200">
              <a:ea typeface="新細明體" panose="02020500000000000000" pitchFamily="18" charset="-120"/>
            </a:endParaRPr>
          </a:p>
          <a:p>
            <a:endParaRPr lang="en-US" altLang="zh-TW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347643-F187-4EC8-B960-0ACEEBCCE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56</a:t>
            </a:fld>
            <a:endParaRPr lang="en-US" altLang="zh-TW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3" name="Rectangle 2">
            <a:extLst>
              <a:ext uri="{FF2B5EF4-FFF2-40B4-BE49-F238E27FC236}">
                <a16:creationId xmlns:a16="http://schemas.microsoft.com/office/drawing/2014/main" id="{DA9A006A-D9B8-41CD-B9EF-068E343B4E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Division Solution Sketch (1)</a:t>
            </a:r>
          </a:p>
        </p:txBody>
      </p:sp>
      <p:sp>
        <p:nvSpPr>
          <p:cNvPr id="160773" name="AutoShape 5">
            <a:extLst>
              <a:ext uri="{FF2B5EF4-FFF2-40B4-BE49-F238E27FC236}">
                <a16:creationId xmlns:a16="http://schemas.microsoft.com/office/drawing/2014/main" id="{0F880A20-F45C-4102-82F2-F092486605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00" y="1752600"/>
            <a:ext cx="7620000" cy="4955203"/>
          </a:xfrm>
          <a:prstGeom prst="wedgeRectCallout">
            <a:avLst>
              <a:gd name="adj1" fmla="val -43750"/>
              <a:gd name="adj2" fmla="val 70000"/>
            </a:avLst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 </a:t>
            </a:r>
            <a:r>
              <a:rPr lang="en-US" altLang="zh-TW" sz="2400" dirty="0" err="1">
                <a:ea typeface="新細明體" panose="02020500000000000000" pitchFamily="18" charset="-120"/>
              </a:rPr>
              <a:t>P.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Id</a:t>
            </a:r>
            <a:endParaRPr lang="en-US" altLang="zh-TW" sz="2400" i="1" dirty="0">
              <a:ea typeface="新細明體" panose="02020500000000000000" pitchFamily="18" charset="-120"/>
            </a:endParaRP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 </a:t>
            </a:r>
            <a:r>
              <a:rPr lang="en-US" altLang="zh-TW" sz="24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Professor</a:t>
            </a:r>
            <a:r>
              <a:rPr lang="en-US" altLang="zh-TW" sz="2400" dirty="0">
                <a:ea typeface="新細明體" panose="02020500000000000000" pitchFamily="18" charset="-120"/>
              </a:rPr>
              <a:t> P</a:t>
            </a:r>
          </a:p>
          <a:p>
            <a:r>
              <a:rPr lang="en-US" altLang="zh-TW" sz="2400" dirty="0">
                <a:ea typeface="新細明體" panose="02020500000000000000" pitchFamily="18" charset="-120"/>
              </a:rPr>
              <a:t>WHERE</a:t>
            </a:r>
            <a:r>
              <a:rPr lang="en-US" altLang="zh-TW" sz="2400" dirty="0">
                <a:solidFill>
                  <a:srgbClr val="660066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800" dirty="0">
                <a:solidFill>
                  <a:srgbClr val="990033"/>
                </a:solidFill>
                <a:ea typeface="新細明體" panose="02020500000000000000" pitchFamily="18" charset="-120"/>
              </a:rPr>
              <a:t>P taught courses in every department</a:t>
            </a:r>
          </a:p>
          <a:p>
            <a:endParaRPr lang="en-US" altLang="zh-TW" sz="24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 </a:t>
            </a:r>
            <a:r>
              <a:rPr lang="en-US" altLang="zh-TW" sz="2400" dirty="0" err="1">
                <a:ea typeface="新細明體" panose="02020500000000000000" pitchFamily="18" charset="-120"/>
              </a:rPr>
              <a:t>P.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Id</a:t>
            </a:r>
            <a:endParaRPr lang="en-US" altLang="zh-TW" sz="2400" i="1" dirty="0">
              <a:ea typeface="新細明體" panose="02020500000000000000" pitchFamily="18" charset="-120"/>
            </a:endParaRP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 </a:t>
            </a:r>
            <a:r>
              <a:rPr lang="en-US" altLang="zh-TW" sz="24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Professor</a:t>
            </a:r>
            <a:r>
              <a:rPr lang="en-US" altLang="zh-TW" sz="2400" dirty="0">
                <a:ea typeface="新細明體" panose="02020500000000000000" pitchFamily="18" charset="-120"/>
              </a:rPr>
              <a:t> P</a:t>
            </a:r>
          </a:p>
          <a:p>
            <a:r>
              <a:rPr lang="en-US" altLang="zh-TW" sz="2400" dirty="0">
                <a:ea typeface="新細明體" panose="02020500000000000000" pitchFamily="18" charset="-120"/>
              </a:rPr>
              <a:t>WHERE</a:t>
            </a:r>
            <a:r>
              <a:rPr lang="en-US" altLang="zh-TW" sz="2400" dirty="0">
                <a:solidFill>
                  <a:srgbClr val="660066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400" dirty="0">
                <a:solidFill>
                  <a:srgbClr val="990033"/>
                </a:solidFill>
                <a:ea typeface="新細明體" panose="02020500000000000000" pitchFamily="18" charset="-120"/>
              </a:rPr>
              <a:t>there does not exist any department that P has never taught a course</a:t>
            </a:r>
          </a:p>
          <a:p>
            <a:endParaRPr lang="en-US" altLang="zh-TW" sz="2400" dirty="0">
              <a:solidFill>
                <a:srgbClr val="990033"/>
              </a:solidFill>
              <a:ea typeface="新細明體" panose="02020500000000000000" pitchFamily="18" charset="-120"/>
            </a:endParaRP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 </a:t>
            </a:r>
            <a:r>
              <a:rPr lang="en-US" altLang="zh-TW" sz="2400" dirty="0" err="1">
                <a:ea typeface="新細明體" panose="02020500000000000000" pitchFamily="18" charset="-120"/>
              </a:rPr>
              <a:t>P.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Id</a:t>
            </a:r>
            <a:endParaRPr lang="en-US" altLang="zh-TW" sz="2400" i="1" dirty="0">
              <a:ea typeface="新細明體" panose="02020500000000000000" pitchFamily="18" charset="-120"/>
            </a:endParaRP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 </a:t>
            </a:r>
            <a:r>
              <a:rPr lang="en-US" altLang="zh-TW" sz="24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Professor</a:t>
            </a:r>
            <a:r>
              <a:rPr lang="en-US" altLang="zh-TW" sz="2400" dirty="0">
                <a:ea typeface="新細明體" panose="02020500000000000000" pitchFamily="18" charset="-120"/>
              </a:rPr>
              <a:t> P</a:t>
            </a:r>
          </a:p>
          <a:p>
            <a:r>
              <a:rPr lang="en-US" altLang="zh-TW" sz="2400" dirty="0">
                <a:ea typeface="新細明體" panose="02020500000000000000" pitchFamily="18" charset="-120"/>
              </a:rPr>
              <a:t>WHERE</a:t>
            </a:r>
            <a:r>
              <a:rPr lang="en-US" altLang="zh-TW" sz="2400" dirty="0">
                <a:solidFill>
                  <a:srgbClr val="660066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400" dirty="0">
                <a:solidFill>
                  <a:srgbClr val="990033"/>
                </a:solidFill>
                <a:ea typeface="新細明體" panose="02020500000000000000" pitchFamily="18" charset="-120"/>
              </a:rPr>
              <a:t>NOT EXISTS(a department that P has never taught a course)</a:t>
            </a:r>
            <a:endParaRPr lang="en-US" altLang="zh-TW" sz="2800" dirty="0">
              <a:solidFill>
                <a:schemeClr val="accent2"/>
              </a:solidFill>
              <a:ea typeface="新細明體" panose="02020500000000000000" pitchFamily="18" charset="-120"/>
            </a:endParaRPr>
          </a:p>
        </p:txBody>
      </p:sp>
      <p:sp>
        <p:nvSpPr>
          <p:cNvPr id="46085" name="AutoShape 9">
            <a:extLst>
              <a:ext uri="{FF2B5EF4-FFF2-40B4-BE49-F238E27FC236}">
                <a16:creationId xmlns:a16="http://schemas.microsoft.com/office/drawing/2014/main" id="{6C412A22-8537-4B1F-9871-9150F1217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3048000"/>
            <a:ext cx="304800" cy="304800"/>
          </a:xfrm>
          <a:prstGeom prst="down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46086" name="AutoShape 10">
            <a:extLst>
              <a:ext uri="{FF2B5EF4-FFF2-40B4-BE49-F238E27FC236}">
                <a16:creationId xmlns:a16="http://schemas.microsoft.com/office/drawing/2014/main" id="{D03F57B4-2B07-45AA-88D8-DE3C98775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4800600"/>
            <a:ext cx="304800" cy="304800"/>
          </a:xfrm>
          <a:prstGeom prst="down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A54E12-9E5C-4D57-979F-7474DF79E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57</a:t>
            </a:fld>
            <a:endParaRPr lang="en-US" altLang="zh-TW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7" name="Rectangle 2">
            <a:extLst>
              <a:ext uri="{FF2B5EF4-FFF2-40B4-BE49-F238E27FC236}">
                <a16:creationId xmlns:a16="http://schemas.microsoft.com/office/drawing/2014/main" id="{B012C82E-A90F-4BA8-A153-CB9360FDEB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Division Solution Sketch (1)</a:t>
            </a:r>
          </a:p>
        </p:txBody>
      </p:sp>
      <p:sp>
        <p:nvSpPr>
          <p:cNvPr id="162819" name="AutoShape 3">
            <a:extLst>
              <a:ext uri="{FF2B5EF4-FFF2-40B4-BE49-F238E27FC236}">
                <a16:creationId xmlns:a16="http://schemas.microsoft.com/office/drawing/2014/main" id="{3F2BE12B-0152-4082-986C-1C53C8D730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00" y="1752600"/>
            <a:ext cx="7620000" cy="4845050"/>
          </a:xfrm>
          <a:prstGeom prst="wedgeRectCallout">
            <a:avLst>
              <a:gd name="adj1" fmla="val -43750"/>
              <a:gd name="adj2" fmla="val 70000"/>
            </a:avLst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SELECT  </a:t>
            </a:r>
            <a:r>
              <a:rPr lang="en-US" altLang="zh-TW" sz="2400">
                <a:ea typeface="新細明體" panose="02020500000000000000" pitchFamily="18" charset="-120"/>
              </a:rPr>
              <a:t>P.</a:t>
            </a:r>
            <a:r>
              <a:rPr lang="en-US" altLang="zh-TW" sz="2400" i="1">
                <a:ea typeface="新細明體" panose="02020500000000000000" pitchFamily="18" charset="-120"/>
              </a:rPr>
              <a:t>Id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 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Professor</a:t>
            </a:r>
            <a:r>
              <a:rPr lang="en-US" altLang="zh-TW" sz="2400">
                <a:ea typeface="新細明體" panose="02020500000000000000" pitchFamily="18" charset="-120"/>
              </a:rPr>
              <a:t> P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WHERE</a:t>
            </a:r>
            <a:r>
              <a:rPr lang="en-US" altLang="zh-TW" sz="2400">
                <a:solidFill>
                  <a:srgbClr val="660066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400">
                <a:solidFill>
                  <a:srgbClr val="990033"/>
                </a:solidFill>
                <a:ea typeface="新細明體" panose="02020500000000000000" pitchFamily="18" charset="-120"/>
              </a:rPr>
              <a:t>NOT EXISTS(the departments that P has never taught a course)</a:t>
            </a:r>
            <a:endParaRPr lang="en-US" altLang="zh-TW" sz="2800">
              <a:solidFill>
                <a:srgbClr val="990033"/>
              </a:solidFill>
              <a:ea typeface="新細明體" panose="02020500000000000000" pitchFamily="18" charset="-120"/>
            </a:endParaRPr>
          </a:p>
          <a:p>
            <a:endParaRPr lang="en-US" altLang="zh-TW" sz="2800">
              <a:solidFill>
                <a:srgbClr val="990033"/>
              </a:solidFill>
              <a:ea typeface="新細明體" panose="02020500000000000000" pitchFamily="18" charset="-120"/>
            </a:endParaRP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SELECT  </a:t>
            </a:r>
            <a:r>
              <a:rPr lang="en-US" altLang="zh-TW" sz="2400">
                <a:ea typeface="新細明體" panose="02020500000000000000" pitchFamily="18" charset="-120"/>
              </a:rPr>
              <a:t>P.</a:t>
            </a:r>
            <a:r>
              <a:rPr lang="en-US" altLang="zh-TW" sz="2400" i="1">
                <a:ea typeface="新細明體" panose="02020500000000000000" pitchFamily="18" charset="-120"/>
              </a:rPr>
              <a:t>Id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 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Professor</a:t>
            </a:r>
            <a:r>
              <a:rPr lang="en-US" altLang="zh-TW" sz="2400">
                <a:ea typeface="新細明體" panose="02020500000000000000" pitchFamily="18" charset="-120"/>
              </a:rPr>
              <a:t> P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WHERE</a:t>
            </a:r>
            <a:r>
              <a:rPr lang="en-US" altLang="zh-TW" sz="2400">
                <a:solidFill>
                  <a:srgbClr val="660066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800">
                <a:solidFill>
                  <a:srgbClr val="990033"/>
                </a:solidFill>
                <a:ea typeface="新細明體" panose="02020500000000000000" pitchFamily="18" charset="-120"/>
              </a:rPr>
              <a:t>NOT EXISTS(</a:t>
            </a:r>
          </a:p>
          <a:p>
            <a:r>
              <a:rPr lang="en-US" altLang="zh-TW" sz="2800">
                <a:solidFill>
                  <a:srgbClr val="990033"/>
                </a:solidFill>
                <a:ea typeface="新細明體" panose="02020500000000000000" pitchFamily="18" charset="-120"/>
              </a:rPr>
              <a:t>  B: All departments</a:t>
            </a:r>
          </a:p>
          <a:p>
            <a:r>
              <a:rPr lang="en-US" altLang="zh-TW" sz="2800">
                <a:solidFill>
                  <a:srgbClr val="990033"/>
                </a:solidFill>
                <a:ea typeface="新細明體" panose="02020500000000000000" pitchFamily="18" charset="-120"/>
              </a:rPr>
              <a:t>  EXCEPT</a:t>
            </a:r>
          </a:p>
          <a:p>
            <a:r>
              <a:rPr lang="en-US" altLang="zh-TW" sz="2800">
                <a:solidFill>
                  <a:srgbClr val="990033"/>
                </a:solidFill>
                <a:ea typeface="新細明體" panose="02020500000000000000" pitchFamily="18" charset="-120"/>
              </a:rPr>
              <a:t>  A: the departments that P has ever taught a course)</a:t>
            </a:r>
          </a:p>
          <a:p>
            <a:r>
              <a:rPr lang="en-US" altLang="zh-TW" sz="2800">
                <a:solidFill>
                  <a:schemeClr val="accent2"/>
                </a:solidFill>
                <a:ea typeface="新細明體" panose="02020500000000000000" pitchFamily="18" charset="-120"/>
              </a:rPr>
              <a:t>But how do we formulate A and B?</a:t>
            </a:r>
          </a:p>
        </p:txBody>
      </p:sp>
      <p:sp>
        <p:nvSpPr>
          <p:cNvPr id="47109" name="AutoShape 4">
            <a:extLst>
              <a:ext uri="{FF2B5EF4-FFF2-40B4-BE49-F238E27FC236}">
                <a16:creationId xmlns:a16="http://schemas.microsoft.com/office/drawing/2014/main" id="{193224C2-8F4A-4B7F-9FCA-F3BF1F15C5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3048000"/>
            <a:ext cx="304800" cy="304800"/>
          </a:xfrm>
          <a:prstGeom prst="down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3C8851-221A-4722-9E79-9F07223F5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58</a:t>
            </a:fld>
            <a:endParaRPr lang="en-US" altLang="zh-TW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3" name="椭圆 8">
            <a:extLst>
              <a:ext uri="{FF2B5EF4-FFF2-40B4-BE49-F238E27FC236}">
                <a16:creationId xmlns:a16="http://schemas.microsoft.com/office/drawing/2014/main" id="{27617938-E94B-4240-87C4-4477FFD3F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1035" y="1541614"/>
            <a:ext cx="3124200" cy="3048000"/>
          </a:xfrm>
          <a:prstGeom prst="ellipse">
            <a:avLst/>
          </a:prstGeom>
          <a:solidFill>
            <a:srgbClr val="00B050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153604" name="椭圆 9">
            <a:extLst>
              <a:ext uri="{FF2B5EF4-FFF2-40B4-BE49-F238E27FC236}">
                <a16:creationId xmlns:a16="http://schemas.microsoft.com/office/drawing/2014/main" id="{B8E20E6D-0875-4BC6-BFDD-C4254B5FEB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2362200"/>
            <a:ext cx="1828800" cy="1752600"/>
          </a:xfrm>
          <a:prstGeom prst="ellipse">
            <a:avLst/>
          </a:prstGeom>
          <a:solidFill>
            <a:srgbClr val="FF0000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153605" name="TextBox 16">
            <a:extLst>
              <a:ext uri="{FF2B5EF4-FFF2-40B4-BE49-F238E27FC236}">
                <a16:creationId xmlns:a16="http://schemas.microsoft.com/office/drawing/2014/main" id="{477BAB8B-4140-4E44-8730-2A5EE1D2F4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5181600"/>
            <a:ext cx="174304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t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Times New Roman"/>
                <a:ea typeface="新細明體"/>
                <a:cs typeface="Times New Roman"/>
              </a:rPr>
              <a:t>B: All dept IDs</a:t>
            </a:r>
            <a:endParaRPr lang="en-US" altLang="zh-TW" dirty="0">
              <a:ea typeface="新細明體" panose="02020500000000000000" pitchFamily="18" charset="-120"/>
            </a:endParaRPr>
          </a:p>
        </p:txBody>
      </p:sp>
      <p:sp>
        <p:nvSpPr>
          <p:cNvPr id="153606" name="TextBox 17">
            <a:extLst>
              <a:ext uri="{FF2B5EF4-FFF2-40B4-BE49-F238E27FC236}">
                <a16:creationId xmlns:a16="http://schemas.microsoft.com/office/drawing/2014/main" id="{43F4C9F5-6BFD-423A-B394-A52A93D926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5105400"/>
            <a:ext cx="340221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t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Times New Roman"/>
                <a:ea typeface="新細明體"/>
                <a:cs typeface="Times New Roman"/>
              </a:rPr>
              <a:t>A: Those dept IDs that P works</a:t>
            </a:r>
            <a:endParaRPr lang="en-US" dirty="0"/>
          </a:p>
        </p:txBody>
      </p:sp>
      <p:cxnSp>
        <p:nvCxnSpPr>
          <p:cNvPr id="153607" name="直接连接符 34">
            <a:extLst>
              <a:ext uri="{FF2B5EF4-FFF2-40B4-BE49-F238E27FC236}">
                <a16:creationId xmlns:a16="http://schemas.microsoft.com/office/drawing/2014/main" id="{E54E2679-CFFE-401D-8ACA-2EA59C9872C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38400" y="3505200"/>
            <a:ext cx="0" cy="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3608" name="TextBox 48">
            <a:extLst>
              <a:ext uri="{FF2B5EF4-FFF2-40B4-BE49-F238E27FC236}">
                <a16:creationId xmlns:a16="http://schemas.microsoft.com/office/drawing/2014/main" id="{AA1ED686-3E26-41A6-8536-748752A6E5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85790" y="6019800"/>
            <a:ext cx="181652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t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Times New Roman"/>
                <a:ea typeface="新細明體"/>
                <a:cs typeface="Times New Roman"/>
              </a:rPr>
              <a:t>If B-A= Empty </a:t>
            </a:r>
            <a:endParaRPr lang="en-US" altLang="zh-TW" dirty="0">
              <a:ea typeface="新細明體" panose="02020500000000000000" pitchFamily="18" charset="-120"/>
              <a:cs typeface="Times New Roman"/>
            </a:endParaRPr>
          </a:p>
        </p:txBody>
      </p:sp>
      <p:cxnSp>
        <p:nvCxnSpPr>
          <p:cNvPr id="153609" name="直接箭头连接符 11">
            <a:extLst>
              <a:ext uri="{FF2B5EF4-FFF2-40B4-BE49-F238E27FC236}">
                <a16:creationId xmlns:a16="http://schemas.microsoft.com/office/drawing/2014/main" id="{1ECFFB00-DC61-46D7-AD7E-0BE57966763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205761" y="4259925"/>
            <a:ext cx="457200" cy="9906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3610" name="直接箭头连接符 14">
            <a:extLst>
              <a:ext uri="{FF2B5EF4-FFF2-40B4-BE49-F238E27FC236}">
                <a16:creationId xmlns:a16="http://schemas.microsoft.com/office/drawing/2014/main" id="{46640AAE-E299-4E70-9C12-F7905EA91607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038600" y="3505200"/>
            <a:ext cx="838200" cy="16764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aphicFrame>
        <p:nvGraphicFramePr>
          <p:cNvPr id="2" name="表格 24">
            <a:extLst>
              <a:ext uri="{FF2B5EF4-FFF2-40B4-BE49-F238E27FC236}">
                <a16:creationId xmlns:a16="http://schemas.microsoft.com/office/drawing/2014/main" id="{3581FADB-A692-482D-BF37-BB5E7355C8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8861966"/>
              </p:ext>
            </p:extLst>
          </p:nvPr>
        </p:nvGraphicFramePr>
        <p:xfrm>
          <a:off x="131822" y="664356"/>
          <a:ext cx="240646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2156">
                  <a:extLst>
                    <a:ext uri="{9D8B030D-6E8A-4147-A177-3AD203B41FA5}">
                      <a16:colId xmlns:a16="http://schemas.microsoft.com/office/drawing/2014/main" val="4037064148"/>
                    </a:ext>
                  </a:extLst>
                </a:gridCol>
                <a:gridCol w="802156">
                  <a:extLst>
                    <a:ext uri="{9D8B030D-6E8A-4147-A177-3AD203B41FA5}">
                      <a16:colId xmlns:a16="http://schemas.microsoft.com/office/drawing/2014/main" val="2690061881"/>
                    </a:ext>
                  </a:extLst>
                </a:gridCol>
                <a:gridCol w="802156">
                  <a:extLst>
                    <a:ext uri="{9D8B030D-6E8A-4147-A177-3AD203B41FA5}">
                      <a16:colId xmlns:a16="http://schemas.microsoft.com/office/drawing/2014/main" val="2331991773"/>
                    </a:ext>
                  </a:extLst>
                </a:gridCol>
              </a:tblGrid>
              <a:tr h="262961">
                <a:tc>
                  <a:txBody>
                    <a:bodyPr/>
                    <a:lstStyle/>
                    <a:p>
                      <a:r>
                        <a:rPr lang="zh-TW" altLang="en-US"/>
                        <a:t>facid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380227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</a:rPr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</a:rPr>
                        <a:t>john</a:t>
                      </a:r>
                      <a:endParaRPr lang="zh-TW" altLang="en-US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rgbClr val="7030A0"/>
                          </a:solidFill>
                        </a:rPr>
                        <a:t>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4334414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zh-TW" altLang="en-US" dirty="0"/>
                        <a:t>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kathy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605648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zh-TW" altLang="en-US" dirty="0"/>
                        <a:t>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frank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4471104"/>
                  </a:ext>
                </a:extLst>
              </a:tr>
            </a:tbl>
          </a:graphicData>
        </a:graphic>
      </p:graphicFrame>
      <p:graphicFrame>
        <p:nvGraphicFramePr>
          <p:cNvPr id="3" name="表格 21">
            <a:extLst>
              <a:ext uri="{FF2B5EF4-FFF2-40B4-BE49-F238E27FC236}">
                <a16:creationId xmlns:a16="http://schemas.microsoft.com/office/drawing/2014/main" id="{10F234D4-6C3F-4CCA-84F0-045A5393FA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523837"/>
              </p:ext>
            </p:extLst>
          </p:nvPr>
        </p:nvGraphicFramePr>
        <p:xfrm>
          <a:off x="344623" y="5502482"/>
          <a:ext cx="218208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043">
                  <a:extLst>
                    <a:ext uri="{9D8B030D-6E8A-4147-A177-3AD203B41FA5}">
                      <a16:colId xmlns:a16="http://schemas.microsoft.com/office/drawing/2014/main" val="3330574142"/>
                    </a:ext>
                  </a:extLst>
                </a:gridCol>
                <a:gridCol w="1091043">
                  <a:extLst>
                    <a:ext uri="{9D8B030D-6E8A-4147-A177-3AD203B41FA5}">
                      <a16:colId xmlns:a16="http://schemas.microsoft.com/office/drawing/2014/main" val="34898226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/>
                        <a:t>deptid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1223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00B050"/>
                          </a:solidFill>
                        </a:rPr>
                        <a:t>aaa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256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00B050"/>
                          </a:solidFill>
                        </a:rPr>
                        <a:t>bbb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CHE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21070"/>
                  </a:ext>
                </a:extLst>
              </a:tr>
            </a:tbl>
          </a:graphicData>
        </a:graphic>
      </p:graphicFrame>
      <p:graphicFrame>
        <p:nvGraphicFramePr>
          <p:cNvPr id="5" name="表格 26">
            <a:extLst>
              <a:ext uri="{FF2B5EF4-FFF2-40B4-BE49-F238E27FC236}">
                <a16:creationId xmlns:a16="http://schemas.microsoft.com/office/drawing/2014/main" id="{2838F050-2EB6-4F2F-89E2-8D83276CE1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3037927"/>
              </p:ext>
            </p:extLst>
          </p:nvPr>
        </p:nvGraphicFramePr>
        <p:xfrm>
          <a:off x="6431040" y="563234"/>
          <a:ext cx="187659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8299">
                  <a:extLst>
                    <a:ext uri="{9D8B030D-6E8A-4147-A177-3AD203B41FA5}">
                      <a16:colId xmlns:a16="http://schemas.microsoft.com/office/drawing/2014/main" val="2203868746"/>
                    </a:ext>
                  </a:extLst>
                </a:gridCol>
                <a:gridCol w="938299">
                  <a:extLst>
                    <a:ext uri="{9D8B030D-6E8A-4147-A177-3AD203B41FA5}">
                      <a16:colId xmlns:a16="http://schemas.microsoft.com/office/drawing/2014/main" val="1626733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/>
                        <a:t>facid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deptid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913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</a:rPr>
                        <a:t>111</a:t>
                      </a:r>
                      <a:endParaRPr lang="zh-TW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aaa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19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</a:rPr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rgbClr val="FF0000"/>
                          </a:solidFill>
                        </a:rPr>
                        <a:t>bbb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9075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/>
                        <a:t>bbb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77027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chemeClr val="tx1"/>
                          </a:solidFill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chemeClr val="tx1"/>
                          </a:solidFill>
                        </a:rPr>
                        <a:t>aaa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3677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chemeClr val="tx1"/>
                          </a:solidFill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solidFill>
                            <a:schemeClr val="tx1"/>
                          </a:solidFill>
                        </a:rPr>
                        <a:t>bbb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356501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57FD65C-D3FE-47AD-9B73-21517425B7C5}"/>
              </a:ext>
            </a:extLst>
          </p:cNvPr>
          <p:cNvSpPr txBox="1"/>
          <p:nvPr/>
        </p:nvSpPr>
        <p:spPr>
          <a:xfrm>
            <a:off x="2913214" y="971837"/>
            <a:ext cx="376787" cy="400110"/>
          </a:xfrm>
          <a:prstGeom prst="rect">
            <a:avLst/>
          </a:prstGeom>
          <a:solidFill>
            <a:srgbClr val="FFFFFF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Times New Roman"/>
                <a:cs typeface="Times New Roman"/>
              </a:rPr>
              <a:t>P</a:t>
            </a:r>
            <a:endParaRPr lang="en-US" dirty="0">
              <a:latin typeface="Times New Roman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41F77C3-2ABE-41BE-9AFC-77406C365244}"/>
              </a:ext>
            </a:extLst>
          </p:cNvPr>
          <p:cNvCxnSpPr/>
          <p:nvPr/>
        </p:nvCxnSpPr>
        <p:spPr bwMode="auto">
          <a:xfrm flipH="1" flipV="1">
            <a:off x="2506988" y="1157214"/>
            <a:ext cx="418144" cy="1608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5D957-E00C-43B0-9AAC-F9543E0B1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59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074350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1" name="Rectangle 2">
            <a:extLst>
              <a:ext uri="{FF2B5EF4-FFF2-40B4-BE49-F238E27FC236}">
                <a16:creationId xmlns:a16="http://schemas.microsoft.com/office/drawing/2014/main" id="{B1DAB0D7-5214-4689-98AC-902B6A68FA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228600"/>
            <a:ext cx="7772400" cy="1143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Division – SQL Solution in details</a:t>
            </a:r>
          </a:p>
        </p:txBody>
      </p:sp>
      <p:sp>
        <p:nvSpPr>
          <p:cNvPr id="46083" name="Text Box 3">
            <a:extLst>
              <a:ext uri="{FF2B5EF4-FFF2-40B4-BE49-F238E27FC236}">
                <a16:creationId xmlns:a16="http://schemas.microsoft.com/office/drawing/2014/main" id="{7DE06FA8-DD21-4481-905D-9DCB2E35DD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498600"/>
            <a:ext cx="7617022" cy="41549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 </a:t>
            </a:r>
            <a:r>
              <a:rPr lang="en-US" altLang="zh-TW" sz="2400" dirty="0" err="1">
                <a:solidFill>
                  <a:srgbClr val="660066"/>
                </a:solidFill>
                <a:ea typeface="新細明體" panose="02020500000000000000" pitchFamily="18" charset="-120"/>
              </a:rPr>
              <a:t>P.</a:t>
            </a:r>
            <a:r>
              <a:rPr lang="en-US" altLang="zh-TW" sz="2400" i="1" dirty="0" err="1">
                <a:solidFill>
                  <a:srgbClr val="660066"/>
                </a:solidFill>
                <a:ea typeface="新細明體" panose="02020500000000000000" pitchFamily="18" charset="-120"/>
              </a:rPr>
              <a:t>Id</a:t>
            </a:r>
            <a:endParaRPr lang="en-US" altLang="zh-TW" sz="2400" i="1" dirty="0">
              <a:solidFill>
                <a:srgbClr val="660066"/>
              </a:solidFill>
              <a:ea typeface="新細明體" panose="02020500000000000000" pitchFamily="18" charset="-120"/>
            </a:endParaRP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 </a:t>
            </a:r>
            <a:r>
              <a:rPr lang="en-US" altLang="zh-TW" sz="2400" dirty="0">
                <a:solidFill>
                  <a:srgbClr val="660066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Professor</a:t>
            </a:r>
            <a:r>
              <a:rPr lang="en-US" altLang="zh-TW" sz="2400" dirty="0">
                <a:solidFill>
                  <a:srgbClr val="660066"/>
                </a:solidFill>
                <a:ea typeface="新細明體" panose="02020500000000000000" pitchFamily="18" charset="-120"/>
              </a:rPr>
              <a:t> P</a:t>
            </a: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NOT EXISTS</a:t>
            </a: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(</a:t>
            </a:r>
            <a:r>
              <a:rPr lang="en-US" altLang="zh-TW" sz="2400" dirty="0">
                <a:solidFill>
                  <a:srgbClr val="008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2400" dirty="0">
                <a:solidFill>
                  <a:srgbClr val="008000"/>
                </a:solidFill>
                <a:ea typeface="新細明體" panose="02020500000000000000" pitchFamily="18" charset="-120"/>
              </a:rPr>
              <a:t>  </a:t>
            </a:r>
            <a:r>
              <a:rPr lang="en-US" altLang="zh-TW" sz="2400" dirty="0" err="1">
                <a:solidFill>
                  <a:srgbClr val="008000"/>
                </a:solidFill>
                <a:ea typeface="新細明體" panose="02020500000000000000" pitchFamily="18" charset="-120"/>
              </a:rPr>
              <a:t>D.</a:t>
            </a:r>
            <a:r>
              <a:rPr lang="en-US" altLang="zh-TW" sz="2400" i="1" dirty="0" err="1">
                <a:solidFill>
                  <a:srgbClr val="008000"/>
                </a:solidFill>
                <a:ea typeface="新細明體" panose="02020500000000000000" pitchFamily="18" charset="-120"/>
              </a:rPr>
              <a:t>DeptId</a:t>
            </a:r>
            <a:r>
              <a:rPr lang="en-US" altLang="zh-TW" sz="2400" i="1" dirty="0">
                <a:solidFill>
                  <a:srgbClr val="008000"/>
                </a:solidFill>
                <a:ea typeface="新細明體" panose="02020500000000000000" pitchFamily="18" charset="-120"/>
              </a:rPr>
              <a:t>            // all dept Ids</a:t>
            </a:r>
            <a:endParaRPr lang="en-US" altLang="zh-TW" sz="2400" i="1" dirty="0">
              <a:ea typeface="新細明體" panose="02020500000000000000" pitchFamily="18" charset="-120"/>
            </a:endParaRPr>
          </a:p>
          <a:p>
            <a:r>
              <a:rPr lang="en-US" altLang="zh-TW" sz="2400" dirty="0">
                <a:solidFill>
                  <a:srgbClr val="008000"/>
                </a:solidFill>
                <a:ea typeface="新細明體" panose="02020500000000000000" pitchFamily="18" charset="-120"/>
              </a:rPr>
              <a:t>      </a:t>
            </a:r>
            <a:r>
              <a:rPr lang="en-US" altLang="zh-TW" sz="2400" dirty="0">
                <a:solidFill>
                  <a:srgbClr val="008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FROM  </a:t>
            </a:r>
            <a:r>
              <a:rPr lang="en-US" altLang="zh-TW" sz="2400" dirty="0">
                <a:solidFill>
                  <a:srgbClr val="008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Department</a:t>
            </a:r>
            <a:r>
              <a:rPr lang="en-US" altLang="zh-TW" sz="2400" dirty="0">
                <a:solidFill>
                  <a:srgbClr val="008000"/>
                </a:solidFill>
                <a:ea typeface="新細明體" panose="02020500000000000000" pitchFamily="18" charset="-120"/>
              </a:rPr>
              <a:t> D</a:t>
            </a:r>
          </a:p>
          <a:p>
            <a:r>
              <a:rPr lang="en-US" altLang="zh-TW" sz="2400" dirty="0">
                <a:ea typeface="新細明體" panose="02020500000000000000" pitchFamily="18" charset="-120"/>
              </a:rPr>
              <a:t>            </a:t>
            </a:r>
            <a:r>
              <a:rPr lang="en-US" altLang="zh-TW" sz="2400" b="1" dirty="0">
                <a:solidFill>
                  <a:srgbClr val="990033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EXCEPT</a:t>
            </a: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</a:t>
            </a:r>
            <a:r>
              <a:rPr lang="en-US" altLang="zh-TW" sz="24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 </a:t>
            </a:r>
            <a:r>
              <a:rPr lang="en-US" altLang="zh-TW" sz="2400" dirty="0" err="1">
                <a:solidFill>
                  <a:srgbClr val="FF0000"/>
                </a:solidFill>
                <a:ea typeface="新細明體" panose="02020500000000000000" pitchFamily="18" charset="-120"/>
              </a:rPr>
              <a:t>C.</a:t>
            </a:r>
            <a:r>
              <a:rPr lang="en-US" altLang="zh-TW" sz="2400" i="1" dirty="0" err="1">
                <a:solidFill>
                  <a:srgbClr val="FF0000"/>
                </a:solidFill>
                <a:ea typeface="新細明體" panose="02020500000000000000" pitchFamily="18" charset="-120"/>
              </a:rPr>
              <a:t>DeptId</a:t>
            </a:r>
            <a:r>
              <a:rPr lang="en-US" altLang="zh-TW" sz="2400" i="1" dirty="0">
                <a:solidFill>
                  <a:srgbClr val="FF0000"/>
                </a:solidFill>
                <a:ea typeface="新細明體" panose="02020500000000000000" pitchFamily="18" charset="-120"/>
              </a:rPr>
              <a:t>       // dept Ids that P teaches a course</a:t>
            </a:r>
            <a:endParaRPr lang="en-US" altLang="zh-TW" sz="2400" dirty="0">
              <a:solidFill>
                <a:srgbClr val="FF0000"/>
              </a:solidFill>
              <a:ea typeface="新細明體" panose="02020500000000000000" pitchFamily="18" charset="-120"/>
            </a:endParaRPr>
          </a:p>
          <a:p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     </a:t>
            </a:r>
            <a:r>
              <a:rPr lang="en-US" altLang="zh-TW" sz="24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 </a:t>
            </a:r>
            <a:r>
              <a:rPr lang="en-US" altLang="zh-TW" sz="2400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Teaching</a:t>
            </a:r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T, </a:t>
            </a:r>
            <a:r>
              <a:rPr lang="en-US" altLang="zh-TW" sz="2400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Course</a:t>
            </a:r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C</a:t>
            </a:r>
          </a:p>
          <a:p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     </a:t>
            </a:r>
            <a:r>
              <a:rPr lang="en-US" altLang="zh-TW" sz="24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400" dirty="0" err="1">
                <a:solidFill>
                  <a:srgbClr val="FF0000"/>
                </a:solidFill>
                <a:ea typeface="新細明體" panose="02020500000000000000" pitchFamily="18" charset="-120"/>
              </a:rPr>
              <a:t>T.</a:t>
            </a:r>
            <a:r>
              <a:rPr lang="en-US" altLang="zh-TW" sz="2400" i="1" dirty="0" err="1">
                <a:solidFill>
                  <a:srgbClr val="FF0000"/>
                </a:solidFill>
                <a:ea typeface="新細明體" panose="02020500000000000000" pitchFamily="18" charset="-120"/>
              </a:rPr>
              <a:t>ProfId</a:t>
            </a:r>
            <a:r>
              <a:rPr lang="en-US" altLang="zh-TW" sz="2400" i="1" dirty="0">
                <a:solidFill>
                  <a:srgbClr val="FF00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= </a:t>
            </a:r>
            <a:r>
              <a:rPr lang="en-US" altLang="zh-TW" sz="2400" dirty="0" err="1">
                <a:solidFill>
                  <a:srgbClr val="FF0000"/>
                </a:solidFill>
                <a:ea typeface="新細明體" panose="02020500000000000000" pitchFamily="18" charset="-120"/>
              </a:rPr>
              <a:t>P.</a:t>
            </a:r>
            <a:r>
              <a:rPr lang="en-US" altLang="zh-TW" sz="2400" i="1" dirty="0" err="1">
                <a:solidFill>
                  <a:srgbClr val="FF0000"/>
                </a:solidFill>
                <a:ea typeface="新細明體" panose="02020500000000000000" pitchFamily="18" charset="-120"/>
              </a:rPr>
              <a:t>Id</a:t>
            </a:r>
            <a:endParaRPr lang="en-US" altLang="zh-TW" sz="2400" i="1" dirty="0">
              <a:solidFill>
                <a:srgbClr val="FF0000"/>
              </a:solidFill>
              <a:ea typeface="新細明體" panose="02020500000000000000" pitchFamily="18" charset="-120"/>
            </a:endParaRPr>
          </a:p>
          <a:p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               </a:t>
            </a:r>
            <a:r>
              <a:rPr lang="en-US" altLang="zh-TW" sz="24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AND </a:t>
            </a:r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400" dirty="0" err="1">
                <a:solidFill>
                  <a:srgbClr val="FF0000"/>
                </a:solidFill>
                <a:ea typeface="新細明體" panose="02020500000000000000" pitchFamily="18" charset="-120"/>
              </a:rPr>
              <a:t>T.</a:t>
            </a:r>
            <a:r>
              <a:rPr lang="en-US" altLang="zh-TW" sz="2400" i="1" dirty="0" err="1">
                <a:solidFill>
                  <a:srgbClr val="FF0000"/>
                </a:solidFill>
                <a:ea typeface="新細明體" panose="02020500000000000000" pitchFamily="18" charset="-120"/>
              </a:rPr>
              <a:t>CrsCode</a:t>
            </a:r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=</a:t>
            </a:r>
            <a:r>
              <a:rPr lang="en-US" altLang="zh-TW" sz="2400" dirty="0" err="1">
                <a:solidFill>
                  <a:srgbClr val="FF0000"/>
                </a:solidFill>
                <a:ea typeface="新細明體" panose="02020500000000000000" pitchFamily="18" charset="-120"/>
              </a:rPr>
              <a:t>C.</a:t>
            </a:r>
            <a:r>
              <a:rPr lang="en-US" altLang="zh-TW" sz="2400" i="1" dirty="0" err="1">
                <a:solidFill>
                  <a:srgbClr val="FF0000"/>
                </a:solidFill>
                <a:ea typeface="新細明體" panose="02020500000000000000" pitchFamily="18" charset="-120"/>
              </a:rPr>
              <a:t>CrsCode</a:t>
            </a:r>
            <a:r>
              <a:rPr lang="en-US" altLang="zh-TW" sz="2400" dirty="0">
                <a:ea typeface="新細明體" panose="02020500000000000000" pitchFamily="18" charset="-120"/>
              </a:rPr>
              <a:t>) </a:t>
            </a:r>
          </a:p>
          <a:p>
            <a:endParaRPr lang="en-US" altLang="zh-TW" sz="24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67CE7A-5923-4FE5-B1F1-4DF0AC2E6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60</a:t>
            </a:fld>
            <a:endParaRPr lang="en-US" altLang="zh-TW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BD2184-D747-5EA2-E1F1-38A83CD6337B}"/>
              </a:ext>
            </a:extLst>
          </p:cNvPr>
          <p:cNvSpPr txBox="1"/>
          <p:nvPr/>
        </p:nvSpPr>
        <p:spPr>
          <a:xfrm>
            <a:off x="1062990" y="5653584"/>
            <a:ext cx="7395210" cy="52322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2">
                    <a:lumMod val="75000"/>
                  </a:schemeClr>
                </a:solidFill>
              </a:rPr>
              <a:t>Tip: consider P as a fixed tuple in the subquery.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C1209-788A-4636-9311-BA1C69CF5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1" name="Rectangle 2">
            <a:extLst>
              <a:ext uri="{FF2B5EF4-FFF2-40B4-BE49-F238E27FC236}">
                <a16:creationId xmlns:a16="http://schemas.microsoft.com/office/drawing/2014/main" id="{591759A5-74C8-DB6E-A4D1-3793192A0A8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228600"/>
            <a:ext cx="7772400" cy="1143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Division – SQL Solution in details</a:t>
            </a:r>
          </a:p>
        </p:txBody>
      </p:sp>
      <p:sp>
        <p:nvSpPr>
          <p:cNvPr id="46083" name="Text Box 3">
            <a:extLst>
              <a:ext uri="{FF2B5EF4-FFF2-40B4-BE49-F238E27FC236}">
                <a16:creationId xmlns:a16="http://schemas.microsoft.com/office/drawing/2014/main" id="{12465530-EB6F-1000-FDCB-827EA072A9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498600"/>
            <a:ext cx="7617022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1. For each Professor P, calculate B - A </a:t>
            </a:r>
            <a:endParaRPr lang="en-US" altLang="zh-TW" sz="2400" dirty="0">
              <a:solidFill>
                <a:srgbClr val="660066"/>
              </a:solidFill>
              <a:ea typeface="新細明體" panose="02020500000000000000" pitchFamily="18" charset="-120"/>
            </a:endParaRP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(</a:t>
            </a:r>
            <a:r>
              <a:rPr lang="en-US" altLang="zh-TW" sz="2400" dirty="0">
                <a:solidFill>
                  <a:srgbClr val="008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2400" dirty="0">
                <a:solidFill>
                  <a:srgbClr val="008000"/>
                </a:solidFill>
                <a:ea typeface="新細明體" panose="02020500000000000000" pitchFamily="18" charset="-120"/>
              </a:rPr>
              <a:t>  </a:t>
            </a:r>
            <a:r>
              <a:rPr lang="en-US" altLang="zh-TW" sz="2400" dirty="0" err="1">
                <a:solidFill>
                  <a:srgbClr val="008000"/>
                </a:solidFill>
                <a:ea typeface="新細明體" panose="02020500000000000000" pitchFamily="18" charset="-120"/>
              </a:rPr>
              <a:t>D.</a:t>
            </a:r>
            <a:r>
              <a:rPr lang="en-US" altLang="zh-TW" sz="2400" i="1" dirty="0" err="1">
                <a:solidFill>
                  <a:srgbClr val="008000"/>
                </a:solidFill>
                <a:ea typeface="新細明體" panose="02020500000000000000" pitchFamily="18" charset="-120"/>
              </a:rPr>
              <a:t>DeptId</a:t>
            </a:r>
            <a:r>
              <a:rPr lang="en-US" altLang="zh-TW" sz="2400" i="1" dirty="0">
                <a:solidFill>
                  <a:srgbClr val="008000"/>
                </a:solidFill>
                <a:ea typeface="新細明體" panose="02020500000000000000" pitchFamily="18" charset="-120"/>
              </a:rPr>
              <a:t>            // all dept Ids</a:t>
            </a:r>
            <a:endParaRPr lang="en-US" altLang="zh-TW" sz="2400" i="1" dirty="0">
              <a:ea typeface="新細明體" panose="02020500000000000000" pitchFamily="18" charset="-120"/>
            </a:endParaRPr>
          </a:p>
          <a:p>
            <a:r>
              <a:rPr lang="en-US" altLang="zh-TW" sz="2400" dirty="0">
                <a:solidFill>
                  <a:srgbClr val="008000"/>
                </a:solidFill>
                <a:ea typeface="新細明體" panose="02020500000000000000" pitchFamily="18" charset="-120"/>
              </a:rPr>
              <a:t>      </a:t>
            </a:r>
            <a:r>
              <a:rPr lang="en-US" altLang="zh-TW" sz="2400" dirty="0">
                <a:solidFill>
                  <a:srgbClr val="008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FROM  </a:t>
            </a:r>
            <a:r>
              <a:rPr lang="en-US" altLang="zh-TW" sz="2400" dirty="0">
                <a:solidFill>
                  <a:srgbClr val="008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Department</a:t>
            </a:r>
            <a:r>
              <a:rPr lang="en-US" altLang="zh-TW" sz="2400" dirty="0">
                <a:solidFill>
                  <a:srgbClr val="008000"/>
                </a:solidFill>
                <a:ea typeface="新細明體" panose="02020500000000000000" pitchFamily="18" charset="-120"/>
              </a:rPr>
              <a:t> D</a:t>
            </a:r>
          </a:p>
          <a:p>
            <a:r>
              <a:rPr lang="en-US" altLang="zh-TW" sz="2400" dirty="0">
                <a:ea typeface="新細明體" panose="02020500000000000000" pitchFamily="18" charset="-120"/>
              </a:rPr>
              <a:t>            </a:t>
            </a:r>
            <a:r>
              <a:rPr lang="en-US" altLang="zh-TW" sz="2400" b="1" dirty="0">
                <a:solidFill>
                  <a:srgbClr val="990033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EXCEPT</a:t>
            </a: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</a:t>
            </a:r>
            <a:r>
              <a:rPr lang="en-US" altLang="zh-TW" sz="24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 </a:t>
            </a:r>
            <a:r>
              <a:rPr lang="en-US" altLang="zh-TW" sz="2400" dirty="0" err="1">
                <a:solidFill>
                  <a:srgbClr val="FF0000"/>
                </a:solidFill>
                <a:ea typeface="新細明體" panose="02020500000000000000" pitchFamily="18" charset="-120"/>
              </a:rPr>
              <a:t>C.</a:t>
            </a:r>
            <a:r>
              <a:rPr lang="en-US" altLang="zh-TW" sz="2400" i="1" dirty="0" err="1">
                <a:solidFill>
                  <a:srgbClr val="FF0000"/>
                </a:solidFill>
                <a:ea typeface="新細明體" panose="02020500000000000000" pitchFamily="18" charset="-120"/>
              </a:rPr>
              <a:t>DeptId</a:t>
            </a:r>
            <a:r>
              <a:rPr lang="en-US" altLang="zh-TW" sz="2400" i="1" dirty="0">
                <a:solidFill>
                  <a:srgbClr val="FF0000"/>
                </a:solidFill>
                <a:ea typeface="新細明體" panose="02020500000000000000" pitchFamily="18" charset="-120"/>
              </a:rPr>
              <a:t>       // dept Ids that P teaches a course</a:t>
            </a:r>
            <a:endParaRPr lang="en-US" altLang="zh-TW" sz="2400" dirty="0">
              <a:solidFill>
                <a:srgbClr val="FF0000"/>
              </a:solidFill>
              <a:ea typeface="新細明體" panose="02020500000000000000" pitchFamily="18" charset="-120"/>
            </a:endParaRPr>
          </a:p>
          <a:p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     </a:t>
            </a:r>
            <a:r>
              <a:rPr lang="en-US" altLang="zh-TW" sz="24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 </a:t>
            </a:r>
            <a:r>
              <a:rPr lang="en-US" altLang="zh-TW" sz="2400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Teaching</a:t>
            </a:r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T, </a:t>
            </a:r>
            <a:r>
              <a:rPr lang="en-US" altLang="zh-TW" sz="2400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Course</a:t>
            </a:r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C</a:t>
            </a:r>
          </a:p>
          <a:p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     </a:t>
            </a:r>
            <a:r>
              <a:rPr lang="en-US" altLang="zh-TW" sz="24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400" dirty="0" err="1">
                <a:solidFill>
                  <a:srgbClr val="FF0000"/>
                </a:solidFill>
                <a:ea typeface="新細明體" panose="02020500000000000000" pitchFamily="18" charset="-120"/>
              </a:rPr>
              <a:t>T.</a:t>
            </a:r>
            <a:r>
              <a:rPr lang="en-US" altLang="zh-TW" sz="2400" i="1" dirty="0" err="1">
                <a:solidFill>
                  <a:srgbClr val="FF0000"/>
                </a:solidFill>
                <a:ea typeface="新細明體" panose="02020500000000000000" pitchFamily="18" charset="-120"/>
              </a:rPr>
              <a:t>ProfId</a:t>
            </a:r>
            <a:r>
              <a:rPr lang="en-US" altLang="zh-TW" sz="2400" i="1" dirty="0">
                <a:solidFill>
                  <a:srgbClr val="FF00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= </a:t>
            </a:r>
            <a:r>
              <a:rPr lang="en-US" altLang="zh-TW" sz="2400" dirty="0" err="1">
                <a:solidFill>
                  <a:srgbClr val="FF0000"/>
                </a:solidFill>
                <a:ea typeface="新細明體" panose="02020500000000000000" pitchFamily="18" charset="-120"/>
              </a:rPr>
              <a:t>P.</a:t>
            </a:r>
            <a:r>
              <a:rPr lang="en-US" altLang="zh-TW" sz="2400" i="1" dirty="0" err="1">
                <a:solidFill>
                  <a:srgbClr val="FF0000"/>
                </a:solidFill>
                <a:ea typeface="新細明體" panose="02020500000000000000" pitchFamily="18" charset="-120"/>
              </a:rPr>
              <a:t>Id</a:t>
            </a:r>
            <a:endParaRPr lang="en-US" altLang="zh-TW" sz="2400" i="1" dirty="0">
              <a:solidFill>
                <a:srgbClr val="FF0000"/>
              </a:solidFill>
              <a:ea typeface="新細明體" panose="02020500000000000000" pitchFamily="18" charset="-120"/>
            </a:endParaRPr>
          </a:p>
          <a:p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               </a:t>
            </a:r>
            <a:r>
              <a:rPr lang="en-US" altLang="zh-TW" sz="24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AND </a:t>
            </a:r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400" dirty="0" err="1">
                <a:solidFill>
                  <a:srgbClr val="FF0000"/>
                </a:solidFill>
                <a:ea typeface="新細明體" panose="02020500000000000000" pitchFamily="18" charset="-120"/>
              </a:rPr>
              <a:t>T.</a:t>
            </a:r>
            <a:r>
              <a:rPr lang="en-US" altLang="zh-TW" sz="2400" i="1" dirty="0" err="1">
                <a:solidFill>
                  <a:srgbClr val="FF0000"/>
                </a:solidFill>
                <a:ea typeface="新細明體" panose="02020500000000000000" pitchFamily="18" charset="-120"/>
              </a:rPr>
              <a:t>CrsCode</a:t>
            </a:r>
            <a:r>
              <a:rPr lang="en-US" altLang="zh-TW" sz="2400" dirty="0">
                <a:solidFill>
                  <a:srgbClr val="FF0000"/>
                </a:solidFill>
                <a:ea typeface="新細明體" panose="02020500000000000000" pitchFamily="18" charset="-120"/>
              </a:rPr>
              <a:t>=</a:t>
            </a:r>
            <a:r>
              <a:rPr lang="en-US" altLang="zh-TW" sz="2400" dirty="0" err="1">
                <a:solidFill>
                  <a:srgbClr val="FF0000"/>
                </a:solidFill>
                <a:ea typeface="新細明體" panose="02020500000000000000" pitchFamily="18" charset="-120"/>
              </a:rPr>
              <a:t>C.</a:t>
            </a:r>
            <a:r>
              <a:rPr lang="en-US" altLang="zh-TW" sz="2400" i="1" dirty="0" err="1">
                <a:solidFill>
                  <a:srgbClr val="FF0000"/>
                </a:solidFill>
                <a:ea typeface="新細明體" panose="02020500000000000000" pitchFamily="18" charset="-120"/>
              </a:rPr>
              <a:t>CrsCode</a:t>
            </a:r>
            <a:r>
              <a:rPr lang="en-US" altLang="zh-TW" sz="2400" dirty="0">
                <a:ea typeface="新細明體" panose="02020500000000000000" pitchFamily="18" charset="-120"/>
              </a:rPr>
              <a:t>) </a:t>
            </a:r>
          </a:p>
          <a:p>
            <a:r>
              <a:rPr lang="en-US" altLang="zh-TW" sz="2400" dirty="0">
                <a:ea typeface="新細明體" panose="02020500000000000000" pitchFamily="18" charset="-120"/>
              </a:rPr>
              <a:t>2. If the result is empty, then P will be in the answer.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9E4C70-943B-85B2-2DE4-08933AC9D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61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268569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5" name="Rectangle 2">
            <a:extLst>
              <a:ext uri="{FF2B5EF4-FFF2-40B4-BE49-F238E27FC236}">
                <a16:creationId xmlns:a16="http://schemas.microsoft.com/office/drawing/2014/main" id="{E18E079A-C77A-498C-B4FC-0D5208DF13D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Aggregates</a:t>
            </a:r>
          </a:p>
        </p:txBody>
      </p:sp>
      <p:sp>
        <p:nvSpPr>
          <p:cNvPr id="49156" name="Rectangle 3">
            <a:extLst>
              <a:ext uri="{FF2B5EF4-FFF2-40B4-BE49-F238E27FC236}">
                <a16:creationId xmlns:a16="http://schemas.microsoft.com/office/drawing/2014/main" id="{72CAC568-E79E-4395-8378-C90C3A9FA9B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981200"/>
            <a:ext cx="7848600" cy="23622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Functions that operate on sets:</a:t>
            </a:r>
          </a:p>
          <a:p>
            <a:pPr lvl="1">
              <a:lnSpc>
                <a:spcPct val="90000"/>
              </a:lnSpc>
            </a:pP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COUNT, SUM, AVG, MAX, MIN</a:t>
            </a:r>
            <a:endParaRPr lang="en-US" altLang="zh-TW" sz="2400">
              <a:ea typeface="新細明體" panose="02020500000000000000" pitchFamily="18" charset="-120"/>
            </a:endParaRPr>
          </a:p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Produce numbers (not tables)</a:t>
            </a:r>
          </a:p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Aggregates over multiple rows into one row</a:t>
            </a:r>
          </a:p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Not part of relational algebra (but not hard to add)</a:t>
            </a:r>
          </a:p>
        </p:txBody>
      </p:sp>
      <p:sp>
        <p:nvSpPr>
          <p:cNvPr id="47108" name="Text Box 4">
            <a:extLst>
              <a:ext uri="{FF2B5EF4-FFF2-40B4-BE49-F238E27FC236}">
                <a16:creationId xmlns:a16="http://schemas.microsoft.com/office/drawing/2014/main" id="{B77D3164-E2E3-4ED2-B221-C14E75BB3A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4800600"/>
            <a:ext cx="3524250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3200">
                <a:solidFill>
                  <a:srgbClr val="990033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COUNT</a:t>
            </a:r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(*)</a:t>
            </a:r>
          </a:p>
          <a:p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FROM  </a:t>
            </a:r>
            <a:r>
              <a:rPr lang="en-US" altLang="zh-TW" sz="32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Professor</a:t>
            </a:r>
            <a:r>
              <a:rPr lang="en-US" altLang="zh-TW" sz="3200">
                <a:ea typeface="新細明體" panose="02020500000000000000" pitchFamily="18" charset="-120"/>
              </a:rPr>
              <a:t> P</a:t>
            </a:r>
            <a:endParaRPr lang="en-US" altLang="zh-TW" sz="3200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7109" name="Text Box 5">
            <a:extLst>
              <a:ext uri="{FF2B5EF4-FFF2-40B4-BE49-F238E27FC236}">
                <a16:creationId xmlns:a16="http://schemas.microsoft.com/office/drawing/2014/main" id="{7E578EED-6FF7-474B-AB78-0117A6766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37125" y="4813300"/>
            <a:ext cx="3979863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3200">
                <a:latin typeface="Century Gothic" pitchFamily="34" charset="0"/>
              </a:rPr>
              <a:t>SELECT </a:t>
            </a:r>
            <a:r>
              <a:rPr lang="en-US" sz="3200">
                <a:solidFill>
                  <a:srgbClr val="990033"/>
                </a:solidFill>
                <a:latin typeface="Century Gothic" pitchFamily="34" charset="0"/>
              </a:rPr>
              <a:t>MAX</a:t>
            </a:r>
            <a:r>
              <a:rPr lang="en-US" sz="3200"/>
              <a:t> (</a:t>
            </a:r>
            <a:r>
              <a:rPr lang="en-US" sz="3200" i="1"/>
              <a:t>Salary</a:t>
            </a:r>
            <a:r>
              <a:rPr lang="en-US" sz="3200"/>
              <a:t>)</a:t>
            </a:r>
          </a:p>
          <a:p>
            <a:pPr>
              <a:defRPr/>
            </a:pPr>
            <a:r>
              <a:rPr lang="en-US" sz="3200">
                <a:latin typeface="Century Gothic" pitchFamily="34" charset="0"/>
              </a:rPr>
              <a:t>FROM</a:t>
            </a:r>
            <a:r>
              <a:rPr lang="en-US" sz="3200"/>
              <a:t>  </a:t>
            </a:r>
            <a:r>
              <a:rPr lang="en-US" sz="3200">
                <a:effectLst>
                  <a:outerShdw blurRad="38100" dist="38100" dir="2700000" algn="tl">
                    <a:srgbClr val="C0C0C0"/>
                  </a:outerShdw>
                </a:effectLst>
              </a:rPr>
              <a:t>Employee</a:t>
            </a:r>
            <a:r>
              <a:rPr lang="en-US" sz="3200"/>
              <a:t> 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5DCCCD-27F3-424F-87DD-7CE23902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62</a:t>
            </a:fld>
            <a:endParaRPr lang="en-US" altLang="zh-TW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9" name="Rectangle 2">
            <a:extLst>
              <a:ext uri="{FF2B5EF4-FFF2-40B4-BE49-F238E27FC236}">
                <a16:creationId xmlns:a16="http://schemas.microsoft.com/office/drawing/2014/main" id="{631FCBB5-0A81-4540-8A08-34FD299FE3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457200"/>
            <a:ext cx="7772400" cy="1143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Aggregates (cont’d)</a:t>
            </a:r>
          </a:p>
        </p:txBody>
      </p:sp>
      <p:sp>
        <p:nvSpPr>
          <p:cNvPr id="48131" name="Text Box 3">
            <a:extLst>
              <a:ext uri="{FF2B5EF4-FFF2-40B4-BE49-F238E27FC236}">
                <a16:creationId xmlns:a16="http://schemas.microsoft.com/office/drawing/2014/main" id="{32FCBD26-5669-419A-A32B-C5C59DE96C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2259013"/>
            <a:ext cx="4675188" cy="1373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SELECT COUNT (</a:t>
            </a:r>
            <a:r>
              <a:rPr lang="en-US" altLang="zh-TW" sz="2800">
                <a:ea typeface="新細明體" panose="02020500000000000000" pitchFamily="18" charset="-120"/>
              </a:rPr>
              <a:t>T.</a:t>
            </a:r>
            <a:r>
              <a:rPr lang="en-US" altLang="zh-TW" sz="2800" i="1">
                <a:ea typeface="新細明體" panose="02020500000000000000" pitchFamily="18" charset="-120"/>
              </a:rPr>
              <a:t>CrsCode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FROM </a:t>
            </a:r>
            <a:r>
              <a:rPr lang="en-US" altLang="zh-TW" sz="28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Teaching</a:t>
            </a:r>
            <a:r>
              <a:rPr lang="en-US" altLang="zh-TW" sz="2800">
                <a:ea typeface="新細明體" panose="02020500000000000000" pitchFamily="18" charset="-120"/>
              </a:rPr>
              <a:t> T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WHERE  </a:t>
            </a:r>
            <a:r>
              <a:rPr lang="en-US" altLang="zh-TW" sz="2800">
                <a:ea typeface="新細明體" panose="02020500000000000000" pitchFamily="18" charset="-120"/>
              </a:rPr>
              <a:t>T.</a:t>
            </a:r>
            <a:r>
              <a:rPr lang="en-US" altLang="zh-TW" sz="2800" i="1">
                <a:ea typeface="新細明體" panose="02020500000000000000" pitchFamily="18" charset="-120"/>
              </a:rPr>
              <a:t>Semester</a:t>
            </a:r>
            <a:r>
              <a:rPr lang="en-US" altLang="zh-TW" sz="2800">
                <a:ea typeface="新細明體" panose="02020500000000000000" pitchFamily="18" charset="-120"/>
              </a:rPr>
              <a:t> = ‘S2000’</a:t>
            </a:r>
            <a:endParaRPr lang="en-US" altLang="zh-TW" sz="2800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8132" name="Text Box 4">
            <a:extLst>
              <a:ext uri="{FF2B5EF4-FFF2-40B4-BE49-F238E27FC236}">
                <a16:creationId xmlns:a16="http://schemas.microsoft.com/office/drawing/2014/main" id="{A364EBFE-26DC-444B-8426-7B0A47C754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4849813"/>
            <a:ext cx="6178550" cy="1373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SELECT COUNT (DISTINCT </a:t>
            </a:r>
            <a:r>
              <a:rPr lang="en-US" altLang="zh-TW" sz="2800">
                <a:ea typeface="新細明體" panose="02020500000000000000" pitchFamily="18" charset="-120"/>
              </a:rPr>
              <a:t>T.</a:t>
            </a:r>
            <a:r>
              <a:rPr lang="en-US" altLang="zh-TW" sz="2800" i="1">
                <a:ea typeface="新細明體" panose="02020500000000000000" pitchFamily="18" charset="-120"/>
              </a:rPr>
              <a:t>CrsCode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FROM </a:t>
            </a:r>
            <a:r>
              <a:rPr lang="en-US" altLang="zh-TW" sz="28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Teaching</a:t>
            </a:r>
            <a:r>
              <a:rPr lang="en-US" altLang="zh-TW" sz="2800">
                <a:ea typeface="新細明體" panose="02020500000000000000" pitchFamily="18" charset="-120"/>
              </a:rPr>
              <a:t> T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WHERE  </a:t>
            </a:r>
            <a:r>
              <a:rPr lang="en-US" altLang="zh-TW" sz="2800">
                <a:ea typeface="新細明體" panose="02020500000000000000" pitchFamily="18" charset="-120"/>
              </a:rPr>
              <a:t>T.</a:t>
            </a:r>
            <a:r>
              <a:rPr lang="en-US" altLang="zh-TW" sz="2800" i="1">
                <a:ea typeface="新細明體" panose="02020500000000000000" pitchFamily="18" charset="-120"/>
              </a:rPr>
              <a:t>Semester</a:t>
            </a:r>
            <a:r>
              <a:rPr lang="en-US" altLang="zh-TW" sz="2800">
                <a:ea typeface="新細明體" panose="02020500000000000000" pitchFamily="18" charset="-120"/>
              </a:rPr>
              <a:t> = ‘S2000’</a:t>
            </a:r>
            <a:endParaRPr lang="en-US" altLang="zh-TW" sz="2800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50182" name="Text Box 5">
            <a:extLst>
              <a:ext uri="{FF2B5EF4-FFF2-40B4-BE49-F238E27FC236}">
                <a16:creationId xmlns:a16="http://schemas.microsoft.com/office/drawing/2014/main" id="{D25CFCAC-7E70-4515-A7A1-ABA70627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600200"/>
            <a:ext cx="7556500" cy="579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3200">
                <a:ea typeface="新細明體" panose="02020500000000000000" pitchFamily="18" charset="-120"/>
              </a:rPr>
              <a:t>Count the number of courses taught in S2000</a:t>
            </a:r>
          </a:p>
        </p:txBody>
      </p:sp>
      <p:sp>
        <p:nvSpPr>
          <p:cNvPr id="50183" name="Text Box 6">
            <a:extLst>
              <a:ext uri="{FF2B5EF4-FFF2-40B4-BE49-F238E27FC236}">
                <a16:creationId xmlns:a16="http://schemas.microsoft.com/office/drawing/2014/main" id="{E5EB0BC1-9904-45F9-BCD6-7DF6318E61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3733800"/>
            <a:ext cx="6632575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3200">
                <a:ea typeface="新細明體" panose="02020500000000000000" pitchFamily="18" charset="-120"/>
              </a:rPr>
              <a:t>But if multiple sections of same course </a:t>
            </a:r>
          </a:p>
          <a:p>
            <a:r>
              <a:rPr lang="en-US" altLang="zh-TW" sz="3200">
                <a:ea typeface="新細明體" panose="02020500000000000000" pitchFamily="18" charset="-120"/>
              </a:rPr>
              <a:t>are taught, use: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9C3430-734B-4379-ACA5-B505F1D38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63</a:t>
            </a:fld>
            <a:endParaRPr lang="en-US" altLang="zh-TW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3" name="Rectangle 2">
            <a:extLst>
              <a:ext uri="{FF2B5EF4-FFF2-40B4-BE49-F238E27FC236}">
                <a16:creationId xmlns:a16="http://schemas.microsoft.com/office/drawing/2014/main" id="{322C0F71-AE18-4863-9210-BA4EAD7395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152400"/>
            <a:ext cx="7772400" cy="6858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Grouping</a:t>
            </a:r>
          </a:p>
        </p:txBody>
      </p:sp>
      <p:sp>
        <p:nvSpPr>
          <p:cNvPr id="83971" name="Rectangle 3">
            <a:extLst>
              <a:ext uri="{FF2B5EF4-FFF2-40B4-BE49-F238E27FC236}">
                <a16:creationId xmlns:a16="http://schemas.microsoft.com/office/drawing/2014/main" id="{68630650-FAE3-41B9-A8E2-4A7D42F9B89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81000" y="990600"/>
            <a:ext cx="8458200" cy="5410200"/>
          </a:xfrm>
        </p:spPr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But how do we compute the number of courses taught in S2000 </a:t>
            </a:r>
            <a:r>
              <a:rPr lang="en-US" altLang="zh-TW" i="1" dirty="0">
                <a:ea typeface="新細明體" panose="02020500000000000000" pitchFamily="18" charset="-120"/>
              </a:rPr>
              <a:t>per professor</a:t>
            </a:r>
            <a:r>
              <a:rPr lang="en-US" altLang="zh-TW" dirty="0">
                <a:ea typeface="新細明體" panose="02020500000000000000" pitchFamily="18" charset="-120"/>
              </a:rPr>
              <a:t>?</a:t>
            </a:r>
          </a:p>
          <a:p>
            <a:pPr lvl="1"/>
            <a:r>
              <a:rPr lang="en-US" altLang="zh-TW" dirty="0">
                <a:ea typeface="新細明體" panose="02020500000000000000" pitchFamily="18" charset="-120"/>
              </a:rPr>
              <a:t>Strategy 1:  Fire off a separate query for </a:t>
            </a:r>
            <a:r>
              <a:rPr lang="en-US" altLang="zh-TW" u="sng" dirty="0">
                <a:ea typeface="新細明體" panose="02020500000000000000" pitchFamily="18" charset="-120"/>
              </a:rPr>
              <a:t>each</a:t>
            </a:r>
            <a:r>
              <a:rPr lang="en-US" altLang="zh-TW" dirty="0">
                <a:ea typeface="新細明體" panose="02020500000000000000" pitchFamily="18" charset="-120"/>
              </a:rPr>
              <a:t> professor: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zh-TW" sz="20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		SELECT   COUNT(</a:t>
            </a:r>
            <a:r>
              <a:rPr lang="en-US" altLang="zh-TW" sz="2000" dirty="0" err="1">
                <a:ea typeface="新細明體" panose="02020500000000000000" pitchFamily="18" charset="-120"/>
              </a:rPr>
              <a:t>T.</a:t>
            </a:r>
            <a:r>
              <a:rPr lang="en-US" altLang="zh-TW" sz="2000" i="1" dirty="0" err="1">
                <a:ea typeface="新細明體" panose="02020500000000000000" pitchFamily="18" charset="-120"/>
              </a:rPr>
              <a:t>CrsCode</a:t>
            </a:r>
            <a:r>
              <a:rPr lang="en-US" altLang="zh-TW" sz="2000" dirty="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zh-TW" sz="20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		FROM    </a:t>
            </a:r>
            <a:r>
              <a:rPr lang="en-US" altLang="zh-TW" sz="20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Teaching</a:t>
            </a:r>
            <a:r>
              <a:rPr lang="en-US" altLang="zh-TW" sz="2000" dirty="0">
                <a:ea typeface="新細明體" panose="02020500000000000000" pitchFamily="18" charset="-120"/>
              </a:rPr>
              <a:t> 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zh-TW" sz="20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		WHERE  </a:t>
            </a:r>
            <a:r>
              <a:rPr lang="en-US" altLang="zh-TW" sz="2000" dirty="0" err="1">
                <a:ea typeface="新細明體" panose="02020500000000000000" pitchFamily="18" charset="-120"/>
              </a:rPr>
              <a:t>T.</a:t>
            </a:r>
            <a:r>
              <a:rPr lang="en-US" altLang="zh-TW" sz="2000" i="1" dirty="0" err="1">
                <a:ea typeface="新細明體" panose="02020500000000000000" pitchFamily="18" charset="-120"/>
              </a:rPr>
              <a:t>Semester</a:t>
            </a:r>
            <a:r>
              <a:rPr lang="en-US" altLang="zh-TW" sz="2000" dirty="0">
                <a:ea typeface="新細明體" panose="02020500000000000000" pitchFamily="18" charset="-120"/>
              </a:rPr>
              <a:t> = ‘S2000’ </a:t>
            </a:r>
            <a:r>
              <a:rPr lang="en-US" altLang="zh-TW" sz="1800" dirty="0">
                <a:ea typeface="新細明體" panose="02020500000000000000" pitchFamily="18" charset="-120"/>
              </a:rPr>
              <a:t>AND</a:t>
            </a:r>
            <a:r>
              <a:rPr lang="en-US" altLang="zh-TW" sz="2000" dirty="0">
                <a:ea typeface="新細明體" panose="02020500000000000000" pitchFamily="18" charset="-120"/>
              </a:rPr>
              <a:t> </a:t>
            </a:r>
            <a:r>
              <a:rPr lang="en-US" altLang="zh-TW" sz="2000" dirty="0" err="1">
                <a:ea typeface="新細明體" panose="02020500000000000000" pitchFamily="18" charset="-120"/>
              </a:rPr>
              <a:t>T.</a:t>
            </a:r>
            <a:r>
              <a:rPr lang="en-US" altLang="zh-TW" sz="2000" i="1" dirty="0" err="1">
                <a:ea typeface="新細明體" panose="02020500000000000000" pitchFamily="18" charset="-120"/>
              </a:rPr>
              <a:t>ProfId</a:t>
            </a:r>
            <a:r>
              <a:rPr lang="en-US" altLang="zh-TW" sz="2000" dirty="0">
                <a:ea typeface="新細明體" panose="02020500000000000000" pitchFamily="18" charset="-120"/>
              </a:rPr>
              <a:t> = 123456789</a:t>
            </a:r>
          </a:p>
          <a:p>
            <a:pPr lvl="2">
              <a:spcBef>
                <a:spcPct val="0"/>
              </a:spcBef>
            </a:pPr>
            <a:r>
              <a:rPr lang="en-US" altLang="zh-TW" sz="2000" dirty="0">
                <a:ea typeface="新細明體" panose="02020500000000000000" pitchFamily="18" charset="-120"/>
              </a:rPr>
              <a:t>Cumbersome</a:t>
            </a:r>
          </a:p>
          <a:p>
            <a:pPr lvl="2">
              <a:spcBef>
                <a:spcPct val="0"/>
              </a:spcBef>
            </a:pPr>
            <a:r>
              <a:rPr lang="en-US" altLang="zh-TW" sz="2000" dirty="0">
                <a:ea typeface="新細明體" panose="02020500000000000000" pitchFamily="18" charset="-120"/>
              </a:rPr>
              <a:t>What if the number of professors changes?  Add another query?</a:t>
            </a:r>
          </a:p>
          <a:p>
            <a:pPr lvl="1">
              <a:spcBef>
                <a:spcPct val="0"/>
              </a:spcBef>
            </a:pPr>
            <a:r>
              <a:rPr lang="en-US" altLang="zh-TW" dirty="0">
                <a:ea typeface="新細明體" panose="02020500000000000000" pitchFamily="18" charset="-120"/>
              </a:rPr>
              <a:t>Strategy 2:  define a special </a:t>
            </a:r>
            <a:r>
              <a:rPr lang="en-US" altLang="zh-TW" i="1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grouping operator</a:t>
            </a:r>
            <a:r>
              <a:rPr lang="en-US" altLang="zh-TW" dirty="0">
                <a:ea typeface="新細明體" panose="02020500000000000000" pitchFamily="18" charset="-120"/>
              </a:rPr>
              <a:t>:</a:t>
            </a:r>
          </a:p>
          <a:p>
            <a:pPr>
              <a:lnSpc>
                <a:spcPct val="120000"/>
              </a:lnSpc>
              <a:spcBef>
                <a:spcPct val="0"/>
              </a:spcBef>
              <a:buFontTx/>
              <a:buNone/>
            </a:pPr>
            <a:r>
              <a:rPr lang="en-US" altLang="zh-TW" sz="20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		SELECT     </a:t>
            </a:r>
            <a:r>
              <a:rPr lang="en-US" altLang="zh-TW" sz="2000" dirty="0" err="1">
                <a:ea typeface="新細明體" panose="02020500000000000000" pitchFamily="18" charset="-120"/>
              </a:rPr>
              <a:t>T.</a:t>
            </a:r>
            <a:r>
              <a:rPr lang="en-US" altLang="zh-TW" sz="2000" i="1" dirty="0" err="1">
                <a:ea typeface="新細明體" panose="02020500000000000000" pitchFamily="18" charset="-120"/>
              </a:rPr>
              <a:t>ProfId</a:t>
            </a:r>
            <a:r>
              <a:rPr lang="en-US" altLang="zh-TW" sz="2000" dirty="0">
                <a:latin typeface="Century Gothic" panose="020B0502020202020204" pitchFamily="34" charset="0"/>
                <a:ea typeface="新細明體" panose="02020500000000000000" pitchFamily="18" charset="-120"/>
              </a:rPr>
              <a:t>,  COUNT(</a:t>
            </a:r>
            <a:r>
              <a:rPr lang="en-US" altLang="zh-TW" sz="2000" dirty="0" err="1">
                <a:ea typeface="新細明體" panose="02020500000000000000" pitchFamily="18" charset="-120"/>
              </a:rPr>
              <a:t>T.</a:t>
            </a:r>
            <a:r>
              <a:rPr lang="en-US" altLang="zh-TW" sz="2000" i="1" dirty="0" err="1">
                <a:ea typeface="新細明體" panose="02020500000000000000" pitchFamily="18" charset="-120"/>
              </a:rPr>
              <a:t>CrsCode</a:t>
            </a:r>
            <a:r>
              <a:rPr lang="en-US" altLang="zh-TW" sz="2000" dirty="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zh-TW" sz="20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		FROM       </a:t>
            </a:r>
            <a:r>
              <a:rPr lang="en-US" altLang="zh-TW" sz="20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Teaching</a:t>
            </a:r>
            <a:r>
              <a:rPr lang="en-US" altLang="zh-TW" sz="2000" dirty="0">
                <a:ea typeface="新細明體" panose="02020500000000000000" pitchFamily="18" charset="-120"/>
              </a:rPr>
              <a:t>  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zh-TW" sz="20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		WHERE      </a:t>
            </a:r>
            <a:r>
              <a:rPr lang="en-US" altLang="zh-TW" sz="2000" dirty="0" err="1">
                <a:ea typeface="新細明體" panose="02020500000000000000" pitchFamily="18" charset="-120"/>
              </a:rPr>
              <a:t>T.</a:t>
            </a:r>
            <a:r>
              <a:rPr lang="en-US" altLang="zh-TW" sz="2000" i="1" dirty="0" err="1">
                <a:ea typeface="新細明體" panose="02020500000000000000" pitchFamily="18" charset="-120"/>
              </a:rPr>
              <a:t>Semester</a:t>
            </a:r>
            <a:r>
              <a:rPr lang="en-US" altLang="zh-TW" sz="2000" dirty="0">
                <a:ea typeface="新細明體" panose="02020500000000000000" pitchFamily="18" charset="-120"/>
              </a:rPr>
              <a:t> = ‘S2000’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zh-TW" sz="2000" dirty="0">
                <a:ea typeface="新細明體" panose="02020500000000000000" pitchFamily="18" charset="-120"/>
              </a:rPr>
              <a:t>			</a:t>
            </a:r>
            <a:r>
              <a:rPr lang="en-US" altLang="zh-TW" sz="1800" dirty="0">
                <a:solidFill>
                  <a:srgbClr val="990033"/>
                </a:solidFill>
                <a:ea typeface="新細明體" panose="02020500000000000000" pitchFamily="18" charset="-120"/>
              </a:rPr>
              <a:t>GROUP BY</a:t>
            </a:r>
            <a:r>
              <a:rPr lang="en-US" altLang="zh-TW" sz="2000" dirty="0">
                <a:ea typeface="新細明體" panose="02020500000000000000" pitchFamily="18" charset="-120"/>
              </a:rPr>
              <a:t>  </a:t>
            </a:r>
            <a:r>
              <a:rPr lang="en-US" altLang="zh-TW" sz="2000" dirty="0" err="1">
                <a:solidFill>
                  <a:srgbClr val="008000"/>
                </a:solidFill>
                <a:ea typeface="新細明體" panose="02020500000000000000" pitchFamily="18" charset="-120"/>
              </a:rPr>
              <a:t>T.</a:t>
            </a:r>
            <a:r>
              <a:rPr lang="en-US" altLang="zh-TW" sz="2000" i="1" dirty="0" err="1">
                <a:solidFill>
                  <a:srgbClr val="008000"/>
                </a:solidFill>
                <a:ea typeface="新細明體" panose="02020500000000000000" pitchFamily="18" charset="-120"/>
              </a:rPr>
              <a:t>ProfId</a:t>
            </a:r>
            <a:endParaRPr lang="en-US" altLang="zh-TW" sz="2000" i="1" dirty="0">
              <a:solidFill>
                <a:srgbClr val="008000"/>
              </a:solidFill>
              <a:ea typeface="新細明體" panose="02020500000000000000" pitchFamily="18" charset="-12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zh-TW" sz="2000" i="1" dirty="0" err="1">
                <a:solidFill>
                  <a:srgbClr val="008000"/>
                </a:solidFill>
                <a:ea typeface="新細明體" panose="02020500000000000000" pitchFamily="18" charset="-120"/>
              </a:rPr>
              <a:t>Grou</a:t>
            </a:r>
            <a:r>
              <a:rPr lang="en-US" altLang="zh-TW" sz="2000" i="1" dirty="0">
                <a:solidFill>
                  <a:srgbClr val="008000"/>
                </a:solidFill>
                <a:ea typeface="新細明體" panose="02020500000000000000" pitchFamily="18" charset="-120"/>
              </a:rPr>
              <a:t> ID is unique in a group!</a:t>
            </a:r>
            <a:endParaRPr lang="en-US" altLang="zh-TW" i="1" dirty="0">
              <a:solidFill>
                <a:srgbClr val="008000"/>
              </a:solidFill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88CD54-681F-415E-8FA2-BE2D8A291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64</a:t>
            </a:fld>
            <a:endParaRPr lang="en-US" altLang="zh-TW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7" name="Rectangle 2">
            <a:extLst>
              <a:ext uri="{FF2B5EF4-FFF2-40B4-BE49-F238E27FC236}">
                <a16:creationId xmlns:a16="http://schemas.microsoft.com/office/drawing/2014/main" id="{25D05D29-214C-49E1-ACB5-A40BFE462C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676400" y="0"/>
            <a:ext cx="5105400" cy="838200"/>
          </a:xfrm>
        </p:spPr>
        <p:txBody>
          <a:bodyPr/>
          <a:lstStyle/>
          <a:p>
            <a:r>
              <a:rPr lang="en-US" altLang="zh-TW" sz="4000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4000" dirty="0">
                <a:latin typeface="Century Gothic" panose="020B0502020202020204" pitchFamily="34" charset="0"/>
                <a:ea typeface="新細明體" panose="02020500000000000000" pitchFamily="18" charset="-120"/>
              </a:rPr>
              <a:t>BY</a:t>
            </a:r>
            <a:endParaRPr lang="en-US" altLang="zh-TW" sz="4000" dirty="0">
              <a:ea typeface="新細明體" panose="02020500000000000000" pitchFamily="18" charset="-120"/>
            </a:endParaRPr>
          </a:p>
        </p:txBody>
      </p:sp>
      <p:pic>
        <p:nvPicPr>
          <p:cNvPr id="52228" name="Picture 59">
            <a:extLst>
              <a:ext uri="{FF2B5EF4-FFF2-40B4-BE49-F238E27FC236}">
                <a16:creationId xmlns:a16="http://schemas.microsoft.com/office/drawing/2014/main" id="{581E0937-1697-403A-8381-B28057945E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1276350"/>
            <a:ext cx="8153400" cy="4964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2229" name="Line 60">
            <a:extLst>
              <a:ext uri="{FF2B5EF4-FFF2-40B4-BE49-F238E27FC236}">
                <a16:creationId xmlns:a16="http://schemas.microsoft.com/office/drawing/2014/main" id="{84314EFC-7093-40CF-991C-EF1720065124}"/>
              </a:ext>
            </a:extLst>
          </p:cNvPr>
          <p:cNvSpPr>
            <a:spLocks noChangeShapeType="1"/>
          </p:cNvSpPr>
          <p:nvPr/>
        </p:nvSpPr>
        <p:spPr bwMode="auto">
          <a:xfrm>
            <a:off x="5562600" y="3276600"/>
            <a:ext cx="76200" cy="1676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52230" name="Text Box 62">
            <a:extLst>
              <a:ext uri="{FF2B5EF4-FFF2-40B4-BE49-F238E27FC236}">
                <a16:creationId xmlns:a16="http://schemas.microsoft.com/office/drawing/2014/main" id="{61160C24-1691-4EB2-99A0-A01A42F89B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0" y="4876800"/>
            <a:ext cx="1905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1200">
                <a:ea typeface="新細明體" panose="02020500000000000000" pitchFamily="18" charset="-120"/>
              </a:rPr>
              <a:t>Values are the same  for all rows in same group</a:t>
            </a:r>
          </a:p>
        </p:txBody>
      </p:sp>
      <p:sp>
        <p:nvSpPr>
          <p:cNvPr id="52231" name="Text Box 63">
            <a:extLst>
              <a:ext uri="{FF2B5EF4-FFF2-40B4-BE49-F238E27FC236}">
                <a16:creationId xmlns:a16="http://schemas.microsoft.com/office/drawing/2014/main" id="{03B70744-37C1-4EF1-ABCC-61AFC05F5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4600" y="5715000"/>
            <a:ext cx="1905000" cy="639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1200">
                <a:ea typeface="新細明體" panose="02020500000000000000" pitchFamily="18" charset="-120"/>
              </a:rPr>
              <a:t>Values might be different for rows in the same group, need aggregation!</a:t>
            </a:r>
          </a:p>
        </p:txBody>
      </p:sp>
      <p:sp>
        <p:nvSpPr>
          <p:cNvPr id="52232" name="Line 64">
            <a:extLst>
              <a:ext uri="{FF2B5EF4-FFF2-40B4-BE49-F238E27FC236}">
                <a16:creationId xmlns:a16="http://schemas.microsoft.com/office/drawing/2014/main" id="{FC104070-6BBE-4FF2-83A2-FADB461A91CD}"/>
              </a:ext>
            </a:extLst>
          </p:cNvPr>
          <p:cNvSpPr>
            <a:spLocks noChangeShapeType="1"/>
          </p:cNvSpPr>
          <p:nvPr/>
        </p:nvSpPr>
        <p:spPr bwMode="auto">
          <a:xfrm>
            <a:off x="7162800" y="3200400"/>
            <a:ext cx="609600" cy="2514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7A7226-33D2-4543-9ACA-2E77DDCED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65</a:t>
            </a:fld>
            <a:endParaRPr lang="en-US" altLang="zh-TW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369B87C-A9A4-70A4-5CBE-ABDCC98E61D8}"/>
              </a:ext>
            </a:extLst>
          </p:cNvPr>
          <p:cNvCxnSpPr/>
          <p:nvPr/>
        </p:nvCxnSpPr>
        <p:spPr bwMode="auto">
          <a:xfrm>
            <a:off x="1500809" y="914400"/>
            <a:ext cx="487017" cy="58640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031C50B-A231-23C7-7516-58BE1215B18E}"/>
              </a:ext>
            </a:extLst>
          </p:cNvPr>
          <p:cNvSpPr txBox="1"/>
          <p:nvPr/>
        </p:nvSpPr>
        <p:spPr>
          <a:xfrm>
            <a:off x="460832" y="741678"/>
            <a:ext cx="2053768" cy="400110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Groupid</a:t>
            </a:r>
            <a:r>
              <a:rPr lang="en-US" dirty="0"/>
              <a:t> attributes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246FCB0-3DBB-6610-DD72-9B995DE307E3}"/>
              </a:ext>
            </a:extLst>
          </p:cNvPr>
          <p:cNvCxnSpPr>
            <a:cxnSpLocks/>
          </p:cNvCxnSpPr>
          <p:nvPr/>
        </p:nvCxnSpPr>
        <p:spPr bwMode="auto">
          <a:xfrm flipH="1">
            <a:off x="3041374" y="1126081"/>
            <a:ext cx="178904" cy="37472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2F89190-7FC0-7561-1AA7-DB7E3449D55C}"/>
              </a:ext>
            </a:extLst>
          </p:cNvPr>
          <p:cNvSpPr txBox="1"/>
          <p:nvPr/>
        </p:nvSpPr>
        <p:spPr>
          <a:xfrm>
            <a:off x="2463586" y="752445"/>
            <a:ext cx="1782860" cy="400110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attributes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1" name="Rectangle 2">
            <a:extLst>
              <a:ext uri="{FF2B5EF4-FFF2-40B4-BE49-F238E27FC236}">
                <a16:creationId xmlns:a16="http://schemas.microsoft.com/office/drawing/2014/main" id="{62355693-617A-492A-8D3F-E67F3D53BC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1143000"/>
          </a:xfrm>
        </p:spPr>
        <p:txBody>
          <a:bodyPr/>
          <a:lstStyle/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 BY</a:t>
            </a:r>
            <a:r>
              <a:rPr lang="en-US" altLang="zh-TW" dirty="0">
                <a:ea typeface="新細明體" panose="02020500000000000000" pitchFamily="18" charset="-120"/>
              </a:rPr>
              <a:t> - Example</a:t>
            </a:r>
          </a:p>
        </p:txBody>
      </p:sp>
      <p:sp>
        <p:nvSpPr>
          <p:cNvPr id="53252" name="Line 3">
            <a:extLst>
              <a:ext uri="{FF2B5EF4-FFF2-40B4-BE49-F238E27FC236}">
                <a16:creationId xmlns:a16="http://schemas.microsoft.com/office/drawing/2014/main" id="{06041103-9170-4B91-9140-1AFFC38B8BB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8200" y="2057400"/>
            <a:ext cx="0" cy="3124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53" name="Line 4">
            <a:extLst>
              <a:ext uri="{FF2B5EF4-FFF2-40B4-BE49-F238E27FC236}">
                <a16:creationId xmlns:a16="http://schemas.microsoft.com/office/drawing/2014/main" id="{D49FAFBC-9C7F-475A-9847-C6510EBF8A5A}"/>
              </a:ext>
            </a:extLst>
          </p:cNvPr>
          <p:cNvSpPr>
            <a:spLocks noChangeShapeType="1"/>
          </p:cNvSpPr>
          <p:nvPr/>
        </p:nvSpPr>
        <p:spPr bwMode="auto">
          <a:xfrm>
            <a:off x="838200" y="20574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54" name="Line 5">
            <a:extLst>
              <a:ext uri="{FF2B5EF4-FFF2-40B4-BE49-F238E27FC236}">
                <a16:creationId xmlns:a16="http://schemas.microsoft.com/office/drawing/2014/main" id="{38E779FC-C062-495B-851D-B25905C611BA}"/>
              </a:ext>
            </a:extLst>
          </p:cNvPr>
          <p:cNvSpPr>
            <a:spLocks noChangeShapeType="1"/>
          </p:cNvSpPr>
          <p:nvPr/>
        </p:nvSpPr>
        <p:spPr bwMode="auto">
          <a:xfrm>
            <a:off x="838200" y="51816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55" name="Line 6">
            <a:extLst>
              <a:ext uri="{FF2B5EF4-FFF2-40B4-BE49-F238E27FC236}">
                <a16:creationId xmlns:a16="http://schemas.microsoft.com/office/drawing/2014/main" id="{F74FC974-032F-496A-9D5F-7F2E423DC812}"/>
              </a:ext>
            </a:extLst>
          </p:cNvPr>
          <p:cNvSpPr>
            <a:spLocks noChangeShapeType="1"/>
          </p:cNvSpPr>
          <p:nvPr/>
        </p:nvSpPr>
        <p:spPr bwMode="auto">
          <a:xfrm>
            <a:off x="838200" y="44196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56" name="Line 7">
            <a:extLst>
              <a:ext uri="{FF2B5EF4-FFF2-40B4-BE49-F238E27FC236}">
                <a16:creationId xmlns:a16="http://schemas.microsoft.com/office/drawing/2014/main" id="{3CCFD5AB-8CDA-4672-AC63-F3F7EDC06E6A}"/>
              </a:ext>
            </a:extLst>
          </p:cNvPr>
          <p:cNvSpPr>
            <a:spLocks noChangeShapeType="1"/>
          </p:cNvSpPr>
          <p:nvPr/>
        </p:nvSpPr>
        <p:spPr bwMode="auto">
          <a:xfrm>
            <a:off x="838200" y="30480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57" name="Line 8">
            <a:extLst>
              <a:ext uri="{FF2B5EF4-FFF2-40B4-BE49-F238E27FC236}">
                <a16:creationId xmlns:a16="http://schemas.microsoft.com/office/drawing/2014/main" id="{4AB65E53-4380-4C9C-A235-A7BD16586FD3}"/>
              </a:ext>
            </a:extLst>
          </p:cNvPr>
          <p:cNvSpPr>
            <a:spLocks noChangeShapeType="1"/>
          </p:cNvSpPr>
          <p:nvPr/>
        </p:nvSpPr>
        <p:spPr bwMode="auto">
          <a:xfrm>
            <a:off x="838200" y="25146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58" name="Line 9">
            <a:extLst>
              <a:ext uri="{FF2B5EF4-FFF2-40B4-BE49-F238E27FC236}">
                <a16:creationId xmlns:a16="http://schemas.microsoft.com/office/drawing/2014/main" id="{BC903EEE-F498-4D3E-BAE3-CA165FE98091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3600" y="2057400"/>
            <a:ext cx="0" cy="3124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59" name="Line 10">
            <a:extLst>
              <a:ext uri="{FF2B5EF4-FFF2-40B4-BE49-F238E27FC236}">
                <a16:creationId xmlns:a16="http://schemas.microsoft.com/office/drawing/2014/main" id="{8E16A628-7A56-475D-98BC-D032AFB44BD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26670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0" name="Line 11">
            <a:extLst>
              <a:ext uri="{FF2B5EF4-FFF2-40B4-BE49-F238E27FC236}">
                <a16:creationId xmlns:a16="http://schemas.microsoft.com/office/drawing/2014/main" id="{A7454431-F270-44BC-BF87-72748A303B8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29718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1" name="Line 12">
            <a:extLst>
              <a:ext uri="{FF2B5EF4-FFF2-40B4-BE49-F238E27FC236}">
                <a16:creationId xmlns:a16="http://schemas.microsoft.com/office/drawing/2014/main" id="{88EF9266-03A6-4EA0-BEC4-0F7A8D66EB7A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32766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2" name="Line 13">
            <a:extLst>
              <a:ext uri="{FF2B5EF4-FFF2-40B4-BE49-F238E27FC236}">
                <a16:creationId xmlns:a16="http://schemas.microsoft.com/office/drawing/2014/main" id="{30E546BC-7581-45BD-ABF1-D370CBCE8ACC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35814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3" name="Line 14">
            <a:extLst>
              <a:ext uri="{FF2B5EF4-FFF2-40B4-BE49-F238E27FC236}">
                <a16:creationId xmlns:a16="http://schemas.microsoft.com/office/drawing/2014/main" id="{2C3818D3-DFBE-47D3-8504-8B74D1F3E3DC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38862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4" name="Line 15">
            <a:extLst>
              <a:ext uri="{FF2B5EF4-FFF2-40B4-BE49-F238E27FC236}">
                <a16:creationId xmlns:a16="http://schemas.microsoft.com/office/drawing/2014/main" id="{29A6F5DF-1168-4D72-8006-7E124FDD9FD9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26670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5" name="Line 16">
            <a:extLst>
              <a:ext uri="{FF2B5EF4-FFF2-40B4-BE49-F238E27FC236}">
                <a16:creationId xmlns:a16="http://schemas.microsoft.com/office/drawing/2014/main" id="{4E93087D-E201-4543-94A7-A463BD9E2140}"/>
              </a:ext>
            </a:extLst>
          </p:cNvPr>
          <p:cNvSpPr>
            <a:spLocks noChangeShapeType="1"/>
          </p:cNvSpPr>
          <p:nvPr/>
        </p:nvSpPr>
        <p:spPr bwMode="auto">
          <a:xfrm>
            <a:off x="4495800" y="26670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6" name="Line 17">
            <a:extLst>
              <a:ext uri="{FF2B5EF4-FFF2-40B4-BE49-F238E27FC236}">
                <a16:creationId xmlns:a16="http://schemas.microsoft.com/office/drawing/2014/main" id="{3638A55A-EC6A-4380-B0D3-4BDA27DC3E3C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0" y="2286000"/>
            <a:ext cx="1295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7" name="Line 18">
            <a:extLst>
              <a:ext uri="{FF2B5EF4-FFF2-40B4-BE49-F238E27FC236}">
                <a16:creationId xmlns:a16="http://schemas.microsoft.com/office/drawing/2014/main" id="{FE6B29D9-FEA8-4E51-8DBA-A1C46EB85A12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0" y="2819400"/>
            <a:ext cx="12954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8" name="Line 19">
            <a:extLst>
              <a:ext uri="{FF2B5EF4-FFF2-40B4-BE49-F238E27FC236}">
                <a16:creationId xmlns:a16="http://schemas.microsoft.com/office/drawing/2014/main" id="{94ACCD65-68FC-4CF8-9E11-FE0D497FA76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05000" y="3733800"/>
            <a:ext cx="1295400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9" name="Line 20">
            <a:extLst>
              <a:ext uri="{FF2B5EF4-FFF2-40B4-BE49-F238E27FC236}">
                <a16:creationId xmlns:a16="http://schemas.microsoft.com/office/drawing/2014/main" id="{84612DFF-9084-4D9D-8866-D8A564FC36D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05000" y="3429000"/>
            <a:ext cx="12954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1221" name="Text Box 21">
            <a:extLst>
              <a:ext uri="{FF2B5EF4-FFF2-40B4-BE49-F238E27FC236}">
                <a16:creationId xmlns:a16="http://schemas.microsoft.com/office/drawing/2014/main" id="{7FBBF345-4D21-4C3E-86D7-B0D8D4894F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3550" y="4267200"/>
            <a:ext cx="5378450" cy="915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defRPr/>
            </a:pPr>
            <a:r>
              <a:rPr lang="en-US" sz="1800">
                <a:latin typeface="Century Gothic" pitchFamily="34" charset="0"/>
              </a:rPr>
              <a:t>SELECT </a:t>
            </a:r>
            <a:r>
              <a:rPr lang="en-US" sz="1800"/>
              <a:t>T.</a:t>
            </a:r>
            <a:r>
              <a:rPr lang="en-US" sz="1800" i="1"/>
              <a:t>StudId</a:t>
            </a:r>
            <a:r>
              <a:rPr lang="en-US" sz="1800">
                <a:latin typeface="Century Gothic" pitchFamily="34" charset="0"/>
              </a:rPr>
              <a:t>, AVG(</a:t>
            </a:r>
            <a:r>
              <a:rPr lang="en-US" sz="1800"/>
              <a:t>T.</a:t>
            </a:r>
            <a:r>
              <a:rPr lang="en-US" sz="1800" i="1"/>
              <a:t>Grade</a:t>
            </a:r>
            <a:r>
              <a:rPr lang="en-US" sz="1800">
                <a:latin typeface="Century Gothic" pitchFamily="34" charset="0"/>
              </a:rPr>
              <a:t>), COUNT (*)</a:t>
            </a:r>
          </a:p>
          <a:p>
            <a:pPr>
              <a:defRPr/>
            </a:pPr>
            <a:r>
              <a:rPr lang="en-US" sz="1800">
                <a:latin typeface="Century Gothic" pitchFamily="34" charset="0"/>
              </a:rPr>
              <a:t>FROM </a:t>
            </a:r>
            <a:r>
              <a:rPr lang="en-US" sz="1800">
                <a:effectLst>
                  <a:outerShdw blurRad="38100" dist="38100" dir="2700000" algn="tl">
                    <a:srgbClr val="C0C0C0"/>
                  </a:outerShdw>
                </a:effectLst>
              </a:rPr>
              <a:t>Transcript</a:t>
            </a:r>
            <a:r>
              <a:rPr lang="en-US" sz="1800">
                <a:latin typeface="Century Gothic" pitchFamily="34" charset="0"/>
              </a:rPr>
              <a:t> </a:t>
            </a:r>
            <a:r>
              <a:rPr lang="en-US" sz="1800"/>
              <a:t>T</a:t>
            </a:r>
          </a:p>
          <a:p>
            <a:pPr>
              <a:defRPr/>
            </a:pPr>
            <a:r>
              <a:rPr lang="en-US" sz="1800">
                <a:latin typeface="Century Gothic" pitchFamily="34" charset="0"/>
              </a:rPr>
              <a:t>GROUP BY </a:t>
            </a:r>
            <a:r>
              <a:rPr lang="en-US" sz="1800"/>
              <a:t>T.</a:t>
            </a:r>
            <a:r>
              <a:rPr lang="en-US" sz="1800" i="1"/>
              <a:t>StudId</a:t>
            </a:r>
          </a:p>
        </p:txBody>
      </p:sp>
      <p:sp>
        <p:nvSpPr>
          <p:cNvPr id="51222" name="Text Box 22">
            <a:extLst>
              <a:ext uri="{FF2B5EF4-FFF2-40B4-BE49-F238E27FC236}">
                <a16:creationId xmlns:a16="http://schemas.microsoft.com/office/drawing/2014/main" id="{7DDCE9D8-2CF6-4949-B382-B29CAE46E1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571625"/>
            <a:ext cx="1644650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Transcript</a:t>
            </a:r>
          </a:p>
        </p:txBody>
      </p:sp>
      <p:sp>
        <p:nvSpPr>
          <p:cNvPr id="53273" name="Text Box 24">
            <a:extLst>
              <a:ext uri="{FF2B5EF4-FFF2-40B4-BE49-F238E27FC236}">
                <a16:creationId xmlns:a16="http://schemas.microsoft.com/office/drawing/2014/main" id="{7CC4349F-A436-45BA-8738-C4361C6F3D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4200" y="3200400"/>
            <a:ext cx="13906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>
                <a:ea typeface="新細明體" panose="02020500000000000000" pitchFamily="18" charset="-120"/>
              </a:rPr>
              <a:t>1234  3.3  4</a:t>
            </a:r>
          </a:p>
        </p:txBody>
      </p:sp>
      <p:sp>
        <p:nvSpPr>
          <p:cNvPr id="53274" name="Text Box 25">
            <a:extLst>
              <a:ext uri="{FF2B5EF4-FFF2-40B4-BE49-F238E27FC236}">
                <a16:creationId xmlns:a16="http://schemas.microsoft.com/office/drawing/2014/main" id="{A035D36F-A454-45BC-9E9C-0ADF4F852C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2325" y="3138488"/>
            <a:ext cx="692150" cy="131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1234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1234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1234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1234</a:t>
            </a:r>
          </a:p>
        </p:txBody>
      </p:sp>
      <p:sp>
        <p:nvSpPr>
          <p:cNvPr id="53275" name="Line 26">
            <a:extLst>
              <a:ext uri="{FF2B5EF4-FFF2-40B4-BE49-F238E27FC236}">
                <a16:creationId xmlns:a16="http://schemas.microsoft.com/office/drawing/2014/main" id="{5FEB6AE9-CA8C-494A-A737-8E8873B574D5}"/>
              </a:ext>
            </a:extLst>
          </p:cNvPr>
          <p:cNvSpPr>
            <a:spLocks noChangeShapeType="1"/>
          </p:cNvSpPr>
          <p:nvPr/>
        </p:nvSpPr>
        <p:spPr bwMode="auto">
          <a:xfrm>
            <a:off x="3810000" y="26670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53276" name="Line 36">
            <a:extLst>
              <a:ext uri="{FF2B5EF4-FFF2-40B4-BE49-F238E27FC236}">
                <a16:creationId xmlns:a16="http://schemas.microsoft.com/office/drawing/2014/main" id="{95FBCB82-4C0B-4FD0-AF52-7774C9F78900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7200" y="26670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53277" name="Line 38">
            <a:extLst>
              <a:ext uri="{FF2B5EF4-FFF2-40B4-BE49-F238E27FC236}">
                <a16:creationId xmlns:a16="http://schemas.microsoft.com/office/drawing/2014/main" id="{C586FF81-0AB4-445A-9BEB-532F15F690B0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2057400"/>
            <a:ext cx="0" cy="3124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53278" name="Text Box 39">
            <a:extLst>
              <a:ext uri="{FF2B5EF4-FFF2-40B4-BE49-F238E27FC236}">
                <a16:creationId xmlns:a16="http://schemas.microsoft.com/office/drawing/2014/main" id="{D256B857-7A57-4319-A272-46E80591FA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5562600"/>
            <a:ext cx="6934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solidFill>
                  <a:schemeClr val="accent2">
                    <a:lumMod val="75000"/>
                  </a:schemeClr>
                </a:solidFill>
                <a:ea typeface="新細明體" panose="02020500000000000000" pitchFamily="18" charset="-120"/>
              </a:rPr>
              <a:t>Each group is aggregated into one row. </a:t>
            </a:r>
            <a:endParaRPr lang="en-US" altLang="zh-TW" dirty="0">
              <a:solidFill>
                <a:schemeClr val="accent2">
                  <a:lumMod val="75000"/>
                </a:schemeClr>
              </a:solidFill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5CA490-1254-41B7-8971-52CBEF9F1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66</a:t>
            </a:fld>
            <a:endParaRPr lang="en-US" altLang="zh-TW"/>
          </a:p>
        </p:txBody>
      </p:sp>
      <p:sp>
        <p:nvSpPr>
          <p:cNvPr id="3" name="Text Box 25">
            <a:extLst>
              <a:ext uri="{FF2B5EF4-FFF2-40B4-BE49-F238E27FC236}">
                <a16:creationId xmlns:a16="http://schemas.microsoft.com/office/drawing/2014/main" id="{526EEB1A-B41D-55E1-1713-FB0A953FBE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4626" y="3154362"/>
            <a:ext cx="569387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 3.0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 3.6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 3.1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 3.5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2" name="Line 3">
            <a:extLst>
              <a:ext uri="{FF2B5EF4-FFF2-40B4-BE49-F238E27FC236}">
                <a16:creationId xmlns:a16="http://schemas.microsoft.com/office/drawing/2014/main" id="{06041103-9170-4B91-9140-1AFFC38B8BB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8200" y="2057400"/>
            <a:ext cx="0" cy="3124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53" name="Line 4">
            <a:extLst>
              <a:ext uri="{FF2B5EF4-FFF2-40B4-BE49-F238E27FC236}">
                <a16:creationId xmlns:a16="http://schemas.microsoft.com/office/drawing/2014/main" id="{D49FAFBC-9C7F-475A-9847-C6510EBF8A5A}"/>
              </a:ext>
            </a:extLst>
          </p:cNvPr>
          <p:cNvSpPr>
            <a:spLocks noChangeShapeType="1"/>
          </p:cNvSpPr>
          <p:nvPr/>
        </p:nvSpPr>
        <p:spPr bwMode="auto">
          <a:xfrm>
            <a:off x="838200" y="20574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54" name="Line 5">
            <a:extLst>
              <a:ext uri="{FF2B5EF4-FFF2-40B4-BE49-F238E27FC236}">
                <a16:creationId xmlns:a16="http://schemas.microsoft.com/office/drawing/2014/main" id="{38E779FC-C062-495B-851D-B25905C611BA}"/>
              </a:ext>
            </a:extLst>
          </p:cNvPr>
          <p:cNvSpPr>
            <a:spLocks noChangeShapeType="1"/>
          </p:cNvSpPr>
          <p:nvPr/>
        </p:nvSpPr>
        <p:spPr bwMode="auto">
          <a:xfrm>
            <a:off x="838200" y="51816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55" name="Line 6">
            <a:extLst>
              <a:ext uri="{FF2B5EF4-FFF2-40B4-BE49-F238E27FC236}">
                <a16:creationId xmlns:a16="http://schemas.microsoft.com/office/drawing/2014/main" id="{F74FC974-032F-496A-9D5F-7F2E423DC812}"/>
              </a:ext>
            </a:extLst>
          </p:cNvPr>
          <p:cNvSpPr>
            <a:spLocks noChangeShapeType="1"/>
          </p:cNvSpPr>
          <p:nvPr/>
        </p:nvSpPr>
        <p:spPr bwMode="auto">
          <a:xfrm>
            <a:off x="838200" y="44196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56" name="Line 7">
            <a:extLst>
              <a:ext uri="{FF2B5EF4-FFF2-40B4-BE49-F238E27FC236}">
                <a16:creationId xmlns:a16="http://schemas.microsoft.com/office/drawing/2014/main" id="{3CCFD5AB-8CDA-4672-AC63-F3F7EDC06E6A}"/>
              </a:ext>
            </a:extLst>
          </p:cNvPr>
          <p:cNvSpPr>
            <a:spLocks noChangeShapeType="1"/>
          </p:cNvSpPr>
          <p:nvPr/>
        </p:nvSpPr>
        <p:spPr bwMode="auto">
          <a:xfrm>
            <a:off x="838200" y="30480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57" name="Line 8">
            <a:extLst>
              <a:ext uri="{FF2B5EF4-FFF2-40B4-BE49-F238E27FC236}">
                <a16:creationId xmlns:a16="http://schemas.microsoft.com/office/drawing/2014/main" id="{4AB65E53-4380-4C9C-A235-A7BD16586FD3}"/>
              </a:ext>
            </a:extLst>
          </p:cNvPr>
          <p:cNvSpPr>
            <a:spLocks noChangeShapeType="1"/>
          </p:cNvSpPr>
          <p:nvPr/>
        </p:nvSpPr>
        <p:spPr bwMode="auto">
          <a:xfrm>
            <a:off x="838200" y="25146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58" name="Line 9">
            <a:extLst>
              <a:ext uri="{FF2B5EF4-FFF2-40B4-BE49-F238E27FC236}">
                <a16:creationId xmlns:a16="http://schemas.microsoft.com/office/drawing/2014/main" id="{BC903EEE-F498-4D3E-BAE3-CA165FE98091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3600" y="2057400"/>
            <a:ext cx="0" cy="3124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59" name="Line 10">
            <a:extLst>
              <a:ext uri="{FF2B5EF4-FFF2-40B4-BE49-F238E27FC236}">
                <a16:creationId xmlns:a16="http://schemas.microsoft.com/office/drawing/2014/main" id="{8E16A628-7A56-475D-98BC-D032AFB44BD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26670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0" name="Line 11">
            <a:extLst>
              <a:ext uri="{FF2B5EF4-FFF2-40B4-BE49-F238E27FC236}">
                <a16:creationId xmlns:a16="http://schemas.microsoft.com/office/drawing/2014/main" id="{A7454431-F270-44BC-BF87-72748A303B8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29718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1" name="Line 12">
            <a:extLst>
              <a:ext uri="{FF2B5EF4-FFF2-40B4-BE49-F238E27FC236}">
                <a16:creationId xmlns:a16="http://schemas.microsoft.com/office/drawing/2014/main" id="{88EF9266-03A6-4EA0-BEC4-0F7A8D66EB7A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32766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2" name="Line 13">
            <a:extLst>
              <a:ext uri="{FF2B5EF4-FFF2-40B4-BE49-F238E27FC236}">
                <a16:creationId xmlns:a16="http://schemas.microsoft.com/office/drawing/2014/main" id="{30E546BC-7581-45BD-ABF1-D370CBCE8ACC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35814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3" name="Line 14">
            <a:extLst>
              <a:ext uri="{FF2B5EF4-FFF2-40B4-BE49-F238E27FC236}">
                <a16:creationId xmlns:a16="http://schemas.microsoft.com/office/drawing/2014/main" id="{2C3818D3-DFBE-47D3-8504-8B74D1F3E3DC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38862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4" name="Line 15">
            <a:extLst>
              <a:ext uri="{FF2B5EF4-FFF2-40B4-BE49-F238E27FC236}">
                <a16:creationId xmlns:a16="http://schemas.microsoft.com/office/drawing/2014/main" id="{29A6F5DF-1168-4D72-8006-7E124FDD9FD9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26670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5" name="Line 16">
            <a:extLst>
              <a:ext uri="{FF2B5EF4-FFF2-40B4-BE49-F238E27FC236}">
                <a16:creationId xmlns:a16="http://schemas.microsoft.com/office/drawing/2014/main" id="{4E93087D-E201-4543-94A7-A463BD9E2140}"/>
              </a:ext>
            </a:extLst>
          </p:cNvPr>
          <p:cNvSpPr>
            <a:spLocks noChangeShapeType="1"/>
          </p:cNvSpPr>
          <p:nvPr/>
        </p:nvSpPr>
        <p:spPr bwMode="auto">
          <a:xfrm>
            <a:off x="4495800" y="26670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6" name="Line 17">
            <a:extLst>
              <a:ext uri="{FF2B5EF4-FFF2-40B4-BE49-F238E27FC236}">
                <a16:creationId xmlns:a16="http://schemas.microsoft.com/office/drawing/2014/main" id="{3638A55A-EC6A-4380-B0D3-4BDA27DC3E3C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0" y="2286000"/>
            <a:ext cx="1295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7" name="Line 18">
            <a:extLst>
              <a:ext uri="{FF2B5EF4-FFF2-40B4-BE49-F238E27FC236}">
                <a16:creationId xmlns:a16="http://schemas.microsoft.com/office/drawing/2014/main" id="{FE6B29D9-FEA8-4E51-8DBA-A1C46EB85A12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0" y="2819400"/>
            <a:ext cx="12954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8" name="Line 19">
            <a:extLst>
              <a:ext uri="{FF2B5EF4-FFF2-40B4-BE49-F238E27FC236}">
                <a16:creationId xmlns:a16="http://schemas.microsoft.com/office/drawing/2014/main" id="{94ACCD65-68FC-4CF8-9E11-FE0D497FA76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05000" y="3733800"/>
            <a:ext cx="1295400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3269" name="Line 20">
            <a:extLst>
              <a:ext uri="{FF2B5EF4-FFF2-40B4-BE49-F238E27FC236}">
                <a16:creationId xmlns:a16="http://schemas.microsoft.com/office/drawing/2014/main" id="{84612DFF-9084-4D9D-8866-D8A564FC36D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05000" y="3429000"/>
            <a:ext cx="12954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1222" name="Text Box 22">
            <a:extLst>
              <a:ext uri="{FF2B5EF4-FFF2-40B4-BE49-F238E27FC236}">
                <a16:creationId xmlns:a16="http://schemas.microsoft.com/office/drawing/2014/main" id="{7DDCE9D8-2CF6-4949-B382-B29CAE46E1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571625"/>
            <a:ext cx="1644650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Transcript</a:t>
            </a:r>
          </a:p>
        </p:txBody>
      </p:sp>
      <p:sp>
        <p:nvSpPr>
          <p:cNvPr id="53273" name="Text Box 24">
            <a:extLst>
              <a:ext uri="{FF2B5EF4-FFF2-40B4-BE49-F238E27FC236}">
                <a16:creationId xmlns:a16="http://schemas.microsoft.com/office/drawing/2014/main" id="{7CC4349F-A436-45BA-8738-C4361C6F3D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4200" y="3200400"/>
            <a:ext cx="13906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>
                <a:ea typeface="新細明體" panose="02020500000000000000" pitchFamily="18" charset="-120"/>
              </a:rPr>
              <a:t>1234  3.3  4</a:t>
            </a:r>
          </a:p>
        </p:txBody>
      </p:sp>
      <p:sp>
        <p:nvSpPr>
          <p:cNvPr id="53274" name="Text Box 25">
            <a:extLst>
              <a:ext uri="{FF2B5EF4-FFF2-40B4-BE49-F238E27FC236}">
                <a16:creationId xmlns:a16="http://schemas.microsoft.com/office/drawing/2014/main" id="{A035D36F-A454-45BC-9E9C-0ADF4F852C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2325" y="3138488"/>
            <a:ext cx="692150" cy="131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1234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1234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1234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1234</a:t>
            </a:r>
          </a:p>
        </p:txBody>
      </p:sp>
      <p:sp>
        <p:nvSpPr>
          <p:cNvPr id="53275" name="Line 26">
            <a:extLst>
              <a:ext uri="{FF2B5EF4-FFF2-40B4-BE49-F238E27FC236}">
                <a16:creationId xmlns:a16="http://schemas.microsoft.com/office/drawing/2014/main" id="{5FEB6AE9-CA8C-494A-A737-8E8873B574D5}"/>
              </a:ext>
            </a:extLst>
          </p:cNvPr>
          <p:cNvSpPr>
            <a:spLocks noChangeShapeType="1"/>
          </p:cNvSpPr>
          <p:nvPr/>
        </p:nvSpPr>
        <p:spPr bwMode="auto">
          <a:xfrm>
            <a:off x="3810000" y="26670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53276" name="Line 36">
            <a:extLst>
              <a:ext uri="{FF2B5EF4-FFF2-40B4-BE49-F238E27FC236}">
                <a16:creationId xmlns:a16="http://schemas.microsoft.com/office/drawing/2014/main" id="{95FBCB82-4C0B-4FD0-AF52-7774C9F78900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7200" y="26670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53277" name="Line 38">
            <a:extLst>
              <a:ext uri="{FF2B5EF4-FFF2-40B4-BE49-F238E27FC236}">
                <a16:creationId xmlns:a16="http://schemas.microsoft.com/office/drawing/2014/main" id="{C586FF81-0AB4-445A-9BEB-532F15F690B0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2057400"/>
            <a:ext cx="0" cy="3124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5CA490-1254-41B7-8971-52CBEF9F1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67</a:t>
            </a:fld>
            <a:endParaRPr lang="en-US" altLang="zh-TW"/>
          </a:p>
        </p:txBody>
      </p:sp>
      <p:sp>
        <p:nvSpPr>
          <p:cNvPr id="3" name="Text Box 25">
            <a:extLst>
              <a:ext uri="{FF2B5EF4-FFF2-40B4-BE49-F238E27FC236}">
                <a16:creationId xmlns:a16="http://schemas.microsoft.com/office/drawing/2014/main" id="{526EEB1A-B41D-55E1-1713-FB0A953FBE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4626" y="3154362"/>
            <a:ext cx="569387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 3.0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 3.6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 3.1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 3.5</a:t>
            </a:r>
          </a:p>
        </p:txBody>
      </p:sp>
      <p:sp>
        <p:nvSpPr>
          <p:cNvPr id="4" name="Text Box 21">
            <a:extLst>
              <a:ext uri="{FF2B5EF4-FFF2-40B4-BE49-F238E27FC236}">
                <a16:creationId xmlns:a16="http://schemas.microsoft.com/office/drawing/2014/main" id="{AB979BB4-0F70-C9B7-E27B-8AE077FDF7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52700" y="4876800"/>
            <a:ext cx="7086601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chemeClr val="accent2">
                    <a:lumMod val="75000"/>
                  </a:schemeClr>
                </a:solidFill>
                <a:latin typeface="Century Gothic" pitchFamily="34" charset="0"/>
              </a:rPr>
              <a:t>1. 1234 is selected as column 1. </a:t>
            </a:r>
          </a:p>
          <a:p>
            <a:pPr>
              <a:defRPr/>
            </a:pPr>
            <a:r>
              <a:rPr lang="en-US" sz="2400" dirty="0">
                <a:solidFill>
                  <a:schemeClr val="accent2">
                    <a:lumMod val="75000"/>
                  </a:schemeClr>
                </a:solidFill>
                <a:latin typeface="Century Gothic" pitchFamily="34" charset="0"/>
              </a:rPr>
              <a:t>2. AVG(grade) as column 2. </a:t>
            </a:r>
          </a:p>
          <a:p>
            <a:pPr>
              <a:defRPr/>
            </a:pPr>
            <a:r>
              <a:rPr lang="en-US" sz="2400" dirty="0">
                <a:solidFill>
                  <a:schemeClr val="accent2">
                    <a:lumMod val="75000"/>
                  </a:schemeClr>
                </a:solidFill>
                <a:latin typeface="Century Gothic" pitchFamily="34" charset="0"/>
              </a:rPr>
              <a:t>3. count(*) as column 3. 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DFA2702-A8CB-335A-925B-6FFEA5E600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266700"/>
            <a:ext cx="7772400" cy="1143000"/>
          </a:xfrm>
        </p:spPr>
        <p:txBody>
          <a:bodyPr/>
          <a:lstStyle/>
          <a:p>
            <a:r>
              <a:rPr lang="en-US" altLang="zh-TW" sz="2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Each group is aggregated into one row</a:t>
            </a:r>
            <a:endParaRPr lang="en-US" altLang="zh-TW" sz="2800" dirty="0">
              <a:ea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4877893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1" name="Text Box 21">
            <a:extLst>
              <a:ext uri="{FF2B5EF4-FFF2-40B4-BE49-F238E27FC236}">
                <a16:creationId xmlns:a16="http://schemas.microsoft.com/office/drawing/2014/main" id="{7FBBF345-4D21-4C3E-86D7-B0D8D4894F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8699" y="1573152"/>
            <a:ext cx="7086601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chemeClr val="accent2">
                    <a:lumMod val="75000"/>
                  </a:schemeClr>
                </a:solidFill>
                <a:latin typeface="Century Gothic" pitchFamily="34" charset="0"/>
              </a:rPr>
              <a:t>SELECT  </a:t>
            </a:r>
            <a:r>
              <a:rPr lang="en-US" sz="2400" dirty="0" err="1">
                <a:solidFill>
                  <a:schemeClr val="accent2">
                    <a:lumMod val="75000"/>
                  </a:schemeClr>
                </a:solidFill>
                <a:latin typeface="Century Gothic" pitchFamily="34" charset="0"/>
              </a:rPr>
              <a:t>groupid</a:t>
            </a:r>
            <a:r>
              <a:rPr lang="en-US" sz="2400" dirty="0">
                <a:solidFill>
                  <a:schemeClr val="accent2">
                    <a:lumMod val="75000"/>
                  </a:schemeClr>
                </a:solidFill>
                <a:latin typeface="Century Gothic" pitchFamily="34" charset="0"/>
              </a:rPr>
              <a:t> attributes, or aggregations on other attributes</a:t>
            </a:r>
          </a:p>
          <a:p>
            <a:pPr>
              <a:defRPr/>
            </a:pPr>
            <a:endParaRPr lang="en-US" sz="2400" dirty="0">
              <a:solidFill>
                <a:schemeClr val="accent2">
                  <a:lumMod val="75000"/>
                </a:schemeClr>
              </a:solidFill>
              <a:latin typeface="Century Gothic" pitchFamily="34" charset="0"/>
            </a:endParaRPr>
          </a:p>
          <a:p>
            <a:pPr>
              <a:defRPr/>
            </a:pPr>
            <a:endParaRPr lang="en-US" sz="2400" dirty="0">
              <a:solidFill>
                <a:schemeClr val="accent2">
                  <a:lumMod val="75000"/>
                </a:schemeClr>
              </a:solidFill>
              <a:latin typeface="Century Gothic" pitchFamily="34" charset="0"/>
            </a:endParaRPr>
          </a:p>
          <a:p>
            <a:pPr>
              <a:defRPr/>
            </a:pPr>
            <a:endParaRPr lang="en-US" sz="2400" dirty="0">
              <a:solidFill>
                <a:schemeClr val="accent2">
                  <a:lumMod val="75000"/>
                </a:schemeClr>
              </a:solidFill>
              <a:latin typeface="Century Gothic" pitchFamily="34" charset="0"/>
            </a:endParaRPr>
          </a:p>
          <a:p>
            <a:pPr>
              <a:defRPr/>
            </a:pPr>
            <a:r>
              <a:rPr lang="en-US" sz="2400" dirty="0">
                <a:solidFill>
                  <a:schemeClr val="accent2">
                    <a:lumMod val="75000"/>
                  </a:schemeClr>
                </a:solidFill>
                <a:latin typeface="Century Gothic" pitchFamily="34" charset="0"/>
              </a:rPr>
              <a:t>Group BY </a:t>
            </a:r>
          </a:p>
        </p:txBody>
      </p:sp>
      <p:sp>
        <p:nvSpPr>
          <p:cNvPr id="53278" name="Text Box 39">
            <a:extLst>
              <a:ext uri="{FF2B5EF4-FFF2-40B4-BE49-F238E27FC236}">
                <a16:creationId xmlns:a16="http://schemas.microsoft.com/office/drawing/2014/main" id="{D256B857-7A57-4319-A272-46E80591FA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20" y="433508"/>
            <a:ext cx="6934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zh-TW" sz="3200" dirty="0">
                <a:solidFill>
                  <a:schemeClr val="accent2">
                    <a:lumMod val="75000"/>
                  </a:schemeClr>
                </a:solidFill>
                <a:ea typeface="新細明體" panose="02020500000000000000" pitchFamily="18" charset="-120"/>
              </a:rPr>
              <a:t>The  </a:t>
            </a:r>
            <a:r>
              <a:rPr lang="en-US" altLang="zh-TW" sz="3200" dirty="0" err="1">
                <a:solidFill>
                  <a:schemeClr val="accent2">
                    <a:lumMod val="75000"/>
                  </a:schemeClr>
                </a:solidFill>
                <a:ea typeface="新細明體" panose="02020500000000000000" pitchFamily="18" charset="-120"/>
              </a:rPr>
              <a:t>Groupby</a:t>
            </a:r>
            <a:r>
              <a:rPr lang="en-US" altLang="zh-TW" sz="3200" dirty="0">
                <a:solidFill>
                  <a:schemeClr val="accent2">
                    <a:lumMod val="75000"/>
                  </a:schemeClr>
                </a:solidFill>
                <a:ea typeface="新細明體" panose="02020500000000000000" pitchFamily="18" charset="-120"/>
              </a:rPr>
              <a:t> rule</a:t>
            </a:r>
            <a:endParaRPr lang="en-US" altLang="zh-TW" dirty="0">
              <a:solidFill>
                <a:schemeClr val="accent2">
                  <a:lumMod val="75000"/>
                </a:schemeClr>
              </a:solidFill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5CA490-1254-41B7-8971-52CBEF9F1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68</a:t>
            </a:fld>
            <a:endParaRPr lang="en-US" altLang="zh-TW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AEE5A67-47D1-883C-5301-02CA81703F2F}"/>
              </a:ext>
            </a:extLst>
          </p:cNvPr>
          <p:cNvCxnSpPr>
            <a:cxnSpLocks/>
          </p:cNvCxnSpPr>
          <p:nvPr/>
        </p:nvCxnSpPr>
        <p:spPr bwMode="auto">
          <a:xfrm flipV="1">
            <a:off x="2766060" y="2025967"/>
            <a:ext cx="965835" cy="157448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8B293E-DAD3-2510-A622-8D92DE5EA867}"/>
              </a:ext>
            </a:extLst>
          </p:cNvPr>
          <p:cNvCxnSpPr/>
          <p:nvPr/>
        </p:nvCxnSpPr>
        <p:spPr bwMode="auto">
          <a:xfrm>
            <a:off x="1605915" y="2446020"/>
            <a:ext cx="0" cy="82867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lgDashDot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B4576E4-D169-5E20-85AB-805A66939A81}"/>
              </a:ext>
            </a:extLst>
          </p:cNvPr>
          <p:cNvSpPr txBox="1"/>
          <p:nvPr/>
        </p:nvSpPr>
        <p:spPr>
          <a:xfrm>
            <a:off x="1165860" y="4880610"/>
            <a:ext cx="7086601" cy="1200329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400" dirty="0" err="1">
                <a:solidFill>
                  <a:schemeClr val="accent2">
                    <a:lumMod val="75000"/>
                  </a:schemeClr>
                </a:solidFill>
              </a:rPr>
              <a:t>Groupid</a:t>
            </a:r>
            <a:r>
              <a:rPr lang="en-US" sz="2400" dirty="0">
                <a:solidFill>
                  <a:schemeClr val="accent2">
                    <a:lumMod val="75000"/>
                  </a:schemeClr>
                </a:solidFill>
              </a:rPr>
              <a:t> attributes have the same value in on group.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accent2">
                    <a:lumMod val="75000"/>
                  </a:schemeClr>
                </a:solidFill>
              </a:rPr>
              <a:t>Other attributes might not have the same value in one group, therefore, they need aggregation. </a:t>
            </a:r>
          </a:p>
        </p:txBody>
      </p:sp>
    </p:spTree>
    <p:extLst>
      <p:ext uri="{BB962C8B-B14F-4D97-AF65-F5344CB8AC3E}">
        <p14:creationId xmlns:p14="http://schemas.microsoft.com/office/powerpoint/2010/main" val="226307060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5" name="Rectangle 2">
            <a:extLst>
              <a:ext uri="{FF2B5EF4-FFF2-40B4-BE49-F238E27FC236}">
                <a16:creationId xmlns:a16="http://schemas.microsoft.com/office/drawing/2014/main" id="{97A279F0-765A-42DC-9ADC-83DB6F4438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1143000"/>
          </a:xfrm>
        </p:spPr>
        <p:txBody>
          <a:bodyPr/>
          <a:lstStyle/>
          <a:p>
            <a:r>
              <a:rPr lang="en-US" altLang="zh-TW">
                <a:latin typeface="Century Gothic" panose="020B0502020202020204" pitchFamily="34" charset="0"/>
                <a:ea typeface="新細明體" panose="02020500000000000000" pitchFamily="18" charset="-120"/>
              </a:rPr>
              <a:t>HAVING</a:t>
            </a:r>
            <a:r>
              <a:rPr lang="en-US" altLang="zh-TW">
                <a:ea typeface="新細明體" panose="02020500000000000000" pitchFamily="18" charset="-120"/>
              </a:rPr>
              <a:t> Clause</a:t>
            </a:r>
          </a:p>
        </p:txBody>
      </p:sp>
      <p:sp>
        <p:nvSpPr>
          <p:cNvPr id="54276" name="Rectangle 3">
            <a:extLst>
              <a:ext uri="{FF2B5EF4-FFF2-40B4-BE49-F238E27FC236}">
                <a16:creationId xmlns:a16="http://schemas.microsoft.com/office/drawing/2014/main" id="{3275E80F-C464-411F-905D-B47F43D701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990600"/>
            <a:ext cx="7772400" cy="26670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Eliminates unwanted groups (analogous to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 WHERE </a:t>
            </a:r>
            <a:r>
              <a:rPr lang="en-US" altLang="zh-TW" sz="2800">
                <a:ea typeface="新細明體" panose="02020500000000000000" pitchFamily="18" charset="-120"/>
              </a:rPr>
              <a:t>clause, but works on </a:t>
            </a:r>
            <a:r>
              <a:rPr lang="en-US" altLang="zh-TW" sz="2800">
                <a:solidFill>
                  <a:srgbClr val="990033"/>
                </a:solidFill>
                <a:ea typeface="新細明體" panose="02020500000000000000" pitchFamily="18" charset="-120"/>
              </a:rPr>
              <a:t>groups</a:t>
            </a:r>
            <a:r>
              <a:rPr lang="en-US" altLang="zh-TW" sz="2800">
                <a:ea typeface="新細明體" panose="02020500000000000000" pitchFamily="18" charset="-120"/>
              </a:rPr>
              <a:t> instead of individual tuples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  <a:p>
            <a:pPr>
              <a:lnSpc>
                <a:spcPct val="90000"/>
              </a:lnSpc>
            </a:pP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HAVING </a:t>
            </a:r>
            <a:r>
              <a:rPr lang="en-US" altLang="zh-TW" sz="2800">
                <a:ea typeface="新細明體" panose="02020500000000000000" pitchFamily="18" charset="-120"/>
              </a:rPr>
              <a:t>condition is constructed from attributes of 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GROUP BY</a:t>
            </a:r>
            <a:r>
              <a:rPr lang="en-US" altLang="zh-TW" sz="2800">
                <a:ea typeface="新細明體" panose="02020500000000000000" pitchFamily="18" charset="-120"/>
              </a:rPr>
              <a:t> list and aggregates on attributes not in that list</a:t>
            </a:r>
            <a:endParaRPr lang="en-US" altLang="zh-TW" sz="2800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52228" name="Text Box 4">
            <a:extLst>
              <a:ext uri="{FF2B5EF4-FFF2-40B4-BE49-F238E27FC236}">
                <a16:creationId xmlns:a16="http://schemas.microsoft.com/office/drawing/2014/main" id="{A4FFDAEB-79D8-4EE3-97B9-5BE148BBC5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1600" y="3581400"/>
            <a:ext cx="5272088" cy="2647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SELECT  </a:t>
            </a:r>
            <a:r>
              <a:rPr lang="en-US" altLang="zh-TW" sz="2400">
                <a:ea typeface="新細明體" panose="02020500000000000000" pitchFamily="18" charset="-120"/>
              </a:rPr>
              <a:t>T.</a:t>
            </a:r>
            <a:r>
              <a:rPr lang="en-US" altLang="zh-TW" sz="2400" i="1">
                <a:ea typeface="新細明體" panose="02020500000000000000" pitchFamily="18" charset="-120"/>
              </a:rPr>
              <a:t>StudId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, 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 AVG</a:t>
            </a:r>
            <a:r>
              <a:rPr lang="en-US" altLang="zh-TW" sz="2400">
                <a:ea typeface="新細明體" panose="02020500000000000000" pitchFamily="18" charset="-120"/>
              </a:rPr>
              <a:t>(T.</a:t>
            </a:r>
            <a:r>
              <a:rPr lang="en-US" altLang="zh-TW" sz="2400" i="1">
                <a:ea typeface="新細明體" panose="02020500000000000000" pitchFamily="18" charset="-120"/>
              </a:rPr>
              <a:t>Grade</a:t>
            </a:r>
            <a:r>
              <a:rPr lang="en-US" altLang="zh-TW" sz="2400">
                <a:ea typeface="新細明體" panose="02020500000000000000" pitchFamily="18" charset="-120"/>
              </a:rPr>
              <a:t>)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 AS  </a:t>
            </a:r>
            <a:r>
              <a:rPr lang="en-US" altLang="zh-TW" sz="2400" i="1">
                <a:ea typeface="新細明體" panose="02020500000000000000" pitchFamily="18" charset="-120"/>
              </a:rPr>
              <a:t>CumGpa</a:t>
            </a:r>
            <a:r>
              <a:rPr lang="en-US" altLang="zh-TW" sz="2400">
                <a:ea typeface="新細明體" panose="02020500000000000000" pitchFamily="18" charset="-120"/>
              </a:rPr>
              <a:t>, </a:t>
            </a:r>
            <a:endParaRPr lang="en-US" altLang="zh-TW" sz="240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 COUNT (*)  AS  </a:t>
            </a:r>
            <a:r>
              <a:rPr lang="en-US" altLang="zh-TW" sz="2400" i="1">
                <a:ea typeface="新細明體" panose="02020500000000000000" pitchFamily="18" charset="-120"/>
              </a:rPr>
              <a:t>NumCrs</a:t>
            </a:r>
            <a:endParaRPr lang="en-US" altLang="zh-TW" sz="2400" i="1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  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Transcript </a:t>
            </a:r>
            <a:r>
              <a:rPr lang="en-US" altLang="zh-TW" sz="2400">
                <a:ea typeface="新細明體" panose="02020500000000000000" pitchFamily="18" charset="-120"/>
              </a:rPr>
              <a:t> T</a:t>
            </a:r>
            <a:endParaRPr lang="en-US" altLang="zh-TW" sz="240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WHERE   </a:t>
            </a:r>
            <a:r>
              <a:rPr lang="en-US" altLang="zh-TW" sz="2400">
                <a:ea typeface="新細明體" panose="02020500000000000000" pitchFamily="18" charset="-120"/>
              </a:rPr>
              <a:t>T.</a:t>
            </a:r>
            <a:r>
              <a:rPr lang="en-US" altLang="zh-TW" sz="2400" i="1">
                <a:ea typeface="新細明體" panose="02020500000000000000" pitchFamily="18" charset="-120"/>
              </a:rPr>
              <a:t>CrsCode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 LIKE  </a:t>
            </a:r>
            <a:r>
              <a:rPr lang="en-US" altLang="zh-TW" sz="2400">
                <a:ea typeface="新細明體" panose="02020500000000000000" pitchFamily="18" charset="-120"/>
              </a:rPr>
              <a:t>‘CS%’</a:t>
            </a:r>
            <a:endParaRPr lang="en-US" altLang="zh-TW" sz="240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GROUP BY  </a:t>
            </a:r>
            <a:r>
              <a:rPr lang="en-US" altLang="zh-TW" sz="2400">
                <a:ea typeface="新細明體" panose="02020500000000000000" pitchFamily="18" charset="-120"/>
              </a:rPr>
              <a:t>T.</a:t>
            </a:r>
            <a:r>
              <a:rPr lang="en-US" altLang="zh-TW" sz="2400" i="1">
                <a:ea typeface="新細明體" panose="02020500000000000000" pitchFamily="18" charset="-120"/>
              </a:rPr>
              <a:t>StudId</a:t>
            </a:r>
          </a:p>
          <a:p>
            <a:r>
              <a:rPr lang="en-US" altLang="zh-TW" sz="2400">
                <a:solidFill>
                  <a:srgbClr val="990033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HAVING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  AVG </a:t>
            </a:r>
            <a:r>
              <a:rPr lang="en-US" altLang="zh-TW" sz="2400">
                <a:ea typeface="新細明體" panose="02020500000000000000" pitchFamily="18" charset="-120"/>
              </a:rPr>
              <a:t>(T.</a:t>
            </a:r>
            <a:r>
              <a:rPr lang="en-US" altLang="zh-TW" sz="2400" i="1">
                <a:ea typeface="新細明體" panose="02020500000000000000" pitchFamily="18" charset="-120"/>
              </a:rPr>
              <a:t>Grade</a:t>
            </a:r>
            <a:r>
              <a:rPr lang="en-US" altLang="zh-TW" sz="2400">
                <a:ea typeface="新細明體" panose="02020500000000000000" pitchFamily="18" charset="-120"/>
              </a:rPr>
              <a:t>) &gt; 3.5</a:t>
            </a:r>
          </a:p>
        </p:txBody>
      </p:sp>
      <p:sp>
        <p:nvSpPr>
          <p:cNvPr id="54278" name="Line 6">
            <a:extLst>
              <a:ext uri="{FF2B5EF4-FFF2-40B4-BE49-F238E27FC236}">
                <a16:creationId xmlns:a16="http://schemas.microsoft.com/office/drawing/2014/main" id="{AB539978-C743-434D-954D-268B9137240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00400" y="6096000"/>
            <a:ext cx="2286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54279" name="Text Box 7">
            <a:extLst>
              <a:ext uri="{FF2B5EF4-FFF2-40B4-BE49-F238E27FC236}">
                <a16:creationId xmlns:a16="http://schemas.microsoft.com/office/drawing/2014/main" id="{970A5754-40BD-4189-8D8D-832B6E664C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9000" y="6324600"/>
            <a:ext cx="4267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1600">
                <a:ea typeface="新細明體" panose="02020500000000000000" pitchFamily="18" charset="-120"/>
              </a:rPr>
              <a:t>Apply to each group not to the whole table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34F910-884D-43A1-9EB5-D0E3D8A87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69</a:t>
            </a:fld>
            <a:endParaRPr lang="en-US" altLang="zh-TW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1005B-6D55-6C21-A364-0A68B7439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5" name="Rectangle 2">
            <a:extLst>
              <a:ext uri="{FF2B5EF4-FFF2-40B4-BE49-F238E27FC236}">
                <a16:creationId xmlns:a16="http://schemas.microsoft.com/office/drawing/2014/main" id="{06550C91-6A9B-E0E4-5B3D-1E89F27BDF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1143000"/>
          </a:xfrm>
        </p:spPr>
        <p:txBody>
          <a:bodyPr/>
          <a:lstStyle/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condition and Having conditions</a:t>
            </a:r>
            <a:endParaRPr lang="en-US" altLang="zh-TW" dirty="0">
              <a:ea typeface="新細明體" panose="02020500000000000000" pitchFamily="18" charset="-120"/>
            </a:endParaRPr>
          </a:p>
        </p:txBody>
      </p:sp>
      <p:sp>
        <p:nvSpPr>
          <p:cNvPr id="54276" name="Rectangle 3">
            <a:extLst>
              <a:ext uri="{FF2B5EF4-FFF2-40B4-BE49-F238E27FC236}">
                <a16:creationId xmlns:a16="http://schemas.microsoft.com/office/drawing/2014/main" id="{64F2BD6C-9E7D-3531-263E-EA7B33F2BA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56590" y="1895061"/>
            <a:ext cx="7901609" cy="33528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b="1" dirty="0"/>
              <a:t>WHERE condition</a:t>
            </a:r>
            <a:r>
              <a:rPr lang="en-US" dirty="0"/>
              <a:t>: </a:t>
            </a:r>
            <a:r>
              <a:rPr lang="en-US" dirty="0">
                <a:solidFill>
                  <a:srgbClr val="FF0000"/>
                </a:solidFill>
              </a:rPr>
              <a:t>filter rows</a:t>
            </a:r>
            <a:r>
              <a:rPr lang="en-US" dirty="0"/>
              <a:t>, compares </a:t>
            </a:r>
            <a:r>
              <a:rPr lang="en-US" b="1" dirty="0"/>
              <a:t>individual row attributes</a:t>
            </a:r>
            <a:r>
              <a:rPr lang="en-US" dirty="0"/>
              <a:t> to constants or to other attributes</a:t>
            </a:r>
          </a:p>
          <a:p>
            <a:pPr>
              <a:lnSpc>
                <a:spcPct val="90000"/>
              </a:lnSpc>
            </a:pPr>
            <a:r>
              <a:rPr lang="en-US" b="1" dirty="0"/>
              <a:t>HAVING condition</a:t>
            </a:r>
            <a:r>
              <a:rPr lang="en-US" dirty="0"/>
              <a:t>: </a:t>
            </a:r>
            <a:r>
              <a:rPr lang="en-US" dirty="0">
                <a:solidFill>
                  <a:srgbClr val="FF0000"/>
                </a:solidFill>
              </a:rPr>
              <a:t>filter groups</a:t>
            </a:r>
            <a:r>
              <a:rPr lang="en-US" dirty="0"/>
              <a:t>, compares </a:t>
            </a:r>
            <a:r>
              <a:rPr lang="en-US" dirty="0" err="1"/>
              <a:t>groupid</a:t>
            </a:r>
            <a:r>
              <a:rPr lang="en-US" dirty="0"/>
              <a:t> </a:t>
            </a:r>
            <a:r>
              <a:rPr lang="en-US" b="1" dirty="0"/>
              <a:t>attributes or aggregations</a:t>
            </a:r>
            <a:r>
              <a:rPr lang="en-US" dirty="0"/>
              <a:t> to constants. 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1146D0-BC37-2C42-F91E-301073C46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70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2242373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9" name="Rectangle 2">
            <a:extLst>
              <a:ext uri="{FF2B5EF4-FFF2-40B4-BE49-F238E27FC236}">
                <a16:creationId xmlns:a16="http://schemas.microsoft.com/office/drawing/2014/main" id="{E1A7E95E-9EEC-4103-9CE5-6989EB84BDD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533400"/>
          </a:xfrm>
        </p:spPr>
        <p:txBody>
          <a:bodyPr/>
          <a:lstStyle/>
          <a:p>
            <a:r>
              <a:rPr lang="en-US" altLang="zh-TW" sz="3600">
                <a:ea typeface="新細明體" panose="02020500000000000000" pitchFamily="18" charset="-120"/>
              </a:rPr>
              <a:t>Evaluation of GroupBy with Having</a:t>
            </a:r>
          </a:p>
        </p:txBody>
      </p:sp>
      <p:pic>
        <p:nvPicPr>
          <p:cNvPr id="55300" name="Picture 3">
            <a:extLst>
              <a:ext uri="{FF2B5EF4-FFF2-40B4-BE49-F238E27FC236}">
                <a16:creationId xmlns:a16="http://schemas.microsoft.com/office/drawing/2014/main" id="{B768A790-73D3-4657-9735-6233F9D505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063" y="1066800"/>
            <a:ext cx="6637337" cy="539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91331-57D1-4ECB-A2FB-6D1091E6F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71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6873294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2">
            <a:extLst>
              <a:ext uri="{FF2B5EF4-FFF2-40B4-BE49-F238E27FC236}">
                <a16:creationId xmlns:a16="http://schemas.microsoft.com/office/drawing/2014/main" id="{8BE9FC66-F350-4341-BAD8-41263393CD2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9144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Example</a:t>
            </a:r>
          </a:p>
        </p:txBody>
      </p:sp>
      <p:sp>
        <p:nvSpPr>
          <p:cNvPr id="56324" name="Rectangle 3">
            <a:extLst>
              <a:ext uri="{FF2B5EF4-FFF2-40B4-BE49-F238E27FC236}">
                <a16:creationId xmlns:a16="http://schemas.microsoft.com/office/drawing/2014/main" id="{67C8CB96-3F85-4A7F-B87A-C89522B0B40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9600" y="1524000"/>
            <a:ext cx="7696200" cy="9906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>
                <a:ea typeface="新細明體" panose="02020500000000000000" pitchFamily="18" charset="-120"/>
              </a:rPr>
              <a:t>Output the name and address of all seniors on the Dean’s List</a:t>
            </a:r>
          </a:p>
        </p:txBody>
      </p:sp>
      <p:sp>
        <p:nvSpPr>
          <p:cNvPr id="71684" name="Text Box 4">
            <a:extLst>
              <a:ext uri="{FF2B5EF4-FFF2-40B4-BE49-F238E27FC236}">
                <a16:creationId xmlns:a16="http://schemas.microsoft.com/office/drawing/2014/main" id="{50261DE3-AF6A-4997-AB83-0F119E45E8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2743200"/>
            <a:ext cx="7783513" cy="3049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2400" dirty="0">
                <a:ea typeface="新細明體" panose="02020500000000000000" pitchFamily="18" charset="-120"/>
              </a:rPr>
              <a:t>  </a:t>
            </a:r>
            <a:r>
              <a:rPr lang="en-US" altLang="zh-TW" sz="2400" dirty="0" err="1">
                <a:ea typeface="新細明體" panose="02020500000000000000" pitchFamily="18" charset="-120"/>
              </a:rPr>
              <a:t>S.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Id</a:t>
            </a:r>
            <a:r>
              <a:rPr lang="en-US" altLang="zh-TW" sz="2400" dirty="0">
                <a:ea typeface="新細明體" panose="02020500000000000000" pitchFamily="18" charset="-120"/>
              </a:rPr>
              <a:t>, </a:t>
            </a:r>
            <a:r>
              <a:rPr lang="en-US" altLang="zh-TW" sz="2400" dirty="0" err="1">
                <a:ea typeface="新細明體" panose="02020500000000000000" pitchFamily="18" charset="-120"/>
              </a:rPr>
              <a:t>S.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Name</a:t>
            </a:r>
            <a:endParaRPr lang="en-US" altLang="zh-TW" sz="2400" i="1" dirty="0">
              <a:ea typeface="新細明體" panose="02020500000000000000" pitchFamily="18" charset="-120"/>
            </a:endParaRP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2400" dirty="0">
                <a:ea typeface="新細明體" panose="02020500000000000000" pitchFamily="18" charset="-120"/>
              </a:rPr>
              <a:t>    </a:t>
            </a:r>
            <a:r>
              <a:rPr lang="en-US" altLang="zh-TW" sz="24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Student</a:t>
            </a:r>
            <a:r>
              <a:rPr lang="en-US" altLang="zh-TW" sz="2400" dirty="0">
                <a:ea typeface="新細明體" panose="02020500000000000000" pitchFamily="18" charset="-120"/>
              </a:rPr>
              <a:t> S, </a:t>
            </a:r>
            <a:r>
              <a:rPr lang="en-US" altLang="zh-TW" sz="2400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Transcript</a:t>
            </a:r>
            <a:r>
              <a:rPr lang="en-US" altLang="zh-TW" sz="2400" dirty="0">
                <a:ea typeface="新細明體" panose="02020500000000000000" pitchFamily="18" charset="-120"/>
              </a:rPr>
              <a:t> T</a:t>
            </a: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 sz="2400" dirty="0">
                <a:ea typeface="新細明體" panose="02020500000000000000" pitchFamily="18" charset="-120"/>
              </a:rPr>
              <a:t>  </a:t>
            </a:r>
            <a:r>
              <a:rPr lang="en-US" altLang="zh-TW" sz="2400" dirty="0" err="1">
                <a:ea typeface="新細明體" panose="02020500000000000000" pitchFamily="18" charset="-120"/>
              </a:rPr>
              <a:t>S.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Id</a:t>
            </a:r>
            <a:r>
              <a:rPr lang="en-US" altLang="zh-TW" sz="2400" dirty="0">
                <a:ea typeface="新細明體" panose="02020500000000000000" pitchFamily="18" charset="-120"/>
              </a:rPr>
              <a:t> = </a:t>
            </a:r>
            <a:r>
              <a:rPr lang="en-US" altLang="zh-TW" sz="2400" dirty="0" err="1">
                <a:ea typeface="新細明體" panose="02020500000000000000" pitchFamily="18" charset="-120"/>
              </a:rPr>
              <a:t>T.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StudId</a:t>
            </a:r>
            <a:r>
              <a:rPr lang="en-US" altLang="zh-TW" sz="2400" dirty="0">
                <a:ea typeface="新細明體" panose="02020500000000000000" pitchFamily="18" charset="-120"/>
              </a:rPr>
              <a:t>  </a:t>
            </a:r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AND</a:t>
            </a:r>
            <a:r>
              <a:rPr lang="en-US" altLang="zh-TW" sz="2400" dirty="0">
                <a:ea typeface="新細明體" panose="02020500000000000000" pitchFamily="18" charset="-120"/>
              </a:rPr>
              <a:t>  </a:t>
            </a:r>
            <a:r>
              <a:rPr lang="en-US" altLang="zh-TW" sz="2400" dirty="0" err="1">
                <a:ea typeface="新細明體" panose="02020500000000000000" pitchFamily="18" charset="-120"/>
              </a:rPr>
              <a:t>S.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Status</a:t>
            </a:r>
            <a:r>
              <a:rPr lang="en-US" altLang="zh-TW" sz="2400" dirty="0">
                <a:ea typeface="新細明體" panose="02020500000000000000" pitchFamily="18" charset="-120"/>
              </a:rPr>
              <a:t> = ‘senior’</a:t>
            </a:r>
          </a:p>
          <a:p>
            <a:endParaRPr lang="en-US" altLang="zh-TW" sz="2400" dirty="0">
              <a:ea typeface="新細明體" panose="02020500000000000000" pitchFamily="18" charset="-120"/>
            </a:endParaRPr>
          </a:p>
          <a:p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 BY </a:t>
            </a:r>
          </a:p>
          <a:p>
            <a:endParaRPr lang="en-US" altLang="zh-TW" sz="24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endParaRPr lang="en-US" altLang="zh-TW" sz="24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pPr>
              <a:lnSpc>
                <a:spcPct val="110000"/>
              </a:lnSpc>
            </a:pPr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HAVING AVG</a:t>
            </a:r>
            <a:r>
              <a:rPr lang="en-US" altLang="zh-TW" sz="2400" dirty="0">
                <a:ea typeface="新細明體" panose="02020500000000000000" pitchFamily="18" charset="-120"/>
              </a:rPr>
              <a:t> (</a:t>
            </a:r>
            <a:r>
              <a:rPr lang="en-US" altLang="zh-TW" sz="2400" dirty="0" err="1">
                <a:ea typeface="新細明體" panose="02020500000000000000" pitchFamily="18" charset="-120"/>
              </a:rPr>
              <a:t>T.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Grade</a:t>
            </a:r>
            <a:r>
              <a:rPr lang="en-US" altLang="zh-TW" sz="2400" dirty="0">
                <a:ea typeface="新細明體" panose="02020500000000000000" pitchFamily="18" charset="-120"/>
              </a:rPr>
              <a:t>) &gt; 3.5  </a:t>
            </a:r>
            <a:r>
              <a:rPr lang="en-US" altLang="zh-TW" sz="2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AND  SUM</a:t>
            </a:r>
            <a:r>
              <a:rPr lang="en-US" altLang="zh-TW" sz="2400" dirty="0">
                <a:ea typeface="新細明體" panose="02020500000000000000" pitchFamily="18" charset="-120"/>
              </a:rPr>
              <a:t> (</a:t>
            </a:r>
            <a:r>
              <a:rPr lang="en-US" altLang="zh-TW" sz="2400" dirty="0" err="1">
                <a:ea typeface="新細明體" panose="02020500000000000000" pitchFamily="18" charset="-120"/>
              </a:rPr>
              <a:t>T.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Credit</a:t>
            </a:r>
            <a:r>
              <a:rPr lang="en-US" altLang="zh-TW" sz="2400" dirty="0">
                <a:ea typeface="新細明體" panose="02020500000000000000" pitchFamily="18" charset="-120"/>
              </a:rPr>
              <a:t>) &gt; 90</a:t>
            </a:r>
          </a:p>
        </p:txBody>
      </p:sp>
      <p:sp>
        <p:nvSpPr>
          <p:cNvPr id="56326" name="Text Box 5">
            <a:extLst>
              <a:ext uri="{FF2B5EF4-FFF2-40B4-BE49-F238E27FC236}">
                <a16:creationId xmlns:a16="http://schemas.microsoft.com/office/drawing/2014/main" id="{A8814336-D5FF-4958-97D6-0BB2040FF2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4275" y="4002088"/>
            <a:ext cx="3038475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ea typeface="新細明體" panose="02020500000000000000" pitchFamily="18" charset="-120"/>
              </a:rPr>
              <a:t>S.</a:t>
            </a:r>
            <a:r>
              <a:rPr lang="en-US" altLang="zh-TW" sz="2400" i="1">
                <a:ea typeface="新細明體" panose="02020500000000000000" pitchFamily="18" charset="-120"/>
              </a:rPr>
              <a:t>Id</a:t>
            </a:r>
            <a:r>
              <a:rPr lang="en-US" altLang="zh-TW" sz="2400">
                <a:ea typeface="新細明體" panose="02020500000000000000" pitchFamily="18" charset="-120"/>
              </a:rPr>
              <a:t>                 -- </a:t>
            </a:r>
            <a:r>
              <a:rPr lang="en-US" altLang="zh-TW" sz="2400" i="1">
                <a:ea typeface="新細明體" panose="02020500000000000000" pitchFamily="18" charset="-120"/>
              </a:rPr>
              <a:t>wrong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S.</a:t>
            </a:r>
            <a:r>
              <a:rPr lang="en-US" altLang="zh-TW" sz="2400" i="1">
                <a:ea typeface="新細明體" panose="02020500000000000000" pitchFamily="18" charset="-120"/>
              </a:rPr>
              <a:t>Id</a:t>
            </a:r>
            <a:r>
              <a:rPr lang="en-US" altLang="zh-TW" sz="2400">
                <a:ea typeface="新細明體" panose="02020500000000000000" pitchFamily="18" charset="-120"/>
              </a:rPr>
              <a:t>, S.</a:t>
            </a:r>
            <a:r>
              <a:rPr lang="en-US" altLang="zh-TW" sz="2400" i="1">
                <a:ea typeface="新細明體" panose="02020500000000000000" pitchFamily="18" charset="-120"/>
              </a:rPr>
              <a:t>Name</a:t>
            </a:r>
            <a:r>
              <a:rPr lang="en-US" altLang="zh-TW" sz="2400">
                <a:ea typeface="新細明體" panose="02020500000000000000" pitchFamily="18" charset="-120"/>
              </a:rPr>
              <a:t>   -- </a:t>
            </a:r>
            <a:r>
              <a:rPr lang="en-US" altLang="zh-TW" sz="2400" i="1">
                <a:ea typeface="新細明體" panose="02020500000000000000" pitchFamily="18" charset="-120"/>
              </a:rPr>
              <a:t>right</a:t>
            </a:r>
          </a:p>
        </p:txBody>
      </p:sp>
      <p:sp>
        <p:nvSpPr>
          <p:cNvPr id="56327" name="Line 6">
            <a:extLst>
              <a:ext uri="{FF2B5EF4-FFF2-40B4-BE49-F238E27FC236}">
                <a16:creationId xmlns:a16="http://schemas.microsoft.com/office/drawing/2014/main" id="{6E8FA45D-3F75-44F6-840F-AC32096EC6A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225675" y="4230688"/>
            <a:ext cx="2286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6328" name="Line 7">
            <a:extLst>
              <a:ext uri="{FF2B5EF4-FFF2-40B4-BE49-F238E27FC236}">
                <a16:creationId xmlns:a16="http://schemas.microsoft.com/office/drawing/2014/main" id="{C8B3E200-FAF8-4450-915B-80C1F42A888F}"/>
              </a:ext>
            </a:extLst>
          </p:cNvPr>
          <p:cNvSpPr>
            <a:spLocks noChangeShapeType="1"/>
          </p:cNvSpPr>
          <p:nvPr/>
        </p:nvSpPr>
        <p:spPr bwMode="auto">
          <a:xfrm>
            <a:off x="2225675" y="4459288"/>
            <a:ext cx="2286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56329" name="AutoShape 10">
            <a:extLst>
              <a:ext uri="{FF2B5EF4-FFF2-40B4-BE49-F238E27FC236}">
                <a16:creationId xmlns:a16="http://schemas.microsoft.com/office/drawing/2014/main" id="{1B6D3A3E-4209-432A-871E-DD8F1CCA04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2200" y="4038600"/>
            <a:ext cx="2819400" cy="1219200"/>
          </a:xfrm>
          <a:prstGeom prst="wedgeRoundRectCallout">
            <a:avLst>
              <a:gd name="adj1" fmla="val -75731"/>
              <a:gd name="adj2" fmla="val -27213"/>
              <a:gd name="adj3" fmla="val 16667"/>
            </a:avLst>
          </a:prstGeom>
          <a:noFill/>
          <a:ln w="9525">
            <a:solidFill>
              <a:srgbClr val="990033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zh-TW" sz="1600" i="1">
                <a:solidFill>
                  <a:srgbClr val="990033"/>
                </a:solidFill>
                <a:ea typeface="新細明體" panose="02020500000000000000" pitchFamily="18" charset="-120"/>
              </a:rPr>
              <a:t>Every attribute that occurs in </a:t>
            </a:r>
            <a:r>
              <a:rPr lang="en-US" altLang="zh-TW" sz="1600">
                <a:solidFill>
                  <a:srgbClr val="990033"/>
                </a:solidFill>
                <a:latin typeface="Comic Sans MS" panose="030F0702030302020204" pitchFamily="66" charset="0"/>
                <a:ea typeface="新細明體" panose="02020500000000000000" pitchFamily="18" charset="-120"/>
              </a:rPr>
              <a:t>SELECT</a:t>
            </a:r>
            <a:r>
              <a:rPr lang="en-US" altLang="zh-TW" sz="1600" i="1">
                <a:solidFill>
                  <a:srgbClr val="990033"/>
                </a:solidFill>
                <a:ea typeface="新細明體" panose="02020500000000000000" pitchFamily="18" charset="-120"/>
              </a:rPr>
              <a:t> clause must also occur in </a:t>
            </a:r>
            <a:r>
              <a:rPr lang="en-US" altLang="zh-TW" sz="1600">
                <a:solidFill>
                  <a:srgbClr val="990033"/>
                </a:solidFill>
                <a:latin typeface="Comic Sans MS" panose="030F0702030302020204" pitchFamily="66" charset="0"/>
                <a:ea typeface="新細明體" panose="02020500000000000000" pitchFamily="18" charset="-120"/>
              </a:rPr>
              <a:t>GROUP BY</a:t>
            </a:r>
            <a:r>
              <a:rPr lang="en-US" altLang="zh-TW" sz="1600" i="1">
                <a:solidFill>
                  <a:srgbClr val="990033"/>
                </a:solidFill>
                <a:ea typeface="新細明體" panose="02020500000000000000" pitchFamily="18" charset="-120"/>
              </a:rPr>
              <a:t>  or it must be an aggregate. </a:t>
            </a:r>
            <a:r>
              <a:rPr lang="en-US" altLang="zh-TW" sz="1600">
                <a:solidFill>
                  <a:srgbClr val="990033"/>
                </a:solidFill>
                <a:ea typeface="新細明體" panose="02020500000000000000" pitchFamily="18" charset="-120"/>
              </a:rPr>
              <a:t>S</a:t>
            </a:r>
            <a:r>
              <a:rPr lang="en-US" altLang="zh-TW" sz="1600" i="1">
                <a:solidFill>
                  <a:srgbClr val="990033"/>
                </a:solidFill>
                <a:ea typeface="新細明體" panose="02020500000000000000" pitchFamily="18" charset="-120"/>
              </a:rPr>
              <a:t>.Name does not.</a:t>
            </a:r>
          </a:p>
        </p:txBody>
      </p:sp>
      <p:sp>
        <p:nvSpPr>
          <p:cNvPr id="56330" name="Text Box 11">
            <a:extLst>
              <a:ext uri="{FF2B5EF4-FFF2-40B4-BE49-F238E27FC236}">
                <a16:creationId xmlns:a16="http://schemas.microsoft.com/office/drawing/2014/main" id="{42CA4DF7-8EA8-47DD-802D-153E88CC7D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6096000"/>
            <a:ext cx="73152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dirty="0" err="1">
                <a:ea typeface="新細明體" panose="02020500000000000000" pitchFamily="18" charset="-120"/>
              </a:rPr>
              <a:t>S.Name</a:t>
            </a:r>
            <a:r>
              <a:rPr lang="en-US" altLang="zh-TW" dirty="0">
                <a:ea typeface="新細明體" panose="02020500000000000000" pitchFamily="18" charset="-120"/>
              </a:rPr>
              <a:t> needs to be part of a </a:t>
            </a:r>
            <a:r>
              <a:rPr lang="en-US" altLang="zh-TW" dirty="0" err="1">
                <a:ea typeface="新細明體" panose="02020500000000000000" pitchFamily="18" charset="-120"/>
              </a:rPr>
              <a:t>groupid</a:t>
            </a:r>
            <a:r>
              <a:rPr lang="en-US" altLang="zh-TW" dirty="0">
                <a:ea typeface="新細明體" panose="02020500000000000000" pitchFamily="18" charset="-120"/>
              </a:rPr>
              <a:t> attribute to be selected!</a:t>
            </a:r>
          </a:p>
        </p:txBody>
      </p:sp>
      <p:pic>
        <p:nvPicPr>
          <p:cNvPr id="56331" name="Picture 12" descr="C:\2007\csc6710_fall\slides\schema_exp.bmp">
            <a:extLst>
              <a:ext uri="{FF2B5EF4-FFF2-40B4-BE49-F238E27FC236}">
                <a16:creationId xmlns:a16="http://schemas.microsoft.com/office/drawing/2014/main" id="{6E40A9F2-6293-43E8-BC32-006570D772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2133600"/>
            <a:ext cx="2952750" cy="1058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0A8CBA-3F81-42CE-BB10-0AE73211F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72</a:t>
            </a:fld>
            <a:endParaRPr lang="en-US" altLang="zh-TW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7" name="Rectangle 2">
            <a:extLst>
              <a:ext uri="{FF2B5EF4-FFF2-40B4-BE49-F238E27FC236}">
                <a16:creationId xmlns:a16="http://schemas.microsoft.com/office/drawing/2014/main" id="{A31509E7-BF7D-482A-91E0-B2E9646798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81000"/>
            <a:ext cx="7772400" cy="11430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sz="4000">
                <a:ea typeface="新細明體" panose="02020500000000000000" pitchFamily="18" charset="-120"/>
              </a:rPr>
              <a:t>Aggregates: Proper and Improper Usage</a:t>
            </a:r>
          </a:p>
        </p:txBody>
      </p:sp>
      <p:sp>
        <p:nvSpPr>
          <p:cNvPr id="57348" name="Text Box 3">
            <a:extLst>
              <a:ext uri="{FF2B5EF4-FFF2-40B4-BE49-F238E27FC236}">
                <a16:creationId xmlns:a16="http://schemas.microsoft.com/office/drawing/2014/main" id="{D9AD2D49-CDBF-4FC7-AEC4-9DB842761D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1828800"/>
            <a:ext cx="7024688" cy="1373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SELECT COUNT </a:t>
            </a:r>
            <a:r>
              <a:rPr lang="en-US" altLang="zh-TW" sz="2800">
                <a:ea typeface="新細明體" panose="02020500000000000000" pitchFamily="18" charset="-120"/>
              </a:rPr>
              <a:t>(T.</a:t>
            </a:r>
            <a:r>
              <a:rPr lang="en-US" altLang="zh-TW" sz="2800" i="1">
                <a:ea typeface="新細明體" panose="02020500000000000000" pitchFamily="18" charset="-120"/>
              </a:rPr>
              <a:t>CrsCode</a:t>
            </a:r>
            <a:r>
              <a:rPr lang="en-US" altLang="zh-TW" sz="2800">
                <a:ea typeface="新細明體" panose="02020500000000000000" pitchFamily="18" charset="-120"/>
              </a:rPr>
              <a:t>), T. </a:t>
            </a:r>
            <a:r>
              <a:rPr lang="en-US" altLang="zh-TW" sz="2800" i="1">
                <a:ea typeface="新細明體" panose="02020500000000000000" pitchFamily="18" charset="-120"/>
              </a:rPr>
              <a:t>ProfId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     – </a:t>
            </a:r>
            <a:r>
              <a:rPr lang="en-US" altLang="zh-TW" sz="2800" i="1">
                <a:ea typeface="新細明體" panose="02020500000000000000" pitchFamily="18" charset="-120"/>
              </a:rPr>
              <a:t>makes no sense (in the absence of</a:t>
            </a:r>
          </a:p>
          <a:p>
            <a:r>
              <a:rPr lang="en-US" altLang="zh-TW" sz="2800" i="1">
                <a:ea typeface="新細明體" panose="02020500000000000000" pitchFamily="18" charset="-120"/>
              </a:rPr>
              <a:t>                     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GROUP BY</a:t>
            </a:r>
            <a:r>
              <a:rPr lang="en-US" altLang="zh-TW" sz="2800" i="1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2800" i="1">
                <a:ea typeface="新細明體" panose="02020500000000000000" pitchFamily="18" charset="-120"/>
              </a:rPr>
              <a:t>clause)</a:t>
            </a:r>
            <a:endParaRPr lang="en-US" altLang="zh-TW" sz="2800" i="1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57349" name="Text Box 4">
            <a:extLst>
              <a:ext uri="{FF2B5EF4-FFF2-40B4-BE49-F238E27FC236}">
                <a16:creationId xmlns:a16="http://schemas.microsoft.com/office/drawing/2014/main" id="{EB5338BC-11E8-415F-9ABD-315E1696C0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3429000"/>
            <a:ext cx="5773738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SELECT COUNT </a:t>
            </a:r>
            <a:r>
              <a:rPr lang="en-US" altLang="zh-TW" sz="2800">
                <a:ea typeface="新細明體" panose="02020500000000000000" pitchFamily="18" charset="-120"/>
              </a:rPr>
              <a:t>(*)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, AVG </a:t>
            </a:r>
            <a:r>
              <a:rPr lang="en-US" altLang="zh-TW" sz="2800">
                <a:ea typeface="新細明體" panose="02020500000000000000" pitchFamily="18" charset="-120"/>
              </a:rPr>
              <a:t>(T.</a:t>
            </a:r>
            <a:r>
              <a:rPr lang="en-US" altLang="zh-TW" sz="2800" i="1">
                <a:ea typeface="新細明體" panose="02020500000000000000" pitchFamily="18" charset="-120"/>
              </a:rPr>
              <a:t>Grade</a:t>
            </a:r>
            <a:r>
              <a:rPr lang="en-US" altLang="zh-TW" sz="280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      – </a:t>
            </a:r>
            <a:r>
              <a:rPr lang="en-US" altLang="zh-TW" sz="2800" i="1">
                <a:ea typeface="新細明體" panose="02020500000000000000" pitchFamily="18" charset="-120"/>
              </a:rPr>
              <a:t>but this is OK</a:t>
            </a:r>
            <a:endParaRPr lang="en-US" altLang="zh-TW" sz="2800" i="1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57350" name="Text Box 6">
            <a:extLst>
              <a:ext uri="{FF2B5EF4-FFF2-40B4-BE49-F238E27FC236}">
                <a16:creationId xmlns:a16="http://schemas.microsoft.com/office/drawing/2014/main" id="{35080D98-69CD-4AB8-9E7C-9135394665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4800600"/>
            <a:ext cx="7754938" cy="1373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WHERE  </a:t>
            </a:r>
            <a:r>
              <a:rPr lang="en-US" altLang="zh-TW" sz="2800">
                <a:ea typeface="新細明體" panose="02020500000000000000" pitchFamily="18" charset="-120"/>
              </a:rPr>
              <a:t>T.</a:t>
            </a:r>
            <a:r>
              <a:rPr lang="en-US" altLang="zh-TW" sz="2800" i="1">
                <a:ea typeface="新細明體" panose="02020500000000000000" pitchFamily="18" charset="-120"/>
              </a:rPr>
              <a:t>Grade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 &gt; COUNT (SELECT ….)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      – </a:t>
            </a:r>
            <a:r>
              <a:rPr lang="en-US" altLang="zh-TW" sz="2800" i="1">
                <a:ea typeface="新細明體" panose="02020500000000000000" pitchFamily="18" charset="-120"/>
              </a:rPr>
              <a:t>aggregate cannot be applied to result </a:t>
            </a:r>
          </a:p>
          <a:p>
            <a:r>
              <a:rPr lang="en-US" altLang="zh-TW" sz="2800" i="1">
                <a:ea typeface="新細明體" panose="02020500000000000000" pitchFamily="18" charset="-120"/>
              </a:rPr>
              <a:t>                         of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2800" i="1">
                <a:ea typeface="新細明體" panose="02020500000000000000" pitchFamily="18" charset="-120"/>
              </a:rPr>
              <a:t> statement</a:t>
            </a:r>
            <a:endParaRPr lang="en-US" altLang="zh-TW" sz="2800" i="1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1C0DD9-EC14-45D1-B309-5FA460F46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73</a:t>
            </a:fld>
            <a:endParaRPr lang="en-US" altLang="zh-TW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1" name="Rectangle 2">
            <a:extLst>
              <a:ext uri="{FF2B5EF4-FFF2-40B4-BE49-F238E27FC236}">
                <a16:creationId xmlns:a16="http://schemas.microsoft.com/office/drawing/2014/main" id="{A079767D-7992-4C57-94C5-8005F0DAF17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81000"/>
            <a:ext cx="7772400" cy="11430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sz="4000">
                <a:solidFill>
                  <a:srgbClr val="FF0000"/>
                </a:solidFill>
                <a:ea typeface="新細明體" panose="02020500000000000000" pitchFamily="18" charset="-120"/>
              </a:rPr>
              <a:t>Common Mistake</a:t>
            </a:r>
          </a:p>
        </p:txBody>
      </p:sp>
      <p:sp>
        <p:nvSpPr>
          <p:cNvPr id="58372" name="Text Box 6">
            <a:extLst>
              <a:ext uri="{FF2B5EF4-FFF2-40B4-BE49-F238E27FC236}">
                <a16:creationId xmlns:a16="http://schemas.microsoft.com/office/drawing/2014/main" id="{F1ABDE54-6F05-4FD4-AB89-57EB4D1B3F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828800"/>
            <a:ext cx="6781800" cy="2246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SELECT …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FROM Course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WHERE COUNT (crscode) &gt; 5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      </a:t>
            </a:r>
          </a:p>
          <a:p>
            <a:endParaRPr lang="en-US" altLang="zh-TW" sz="2800" i="1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58373" name="TextBox 6">
            <a:extLst>
              <a:ext uri="{FF2B5EF4-FFF2-40B4-BE49-F238E27FC236}">
                <a16:creationId xmlns:a16="http://schemas.microsoft.com/office/drawing/2014/main" id="{2E9DEC37-8FA4-4ED5-A948-1EE775CD1E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3962400"/>
            <a:ext cx="6629400" cy="2246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en-US" altLang="zh-TW" sz="2800">
                <a:ea typeface="新細明體" panose="02020500000000000000" pitchFamily="18" charset="-120"/>
              </a:rPr>
              <a:t> No aggregation allowed in the WHERE clause unless the aggregation is inside another nested SELECT statement</a:t>
            </a:r>
            <a:r>
              <a:rPr lang="en-US" altLang="zh-TW">
                <a:ea typeface="新細明體" panose="02020500000000000000" pitchFamily="18" charset="-120"/>
              </a:rPr>
              <a:t>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2800">
                <a:ea typeface="新細明體" panose="02020500000000000000" pitchFamily="18" charset="-120"/>
              </a:rPr>
              <a:t> WHERE for selecting rows, nothing to aggregate in one row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70D455-8227-4BAB-8BE7-68688A35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74</a:t>
            </a:fld>
            <a:endParaRPr lang="en-US" altLang="zh-TW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Rectangle 2">
            <a:extLst>
              <a:ext uri="{FF2B5EF4-FFF2-40B4-BE49-F238E27FC236}">
                <a16:creationId xmlns:a16="http://schemas.microsoft.com/office/drawing/2014/main" id="{05400908-BF71-45A4-8163-7C655E9E0E5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685800"/>
          </a:xfrm>
        </p:spPr>
        <p:txBody>
          <a:bodyPr/>
          <a:lstStyle/>
          <a:p>
            <a:r>
              <a:rPr lang="en-US" altLang="zh-TW">
                <a:latin typeface="Century Gothic" panose="020B0502020202020204" pitchFamily="34" charset="0"/>
                <a:ea typeface="新細明體" panose="02020500000000000000" pitchFamily="18" charset="-120"/>
              </a:rPr>
              <a:t>ORDER BY</a:t>
            </a:r>
            <a:r>
              <a:rPr lang="en-US" altLang="zh-TW">
                <a:ea typeface="新細明體" panose="02020500000000000000" pitchFamily="18" charset="-120"/>
              </a:rPr>
              <a:t> Clause</a:t>
            </a:r>
          </a:p>
        </p:txBody>
      </p:sp>
      <p:sp>
        <p:nvSpPr>
          <p:cNvPr id="59396" name="Rectangle 3">
            <a:extLst>
              <a:ext uri="{FF2B5EF4-FFF2-40B4-BE49-F238E27FC236}">
                <a16:creationId xmlns:a16="http://schemas.microsoft.com/office/drawing/2014/main" id="{0A096FFF-B4A8-4806-ADF9-1943E92E75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295400"/>
            <a:ext cx="8001000" cy="1143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Causes rows to be output in a specified order</a:t>
            </a:r>
          </a:p>
        </p:txBody>
      </p:sp>
      <p:sp>
        <p:nvSpPr>
          <p:cNvPr id="53252" name="Text Box 4">
            <a:extLst>
              <a:ext uri="{FF2B5EF4-FFF2-40B4-BE49-F238E27FC236}">
                <a16:creationId xmlns:a16="http://schemas.microsoft.com/office/drawing/2014/main" id="{134F3D1F-26B8-40CA-8DF4-D4A34D86DB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2209800"/>
            <a:ext cx="6743700" cy="308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SELECT  </a:t>
            </a:r>
            <a:r>
              <a:rPr lang="en-US" altLang="zh-TW" sz="2800">
                <a:ea typeface="新細明體" panose="02020500000000000000" pitchFamily="18" charset="-120"/>
              </a:rPr>
              <a:t>T.</a:t>
            </a:r>
            <a:r>
              <a:rPr lang="en-US" altLang="zh-TW" sz="2800" i="1">
                <a:ea typeface="新細明體" panose="02020500000000000000" pitchFamily="18" charset="-120"/>
              </a:rPr>
              <a:t>StudId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, COUNT (*) AS </a:t>
            </a:r>
            <a:r>
              <a:rPr lang="en-US" altLang="zh-TW" sz="2800" i="1">
                <a:ea typeface="新細明體" panose="02020500000000000000" pitchFamily="18" charset="-120"/>
              </a:rPr>
              <a:t>NumCrs</a:t>
            </a:r>
            <a:r>
              <a:rPr lang="en-US" altLang="zh-TW" sz="2800">
                <a:ea typeface="新細明體" panose="02020500000000000000" pitchFamily="18" charset="-120"/>
              </a:rPr>
              <a:t>,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 AVG</a:t>
            </a:r>
            <a:r>
              <a:rPr lang="en-US" altLang="zh-TW" sz="2800">
                <a:ea typeface="新細明體" panose="02020500000000000000" pitchFamily="18" charset="-120"/>
              </a:rPr>
              <a:t>(T.</a:t>
            </a:r>
            <a:r>
              <a:rPr lang="en-US" altLang="zh-TW" sz="2800" i="1">
                <a:ea typeface="新細明體" panose="02020500000000000000" pitchFamily="18" charset="-120"/>
              </a:rPr>
              <a:t>Grade</a:t>
            </a:r>
            <a:r>
              <a:rPr lang="en-US" altLang="zh-TW" sz="2800">
                <a:ea typeface="新細明體" panose="02020500000000000000" pitchFamily="18" charset="-120"/>
              </a:rPr>
              <a:t>)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 AS </a:t>
            </a:r>
            <a:r>
              <a:rPr lang="en-US" altLang="zh-TW" sz="2800" i="1">
                <a:ea typeface="新細明體" panose="02020500000000000000" pitchFamily="18" charset="-120"/>
              </a:rPr>
              <a:t>CumGpa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FROM   </a:t>
            </a:r>
            <a:r>
              <a:rPr lang="en-US" altLang="zh-TW" sz="28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Transcript</a:t>
            </a:r>
            <a:r>
              <a:rPr lang="en-US" altLang="zh-TW" sz="2800">
                <a:ea typeface="新細明體" panose="02020500000000000000" pitchFamily="18" charset="-120"/>
              </a:rPr>
              <a:t> T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WHERE  </a:t>
            </a:r>
            <a:r>
              <a:rPr lang="en-US" altLang="zh-TW" sz="2800">
                <a:ea typeface="新細明體" panose="02020500000000000000" pitchFamily="18" charset="-120"/>
              </a:rPr>
              <a:t>T.</a:t>
            </a:r>
            <a:r>
              <a:rPr lang="en-US" altLang="zh-TW" sz="2800" i="1">
                <a:ea typeface="新細明體" panose="02020500000000000000" pitchFamily="18" charset="-120"/>
              </a:rPr>
              <a:t>CrsCode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 LIKE </a:t>
            </a:r>
            <a:r>
              <a:rPr lang="en-US" altLang="zh-TW" sz="2800">
                <a:ea typeface="新細明體" panose="02020500000000000000" pitchFamily="18" charset="-120"/>
              </a:rPr>
              <a:t>‘CS%’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GROUP BY  </a:t>
            </a:r>
            <a:r>
              <a:rPr lang="en-US" altLang="zh-TW" sz="2800">
                <a:ea typeface="新細明體" panose="02020500000000000000" pitchFamily="18" charset="-120"/>
              </a:rPr>
              <a:t>T.</a:t>
            </a:r>
            <a:r>
              <a:rPr lang="en-US" altLang="zh-TW" sz="2800" i="1">
                <a:ea typeface="新細明體" panose="02020500000000000000" pitchFamily="18" charset="-120"/>
              </a:rPr>
              <a:t>StudId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HAVING  AVG </a:t>
            </a:r>
            <a:r>
              <a:rPr lang="en-US" altLang="zh-TW" sz="2800">
                <a:ea typeface="新細明體" panose="02020500000000000000" pitchFamily="18" charset="-120"/>
              </a:rPr>
              <a:t>(T.</a:t>
            </a:r>
            <a:r>
              <a:rPr lang="en-US" altLang="zh-TW" sz="2800" i="1">
                <a:ea typeface="新細明體" panose="02020500000000000000" pitchFamily="18" charset="-120"/>
              </a:rPr>
              <a:t>Grade</a:t>
            </a:r>
            <a:r>
              <a:rPr lang="en-US" altLang="zh-TW" sz="2800">
                <a:ea typeface="新細明體" panose="02020500000000000000" pitchFamily="18" charset="-120"/>
              </a:rPr>
              <a:t>) &gt; 3.5</a:t>
            </a:r>
          </a:p>
          <a:p>
            <a:r>
              <a:rPr lang="en-US" altLang="zh-TW" sz="2800">
                <a:solidFill>
                  <a:srgbClr val="990033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ORDER BY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  </a:t>
            </a:r>
            <a:r>
              <a:rPr lang="en-US" altLang="zh-TW" sz="2800">
                <a:solidFill>
                  <a:srgbClr val="008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DESC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  </a:t>
            </a:r>
            <a:r>
              <a:rPr lang="en-US" altLang="zh-TW" sz="2800" i="1">
                <a:ea typeface="新細明體" panose="02020500000000000000" pitchFamily="18" charset="-120"/>
              </a:rPr>
              <a:t>CumGpa</a:t>
            </a:r>
            <a:r>
              <a:rPr lang="en-US" altLang="zh-TW" sz="2800">
                <a:ea typeface="新細明體" panose="02020500000000000000" pitchFamily="18" charset="-120"/>
              </a:rPr>
              <a:t>,  </a:t>
            </a:r>
            <a:r>
              <a:rPr lang="en-US" altLang="zh-TW" sz="2800">
                <a:solidFill>
                  <a:srgbClr val="008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ASC</a:t>
            </a:r>
            <a:r>
              <a:rPr lang="en-US" altLang="zh-TW" sz="2800">
                <a:ea typeface="新細明體" panose="02020500000000000000" pitchFamily="18" charset="-120"/>
              </a:rPr>
              <a:t> </a:t>
            </a:r>
            <a:r>
              <a:rPr lang="en-US" altLang="zh-TW" sz="2800" i="1">
                <a:ea typeface="新細明體" panose="02020500000000000000" pitchFamily="18" charset="-120"/>
              </a:rPr>
              <a:t>StudId</a:t>
            </a:r>
            <a:endParaRPr lang="en-US" altLang="zh-TW" sz="3200" i="1">
              <a:ea typeface="新細明體" panose="02020500000000000000" pitchFamily="18" charset="-120"/>
            </a:endParaRPr>
          </a:p>
        </p:txBody>
      </p:sp>
      <p:sp>
        <p:nvSpPr>
          <p:cNvPr id="59398" name="AutoShape 5">
            <a:extLst>
              <a:ext uri="{FF2B5EF4-FFF2-40B4-BE49-F238E27FC236}">
                <a16:creationId xmlns:a16="http://schemas.microsoft.com/office/drawing/2014/main" id="{FA55EAEF-319E-42A4-9A94-3F256F864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5791200"/>
            <a:ext cx="1371600" cy="381000"/>
          </a:xfrm>
          <a:prstGeom prst="wedgeRoundRectCallout">
            <a:avLst>
              <a:gd name="adj1" fmla="val 98611"/>
              <a:gd name="adj2" fmla="val -188750"/>
              <a:gd name="adj3" fmla="val 16667"/>
            </a:avLst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sz="1400" i="1">
                <a:solidFill>
                  <a:schemeClr val="accent2"/>
                </a:solidFill>
                <a:ea typeface="新細明體" panose="02020500000000000000" pitchFamily="18" charset="-120"/>
              </a:rPr>
              <a:t>Descending</a:t>
            </a:r>
            <a:endParaRPr lang="en-US" altLang="zh-TW" sz="1400" i="1">
              <a:ea typeface="新細明體" panose="02020500000000000000" pitchFamily="18" charset="-120"/>
            </a:endParaRPr>
          </a:p>
        </p:txBody>
      </p:sp>
      <p:sp>
        <p:nvSpPr>
          <p:cNvPr id="59399" name="AutoShape 6">
            <a:extLst>
              <a:ext uri="{FF2B5EF4-FFF2-40B4-BE49-F238E27FC236}">
                <a16:creationId xmlns:a16="http://schemas.microsoft.com/office/drawing/2014/main" id="{2DBDBC07-C68D-4E03-ADF0-16E79BA49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77000" y="5867400"/>
            <a:ext cx="1371600" cy="381000"/>
          </a:xfrm>
          <a:prstGeom prst="wedgeRoundRectCallout">
            <a:avLst>
              <a:gd name="adj1" fmla="val -83681"/>
              <a:gd name="adj2" fmla="val -210000"/>
              <a:gd name="adj3" fmla="val 16667"/>
            </a:avLst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sz="1400" i="1">
                <a:solidFill>
                  <a:schemeClr val="accent2"/>
                </a:solidFill>
                <a:ea typeface="新細明體" panose="02020500000000000000" pitchFamily="18" charset="-120"/>
              </a:rPr>
              <a:t>Ascending</a:t>
            </a:r>
            <a:endParaRPr lang="en-US" altLang="zh-TW" sz="1400" i="1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15915D-848B-41AA-8AD2-DB6CF3FB3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75</a:t>
            </a:fld>
            <a:endParaRPr lang="en-US" altLang="zh-TW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9" name="Rectangle 2">
            <a:extLst>
              <a:ext uri="{FF2B5EF4-FFF2-40B4-BE49-F238E27FC236}">
                <a16:creationId xmlns:a16="http://schemas.microsoft.com/office/drawing/2014/main" id="{7342B35E-2234-4E95-B98A-D1B64D0EDEB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990600"/>
          </a:xfrm>
        </p:spPr>
        <p:txBody>
          <a:bodyPr/>
          <a:lstStyle/>
          <a:p>
            <a:r>
              <a:rPr lang="en-US" altLang="zh-TW" sz="3200">
                <a:ea typeface="新細明體" panose="02020500000000000000" pitchFamily="18" charset="-120"/>
              </a:rPr>
              <a:t>Query Evaluation with </a:t>
            </a:r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GROUP BY</a:t>
            </a:r>
            <a:r>
              <a:rPr lang="en-US" altLang="zh-TW" sz="3200">
                <a:ea typeface="新細明體" panose="02020500000000000000" pitchFamily="18" charset="-120"/>
              </a:rPr>
              <a:t>, </a:t>
            </a:r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HAVING</a:t>
            </a:r>
            <a:r>
              <a:rPr lang="en-US" altLang="zh-TW" sz="3200">
                <a:ea typeface="新細明體" panose="02020500000000000000" pitchFamily="18" charset="-120"/>
              </a:rPr>
              <a:t>, </a:t>
            </a:r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ORDER</a:t>
            </a:r>
            <a:r>
              <a:rPr lang="en-US" altLang="zh-TW" sz="3200">
                <a:ea typeface="新細明體" panose="02020500000000000000" pitchFamily="18" charset="-120"/>
              </a:rPr>
              <a:t> </a:t>
            </a:r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BY</a:t>
            </a:r>
          </a:p>
        </p:txBody>
      </p:sp>
      <p:sp>
        <p:nvSpPr>
          <p:cNvPr id="60420" name="Rectangle 3">
            <a:extLst>
              <a:ext uri="{FF2B5EF4-FFF2-40B4-BE49-F238E27FC236}">
                <a16:creationId xmlns:a16="http://schemas.microsoft.com/office/drawing/2014/main" id="{8E75909A-F724-4509-A081-E7D6E4CD49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447800"/>
            <a:ext cx="7924800" cy="4648200"/>
          </a:xfrm>
        </p:spPr>
        <p:txBody>
          <a:bodyPr/>
          <a:lstStyle/>
          <a:p>
            <a:pPr>
              <a:lnSpc>
                <a:spcPct val="90000"/>
              </a:lnSpc>
              <a:buFontTx/>
              <a:buChar char="1"/>
            </a:pPr>
            <a:r>
              <a:rPr lang="en-US" altLang="zh-TW" sz="2400">
                <a:ea typeface="新細明體" panose="02020500000000000000" pitchFamily="18" charset="-120"/>
              </a:rPr>
              <a:t>Evaluate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2400">
                <a:ea typeface="新細明體" panose="02020500000000000000" pitchFamily="18" charset="-120"/>
              </a:rPr>
              <a:t>: produces Cartesian product, A, of tables in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2400">
                <a:ea typeface="新細明體" panose="02020500000000000000" pitchFamily="18" charset="-120"/>
              </a:rPr>
              <a:t> list</a:t>
            </a:r>
          </a:p>
          <a:p>
            <a:pPr>
              <a:lnSpc>
                <a:spcPct val="90000"/>
              </a:lnSpc>
              <a:buFontTx/>
              <a:buChar char="2"/>
            </a:pPr>
            <a:r>
              <a:rPr lang="en-US" altLang="zh-TW" sz="2400">
                <a:ea typeface="新細明體" panose="02020500000000000000" pitchFamily="18" charset="-120"/>
              </a:rPr>
              <a:t>Evaluate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 sz="2400">
                <a:ea typeface="新細明體" panose="02020500000000000000" pitchFamily="18" charset="-120"/>
              </a:rPr>
              <a:t>: produces table, B, consisting  of rows of A that satisfy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 sz="2400">
                <a:ea typeface="新細明體" panose="02020500000000000000" pitchFamily="18" charset="-120"/>
              </a:rPr>
              <a:t> condition</a:t>
            </a:r>
          </a:p>
          <a:p>
            <a:pPr>
              <a:lnSpc>
                <a:spcPct val="90000"/>
              </a:lnSpc>
              <a:buFontTx/>
              <a:buChar char="3"/>
            </a:pPr>
            <a:r>
              <a:rPr lang="en-US" altLang="zh-TW" sz="2400">
                <a:ea typeface="新細明體" panose="02020500000000000000" pitchFamily="18" charset="-120"/>
              </a:rPr>
              <a:t>Evaluate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GROUP BY</a:t>
            </a:r>
            <a:r>
              <a:rPr lang="en-US" altLang="zh-TW" sz="2400">
                <a:ea typeface="新細明體" panose="02020500000000000000" pitchFamily="18" charset="-120"/>
              </a:rPr>
              <a:t>: partitions B into groups that agree on attribute values in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GROUP BY</a:t>
            </a:r>
            <a:r>
              <a:rPr lang="en-US" altLang="zh-TW" sz="2400">
                <a:ea typeface="新細明體" panose="02020500000000000000" pitchFamily="18" charset="-120"/>
              </a:rPr>
              <a:t> list</a:t>
            </a:r>
          </a:p>
          <a:p>
            <a:pPr>
              <a:lnSpc>
                <a:spcPct val="90000"/>
              </a:lnSpc>
              <a:buFontTx/>
              <a:buChar char="4"/>
            </a:pPr>
            <a:r>
              <a:rPr lang="en-US" altLang="zh-TW" sz="2400">
                <a:ea typeface="新細明體" panose="02020500000000000000" pitchFamily="18" charset="-120"/>
              </a:rPr>
              <a:t>Evaluate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HAVING</a:t>
            </a:r>
            <a:r>
              <a:rPr lang="en-US" altLang="zh-TW" sz="2400">
                <a:ea typeface="新細明體" panose="02020500000000000000" pitchFamily="18" charset="-120"/>
              </a:rPr>
              <a:t>: eliminates groups in B that do not satisfy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HAVING</a:t>
            </a:r>
            <a:r>
              <a:rPr lang="en-US" altLang="zh-TW" sz="2400">
                <a:ea typeface="新細明體" panose="02020500000000000000" pitchFamily="18" charset="-120"/>
              </a:rPr>
              <a:t> condition</a:t>
            </a:r>
          </a:p>
          <a:p>
            <a:pPr>
              <a:lnSpc>
                <a:spcPct val="90000"/>
              </a:lnSpc>
              <a:buFontTx/>
              <a:buChar char="5"/>
            </a:pPr>
            <a:r>
              <a:rPr lang="en-US" altLang="zh-TW" sz="2400">
                <a:ea typeface="新細明體" panose="02020500000000000000" pitchFamily="18" charset="-120"/>
              </a:rPr>
              <a:t>Evaluate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2400">
                <a:ea typeface="新細明體" panose="02020500000000000000" pitchFamily="18" charset="-120"/>
              </a:rPr>
              <a:t>: produces table C containing a row for each group. Attributes in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2400">
                <a:ea typeface="新細明體" panose="02020500000000000000" pitchFamily="18" charset="-120"/>
              </a:rPr>
              <a:t> list limited to those in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GROUP BY</a:t>
            </a:r>
            <a:r>
              <a:rPr lang="en-US" altLang="zh-TW" sz="2400">
                <a:ea typeface="新細明體" panose="02020500000000000000" pitchFamily="18" charset="-120"/>
              </a:rPr>
              <a:t> list and aggregates over group</a:t>
            </a:r>
          </a:p>
          <a:p>
            <a:pPr>
              <a:lnSpc>
                <a:spcPct val="90000"/>
              </a:lnSpc>
              <a:buFontTx/>
              <a:buChar char="6"/>
            </a:pPr>
            <a:r>
              <a:rPr lang="en-US" altLang="zh-TW" sz="2400">
                <a:solidFill>
                  <a:schemeClr val="accent2"/>
                </a:solidFill>
                <a:ea typeface="新細明體" panose="02020500000000000000" pitchFamily="18" charset="-120"/>
              </a:rPr>
              <a:t>Evaluate </a:t>
            </a:r>
            <a:r>
              <a:rPr lang="en-US" altLang="zh-TW" sz="2400">
                <a:solidFill>
                  <a:schemeClr val="accent2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ORDER BY</a:t>
            </a:r>
            <a:r>
              <a:rPr lang="en-US" altLang="zh-TW" sz="2400">
                <a:solidFill>
                  <a:schemeClr val="accent2"/>
                </a:solidFill>
                <a:ea typeface="新細明體" panose="02020500000000000000" pitchFamily="18" charset="-120"/>
              </a:rPr>
              <a:t>: orders rows of C</a:t>
            </a:r>
            <a:endParaRPr lang="en-US" altLang="zh-TW" sz="2800">
              <a:solidFill>
                <a:schemeClr val="accent2"/>
              </a:solidFill>
              <a:ea typeface="新細明體" panose="02020500000000000000" pitchFamily="18" charset="-120"/>
            </a:endParaRPr>
          </a:p>
        </p:txBody>
      </p:sp>
      <p:sp>
        <p:nvSpPr>
          <p:cNvPr id="60421" name="AutoShape 4">
            <a:extLst>
              <a:ext uri="{FF2B5EF4-FFF2-40B4-BE49-F238E27FC236}">
                <a16:creationId xmlns:a16="http://schemas.microsoft.com/office/drawing/2014/main" id="{AE4B7376-FB2C-4579-888C-34445AC86B31}"/>
              </a:ext>
            </a:extLst>
          </p:cNvPr>
          <p:cNvSpPr>
            <a:spLocks/>
          </p:cNvSpPr>
          <p:nvPr/>
        </p:nvSpPr>
        <p:spPr bwMode="auto">
          <a:xfrm>
            <a:off x="533400" y="1447800"/>
            <a:ext cx="304800" cy="3810000"/>
          </a:xfrm>
          <a:prstGeom prst="leftBrace">
            <a:avLst>
              <a:gd name="adj1" fmla="val 104167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60422" name="Text Box 5">
            <a:extLst>
              <a:ext uri="{FF2B5EF4-FFF2-40B4-BE49-F238E27FC236}">
                <a16:creationId xmlns:a16="http://schemas.microsoft.com/office/drawing/2014/main" id="{116115C3-C255-4BBB-9034-4B8ED38745FB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-612775" y="3203575"/>
            <a:ext cx="19875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ea typeface="新細明體" panose="02020500000000000000" pitchFamily="18" charset="-120"/>
              </a:rPr>
              <a:t>A s   b e f o r 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C32E22-1121-4834-B63B-B1A86D5D8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76</a:t>
            </a:fld>
            <a:endParaRPr lang="en-US" altLang="zh-TW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3" name="Rectangle 2">
            <a:extLst>
              <a:ext uri="{FF2B5EF4-FFF2-40B4-BE49-F238E27FC236}">
                <a16:creationId xmlns:a16="http://schemas.microsoft.com/office/drawing/2014/main" id="{4AF54F92-5284-42B6-91FA-6249C0E5B6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Views</a:t>
            </a:r>
          </a:p>
        </p:txBody>
      </p:sp>
      <p:sp>
        <p:nvSpPr>
          <p:cNvPr id="61444" name="Rectangle 3">
            <a:extLst>
              <a:ext uri="{FF2B5EF4-FFF2-40B4-BE49-F238E27FC236}">
                <a16:creationId xmlns:a16="http://schemas.microsoft.com/office/drawing/2014/main" id="{B2B227E9-24F4-473F-99C2-3D388867166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676400"/>
            <a:ext cx="7848600" cy="48768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Used as a relation, but rows are not physically stored.  </a:t>
            </a:r>
          </a:p>
          <a:p>
            <a:pPr lvl="1">
              <a:lnSpc>
                <a:spcPct val="9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The contents of a view is </a:t>
            </a:r>
            <a:r>
              <a:rPr lang="en-US" altLang="zh-TW" sz="2400" i="1">
                <a:ea typeface="新細明體" panose="02020500000000000000" pitchFamily="18" charset="-120"/>
              </a:rPr>
              <a:t>computed </a:t>
            </a:r>
            <a:r>
              <a:rPr lang="en-US" altLang="zh-TW" sz="2400">
                <a:ea typeface="新細明體" panose="02020500000000000000" pitchFamily="18" charset="-120"/>
              </a:rPr>
              <a:t>when it is used within an SQL statement</a:t>
            </a:r>
          </a:p>
          <a:p>
            <a:pPr lvl="1">
              <a:lnSpc>
                <a:spcPct val="9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Each time it is used (thus computed), the content might different as underlying base tables might have changed</a:t>
            </a:r>
          </a:p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View is the result of a 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2800">
                <a:ea typeface="新細明體" panose="02020500000000000000" pitchFamily="18" charset="-120"/>
              </a:rPr>
              <a:t> statement over other views and base relations</a:t>
            </a:r>
          </a:p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When used in an SQL statement, the view definition is substituted for the view name in the statement</a:t>
            </a:r>
          </a:p>
          <a:p>
            <a:pPr lvl="1">
              <a:lnSpc>
                <a:spcPct val="90000"/>
              </a:lnSpc>
            </a:pP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As SELECT </a:t>
            </a:r>
            <a:r>
              <a:rPr lang="en-US" altLang="zh-TW" sz="2400">
                <a:ea typeface="新細明體" panose="02020500000000000000" pitchFamily="18" charset="-120"/>
              </a:rPr>
              <a:t>statement nested in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2400">
                <a:ea typeface="新細明體" panose="02020500000000000000" pitchFamily="18" charset="-120"/>
              </a:rPr>
              <a:t> clause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684398-C518-43D4-A44B-52CBBD171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77</a:t>
            </a:fld>
            <a:endParaRPr lang="en-US" altLang="zh-TW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7" name="Rectangle 2">
            <a:extLst>
              <a:ext uri="{FF2B5EF4-FFF2-40B4-BE49-F238E27FC236}">
                <a16:creationId xmlns:a16="http://schemas.microsoft.com/office/drawing/2014/main" id="{443A49AC-7BFD-48C0-8730-E9A145508B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/>
              </a:rPr>
              <a:t>View – Example 1</a:t>
            </a:r>
            <a:endParaRPr lang="en-US" dirty="0"/>
          </a:p>
        </p:txBody>
      </p:sp>
      <p:sp>
        <p:nvSpPr>
          <p:cNvPr id="56323" name="Text Box 3">
            <a:extLst>
              <a:ext uri="{FF2B5EF4-FFF2-40B4-BE49-F238E27FC236}">
                <a16:creationId xmlns:a16="http://schemas.microsoft.com/office/drawing/2014/main" id="{2596EFA5-9269-4862-9863-75A1883C50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974850"/>
            <a:ext cx="7446963" cy="204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3200">
                <a:latin typeface="Century Gothic" pitchFamily="34" charset="0"/>
              </a:rPr>
              <a:t>CREATE </a:t>
            </a:r>
            <a:r>
              <a:rPr lang="en-US" sz="3200">
                <a:solidFill>
                  <a:srgbClr val="990033"/>
                </a:solidFill>
                <a:latin typeface="Century Gothic" pitchFamily="34" charset="0"/>
              </a:rPr>
              <a:t>VIEW</a:t>
            </a:r>
            <a:r>
              <a:rPr lang="en-US" sz="3200"/>
              <a:t>  </a:t>
            </a:r>
            <a:r>
              <a:rPr lang="en-US" sz="3200">
                <a:solidFill>
                  <a:srgbClr val="008000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CumGpa</a:t>
            </a:r>
            <a:r>
              <a:rPr lang="en-US" sz="3200"/>
              <a:t> (</a:t>
            </a:r>
            <a:r>
              <a:rPr lang="en-US" sz="3200" i="1"/>
              <a:t>StudId</a:t>
            </a:r>
            <a:r>
              <a:rPr lang="en-US" sz="3200"/>
              <a:t>, </a:t>
            </a:r>
            <a:r>
              <a:rPr lang="en-US" sz="3200" i="1"/>
              <a:t>Cum</a:t>
            </a:r>
            <a:r>
              <a:rPr lang="en-US" sz="3200"/>
              <a:t>) </a:t>
            </a:r>
            <a:r>
              <a:rPr lang="en-US" sz="3200">
                <a:solidFill>
                  <a:srgbClr val="990033"/>
                </a:solidFill>
                <a:latin typeface="Century Gothic" pitchFamily="34" charset="0"/>
              </a:rPr>
              <a:t>AS</a:t>
            </a:r>
          </a:p>
          <a:p>
            <a:pPr>
              <a:defRPr/>
            </a:pPr>
            <a:r>
              <a:rPr lang="en-US" sz="3200"/>
              <a:t>  </a:t>
            </a:r>
            <a:r>
              <a:rPr lang="en-US" sz="3200">
                <a:latin typeface="Century Gothic" pitchFamily="34" charset="0"/>
              </a:rPr>
              <a:t>SELECT  </a:t>
            </a:r>
            <a:r>
              <a:rPr lang="en-US" sz="3200"/>
              <a:t>T.</a:t>
            </a:r>
            <a:r>
              <a:rPr lang="en-US" sz="3200" i="1"/>
              <a:t>StudId</a:t>
            </a:r>
            <a:r>
              <a:rPr lang="en-US" sz="3200"/>
              <a:t>,  </a:t>
            </a:r>
            <a:r>
              <a:rPr lang="en-US" sz="3200">
                <a:latin typeface="Century Gothic" pitchFamily="34" charset="0"/>
              </a:rPr>
              <a:t>AVG</a:t>
            </a:r>
            <a:r>
              <a:rPr lang="en-US" sz="3200"/>
              <a:t> (T.</a:t>
            </a:r>
            <a:r>
              <a:rPr lang="en-US" sz="3200" i="1"/>
              <a:t>Grade</a:t>
            </a:r>
            <a:r>
              <a:rPr lang="en-US" sz="3200"/>
              <a:t>)</a:t>
            </a:r>
          </a:p>
          <a:p>
            <a:pPr>
              <a:defRPr/>
            </a:pPr>
            <a:r>
              <a:rPr lang="en-US" sz="3200"/>
              <a:t>  </a:t>
            </a:r>
            <a:r>
              <a:rPr lang="en-US" sz="3200">
                <a:latin typeface="Century Gothic" pitchFamily="34" charset="0"/>
              </a:rPr>
              <a:t>FROM</a:t>
            </a:r>
            <a:r>
              <a:rPr lang="en-US" sz="3200"/>
              <a:t> </a:t>
            </a:r>
            <a:r>
              <a:rPr lang="en-US" sz="3200">
                <a:effectLst>
                  <a:outerShdw blurRad="38100" dist="38100" dir="2700000" algn="tl">
                    <a:srgbClr val="C0C0C0"/>
                  </a:outerShdw>
                </a:effectLst>
              </a:rPr>
              <a:t>Transcript</a:t>
            </a:r>
            <a:r>
              <a:rPr lang="en-US" sz="3200"/>
              <a:t> T</a:t>
            </a:r>
          </a:p>
          <a:p>
            <a:pPr>
              <a:defRPr/>
            </a:pPr>
            <a:r>
              <a:rPr lang="en-US" sz="3200"/>
              <a:t>  </a:t>
            </a:r>
            <a:r>
              <a:rPr lang="en-US" sz="3200">
                <a:latin typeface="Century Gothic" pitchFamily="34" charset="0"/>
              </a:rPr>
              <a:t>GROUP BY</a:t>
            </a:r>
            <a:r>
              <a:rPr lang="en-US" sz="3200"/>
              <a:t> T.</a:t>
            </a:r>
            <a:r>
              <a:rPr lang="en-US" sz="3200" i="1"/>
              <a:t>StudId</a:t>
            </a:r>
          </a:p>
        </p:txBody>
      </p:sp>
      <p:sp>
        <p:nvSpPr>
          <p:cNvPr id="56324" name="Text Box 4">
            <a:extLst>
              <a:ext uri="{FF2B5EF4-FFF2-40B4-BE49-F238E27FC236}">
                <a16:creationId xmlns:a16="http://schemas.microsoft.com/office/drawing/2014/main" id="{26209A75-1288-4F8C-A1ED-5F0494A5E2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4413250"/>
            <a:ext cx="8188325" cy="204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3200">
                <a:ea typeface="新細明體" panose="02020500000000000000" pitchFamily="18" charset="-120"/>
              </a:rPr>
              <a:t>  S.</a:t>
            </a:r>
            <a:r>
              <a:rPr lang="en-US" altLang="zh-TW" sz="3200" i="1">
                <a:ea typeface="新細明體" panose="02020500000000000000" pitchFamily="18" charset="-120"/>
              </a:rPr>
              <a:t>Name</a:t>
            </a:r>
            <a:r>
              <a:rPr lang="en-US" altLang="zh-TW" sz="3200">
                <a:ea typeface="新細明體" panose="02020500000000000000" pitchFamily="18" charset="-120"/>
              </a:rPr>
              <a:t>, C.</a:t>
            </a:r>
            <a:r>
              <a:rPr lang="en-US" altLang="zh-TW" sz="3200" i="1">
                <a:ea typeface="新細明體" panose="02020500000000000000" pitchFamily="18" charset="-120"/>
              </a:rPr>
              <a:t>Cum</a:t>
            </a:r>
          </a:p>
          <a:p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FROM </a:t>
            </a:r>
            <a:r>
              <a:rPr lang="en-US" altLang="zh-TW" sz="3200">
                <a:ea typeface="新細明體" panose="02020500000000000000" pitchFamily="18" charset="-120"/>
              </a:rPr>
              <a:t> </a:t>
            </a:r>
            <a:r>
              <a:rPr lang="en-US" altLang="zh-TW" sz="3200">
                <a:solidFill>
                  <a:srgbClr val="008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CumGpa</a:t>
            </a:r>
            <a:r>
              <a:rPr lang="en-US" altLang="zh-TW" sz="3200">
                <a:ea typeface="新細明體" panose="02020500000000000000" pitchFamily="18" charset="-120"/>
              </a:rPr>
              <a:t> C,  </a:t>
            </a:r>
            <a:r>
              <a:rPr lang="en-US" altLang="zh-TW" sz="32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Student</a:t>
            </a:r>
            <a:r>
              <a:rPr lang="en-US" altLang="zh-TW" sz="3200">
                <a:ea typeface="新細明體" panose="02020500000000000000" pitchFamily="18" charset="-120"/>
              </a:rPr>
              <a:t> S</a:t>
            </a:r>
          </a:p>
          <a:p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3200">
                <a:ea typeface="新細明體" panose="02020500000000000000" pitchFamily="18" charset="-120"/>
              </a:rPr>
              <a:t> C.</a:t>
            </a:r>
            <a:r>
              <a:rPr lang="en-US" altLang="zh-TW" sz="3200" i="1">
                <a:ea typeface="新細明體" panose="02020500000000000000" pitchFamily="18" charset="-120"/>
              </a:rPr>
              <a:t>StudId</a:t>
            </a:r>
            <a:r>
              <a:rPr lang="en-US" altLang="zh-TW" sz="3200">
                <a:ea typeface="新細明體" panose="02020500000000000000" pitchFamily="18" charset="-120"/>
              </a:rPr>
              <a:t> = S.</a:t>
            </a:r>
            <a:r>
              <a:rPr lang="en-US" altLang="zh-TW" sz="3200" i="1">
                <a:ea typeface="新細明體" panose="02020500000000000000" pitchFamily="18" charset="-120"/>
              </a:rPr>
              <a:t>StudId</a:t>
            </a:r>
            <a:r>
              <a:rPr lang="en-US" altLang="zh-TW" sz="3200">
                <a:ea typeface="新細明體" panose="02020500000000000000" pitchFamily="18" charset="-120"/>
              </a:rPr>
              <a:t> </a:t>
            </a:r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AND</a:t>
            </a:r>
            <a:r>
              <a:rPr lang="en-US" altLang="zh-TW" sz="3200">
                <a:ea typeface="新細明體" panose="02020500000000000000" pitchFamily="18" charset="-120"/>
              </a:rPr>
              <a:t> C.</a:t>
            </a:r>
            <a:r>
              <a:rPr lang="en-US" altLang="zh-TW" sz="3200" i="1">
                <a:ea typeface="新細明體" panose="02020500000000000000" pitchFamily="18" charset="-120"/>
              </a:rPr>
              <a:t>Cum</a:t>
            </a:r>
            <a:r>
              <a:rPr lang="en-US" altLang="zh-TW" sz="3200">
                <a:ea typeface="新細明體" panose="02020500000000000000" pitchFamily="18" charset="-120"/>
              </a:rPr>
              <a:t> &gt; 3.5</a:t>
            </a:r>
          </a:p>
          <a:p>
            <a:endParaRPr lang="en-US" altLang="zh-TW" sz="320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97433D-EE88-4D7A-B98F-0BD18D515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78</a:t>
            </a:fld>
            <a:endParaRPr lang="en-US" altLang="zh-TW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7DFD439-CE33-461A-B6D1-B3BCBEB95FB0}"/>
              </a:ext>
            </a:extLst>
          </p:cNvPr>
          <p:cNvSpPr txBox="1"/>
          <p:nvPr/>
        </p:nvSpPr>
        <p:spPr>
          <a:xfrm>
            <a:off x="2753339" y="5334307"/>
            <a:ext cx="1323668" cy="4001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Times New Roman"/>
                <a:cs typeface="Times New Roman"/>
              </a:rPr>
              <a:t>Transcript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0223DD-7C57-4C1A-B6A0-48B28AD1F530}"/>
              </a:ext>
            </a:extLst>
          </p:cNvPr>
          <p:cNvSpPr txBox="1"/>
          <p:nvPr/>
        </p:nvSpPr>
        <p:spPr>
          <a:xfrm>
            <a:off x="1803910" y="3859467"/>
            <a:ext cx="1323668" cy="4001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 err="1">
                <a:cs typeface="Times New Roman"/>
              </a:rPr>
              <a:t>CumGpa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85F8D9-BB79-483F-B6BF-E00A8FC5B7D9}"/>
              </a:ext>
            </a:extLst>
          </p:cNvPr>
          <p:cNvCxnSpPr/>
          <p:nvPr/>
        </p:nvCxnSpPr>
        <p:spPr bwMode="auto">
          <a:xfrm>
            <a:off x="2381864" y="4262283"/>
            <a:ext cx="997360" cy="110797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58A2D26-8135-442C-ACBE-E1859E4A3EF5}"/>
              </a:ext>
            </a:extLst>
          </p:cNvPr>
          <p:cNvSpPr txBox="1"/>
          <p:nvPr/>
        </p:nvSpPr>
        <p:spPr>
          <a:xfrm>
            <a:off x="2596636" y="2237145"/>
            <a:ext cx="1683159" cy="40011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cs typeface="Times New Roman"/>
              </a:rPr>
              <a:t>GoodCumGpa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C537F1C-4DD2-4644-951F-19FFF60FF8DF}"/>
              </a:ext>
            </a:extLst>
          </p:cNvPr>
          <p:cNvCxnSpPr/>
          <p:nvPr/>
        </p:nvCxnSpPr>
        <p:spPr bwMode="auto">
          <a:xfrm flipH="1">
            <a:off x="2443623" y="2626134"/>
            <a:ext cx="993672" cy="126467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1DE3197-419F-47AC-8BB9-62D92BFE3361}"/>
              </a:ext>
            </a:extLst>
          </p:cNvPr>
          <p:cNvSpPr txBox="1"/>
          <p:nvPr/>
        </p:nvSpPr>
        <p:spPr>
          <a:xfrm>
            <a:off x="4679846" y="5334306"/>
            <a:ext cx="1323668" cy="4001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Times New Roman"/>
                <a:cs typeface="Times New Roman"/>
              </a:rPr>
              <a:t>Student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C165FA-B58F-4607-9E19-0225896369B9}"/>
              </a:ext>
            </a:extLst>
          </p:cNvPr>
          <p:cNvSpPr txBox="1"/>
          <p:nvPr/>
        </p:nvSpPr>
        <p:spPr>
          <a:xfrm>
            <a:off x="4458619" y="2237144"/>
            <a:ext cx="1959691" cy="40011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 err="1">
                <a:cs typeface="Times New Roman"/>
              </a:rPr>
              <a:t>NameCumGpa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D93FB5B-0009-43B6-8EEC-F0B9709746AA}"/>
              </a:ext>
            </a:extLst>
          </p:cNvPr>
          <p:cNvCxnSpPr>
            <a:cxnSpLocks/>
          </p:cNvCxnSpPr>
          <p:nvPr/>
        </p:nvCxnSpPr>
        <p:spPr bwMode="auto">
          <a:xfrm flipH="1">
            <a:off x="2508146" y="2598480"/>
            <a:ext cx="2864873" cy="128311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6C517B6-A6CC-44C0-991E-B0FC92277791}"/>
              </a:ext>
            </a:extLst>
          </p:cNvPr>
          <p:cNvCxnSpPr>
            <a:cxnSpLocks/>
          </p:cNvCxnSpPr>
          <p:nvPr/>
        </p:nvCxnSpPr>
        <p:spPr bwMode="auto">
          <a:xfrm flipH="1">
            <a:off x="5337991" y="2598480"/>
            <a:ext cx="71899" cy="273951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69E53A2-3A0C-417B-9A01-BCD1CF373E77}"/>
              </a:ext>
            </a:extLst>
          </p:cNvPr>
          <p:cNvSpPr txBox="1"/>
          <p:nvPr/>
        </p:nvSpPr>
        <p:spPr>
          <a:xfrm>
            <a:off x="246113" y="5334306"/>
            <a:ext cx="2042652" cy="400110"/>
          </a:xfrm>
          <a:prstGeom prst="rect">
            <a:avLst/>
          </a:prstGeom>
          <a:solidFill>
            <a:srgbClr val="FFFFFF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Floor 1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FED226-1E5B-4CF9-9238-FD3D2B49420E}"/>
              </a:ext>
            </a:extLst>
          </p:cNvPr>
          <p:cNvSpPr txBox="1"/>
          <p:nvPr/>
        </p:nvSpPr>
        <p:spPr>
          <a:xfrm>
            <a:off x="246112" y="3859466"/>
            <a:ext cx="1084007" cy="400110"/>
          </a:xfrm>
          <a:prstGeom prst="rect">
            <a:avLst/>
          </a:prstGeom>
          <a:solidFill>
            <a:srgbClr val="FFFFFF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Floor 2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688E45-0096-426F-8173-61210DA41181}"/>
              </a:ext>
            </a:extLst>
          </p:cNvPr>
          <p:cNvSpPr txBox="1"/>
          <p:nvPr/>
        </p:nvSpPr>
        <p:spPr>
          <a:xfrm>
            <a:off x="246111" y="2283231"/>
            <a:ext cx="2042652" cy="400110"/>
          </a:xfrm>
          <a:prstGeom prst="rect">
            <a:avLst/>
          </a:prstGeom>
          <a:solidFill>
            <a:srgbClr val="FFFFFF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Floor 3</a:t>
            </a:r>
            <a:endParaRPr lang="en-US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BEBDD92-5869-4D74-B48E-1CAB87FC87EF}"/>
              </a:ext>
            </a:extLst>
          </p:cNvPr>
          <p:cNvCxnSpPr>
            <a:cxnSpLocks/>
          </p:cNvCxnSpPr>
          <p:nvPr/>
        </p:nvCxnSpPr>
        <p:spPr bwMode="auto">
          <a:xfrm flipH="1">
            <a:off x="3706451" y="4266891"/>
            <a:ext cx="366866" cy="105266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5E2A03B-1755-480F-A4AF-F8712687F15F}"/>
              </a:ext>
            </a:extLst>
          </p:cNvPr>
          <p:cNvSpPr txBox="1"/>
          <p:nvPr/>
        </p:nvSpPr>
        <p:spPr>
          <a:xfrm>
            <a:off x="3619806" y="3859467"/>
            <a:ext cx="908869" cy="4001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 err="1">
                <a:cs typeface="Times New Roman"/>
              </a:rPr>
              <a:t>CsReg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5B31C72-93B7-4AAC-A9D3-C283FF558524}"/>
              </a:ext>
            </a:extLst>
          </p:cNvPr>
          <p:cNvSpPr txBox="1"/>
          <p:nvPr/>
        </p:nvSpPr>
        <p:spPr>
          <a:xfrm>
            <a:off x="6136248" y="5334305"/>
            <a:ext cx="1148531" cy="4001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cs typeface="Times New Roman"/>
              </a:rPr>
              <a:t>Professor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A20B00-35F0-4A35-90B3-14DC9B1631BE}"/>
              </a:ext>
            </a:extLst>
          </p:cNvPr>
          <p:cNvSpPr txBox="1"/>
          <p:nvPr/>
        </p:nvSpPr>
        <p:spPr>
          <a:xfrm>
            <a:off x="7472821" y="5334305"/>
            <a:ext cx="1508023" cy="4001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Times New Roman"/>
                <a:cs typeface="Times New Roman"/>
              </a:rPr>
              <a:t>Department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74647A-4480-41F9-A7EB-EFDFA3528D22}"/>
              </a:ext>
            </a:extLst>
          </p:cNvPr>
          <p:cNvSpPr txBox="1"/>
          <p:nvPr/>
        </p:nvSpPr>
        <p:spPr>
          <a:xfrm>
            <a:off x="6892104" y="3831813"/>
            <a:ext cx="1259143" cy="4001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 err="1">
                <a:cs typeface="Times New Roman"/>
              </a:rPr>
              <a:t>ProfDept</a:t>
            </a:r>
            <a:endParaRPr lang="en-US" dirty="0" err="1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BF26D1B-C7B4-4BFD-A9BA-B7D1B75CC4C7}"/>
              </a:ext>
            </a:extLst>
          </p:cNvPr>
          <p:cNvCxnSpPr>
            <a:cxnSpLocks/>
          </p:cNvCxnSpPr>
          <p:nvPr/>
        </p:nvCxnSpPr>
        <p:spPr bwMode="auto">
          <a:xfrm flipH="1">
            <a:off x="6692998" y="4257672"/>
            <a:ext cx="772447" cy="105266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711BFF1-3501-459B-8DCF-1EABCC50A323}"/>
              </a:ext>
            </a:extLst>
          </p:cNvPr>
          <p:cNvCxnSpPr>
            <a:cxnSpLocks/>
          </p:cNvCxnSpPr>
          <p:nvPr/>
        </p:nvCxnSpPr>
        <p:spPr bwMode="auto">
          <a:xfrm>
            <a:off x="7539186" y="4248454"/>
            <a:ext cx="647085" cy="106188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0DD6FB-BC48-43C4-9824-19AAA2880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79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9574521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7" name="Rectangle 2">
            <a:extLst>
              <a:ext uri="{FF2B5EF4-FFF2-40B4-BE49-F238E27FC236}">
                <a16:creationId xmlns:a16="http://schemas.microsoft.com/office/drawing/2014/main" id="{443A49AC-7BFD-48C0-8730-E9A145508B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/>
              </a:rPr>
              <a:t>View - Example 2</a:t>
            </a:r>
          </a:p>
        </p:txBody>
      </p:sp>
      <p:sp>
        <p:nvSpPr>
          <p:cNvPr id="56323" name="Text Box 3">
            <a:extLst>
              <a:ext uri="{FF2B5EF4-FFF2-40B4-BE49-F238E27FC236}">
                <a16:creationId xmlns:a16="http://schemas.microsoft.com/office/drawing/2014/main" id="{2596EFA5-9269-4862-9863-75A1883C50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71" y="2739923"/>
            <a:ext cx="8430513" cy="35394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t">
            <a:spAutoFit/>
          </a:bodyPr>
          <a:lstStyle/>
          <a:p>
            <a:pPr>
              <a:defRPr/>
            </a:pPr>
            <a:r>
              <a:rPr lang="en-US" sz="3200" dirty="0">
                <a:latin typeface="Century Gothic"/>
              </a:rPr>
              <a:t>CREATE </a:t>
            </a:r>
            <a:r>
              <a:rPr lang="en-US" sz="3200" dirty="0">
                <a:solidFill>
                  <a:srgbClr val="990033"/>
                </a:solidFill>
                <a:latin typeface="Century Gothic"/>
              </a:rPr>
              <a:t>VIEW</a:t>
            </a:r>
            <a:r>
              <a:rPr lang="en-US" sz="3200" dirty="0">
                <a:latin typeface="Times New Roman"/>
                <a:cs typeface="Times New Roman"/>
              </a:rPr>
              <a:t>  </a:t>
            </a:r>
            <a:r>
              <a:rPr lang="en-US" sz="3200" dirty="0" err="1">
                <a:solidFill>
                  <a:srgbClr val="008000"/>
                </a:solidFill>
                <a:latin typeface="Times New Roman"/>
                <a:cs typeface="Times New Roman"/>
              </a:rPr>
              <a:t>GoodCumGpa</a:t>
            </a:r>
            <a:r>
              <a:rPr lang="en-US" sz="3200" dirty="0">
                <a:latin typeface="Times New Roman"/>
                <a:cs typeface="Times New Roman"/>
              </a:rPr>
              <a:t> (</a:t>
            </a:r>
            <a:r>
              <a:rPr lang="en-US" sz="3200" i="1" dirty="0" err="1">
                <a:latin typeface="Times New Roman"/>
                <a:cs typeface="Times New Roman"/>
              </a:rPr>
              <a:t>StudId</a:t>
            </a:r>
            <a:r>
              <a:rPr lang="en-US" sz="3200" dirty="0">
                <a:latin typeface="Times New Roman"/>
                <a:cs typeface="Times New Roman"/>
              </a:rPr>
              <a:t>, </a:t>
            </a:r>
            <a:r>
              <a:rPr lang="en-US" sz="3200" i="1" dirty="0">
                <a:latin typeface="Times New Roman"/>
                <a:cs typeface="Times New Roman"/>
              </a:rPr>
              <a:t>Cum</a:t>
            </a:r>
            <a:r>
              <a:rPr lang="en-US" sz="3200" dirty="0">
                <a:latin typeface="Times New Roman"/>
                <a:cs typeface="Times New Roman"/>
              </a:rPr>
              <a:t>) </a:t>
            </a:r>
            <a:r>
              <a:rPr lang="en-US" sz="3200" dirty="0">
                <a:solidFill>
                  <a:srgbClr val="990033"/>
                </a:solidFill>
                <a:latin typeface="Century Gothic"/>
              </a:rPr>
              <a:t>AS</a:t>
            </a:r>
          </a:p>
          <a:p>
            <a:pPr>
              <a:defRPr/>
            </a:pPr>
            <a:r>
              <a:rPr lang="en-US" sz="3200" dirty="0">
                <a:latin typeface="Times New Roman"/>
                <a:cs typeface="Times New Roman"/>
              </a:rPr>
              <a:t> </a:t>
            </a:r>
            <a:r>
              <a:rPr lang="en-US" sz="3200" dirty="0">
                <a:latin typeface="Century Gothic"/>
              </a:rPr>
              <a:t>SELECT  *</a:t>
            </a:r>
            <a:endParaRPr lang="en-US" sz="3200" i="1" dirty="0">
              <a:cs typeface="Times New Roman"/>
            </a:endParaRPr>
          </a:p>
          <a:p>
            <a:pPr>
              <a:defRPr/>
            </a:pPr>
            <a:r>
              <a:rPr lang="en-US" sz="3200" dirty="0">
                <a:latin typeface="Times New Roman"/>
                <a:cs typeface="Times New Roman"/>
              </a:rPr>
              <a:t> </a:t>
            </a:r>
            <a:r>
              <a:rPr lang="en-US" sz="3200" dirty="0">
                <a:latin typeface="Century Gothic"/>
              </a:rPr>
              <a:t>FROM</a:t>
            </a:r>
            <a:r>
              <a:rPr lang="en-US" sz="3200" dirty="0">
                <a:latin typeface="Times New Roman"/>
                <a:cs typeface="Times New Roman"/>
              </a:rPr>
              <a:t> </a:t>
            </a:r>
            <a:r>
              <a:rPr lang="en-US" sz="3200" dirty="0" err="1">
                <a:effectLst>
                  <a:outerShdw blurRad="38100" dist="38100" dir="2700000" algn="tl">
                    <a:srgbClr val="C0C0C0"/>
                  </a:outerShdw>
                </a:effectLst>
                <a:latin typeface="Times New Roman"/>
                <a:cs typeface="Times New Roman"/>
              </a:rPr>
              <a:t>CumGpa</a:t>
            </a:r>
            <a:r>
              <a:rPr lang="en-US" sz="3200" dirty="0">
                <a:effectLst>
                  <a:outerShdw blurRad="38100" dist="38100" dir="2700000" algn="tl">
                    <a:srgbClr val="C0C0C0"/>
                  </a:outerShdw>
                </a:effectLst>
                <a:latin typeface="Times New Roman"/>
                <a:cs typeface="Times New Roman"/>
              </a:rPr>
              <a:t> C</a:t>
            </a:r>
            <a:endParaRPr lang="en-US" dirty="0">
              <a:cs typeface="Times New Roman"/>
            </a:endParaRPr>
          </a:p>
          <a:p>
            <a:pPr>
              <a:defRPr/>
            </a:pPr>
            <a:r>
              <a:rPr lang="en-US" sz="3200" dirty="0">
                <a:latin typeface="Times New Roman"/>
                <a:cs typeface="Times New Roman"/>
              </a:rPr>
              <a:t> WHERE </a:t>
            </a:r>
            <a:r>
              <a:rPr lang="en-US" sz="3200" dirty="0" err="1">
                <a:latin typeface="Times New Roman"/>
                <a:cs typeface="Times New Roman"/>
              </a:rPr>
              <a:t>c.cum</a:t>
            </a:r>
            <a:r>
              <a:rPr lang="en-US" sz="3200" dirty="0">
                <a:latin typeface="Times New Roman"/>
                <a:cs typeface="Times New Roman"/>
              </a:rPr>
              <a:t> &gt; ( </a:t>
            </a:r>
            <a:r>
              <a:rPr lang="en-US" sz="3200" dirty="0">
                <a:solidFill>
                  <a:srgbClr val="FF0000"/>
                </a:solidFill>
                <a:latin typeface="Times New Roman"/>
                <a:cs typeface="Times New Roman"/>
              </a:rPr>
              <a:t>SELECT AVG(Cum) </a:t>
            </a:r>
          </a:p>
          <a:p>
            <a:pPr>
              <a:defRPr/>
            </a:pPr>
            <a:r>
              <a:rPr lang="en-US" sz="3200" dirty="0">
                <a:solidFill>
                  <a:srgbClr val="FF0000"/>
                </a:solidFill>
                <a:latin typeface="Times New Roman"/>
                <a:cs typeface="Times New Roman"/>
              </a:rPr>
              <a:t>                                 </a:t>
            </a:r>
            <a:r>
              <a:rPr lang="en-US" sz="3200" dirty="0" err="1">
                <a:solidFill>
                  <a:srgbClr val="FF0000"/>
                </a:solidFill>
                <a:latin typeface="Times New Roman"/>
                <a:cs typeface="Times New Roman"/>
              </a:rPr>
              <a:t>CumGpa</a:t>
            </a:r>
          </a:p>
          <a:p>
            <a:pPr>
              <a:defRPr/>
            </a:pPr>
            <a:r>
              <a:rPr lang="en-US" sz="3200" dirty="0">
                <a:latin typeface="Times New Roman"/>
                <a:cs typeface="Times New Roman"/>
              </a:rPr>
              <a:t>             )</a:t>
            </a:r>
          </a:p>
          <a:p>
            <a:pPr>
              <a:defRPr/>
            </a:pPr>
            <a:r>
              <a:rPr lang="en-US" sz="3200" dirty="0">
                <a:latin typeface="Times New Roman"/>
                <a:cs typeface="Times New Roman"/>
              </a:rPr>
              <a:t>ORDER BY Cum</a:t>
            </a:r>
          </a:p>
        </p:txBody>
      </p:sp>
      <p:sp>
        <p:nvSpPr>
          <p:cNvPr id="56324" name="Text Box 4">
            <a:extLst>
              <a:ext uri="{FF2B5EF4-FFF2-40B4-BE49-F238E27FC236}">
                <a16:creationId xmlns:a16="http://schemas.microsoft.com/office/drawing/2014/main" id="{26209A75-1288-4F8C-A1ED-5F0494A5E2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6803" y="1684798"/>
            <a:ext cx="7047014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dirty="0">
                <a:latin typeface="Times New Roman"/>
                <a:ea typeface="新細明體"/>
                <a:cs typeface="Times New Roman"/>
              </a:rPr>
              <a:t>Create a view </a:t>
            </a:r>
            <a:r>
              <a:rPr lang="en-US" altLang="zh-TW" sz="2400" dirty="0" err="1">
                <a:latin typeface="Times New Roman"/>
                <a:ea typeface="新細明體"/>
                <a:cs typeface="Times New Roman"/>
              </a:rPr>
              <a:t>GreatCumGpa</a:t>
            </a:r>
            <a:r>
              <a:rPr lang="en-US" altLang="zh-TW" sz="2400" dirty="0">
                <a:latin typeface="Times New Roman"/>
                <a:ea typeface="新細明體"/>
                <a:cs typeface="Times New Roman"/>
              </a:rPr>
              <a:t> for those students whose GPA is better than average.</a:t>
            </a:r>
            <a:endParaRPr lang="en-US" altLang="zh-TW" sz="24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D3AE25-12D5-49F2-B54B-83A0F0EB6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80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8047894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7" name="Rectangle 2">
            <a:extLst>
              <a:ext uri="{FF2B5EF4-FFF2-40B4-BE49-F238E27FC236}">
                <a16:creationId xmlns:a16="http://schemas.microsoft.com/office/drawing/2014/main" id="{443A49AC-7BFD-48C0-8730-E9A145508B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/>
              </a:rPr>
              <a:t>View – Example 3</a:t>
            </a:r>
            <a:endParaRPr lang="en-US" dirty="0"/>
          </a:p>
        </p:txBody>
      </p:sp>
      <p:sp>
        <p:nvSpPr>
          <p:cNvPr id="56323" name="Text Box 3">
            <a:extLst>
              <a:ext uri="{FF2B5EF4-FFF2-40B4-BE49-F238E27FC236}">
                <a16:creationId xmlns:a16="http://schemas.microsoft.com/office/drawing/2014/main" id="{2596EFA5-9269-4862-9863-75A1883C50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974850"/>
            <a:ext cx="8409674" cy="3046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t">
            <a:spAutoFit/>
          </a:bodyPr>
          <a:lstStyle/>
          <a:p>
            <a:pPr>
              <a:defRPr/>
            </a:pPr>
            <a:r>
              <a:rPr lang="en-US" sz="3200" dirty="0">
                <a:latin typeface="Century Gothic"/>
              </a:rPr>
              <a:t>CREATE </a:t>
            </a:r>
            <a:r>
              <a:rPr lang="en-US" sz="3200" dirty="0">
                <a:solidFill>
                  <a:srgbClr val="990033"/>
                </a:solidFill>
                <a:latin typeface="Century Gothic"/>
              </a:rPr>
              <a:t>VIEW</a:t>
            </a:r>
            <a:r>
              <a:rPr lang="en-US" sz="3200" dirty="0">
                <a:latin typeface="Times New Roman"/>
                <a:cs typeface="Times New Roman"/>
              </a:rPr>
              <a:t>  </a:t>
            </a:r>
            <a:r>
              <a:rPr lang="en-US" sz="3200" dirty="0" err="1">
                <a:solidFill>
                  <a:srgbClr val="008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/>
                <a:cs typeface="Times New Roman"/>
              </a:rPr>
              <a:t>NameCumGpa</a:t>
            </a:r>
            <a:r>
              <a:rPr lang="en-US" sz="3200" dirty="0">
                <a:latin typeface="Times New Roman"/>
                <a:cs typeface="Times New Roman"/>
              </a:rPr>
              <a:t> (Name, </a:t>
            </a:r>
            <a:r>
              <a:rPr lang="en-US" sz="3200" i="1" dirty="0">
                <a:latin typeface="Times New Roman"/>
                <a:cs typeface="Times New Roman"/>
              </a:rPr>
              <a:t>Cum</a:t>
            </a:r>
            <a:r>
              <a:rPr lang="en-US" sz="3200" dirty="0">
                <a:latin typeface="Times New Roman"/>
                <a:cs typeface="Times New Roman"/>
              </a:rPr>
              <a:t>) </a:t>
            </a:r>
            <a:r>
              <a:rPr lang="en-US" sz="3200" dirty="0">
                <a:solidFill>
                  <a:srgbClr val="990033"/>
                </a:solidFill>
                <a:latin typeface="Century Gothic"/>
              </a:rPr>
              <a:t>AS</a:t>
            </a:r>
          </a:p>
          <a:p>
            <a:pPr>
              <a:defRPr/>
            </a:pPr>
            <a:r>
              <a:rPr lang="en-US" sz="3200" dirty="0">
                <a:latin typeface="Times New Roman"/>
                <a:cs typeface="Times New Roman"/>
              </a:rPr>
              <a:t> SELECT  </a:t>
            </a:r>
            <a:r>
              <a:rPr lang="en-US" sz="3200" dirty="0" err="1">
                <a:latin typeface="Times New Roman"/>
                <a:cs typeface="Times New Roman"/>
              </a:rPr>
              <a:t>S.</a:t>
            </a:r>
            <a:r>
              <a:rPr lang="en-US" sz="3200" i="1" dirty="0" err="1">
                <a:latin typeface="Times New Roman"/>
                <a:cs typeface="Times New Roman"/>
              </a:rPr>
              <a:t>Name</a:t>
            </a:r>
            <a:r>
              <a:rPr lang="en-US" sz="3200" dirty="0">
                <a:latin typeface="Times New Roman"/>
                <a:cs typeface="Times New Roman"/>
              </a:rPr>
              <a:t>, </a:t>
            </a:r>
            <a:r>
              <a:rPr lang="en-US" sz="3200" dirty="0" err="1">
                <a:latin typeface="Times New Roman"/>
                <a:cs typeface="Times New Roman"/>
              </a:rPr>
              <a:t>C.</a:t>
            </a:r>
            <a:r>
              <a:rPr lang="en-US" sz="3200" i="1" dirty="0" err="1">
                <a:latin typeface="Times New Roman"/>
                <a:cs typeface="Times New Roman"/>
              </a:rPr>
              <a:t>Cum</a:t>
            </a:r>
            <a:endParaRPr lang="en-US" sz="3200" dirty="0" err="1">
              <a:cs typeface="Times New Roman"/>
            </a:endParaRPr>
          </a:p>
          <a:p>
            <a:pPr>
              <a:defRPr/>
            </a:pPr>
            <a:r>
              <a:rPr lang="en-US" sz="3200" dirty="0">
                <a:latin typeface="Times New Roman"/>
                <a:cs typeface="Times New Roman"/>
              </a:rPr>
              <a:t>FROM  </a:t>
            </a:r>
            <a:r>
              <a:rPr lang="en-US" sz="3200" dirty="0" err="1">
                <a:solidFill>
                  <a:srgbClr val="008000"/>
                </a:solidFill>
                <a:latin typeface="Times New Roman"/>
                <a:cs typeface="Times New Roman"/>
              </a:rPr>
              <a:t>CumGpa</a:t>
            </a:r>
            <a:r>
              <a:rPr lang="en-US" sz="3200" dirty="0">
                <a:latin typeface="Times New Roman"/>
                <a:cs typeface="Times New Roman"/>
              </a:rPr>
              <a:t> C,  Student S</a:t>
            </a:r>
            <a:endParaRPr lang="en-US" sz="3200" dirty="0">
              <a:cs typeface="Times New Roman"/>
            </a:endParaRPr>
          </a:p>
          <a:p>
            <a:pPr>
              <a:defRPr/>
            </a:pPr>
            <a:r>
              <a:rPr lang="en-US" sz="3200" dirty="0">
                <a:latin typeface="Times New Roman"/>
                <a:cs typeface="Times New Roman"/>
              </a:rPr>
              <a:t>WHERE  </a:t>
            </a:r>
            <a:r>
              <a:rPr lang="en-US" sz="3200" dirty="0" err="1">
                <a:latin typeface="Times New Roman"/>
                <a:cs typeface="Times New Roman"/>
              </a:rPr>
              <a:t>C.</a:t>
            </a:r>
            <a:r>
              <a:rPr lang="en-US" sz="3200" i="1" dirty="0" err="1">
                <a:latin typeface="Times New Roman"/>
                <a:cs typeface="Times New Roman"/>
              </a:rPr>
              <a:t>StudId</a:t>
            </a:r>
            <a:r>
              <a:rPr lang="en-US" sz="3200" dirty="0">
                <a:latin typeface="Times New Roman"/>
                <a:cs typeface="Times New Roman"/>
              </a:rPr>
              <a:t> = </a:t>
            </a:r>
            <a:r>
              <a:rPr lang="en-US" sz="3200" dirty="0" err="1">
                <a:latin typeface="Times New Roman"/>
                <a:cs typeface="Times New Roman"/>
              </a:rPr>
              <a:t>S.</a:t>
            </a:r>
            <a:r>
              <a:rPr lang="en-US" sz="3200" i="1" dirty="0" err="1">
                <a:latin typeface="Times New Roman"/>
                <a:cs typeface="Times New Roman"/>
              </a:rPr>
              <a:t>StudId</a:t>
            </a:r>
            <a:r>
              <a:rPr lang="en-US" sz="3200" dirty="0">
                <a:latin typeface="Times New Roman"/>
                <a:cs typeface="Times New Roman"/>
              </a:rPr>
              <a:t> AND </a:t>
            </a:r>
            <a:r>
              <a:rPr lang="en-US" sz="3200" dirty="0" err="1">
                <a:latin typeface="Times New Roman"/>
                <a:cs typeface="Times New Roman"/>
              </a:rPr>
              <a:t>C.</a:t>
            </a:r>
            <a:r>
              <a:rPr lang="en-US" sz="3200" i="1" dirty="0" err="1">
                <a:latin typeface="Times New Roman"/>
                <a:cs typeface="Times New Roman"/>
              </a:rPr>
              <a:t>Cum</a:t>
            </a:r>
            <a:r>
              <a:rPr lang="en-US" sz="3200" dirty="0">
                <a:latin typeface="Times New Roman"/>
                <a:cs typeface="Times New Roman"/>
              </a:rPr>
              <a:t> &gt; 3.5</a:t>
            </a:r>
          </a:p>
          <a:p>
            <a:pPr>
              <a:defRPr/>
            </a:pPr>
            <a:endParaRPr lang="en-US" sz="3200" dirty="0">
              <a:cs typeface="Times New Roman"/>
            </a:endParaRPr>
          </a:p>
          <a:p>
            <a:pPr>
              <a:defRPr/>
            </a:pPr>
            <a:r>
              <a:rPr lang="en-US" sz="3200" dirty="0">
                <a:latin typeface="Times New Roman"/>
                <a:cs typeface="Times New Roman"/>
              </a:rPr>
              <a:t>SELECT * FROM </a:t>
            </a:r>
            <a:r>
              <a:rPr lang="en-US" sz="3200" dirty="0" err="1">
                <a:latin typeface="Times New Roman"/>
                <a:cs typeface="Times New Roman"/>
              </a:rPr>
              <a:t>NameCumGpa</a:t>
            </a:r>
            <a:r>
              <a:rPr lang="en-US" sz="3200" dirty="0">
                <a:latin typeface="Times New Roman"/>
                <a:cs typeface="Times New Roman"/>
              </a:rPr>
              <a:t>;</a:t>
            </a:r>
          </a:p>
        </p:txBody>
      </p:sp>
      <p:sp>
        <p:nvSpPr>
          <p:cNvPr id="56324" name="Text Box 4">
            <a:extLst>
              <a:ext uri="{FF2B5EF4-FFF2-40B4-BE49-F238E27FC236}">
                <a16:creationId xmlns:a16="http://schemas.microsoft.com/office/drawing/2014/main" id="{26209A75-1288-4F8C-A1ED-5F0494A5E2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4413250"/>
            <a:ext cx="184731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t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en-US" altLang="zh-TW" sz="320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3F2BF6-75D7-4427-96DC-6A37F518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81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1541807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1" name="Rectangle 2">
            <a:extLst>
              <a:ext uri="{FF2B5EF4-FFF2-40B4-BE49-F238E27FC236}">
                <a16:creationId xmlns:a16="http://schemas.microsoft.com/office/drawing/2014/main" id="{C1CEF117-D0AF-4992-9009-134F7145BC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457200"/>
            <a:ext cx="7772400" cy="762000"/>
          </a:xfrm>
        </p:spPr>
        <p:txBody>
          <a:bodyPr/>
          <a:lstStyle/>
          <a:p>
            <a:r>
              <a:rPr lang="en-US" altLang="zh-TW" dirty="0">
                <a:ea typeface="新細明體"/>
              </a:rPr>
              <a:t>View – Example 4</a:t>
            </a:r>
          </a:p>
        </p:txBody>
      </p:sp>
      <p:sp>
        <p:nvSpPr>
          <p:cNvPr id="65540" name="Text Box 4">
            <a:extLst>
              <a:ext uri="{FF2B5EF4-FFF2-40B4-BE49-F238E27FC236}">
                <a16:creationId xmlns:a16="http://schemas.microsoft.com/office/drawing/2014/main" id="{260B3AA8-4F02-4F7D-B364-C5474883FC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342" y="1473610"/>
            <a:ext cx="8031879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t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dirty="0">
                <a:latin typeface="Century Gothic"/>
                <a:ea typeface="新細明體"/>
              </a:rPr>
              <a:t>CREATE VIEW</a:t>
            </a:r>
            <a:r>
              <a:rPr lang="en-US" altLang="zh-TW" sz="2400" dirty="0">
                <a:latin typeface="Times New Roman"/>
                <a:ea typeface="新細明體"/>
                <a:cs typeface="Times New Roman"/>
              </a:rPr>
              <a:t>   </a:t>
            </a:r>
            <a:r>
              <a:rPr lang="en-US" altLang="zh-TW" sz="2400" dirty="0" err="1">
                <a:effectLst>
                  <a:outerShdw blurRad="38100" dist="38100" dir="2700000" algn="tl">
                    <a:srgbClr val="C0C0C0"/>
                  </a:outerShdw>
                </a:effectLst>
                <a:latin typeface="Times New Roman"/>
                <a:ea typeface="新細明體"/>
                <a:cs typeface="Times New Roman"/>
              </a:rPr>
              <a:t>CsReg</a:t>
            </a:r>
            <a:r>
              <a:rPr lang="en-US" altLang="zh-TW" sz="2400" dirty="0">
                <a:latin typeface="Times New Roman"/>
                <a:ea typeface="新細明體"/>
                <a:cs typeface="Times New Roman"/>
              </a:rPr>
              <a:t> (</a:t>
            </a:r>
            <a:r>
              <a:rPr lang="en-US" altLang="zh-TW" sz="2400" i="1" dirty="0" err="1">
                <a:latin typeface="Times New Roman"/>
                <a:ea typeface="新細明體"/>
                <a:cs typeface="Times New Roman"/>
              </a:rPr>
              <a:t>StudId</a:t>
            </a:r>
            <a:r>
              <a:rPr lang="en-US" altLang="zh-TW" sz="2400" i="1" dirty="0">
                <a:latin typeface="Times New Roman"/>
                <a:ea typeface="新細明體"/>
                <a:cs typeface="Times New Roman"/>
              </a:rPr>
              <a:t>, </a:t>
            </a:r>
            <a:r>
              <a:rPr lang="en-US" altLang="zh-TW" sz="2400" i="1" dirty="0" err="1">
                <a:latin typeface="Times New Roman"/>
                <a:ea typeface="新細明體"/>
                <a:cs typeface="Times New Roman"/>
              </a:rPr>
              <a:t>CrsCode</a:t>
            </a:r>
            <a:r>
              <a:rPr lang="en-US" altLang="zh-TW" sz="2400" i="1" dirty="0">
                <a:latin typeface="Times New Roman"/>
                <a:ea typeface="新細明體"/>
                <a:cs typeface="Times New Roman"/>
              </a:rPr>
              <a:t>, Semester</a:t>
            </a:r>
            <a:r>
              <a:rPr lang="en-US" altLang="zh-TW" sz="2400" dirty="0">
                <a:latin typeface="Times New Roman"/>
                <a:ea typeface="新細明體"/>
                <a:cs typeface="Times New Roman"/>
              </a:rPr>
              <a:t>) </a:t>
            </a:r>
            <a:r>
              <a:rPr lang="en-US" altLang="zh-TW" sz="2400" dirty="0">
                <a:latin typeface="Century Gothic"/>
                <a:ea typeface="新細明體"/>
              </a:rPr>
              <a:t>AS</a:t>
            </a:r>
          </a:p>
          <a:p>
            <a:r>
              <a:rPr lang="en-US" altLang="zh-TW" sz="2400" dirty="0">
                <a:latin typeface="Century Gothic"/>
                <a:ea typeface="新細明體"/>
              </a:rPr>
              <a:t>SELECT</a:t>
            </a:r>
            <a:r>
              <a:rPr lang="en-US" altLang="zh-TW" sz="2400" dirty="0">
                <a:latin typeface="Times New Roman"/>
                <a:ea typeface="新細明體"/>
                <a:cs typeface="Times New Roman"/>
              </a:rPr>
              <a:t>               </a:t>
            </a:r>
            <a:r>
              <a:rPr lang="en-US" altLang="zh-TW" sz="2400" dirty="0" err="1">
                <a:latin typeface="Times New Roman"/>
                <a:ea typeface="新細明體"/>
                <a:cs typeface="Times New Roman"/>
              </a:rPr>
              <a:t>T.</a:t>
            </a:r>
            <a:r>
              <a:rPr lang="en-US" altLang="zh-TW" sz="2400" i="1" dirty="0" err="1">
                <a:latin typeface="Times New Roman"/>
                <a:ea typeface="新細明體"/>
                <a:cs typeface="Times New Roman"/>
              </a:rPr>
              <a:t>StudId</a:t>
            </a:r>
            <a:r>
              <a:rPr lang="en-US" altLang="zh-TW" sz="2400" dirty="0">
                <a:latin typeface="Times New Roman"/>
                <a:ea typeface="新細明體"/>
                <a:cs typeface="Times New Roman"/>
              </a:rPr>
              <a:t>, T. </a:t>
            </a:r>
            <a:r>
              <a:rPr lang="en-US" altLang="zh-TW" sz="2400" i="1" dirty="0" err="1">
                <a:latin typeface="Times New Roman"/>
                <a:ea typeface="新細明體"/>
                <a:cs typeface="Times New Roman"/>
              </a:rPr>
              <a:t>CrsCode</a:t>
            </a:r>
            <a:r>
              <a:rPr lang="en-US" altLang="zh-TW" sz="2400" dirty="0">
                <a:latin typeface="Times New Roman"/>
                <a:ea typeface="新細明體"/>
                <a:cs typeface="Times New Roman"/>
              </a:rPr>
              <a:t>, </a:t>
            </a:r>
            <a:r>
              <a:rPr lang="en-US" altLang="zh-TW" sz="2400" dirty="0" err="1">
                <a:latin typeface="Times New Roman"/>
                <a:ea typeface="新細明體"/>
                <a:cs typeface="Times New Roman"/>
              </a:rPr>
              <a:t>T.</a:t>
            </a:r>
            <a:r>
              <a:rPr lang="en-US" altLang="zh-TW" sz="2400" i="1" dirty="0" err="1">
                <a:latin typeface="Times New Roman"/>
                <a:ea typeface="新細明體"/>
                <a:cs typeface="Times New Roman"/>
              </a:rPr>
              <a:t>Semester</a:t>
            </a:r>
          </a:p>
          <a:p>
            <a:r>
              <a:rPr lang="en-US" altLang="zh-TW" sz="2400" dirty="0">
                <a:latin typeface="Century Gothic"/>
                <a:ea typeface="新細明體"/>
              </a:rPr>
              <a:t>FROM               </a:t>
            </a:r>
            <a:r>
              <a:rPr lang="en-US" altLang="zh-TW" sz="2400" dirty="0">
                <a:effectLst>
                  <a:outerShdw blurRad="38100" dist="38100" dir="2700000" algn="tl">
                    <a:srgbClr val="C0C0C0"/>
                  </a:outerShdw>
                </a:effectLst>
                <a:latin typeface="Times New Roman"/>
                <a:ea typeface="新細明體"/>
                <a:cs typeface="Times New Roman"/>
              </a:rPr>
              <a:t>Transcript</a:t>
            </a:r>
            <a:r>
              <a:rPr lang="en-US" altLang="zh-TW" sz="2400" dirty="0">
                <a:latin typeface="Times New Roman"/>
                <a:ea typeface="新細明體"/>
                <a:cs typeface="Times New Roman"/>
              </a:rPr>
              <a:t> T</a:t>
            </a:r>
          </a:p>
          <a:p>
            <a:r>
              <a:rPr lang="en-US" altLang="zh-TW" sz="2400" dirty="0">
                <a:latin typeface="Century Gothic"/>
                <a:ea typeface="新細明體"/>
              </a:rPr>
              <a:t>WHERE</a:t>
            </a:r>
            <a:r>
              <a:rPr lang="en-US" altLang="zh-TW" sz="2400" dirty="0">
                <a:latin typeface="Times New Roman"/>
                <a:ea typeface="新細明體"/>
                <a:cs typeface="Times New Roman"/>
              </a:rPr>
              <a:t>      </a:t>
            </a:r>
            <a:r>
              <a:rPr lang="en-US" altLang="zh-TW" sz="2400" dirty="0" err="1">
                <a:latin typeface="Times New Roman"/>
                <a:ea typeface="新細明體"/>
                <a:cs typeface="Times New Roman"/>
              </a:rPr>
              <a:t>T.</a:t>
            </a:r>
            <a:r>
              <a:rPr lang="en-US" altLang="zh-TW" sz="2400" i="1" dirty="0" err="1">
                <a:latin typeface="Times New Roman"/>
                <a:ea typeface="新細明體"/>
                <a:cs typeface="Times New Roman"/>
              </a:rPr>
              <a:t>CrsCode</a:t>
            </a:r>
            <a:r>
              <a:rPr lang="en-US" altLang="zh-TW" sz="2400" dirty="0">
                <a:latin typeface="Times New Roman"/>
                <a:ea typeface="新細明體"/>
                <a:cs typeface="Times New Roman"/>
              </a:rPr>
              <a:t> </a:t>
            </a:r>
            <a:r>
              <a:rPr lang="en-US" altLang="zh-TW" sz="2400" dirty="0">
                <a:latin typeface="Century Gothic"/>
                <a:ea typeface="新細明體"/>
              </a:rPr>
              <a:t>LIKE</a:t>
            </a:r>
            <a:r>
              <a:rPr lang="en-US" altLang="zh-TW" sz="2400" dirty="0">
                <a:latin typeface="Times New Roman"/>
                <a:ea typeface="新細明體"/>
                <a:cs typeface="Times New Roman"/>
              </a:rPr>
              <a:t> ‘CS%’  </a:t>
            </a:r>
            <a:r>
              <a:rPr lang="en-US" altLang="zh-TW" sz="2400" dirty="0">
                <a:latin typeface="Century Gothic"/>
                <a:ea typeface="新細明體"/>
              </a:rPr>
              <a:t>AND</a:t>
            </a:r>
            <a:r>
              <a:rPr lang="en-US" altLang="zh-TW" sz="2400" dirty="0">
                <a:latin typeface="Times New Roman"/>
                <a:ea typeface="新細明體"/>
                <a:cs typeface="Times New Roman"/>
              </a:rPr>
              <a:t>  </a:t>
            </a:r>
            <a:r>
              <a:rPr lang="en-US" altLang="zh-TW" sz="2400" dirty="0" err="1">
                <a:latin typeface="Times New Roman"/>
                <a:ea typeface="新細明體"/>
                <a:cs typeface="Times New Roman"/>
              </a:rPr>
              <a:t>T.</a:t>
            </a:r>
            <a:r>
              <a:rPr lang="en-US" altLang="zh-TW" sz="2400" i="1" dirty="0" err="1">
                <a:latin typeface="Times New Roman"/>
                <a:ea typeface="新細明體"/>
                <a:cs typeface="Times New Roman"/>
              </a:rPr>
              <a:t>Semester</a:t>
            </a:r>
            <a:r>
              <a:rPr lang="en-US" altLang="zh-TW" sz="2400" dirty="0">
                <a:latin typeface="Times New Roman"/>
                <a:ea typeface="新細明體"/>
                <a:cs typeface="Times New Roman"/>
              </a:rPr>
              <a:t>=‘S2000’</a:t>
            </a:r>
          </a:p>
          <a:p>
            <a:endParaRPr lang="en-US" altLang="zh-TW" sz="2400" dirty="0">
              <a:ea typeface="新細明體" panose="02020500000000000000" pitchFamily="18" charset="-120"/>
              <a:cs typeface="Times New Roman"/>
            </a:endParaRPr>
          </a:p>
          <a:p>
            <a:endParaRPr lang="en-US" altLang="zh-TW" sz="2400" dirty="0">
              <a:ea typeface="新細明體" panose="02020500000000000000" pitchFamily="18" charset="-120"/>
              <a:cs typeface="Times New Roman"/>
            </a:endParaRPr>
          </a:p>
          <a:p>
            <a:r>
              <a:rPr lang="en-US" altLang="zh-TW" sz="2400" dirty="0">
                <a:latin typeface="Times New Roman"/>
                <a:ea typeface="新細明體"/>
                <a:cs typeface="Times New Roman"/>
              </a:rPr>
              <a:t>SELECT * FROM </a:t>
            </a:r>
            <a:r>
              <a:rPr lang="en-US" altLang="zh-TW" sz="2400" dirty="0" err="1">
                <a:latin typeface="Times New Roman"/>
                <a:ea typeface="新細明體"/>
                <a:cs typeface="Times New Roman"/>
              </a:rPr>
              <a:t>CsReg</a:t>
            </a:r>
            <a:r>
              <a:rPr lang="en-US" altLang="zh-TW" sz="2400" dirty="0">
                <a:latin typeface="Times New Roman"/>
                <a:ea typeface="新細明體"/>
                <a:cs typeface="Times New Roman"/>
              </a:rPr>
              <a:t>;</a:t>
            </a:r>
            <a:endParaRPr lang="en-US" altLang="zh-TW" sz="2400" dirty="0">
              <a:ea typeface="新細明體" panose="02020500000000000000" pitchFamily="18" charset="-120"/>
              <a:cs typeface="Times New Roman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2C1BC6-1B9F-4FD4-AA69-8510C241A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82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11484775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3" name="Rectangle 2">
            <a:extLst>
              <a:ext uri="{FF2B5EF4-FFF2-40B4-BE49-F238E27FC236}">
                <a16:creationId xmlns:a16="http://schemas.microsoft.com/office/drawing/2014/main" id="{72B9E71B-41EC-41D3-A92E-C794A547AB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/>
              </a:rPr>
              <a:t>View – Example 5</a:t>
            </a:r>
          </a:p>
        </p:txBody>
      </p:sp>
      <p:sp>
        <p:nvSpPr>
          <p:cNvPr id="68612" name="Text Box 4">
            <a:extLst>
              <a:ext uri="{FF2B5EF4-FFF2-40B4-BE49-F238E27FC236}">
                <a16:creationId xmlns:a16="http://schemas.microsoft.com/office/drawing/2014/main" id="{7052B793-F517-4968-B911-F29A2A002E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4663" y="2438247"/>
            <a:ext cx="7640233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t">
            <a:spAutoFit/>
          </a:bodyPr>
          <a:lstStyle/>
          <a:p>
            <a:pPr>
              <a:defRPr/>
            </a:pPr>
            <a:r>
              <a:rPr lang="en-US" sz="2800" dirty="0">
                <a:latin typeface="Century Gothic"/>
              </a:rPr>
              <a:t>CREATE VIEW</a:t>
            </a:r>
            <a:r>
              <a:rPr lang="en-US" sz="2800" dirty="0">
                <a:latin typeface="Times New Roman"/>
                <a:cs typeface="Times New Roman"/>
              </a:rPr>
              <a:t>   </a:t>
            </a:r>
            <a:r>
              <a:rPr lang="en-US" sz="2800" dirty="0" err="1">
                <a:effectLst>
                  <a:outerShdw blurRad="38100" dist="38100" dir="2700000" algn="tl">
                    <a:srgbClr val="C0C0C0"/>
                  </a:outerShdw>
                </a:effectLst>
                <a:latin typeface="Times New Roman"/>
                <a:cs typeface="Times New Roman"/>
              </a:rPr>
              <a:t>ProfDept</a:t>
            </a:r>
            <a:r>
              <a:rPr lang="en-US" sz="2800" dirty="0">
                <a:latin typeface="Times New Roman"/>
                <a:cs typeface="Times New Roman"/>
              </a:rPr>
              <a:t> (</a:t>
            </a:r>
            <a:r>
              <a:rPr lang="en-US" sz="2800" i="1" dirty="0" err="1">
                <a:latin typeface="Times New Roman"/>
                <a:cs typeface="Times New Roman"/>
              </a:rPr>
              <a:t>PrName</a:t>
            </a:r>
            <a:r>
              <a:rPr lang="en-US" sz="2800" i="1" dirty="0">
                <a:latin typeface="Times New Roman"/>
                <a:cs typeface="Times New Roman"/>
              </a:rPr>
              <a:t>, </a:t>
            </a:r>
            <a:r>
              <a:rPr lang="en-US" sz="2800" i="1" dirty="0" err="1">
                <a:latin typeface="Times New Roman"/>
                <a:cs typeface="Times New Roman"/>
              </a:rPr>
              <a:t>DeName</a:t>
            </a:r>
            <a:r>
              <a:rPr lang="en-US" sz="2800" dirty="0">
                <a:latin typeface="Times New Roman"/>
                <a:cs typeface="Times New Roman"/>
              </a:rPr>
              <a:t>)  </a:t>
            </a:r>
            <a:r>
              <a:rPr lang="en-US" sz="2800" dirty="0">
                <a:latin typeface="Century Gothic"/>
              </a:rPr>
              <a:t>AS</a:t>
            </a:r>
          </a:p>
          <a:p>
            <a:pPr>
              <a:defRPr/>
            </a:pPr>
            <a:r>
              <a:rPr lang="en-US" sz="2800" dirty="0">
                <a:latin typeface="Century Gothic"/>
              </a:rPr>
              <a:t>SELECT</a:t>
            </a:r>
            <a:r>
              <a:rPr lang="en-US" sz="2800" dirty="0">
                <a:latin typeface="Times New Roman"/>
                <a:cs typeface="Times New Roman"/>
              </a:rPr>
              <a:t>    </a:t>
            </a:r>
            <a:r>
              <a:rPr lang="en-US" sz="2800" dirty="0" err="1">
                <a:latin typeface="Times New Roman"/>
                <a:cs typeface="Times New Roman"/>
              </a:rPr>
              <a:t>P.</a:t>
            </a:r>
            <a:r>
              <a:rPr lang="en-US" sz="2800" i="1" dirty="0" err="1">
                <a:latin typeface="Times New Roman"/>
                <a:cs typeface="Times New Roman"/>
              </a:rPr>
              <a:t>Name</a:t>
            </a:r>
            <a:r>
              <a:rPr lang="en-US" sz="2800" dirty="0">
                <a:latin typeface="Times New Roman"/>
                <a:cs typeface="Times New Roman"/>
              </a:rPr>
              <a:t>, </a:t>
            </a:r>
            <a:r>
              <a:rPr lang="en-US" sz="2800" dirty="0" err="1">
                <a:latin typeface="Times New Roman"/>
                <a:cs typeface="Times New Roman"/>
              </a:rPr>
              <a:t>D.</a:t>
            </a:r>
            <a:r>
              <a:rPr lang="en-US" sz="2800" i="1" dirty="0" err="1">
                <a:latin typeface="Times New Roman"/>
                <a:cs typeface="Times New Roman"/>
              </a:rPr>
              <a:t>Name</a:t>
            </a:r>
          </a:p>
          <a:p>
            <a:pPr>
              <a:defRPr/>
            </a:pPr>
            <a:r>
              <a:rPr lang="en-US" sz="2800" dirty="0">
                <a:latin typeface="Century Gothic"/>
              </a:rPr>
              <a:t>FROM </a:t>
            </a:r>
            <a:r>
              <a:rPr lang="en-US" sz="2800" dirty="0">
                <a:latin typeface="Times New Roman"/>
                <a:cs typeface="Times New Roman"/>
              </a:rPr>
              <a:t>    </a:t>
            </a:r>
            <a:r>
              <a:rPr lang="en-US" sz="2800" dirty="0">
                <a:effectLst>
                  <a:outerShdw blurRad="38100" dist="38100" dir="2700000" algn="tl">
                    <a:srgbClr val="C0C0C0"/>
                  </a:outerShdw>
                </a:effectLst>
                <a:latin typeface="Times New Roman"/>
                <a:cs typeface="Times New Roman"/>
              </a:rPr>
              <a:t>Professor</a:t>
            </a:r>
            <a:r>
              <a:rPr lang="en-US" sz="2800" dirty="0">
                <a:latin typeface="Times New Roman"/>
                <a:cs typeface="Times New Roman"/>
              </a:rPr>
              <a:t> P, </a:t>
            </a:r>
            <a:r>
              <a:rPr lang="en-US" sz="2800" dirty="0">
                <a:effectLst>
                  <a:outerShdw blurRad="38100" dist="38100" dir="2700000" algn="tl">
                    <a:srgbClr val="C0C0C0"/>
                  </a:outerShdw>
                </a:effectLst>
                <a:latin typeface="Times New Roman"/>
                <a:cs typeface="Times New Roman"/>
              </a:rPr>
              <a:t>Department</a:t>
            </a:r>
            <a:r>
              <a:rPr lang="en-US" sz="2800" dirty="0">
                <a:latin typeface="Times New Roman"/>
                <a:cs typeface="Times New Roman"/>
              </a:rPr>
              <a:t> D</a:t>
            </a:r>
          </a:p>
          <a:p>
            <a:pPr>
              <a:defRPr/>
            </a:pPr>
            <a:r>
              <a:rPr lang="en-US" sz="2800" dirty="0">
                <a:latin typeface="Century Gothic"/>
              </a:rPr>
              <a:t>WHERE </a:t>
            </a:r>
            <a:r>
              <a:rPr lang="en-US" sz="2800" dirty="0">
                <a:latin typeface="Times New Roman"/>
                <a:cs typeface="Times New Roman"/>
              </a:rPr>
              <a:t>   </a:t>
            </a:r>
            <a:r>
              <a:rPr lang="en-US" sz="2800" dirty="0" err="1">
                <a:latin typeface="Times New Roman"/>
                <a:cs typeface="Times New Roman"/>
              </a:rPr>
              <a:t>P.</a:t>
            </a:r>
            <a:r>
              <a:rPr lang="en-US" sz="2800" i="1" dirty="0" err="1">
                <a:latin typeface="Times New Roman"/>
                <a:cs typeface="Times New Roman"/>
              </a:rPr>
              <a:t>DeptId</a:t>
            </a:r>
            <a:r>
              <a:rPr lang="en-US" sz="2800" dirty="0">
                <a:latin typeface="Times New Roman"/>
                <a:cs typeface="Times New Roman"/>
              </a:rPr>
              <a:t> = </a:t>
            </a:r>
            <a:r>
              <a:rPr lang="en-US" sz="2800" dirty="0" err="1">
                <a:latin typeface="Times New Roman"/>
                <a:cs typeface="Times New Roman"/>
              </a:rPr>
              <a:t>D.</a:t>
            </a:r>
            <a:r>
              <a:rPr lang="en-US" sz="2800" i="1" dirty="0" err="1">
                <a:latin typeface="Times New Roman"/>
                <a:cs typeface="Times New Roman"/>
              </a:rPr>
              <a:t>DeptId</a:t>
            </a:r>
          </a:p>
          <a:p>
            <a:pPr>
              <a:defRPr/>
            </a:pPr>
            <a:endParaRPr lang="en-US" sz="2800" i="1" dirty="0">
              <a:cs typeface="Times New Roman"/>
            </a:endParaRPr>
          </a:p>
          <a:p>
            <a:pPr>
              <a:defRPr/>
            </a:pPr>
            <a:r>
              <a:rPr lang="en-US" sz="2800" dirty="0">
                <a:latin typeface="Times New Roman"/>
                <a:cs typeface="Times New Roman"/>
              </a:rPr>
              <a:t>SELECT * FROM </a:t>
            </a:r>
            <a:r>
              <a:rPr lang="en-US" sz="2800" dirty="0" err="1">
                <a:latin typeface="Times New Roman"/>
                <a:cs typeface="Times New Roman"/>
              </a:rPr>
              <a:t>ProfDept</a:t>
            </a:r>
            <a:endParaRPr lang="en-US" sz="2800" dirty="0" err="1">
              <a:cs typeface="Times New Roman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7A7B11-0BFA-4500-B2A7-C39D5DFFD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83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2990083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Slide Number Placeholder 4">
            <a:extLst>
              <a:ext uri="{FF2B5EF4-FFF2-40B4-BE49-F238E27FC236}">
                <a16:creationId xmlns:a16="http://schemas.microsoft.com/office/drawing/2014/main" id="{FDCE086A-68C1-4A5D-B33A-7451FD24A551}"/>
              </a:ext>
            </a:extLst>
          </p:cNvPr>
          <p:cNvSpPr txBox="1">
            <a:spLocks noGrp="1"/>
          </p:cNvSpPr>
          <p:nvPr/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r"/>
            <a:fld id="{14E9900C-9A1E-4176-8464-FEFA603D5F77}" type="slidenum">
              <a:rPr lang="en-US" altLang="zh-TW" sz="1400">
                <a:ea typeface="新細明體" panose="02020500000000000000" pitchFamily="18" charset="-120"/>
              </a:rPr>
              <a:pPr algn="r"/>
              <a:t>84</a:t>
            </a:fld>
            <a:endParaRPr lang="en-US" altLang="zh-TW" sz="1400">
              <a:ea typeface="新細明體" panose="02020500000000000000" pitchFamily="18" charset="-120"/>
            </a:endParaRPr>
          </a:p>
        </p:txBody>
      </p:sp>
      <p:sp>
        <p:nvSpPr>
          <p:cNvPr id="63491" name="Rectangle 2">
            <a:extLst>
              <a:ext uri="{FF2B5EF4-FFF2-40B4-BE49-F238E27FC236}">
                <a16:creationId xmlns:a16="http://schemas.microsoft.com/office/drawing/2014/main" id="{EFD0316A-237A-4F61-A837-AC688A249EC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View - Substitution</a:t>
            </a:r>
          </a:p>
        </p:txBody>
      </p:sp>
      <p:sp>
        <p:nvSpPr>
          <p:cNvPr id="56324" name="Text Box 4">
            <a:extLst>
              <a:ext uri="{FF2B5EF4-FFF2-40B4-BE49-F238E27FC236}">
                <a16:creationId xmlns:a16="http://schemas.microsoft.com/office/drawing/2014/main" id="{BF5EB644-4813-4AD3-AEBC-F8C8FF4C7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3124200"/>
            <a:ext cx="8188325" cy="2803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3200">
                <a:ea typeface="新細明體" panose="02020500000000000000" pitchFamily="18" charset="-120"/>
              </a:rPr>
              <a:t>  S.</a:t>
            </a:r>
            <a:r>
              <a:rPr lang="en-US" altLang="zh-TW" sz="3200" i="1">
                <a:ea typeface="新細明體" panose="02020500000000000000" pitchFamily="18" charset="-120"/>
              </a:rPr>
              <a:t>Name</a:t>
            </a:r>
            <a:r>
              <a:rPr lang="en-US" altLang="zh-TW" sz="3200">
                <a:ea typeface="新細明體" panose="02020500000000000000" pitchFamily="18" charset="-120"/>
              </a:rPr>
              <a:t>, C.</a:t>
            </a:r>
            <a:r>
              <a:rPr lang="en-US" altLang="zh-TW" sz="3200" i="1">
                <a:ea typeface="新細明體" panose="02020500000000000000" pitchFamily="18" charset="-120"/>
              </a:rPr>
              <a:t>Cum</a:t>
            </a:r>
          </a:p>
          <a:p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FROM (</a:t>
            </a:r>
            <a:r>
              <a:rPr lang="en-US" altLang="zh-TW" sz="1800">
                <a:solidFill>
                  <a:srgbClr val="990033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SELECT  </a:t>
            </a:r>
            <a:r>
              <a:rPr lang="en-US" altLang="zh-TW" sz="1800">
                <a:solidFill>
                  <a:srgbClr val="990033"/>
                </a:solidFill>
                <a:ea typeface="新細明體" panose="02020500000000000000" pitchFamily="18" charset="-120"/>
              </a:rPr>
              <a:t>T.</a:t>
            </a:r>
            <a:r>
              <a:rPr lang="en-US" altLang="zh-TW" sz="1800" i="1">
                <a:solidFill>
                  <a:srgbClr val="990033"/>
                </a:solidFill>
                <a:ea typeface="新細明體" panose="02020500000000000000" pitchFamily="18" charset="-120"/>
              </a:rPr>
              <a:t>StudId</a:t>
            </a:r>
            <a:r>
              <a:rPr lang="en-US" altLang="zh-TW" sz="1800">
                <a:solidFill>
                  <a:srgbClr val="990033"/>
                </a:solidFill>
                <a:ea typeface="新細明體" panose="02020500000000000000" pitchFamily="18" charset="-120"/>
              </a:rPr>
              <a:t>,  </a:t>
            </a:r>
            <a:r>
              <a:rPr lang="en-US" altLang="zh-TW" sz="1800">
                <a:solidFill>
                  <a:srgbClr val="990033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AVG</a:t>
            </a:r>
            <a:r>
              <a:rPr lang="en-US" altLang="zh-TW" sz="1800">
                <a:solidFill>
                  <a:srgbClr val="990033"/>
                </a:solidFill>
                <a:ea typeface="新細明體" panose="02020500000000000000" pitchFamily="18" charset="-120"/>
              </a:rPr>
              <a:t> (T.</a:t>
            </a:r>
            <a:r>
              <a:rPr lang="en-US" altLang="zh-TW" sz="1800" i="1">
                <a:solidFill>
                  <a:srgbClr val="990033"/>
                </a:solidFill>
                <a:ea typeface="新細明體" panose="02020500000000000000" pitchFamily="18" charset="-120"/>
              </a:rPr>
              <a:t>Grade</a:t>
            </a:r>
            <a:r>
              <a:rPr lang="en-US" altLang="zh-TW" sz="1800">
                <a:solidFill>
                  <a:srgbClr val="990033"/>
                </a:solidFill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sz="1800">
                <a:solidFill>
                  <a:srgbClr val="990033"/>
                </a:solidFill>
                <a:ea typeface="新細明體" panose="02020500000000000000" pitchFamily="18" charset="-120"/>
              </a:rPr>
              <a:t>                                </a:t>
            </a:r>
            <a:r>
              <a:rPr lang="en-US" altLang="zh-TW" sz="1800">
                <a:solidFill>
                  <a:srgbClr val="990033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1800">
                <a:solidFill>
                  <a:srgbClr val="990033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1800">
                <a:solidFill>
                  <a:srgbClr val="9900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Transcript</a:t>
            </a:r>
            <a:r>
              <a:rPr lang="en-US" altLang="zh-TW" sz="1800">
                <a:solidFill>
                  <a:srgbClr val="990033"/>
                </a:solidFill>
                <a:ea typeface="新細明體" panose="02020500000000000000" pitchFamily="18" charset="-120"/>
              </a:rPr>
              <a:t> T</a:t>
            </a:r>
          </a:p>
          <a:p>
            <a:r>
              <a:rPr lang="en-US" altLang="zh-TW" sz="1800">
                <a:solidFill>
                  <a:srgbClr val="990033"/>
                </a:solidFill>
                <a:ea typeface="新細明體" panose="02020500000000000000" pitchFamily="18" charset="-120"/>
              </a:rPr>
              <a:t>                                </a:t>
            </a:r>
            <a:r>
              <a:rPr lang="en-US" altLang="zh-TW" sz="1800">
                <a:solidFill>
                  <a:srgbClr val="990033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GROUP BY</a:t>
            </a:r>
            <a:r>
              <a:rPr lang="en-US" altLang="zh-TW" sz="1800">
                <a:solidFill>
                  <a:srgbClr val="990033"/>
                </a:solidFill>
                <a:ea typeface="新細明體" panose="02020500000000000000" pitchFamily="18" charset="-120"/>
              </a:rPr>
              <a:t> T.</a:t>
            </a:r>
            <a:r>
              <a:rPr lang="en-US" altLang="zh-TW" sz="1800" i="1">
                <a:solidFill>
                  <a:srgbClr val="990033"/>
                </a:solidFill>
                <a:ea typeface="新細明體" panose="02020500000000000000" pitchFamily="18" charset="-120"/>
              </a:rPr>
              <a:t>StudId</a:t>
            </a:r>
            <a:r>
              <a:rPr lang="en-US" altLang="zh-TW" sz="3200">
                <a:ea typeface="新細明體" panose="02020500000000000000" pitchFamily="18" charset="-120"/>
              </a:rPr>
              <a:t>) C,  </a:t>
            </a:r>
            <a:r>
              <a:rPr lang="en-US" altLang="zh-TW" sz="32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Student</a:t>
            </a:r>
            <a:r>
              <a:rPr lang="en-US" altLang="zh-TW" sz="3200">
                <a:ea typeface="新細明體" panose="02020500000000000000" pitchFamily="18" charset="-120"/>
              </a:rPr>
              <a:t> S</a:t>
            </a:r>
          </a:p>
          <a:p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3200">
                <a:ea typeface="新細明體" panose="02020500000000000000" pitchFamily="18" charset="-120"/>
              </a:rPr>
              <a:t> C.</a:t>
            </a:r>
            <a:r>
              <a:rPr lang="en-US" altLang="zh-TW" sz="3200" i="1">
                <a:ea typeface="新細明體" panose="02020500000000000000" pitchFamily="18" charset="-120"/>
              </a:rPr>
              <a:t>StudId</a:t>
            </a:r>
            <a:r>
              <a:rPr lang="en-US" altLang="zh-TW" sz="3200">
                <a:ea typeface="新細明體" panose="02020500000000000000" pitchFamily="18" charset="-120"/>
              </a:rPr>
              <a:t> = S.</a:t>
            </a:r>
            <a:r>
              <a:rPr lang="en-US" altLang="zh-TW" sz="3200" i="1">
                <a:ea typeface="新細明體" panose="02020500000000000000" pitchFamily="18" charset="-120"/>
              </a:rPr>
              <a:t>StudId</a:t>
            </a:r>
            <a:r>
              <a:rPr lang="en-US" altLang="zh-TW" sz="3200">
                <a:ea typeface="新細明體" panose="02020500000000000000" pitchFamily="18" charset="-120"/>
              </a:rPr>
              <a:t> </a:t>
            </a:r>
            <a:r>
              <a:rPr lang="en-US" altLang="zh-TW" sz="3200">
                <a:latin typeface="Century Gothic" panose="020B0502020202020204" pitchFamily="34" charset="0"/>
                <a:ea typeface="新細明體" panose="02020500000000000000" pitchFamily="18" charset="-120"/>
              </a:rPr>
              <a:t>AND</a:t>
            </a:r>
            <a:r>
              <a:rPr lang="en-US" altLang="zh-TW" sz="3200">
                <a:ea typeface="新細明體" panose="02020500000000000000" pitchFamily="18" charset="-120"/>
              </a:rPr>
              <a:t> C.</a:t>
            </a:r>
            <a:r>
              <a:rPr lang="en-US" altLang="zh-TW" sz="3200" i="1">
                <a:ea typeface="新細明體" panose="02020500000000000000" pitchFamily="18" charset="-120"/>
              </a:rPr>
              <a:t>Cum</a:t>
            </a:r>
            <a:r>
              <a:rPr lang="en-US" altLang="zh-TW" sz="3200">
                <a:ea typeface="新細明體" panose="02020500000000000000" pitchFamily="18" charset="-120"/>
              </a:rPr>
              <a:t> &gt; 3.5</a:t>
            </a:r>
          </a:p>
          <a:p>
            <a:endParaRPr lang="en-US" altLang="zh-TW" sz="3200">
              <a:ea typeface="新細明體" panose="02020500000000000000" pitchFamily="18" charset="-120"/>
            </a:endParaRPr>
          </a:p>
        </p:txBody>
      </p:sp>
      <p:sp>
        <p:nvSpPr>
          <p:cNvPr id="63493" name="Rectangle 1030">
            <a:extLst>
              <a:ext uri="{FF2B5EF4-FFF2-40B4-BE49-F238E27FC236}">
                <a16:creationId xmlns:a16="http://schemas.microsoft.com/office/drawing/2014/main" id="{440CD9AE-2D46-4EEC-936F-9025CE75B2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0" y="1600200"/>
            <a:ext cx="7467600" cy="124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altLang="zh-TW" sz="2800">
                <a:ea typeface="新細明體" panose="02020500000000000000" pitchFamily="18" charset="-120"/>
              </a:rPr>
              <a:t>When used in an SQL statement, the view definition is substituted for the view name in the statement.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As SELECT </a:t>
            </a:r>
            <a:r>
              <a:rPr lang="en-US" altLang="zh-TW" sz="2400">
                <a:ea typeface="新細明體" panose="02020500000000000000" pitchFamily="18" charset="-120"/>
              </a:rPr>
              <a:t>statement nested in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2400">
                <a:ea typeface="新細明體" panose="02020500000000000000" pitchFamily="18" charset="-120"/>
              </a:rPr>
              <a:t> clause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052F9B-275A-474D-BF59-33F5EB286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84</a:t>
            </a:fld>
            <a:endParaRPr lang="en-US" altLang="zh-TW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5" name="Rectangle 2">
            <a:extLst>
              <a:ext uri="{FF2B5EF4-FFF2-40B4-BE49-F238E27FC236}">
                <a16:creationId xmlns:a16="http://schemas.microsoft.com/office/drawing/2014/main" id="{8809E41F-0219-478C-BA30-09EDB155B7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View Benefits</a:t>
            </a:r>
          </a:p>
        </p:txBody>
      </p:sp>
      <p:sp>
        <p:nvSpPr>
          <p:cNvPr id="57347" name="Rectangle 3">
            <a:extLst>
              <a:ext uri="{FF2B5EF4-FFF2-40B4-BE49-F238E27FC236}">
                <a16:creationId xmlns:a16="http://schemas.microsoft.com/office/drawing/2014/main" id="{7B47EFEF-9A0F-44CE-A7B2-64348C67D4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  <a:defRPr/>
            </a:pPr>
            <a:r>
              <a:rPr lang="en-US" i="1"/>
              <a:t>Access Control</a:t>
            </a:r>
            <a:r>
              <a:rPr lang="en-US"/>
              <a:t>:  Users not granted access to base tables.  Instead they are granted access to the view of the database appropriate to their needs.</a:t>
            </a:r>
          </a:p>
          <a:p>
            <a:pPr lvl="1">
              <a:lnSpc>
                <a:spcPct val="90000"/>
              </a:lnSpc>
              <a:defRPr/>
            </a:pPr>
            <a:r>
              <a:rPr lang="en-US" i="1">
                <a:effectLst>
                  <a:outerShdw blurRad="38100" dist="38100" dir="2700000" algn="tl">
                    <a:srgbClr val="C0C0C0"/>
                  </a:outerShdw>
                </a:effectLst>
              </a:rPr>
              <a:t>External schema</a:t>
            </a:r>
            <a:r>
              <a:rPr lang="en-US"/>
              <a:t> is composed of views.</a:t>
            </a:r>
          </a:p>
          <a:p>
            <a:pPr lvl="1">
              <a:lnSpc>
                <a:spcPct val="90000"/>
              </a:lnSpc>
              <a:defRPr/>
            </a:pPr>
            <a:r>
              <a:rPr lang="en-US"/>
              <a:t>View allows owner to provide </a:t>
            </a:r>
            <a:r>
              <a:rPr lang="en-US">
                <a:latin typeface="Century Gothic" pitchFamily="34" charset="0"/>
              </a:rPr>
              <a:t>SELECT</a:t>
            </a:r>
            <a:r>
              <a:rPr lang="en-US"/>
              <a:t> access to a subset of columns (analogous to providing </a:t>
            </a:r>
            <a:r>
              <a:rPr lang="en-US">
                <a:latin typeface="Century Gothic" pitchFamily="34" charset="0"/>
              </a:rPr>
              <a:t>UPDATE</a:t>
            </a:r>
            <a:r>
              <a:rPr lang="en-US"/>
              <a:t> and </a:t>
            </a:r>
            <a:r>
              <a:rPr lang="en-US">
                <a:latin typeface="Century Gothic" pitchFamily="34" charset="0"/>
              </a:rPr>
              <a:t>INSERT</a:t>
            </a:r>
            <a:r>
              <a:rPr lang="en-US"/>
              <a:t> access to a subset of columns)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C6C0DAB-D9E5-481B-B677-49CAB2451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85</a:t>
            </a:fld>
            <a:endParaRPr lang="en-US" altLang="zh-TW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9" name="Rectangle 2">
            <a:extLst>
              <a:ext uri="{FF2B5EF4-FFF2-40B4-BE49-F238E27FC236}">
                <a16:creationId xmlns:a16="http://schemas.microsoft.com/office/drawing/2014/main" id="{7267FDB9-B82E-41BA-AB7B-83C2E7F07C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81000" y="228600"/>
            <a:ext cx="7772400" cy="6858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Views – Limiting Visibility</a:t>
            </a:r>
          </a:p>
        </p:txBody>
      </p:sp>
      <p:sp>
        <p:nvSpPr>
          <p:cNvPr id="72707" name="Text Box 3">
            <a:extLst>
              <a:ext uri="{FF2B5EF4-FFF2-40B4-BE49-F238E27FC236}">
                <a16:creationId xmlns:a16="http://schemas.microsoft.com/office/drawing/2014/main" id="{B96BC31E-C870-4690-802C-F6CB7B240B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524000"/>
            <a:ext cx="8440738" cy="473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CREATE  VIEW</a:t>
            </a:r>
            <a:r>
              <a:rPr lang="en-US" altLang="zh-TW" sz="2400">
                <a:ea typeface="新細明體" panose="02020500000000000000" pitchFamily="18" charset="-120"/>
              </a:rPr>
              <a:t>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PartOfTranscript</a:t>
            </a:r>
            <a:r>
              <a:rPr lang="en-US" altLang="zh-TW" sz="2400">
                <a:ea typeface="新細明體" panose="02020500000000000000" pitchFamily="18" charset="-120"/>
              </a:rPr>
              <a:t> (</a:t>
            </a:r>
            <a:r>
              <a:rPr lang="en-US" altLang="zh-TW" sz="2400" i="1">
                <a:ea typeface="新細明體" panose="02020500000000000000" pitchFamily="18" charset="-120"/>
              </a:rPr>
              <a:t>StudId, CrsCode, Semester</a:t>
            </a:r>
            <a:r>
              <a:rPr lang="en-US" altLang="zh-TW" sz="2400">
                <a:ea typeface="新細明體" panose="02020500000000000000" pitchFamily="18" charset="-120"/>
              </a:rPr>
              <a:t>)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AS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     SELECT</a:t>
            </a:r>
            <a:r>
              <a:rPr lang="en-US" altLang="zh-TW" sz="2400">
                <a:ea typeface="新細明體" panose="02020500000000000000" pitchFamily="18" charset="-120"/>
              </a:rPr>
              <a:t>  T. </a:t>
            </a:r>
            <a:r>
              <a:rPr lang="en-US" altLang="zh-TW" sz="2400" i="1">
                <a:ea typeface="新細明體" panose="02020500000000000000" pitchFamily="18" charset="-120"/>
              </a:rPr>
              <a:t>StudId</a:t>
            </a:r>
            <a:r>
              <a:rPr lang="en-US" altLang="zh-TW" sz="2400">
                <a:ea typeface="新細明體" panose="02020500000000000000" pitchFamily="18" charset="-120"/>
              </a:rPr>
              <a:t>, T.</a:t>
            </a:r>
            <a:r>
              <a:rPr lang="en-US" altLang="zh-TW" sz="2400" i="1">
                <a:ea typeface="新細明體" panose="02020500000000000000" pitchFamily="18" charset="-120"/>
              </a:rPr>
              <a:t>CrsCode</a:t>
            </a:r>
            <a:r>
              <a:rPr lang="en-US" altLang="zh-TW" sz="2400">
                <a:ea typeface="新細明體" panose="02020500000000000000" pitchFamily="18" charset="-120"/>
              </a:rPr>
              <a:t>, T.</a:t>
            </a:r>
            <a:r>
              <a:rPr lang="en-US" altLang="zh-TW" sz="2400" i="1">
                <a:ea typeface="新細明體" panose="02020500000000000000" pitchFamily="18" charset="-120"/>
              </a:rPr>
              <a:t>Semester</a:t>
            </a:r>
            <a:r>
              <a:rPr lang="en-US" altLang="zh-TW" sz="2400">
                <a:ea typeface="新細明體" panose="02020500000000000000" pitchFamily="18" charset="-120"/>
              </a:rPr>
              <a:t>      -- </a:t>
            </a:r>
            <a:r>
              <a:rPr lang="en-US" altLang="zh-TW" sz="2400" i="1">
                <a:ea typeface="新細明體" panose="02020500000000000000" pitchFamily="18" charset="-120"/>
              </a:rPr>
              <a:t>limit columns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    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2400">
                <a:ea typeface="新細明體" panose="02020500000000000000" pitchFamily="18" charset="-120"/>
              </a:rPr>
              <a:t> 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Transcript</a:t>
            </a:r>
            <a:r>
              <a:rPr lang="en-US" altLang="zh-TW" sz="2400">
                <a:ea typeface="新細明體" panose="02020500000000000000" pitchFamily="18" charset="-120"/>
              </a:rPr>
              <a:t> T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    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 sz="2400">
                <a:ea typeface="新細明體" panose="02020500000000000000" pitchFamily="18" charset="-120"/>
              </a:rPr>
              <a:t>  T.</a:t>
            </a:r>
            <a:r>
              <a:rPr lang="en-US" altLang="zh-TW" sz="2400" i="1">
                <a:ea typeface="新細明體" panose="02020500000000000000" pitchFamily="18" charset="-120"/>
              </a:rPr>
              <a:t>Semester</a:t>
            </a:r>
            <a:r>
              <a:rPr lang="en-US" altLang="zh-TW" sz="2400">
                <a:ea typeface="新細明體" panose="02020500000000000000" pitchFamily="18" charset="-120"/>
              </a:rPr>
              <a:t> = ‘S2000’                         -- </a:t>
            </a:r>
            <a:r>
              <a:rPr lang="en-US" altLang="zh-TW" sz="2400" i="1">
                <a:ea typeface="新細明體" panose="02020500000000000000" pitchFamily="18" charset="-120"/>
              </a:rPr>
              <a:t>limit rows</a:t>
            </a:r>
          </a:p>
          <a:p>
            <a:endParaRPr lang="en-US" altLang="zh-TW" sz="2400">
              <a:ea typeface="新細明體" panose="02020500000000000000" pitchFamily="18" charset="-120"/>
            </a:endParaRPr>
          </a:p>
          <a:p>
            <a:r>
              <a:rPr lang="en-US" altLang="zh-TW" sz="2400">
                <a:ea typeface="新細明體" panose="02020500000000000000" pitchFamily="18" charset="-120"/>
              </a:rPr>
              <a:t>Give permissions to access data through view:</a:t>
            </a:r>
          </a:p>
          <a:p>
            <a:pPr>
              <a:lnSpc>
                <a:spcPct val="130000"/>
              </a:lnSpc>
            </a:pP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       GRANT  SELECT  ON</a:t>
            </a:r>
            <a:r>
              <a:rPr lang="en-US" altLang="zh-TW" sz="2400">
                <a:ea typeface="新細明體" panose="02020500000000000000" pitchFamily="18" charset="-120"/>
              </a:rPr>
              <a:t> 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PartOfTranscript</a:t>
            </a:r>
            <a:r>
              <a:rPr lang="en-US" altLang="zh-TW" sz="2400">
                <a:ea typeface="新細明體" panose="02020500000000000000" pitchFamily="18" charset="-120"/>
              </a:rPr>
              <a:t>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TO</a:t>
            </a:r>
            <a:r>
              <a:rPr lang="en-US" altLang="zh-TW" sz="2400">
                <a:ea typeface="新細明體" panose="02020500000000000000" pitchFamily="18" charset="-120"/>
              </a:rPr>
              <a:t>  joe</a:t>
            </a:r>
          </a:p>
          <a:p>
            <a:endParaRPr lang="en-US" altLang="zh-TW" sz="1600">
              <a:ea typeface="新細明體" panose="02020500000000000000" pitchFamily="18" charset="-120"/>
            </a:endParaRPr>
          </a:p>
          <a:p>
            <a:r>
              <a:rPr lang="en-US" altLang="zh-TW" sz="2400">
                <a:ea typeface="新細明體" panose="02020500000000000000" pitchFamily="18" charset="-120"/>
              </a:rPr>
              <a:t>This would have been analogous to:</a:t>
            </a:r>
          </a:p>
          <a:p>
            <a:pPr>
              <a:lnSpc>
                <a:spcPct val="70000"/>
              </a:lnSpc>
            </a:pPr>
            <a:endParaRPr lang="en-US" altLang="zh-TW" sz="2400">
              <a:ea typeface="新細明體" panose="02020500000000000000" pitchFamily="18" charset="-120"/>
            </a:endParaRPr>
          </a:p>
          <a:p>
            <a:pPr>
              <a:lnSpc>
                <a:spcPct val="90000"/>
              </a:lnSpc>
            </a:pP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       GRANT  SELECT </a:t>
            </a:r>
            <a:r>
              <a:rPr lang="en-US" altLang="zh-TW" sz="2400">
                <a:ea typeface="新細明體" panose="02020500000000000000" pitchFamily="18" charset="-120"/>
              </a:rPr>
              <a:t> (</a:t>
            </a:r>
            <a:r>
              <a:rPr lang="en-US" altLang="zh-TW" sz="2400" i="1">
                <a:ea typeface="新細明體" panose="02020500000000000000" pitchFamily="18" charset="-120"/>
              </a:rPr>
              <a:t>StudId,CrsCode,Semester</a:t>
            </a:r>
            <a:r>
              <a:rPr lang="en-US" altLang="zh-TW" sz="2400">
                <a:ea typeface="新細明體" panose="02020500000000000000" pitchFamily="18" charset="-120"/>
              </a:rPr>
              <a:t>) </a:t>
            </a:r>
          </a:p>
          <a:p>
            <a:pPr>
              <a:lnSpc>
                <a:spcPct val="9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                                                        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ON </a:t>
            </a:r>
            <a:r>
              <a:rPr lang="en-US" altLang="zh-TW" sz="2400">
                <a:ea typeface="新細明體" panose="02020500000000000000" pitchFamily="18" charset="-120"/>
              </a:rPr>
              <a:t>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Transcript</a:t>
            </a:r>
            <a:r>
              <a:rPr lang="en-US" altLang="zh-TW" sz="2400">
                <a:ea typeface="新細明體" panose="02020500000000000000" pitchFamily="18" charset="-120"/>
              </a:rPr>
              <a:t>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TO </a:t>
            </a:r>
            <a:r>
              <a:rPr lang="en-US" altLang="zh-TW" sz="2400">
                <a:ea typeface="新細明體" panose="02020500000000000000" pitchFamily="18" charset="-120"/>
              </a:rPr>
              <a:t> joe</a:t>
            </a:r>
          </a:p>
          <a:p>
            <a:pPr>
              <a:lnSpc>
                <a:spcPct val="70000"/>
              </a:lnSpc>
            </a:pPr>
            <a:endParaRPr lang="en-US" altLang="zh-TW" sz="1200">
              <a:ea typeface="新細明體" panose="02020500000000000000" pitchFamily="18" charset="-120"/>
            </a:endParaRPr>
          </a:p>
          <a:p>
            <a:pPr>
              <a:lnSpc>
                <a:spcPct val="9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on regular tables, </a:t>
            </a:r>
            <a:r>
              <a:rPr lang="en-US" altLang="zh-TW" sz="2400" u="sng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if</a:t>
            </a:r>
            <a:r>
              <a:rPr lang="en-US" altLang="zh-TW" sz="2400">
                <a:ea typeface="新細明體" panose="02020500000000000000" pitchFamily="18" charset="-120"/>
              </a:rPr>
              <a:t> SQL allowed attribute lists in </a:t>
            </a:r>
            <a:r>
              <a:rPr lang="en-US" altLang="zh-TW">
                <a:latin typeface="Century Gothic" panose="020B0502020202020204" pitchFamily="34" charset="0"/>
                <a:ea typeface="新細明體" panose="02020500000000000000" pitchFamily="18" charset="-120"/>
              </a:rPr>
              <a:t>GRANT  SELECT </a:t>
            </a:r>
          </a:p>
        </p:txBody>
      </p:sp>
      <p:sp>
        <p:nvSpPr>
          <p:cNvPr id="65541" name="AutoShape 4">
            <a:extLst>
              <a:ext uri="{FF2B5EF4-FFF2-40B4-BE49-F238E27FC236}">
                <a16:creationId xmlns:a16="http://schemas.microsoft.com/office/drawing/2014/main" id="{B3CCBBFA-4571-478E-A938-6CFF1A14F4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9000" y="990600"/>
            <a:ext cx="1752600" cy="381000"/>
          </a:xfrm>
          <a:prstGeom prst="wedgeRoundRectCallout">
            <a:avLst>
              <a:gd name="adj1" fmla="val -84241"/>
              <a:gd name="adj2" fmla="val 41667"/>
              <a:gd name="adj3" fmla="val 16667"/>
            </a:avLst>
          </a:prstGeom>
          <a:noFill/>
          <a:ln w="9525">
            <a:solidFill>
              <a:schemeClr val="tx1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sz="1400" i="1">
                <a:ea typeface="新細明體" panose="02020500000000000000" pitchFamily="18" charset="-120"/>
              </a:rPr>
              <a:t>Grade</a:t>
            </a:r>
            <a:r>
              <a:rPr lang="en-US" altLang="zh-TW" sz="1400">
                <a:ea typeface="新細明體" panose="02020500000000000000" pitchFamily="18" charset="-120"/>
              </a:rPr>
              <a:t> projected out</a:t>
            </a:r>
          </a:p>
        </p:txBody>
      </p:sp>
      <p:sp>
        <p:nvSpPr>
          <p:cNvPr id="65542" name="AutoShape 5">
            <a:extLst>
              <a:ext uri="{FF2B5EF4-FFF2-40B4-BE49-F238E27FC236}">
                <a16:creationId xmlns:a16="http://schemas.microsoft.com/office/drawing/2014/main" id="{D657A700-C74F-4B30-8706-AD017A29244E}"/>
              </a:ext>
            </a:extLst>
          </p:cNvPr>
          <p:cNvSpPr>
            <a:spLocks/>
          </p:cNvSpPr>
          <p:nvPr/>
        </p:nvSpPr>
        <p:spPr bwMode="auto">
          <a:xfrm rot="5400000">
            <a:off x="6438900" y="-38100"/>
            <a:ext cx="152400" cy="3124200"/>
          </a:xfrm>
          <a:prstGeom prst="leftBrace">
            <a:avLst>
              <a:gd name="adj1" fmla="val 170833"/>
              <a:gd name="adj2" fmla="val 49694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0B26E8-6E04-47A1-A9AA-057A3FF40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3A0AA-4B70-401C-82A5-0F5F0B9C4CA4}" type="slidenum">
              <a:rPr lang="en-US" altLang="zh-TW" smtClean="0"/>
              <a:pPr/>
              <a:t>86</a:t>
            </a:fld>
            <a:endParaRPr lang="en-US" altLang="zh-TW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3" name="Rectangle 2">
            <a:extLst>
              <a:ext uri="{FF2B5EF4-FFF2-40B4-BE49-F238E27FC236}">
                <a16:creationId xmlns:a16="http://schemas.microsoft.com/office/drawing/2014/main" id="{D45E749E-9CC0-480D-89FD-48848BA39B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View Benefits (cont’d)</a:t>
            </a:r>
          </a:p>
        </p:txBody>
      </p:sp>
      <p:sp>
        <p:nvSpPr>
          <p:cNvPr id="66564" name="Rectangle 3">
            <a:extLst>
              <a:ext uri="{FF2B5EF4-FFF2-40B4-BE49-F238E27FC236}">
                <a16:creationId xmlns:a16="http://schemas.microsoft.com/office/drawing/2014/main" id="{4B559E2A-A480-40F0-A5FE-B3912F43B1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i="1">
                <a:ea typeface="新細明體" panose="02020500000000000000" pitchFamily="18" charset="-120"/>
              </a:rPr>
              <a:t>Customization</a:t>
            </a:r>
            <a:r>
              <a:rPr lang="en-US" altLang="zh-TW">
                <a:ea typeface="新細明體" panose="02020500000000000000" pitchFamily="18" charset="-120"/>
              </a:rPr>
              <a:t>: Users need not see full complexity of database.  View creates the illusion of a simpler database customized to the needs of a particular category of users</a:t>
            </a:r>
          </a:p>
          <a:p>
            <a:r>
              <a:rPr lang="en-US" altLang="zh-TW">
                <a:ea typeface="新細明體" panose="02020500000000000000" pitchFamily="18" charset="-120"/>
              </a:rPr>
              <a:t>A view is </a:t>
            </a:r>
            <a:r>
              <a:rPr lang="en-US" altLang="zh-TW" i="1">
                <a:ea typeface="新細明體" panose="02020500000000000000" pitchFamily="18" charset="-120"/>
              </a:rPr>
              <a:t>similar in many ways to a subroutine</a:t>
            </a:r>
            <a:r>
              <a:rPr lang="en-US" altLang="zh-TW">
                <a:ea typeface="新細明體" panose="02020500000000000000" pitchFamily="18" charset="-120"/>
              </a:rPr>
              <a:t> in standard programming</a:t>
            </a:r>
          </a:p>
          <a:p>
            <a:pPr lvl="1"/>
            <a:r>
              <a:rPr lang="en-US" altLang="zh-TW">
                <a:ea typeface="新細明體" panose="02020500000000000000" pitchFamily="18" charset="-120"/>
              </a:rPr>
              <a:t>Can be reused in multiple queries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60BFA2-A650-4096-A8B1-1DDF3FC3C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87</a:t>
            </a:fld>
            <a:endParaRPr lang="en-US" altLang="zh-TW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7" name="Rectangle 2">
            <a:extLst>
              <a:ext uri="{FF2B5EF4-FFF2-40B4-BE49-F238E27FC236}">
                <a16:creationId xmlns:a16="http://schemas.microsoft.com/office/drawing/2014/main" id="{A67E964A-A164-4D10-9197-586477CD8E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228600"/>
            <a:ext cx="7772400" cy="1143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Nulls</a:t>
            </a:r>
          </a:p>
        </p:txBody>
      </p:sp>
      <p:sp>
        <p:nvSpPr>
          <p:cNvPr id="59395" name="Rectangle 3">
            <a:extLst>
              <a:ext uri="{FF2B5EF4-FFF2-40B4-BE49-F238E27FC236}">
                <a16:creationId xmlns:a16="http://schemas.microsoft.com/office/drawing/2014/main" id="{754CE7B0-803C-4E11-80D9-253E3127156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371600"/>
            <a:ext cx="8001000" cy="34290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sz="2800" i="1">
                <a:ea typeface="新細明體" panose="02020500000000000000" pitchFamily="18" charset="-120"/>
              </a:rPr>
              <a:t>Conditions</a:t>
            </a:r>
            <a:r>
              <a:rPr lang="en-US" altLang="zh-TW" sz="2800">
                <a:ea typeface="新細明體" panose="02020500000000000000" pitchFamily="18" charset="-120"/>
              </a:rPr>
              <a:t>: </a:t>
            </a:r>
            <a:r>
              <a:rPr lang="en-US" altLang="zh-TW" sz="2800" i="1">
                <a:ea typeface="新細明體" panose="02020500000000000000" pitchFamily="18" charset="-120"/>
              </a:rPr>
              <a:t>x op y  </a:t>
            </a:r>
            <a:r>
              <a:rPr lang="en-US" altLang="zh-TW" sz="2800">
                <a:ea typeface="新細明體" panose="02020500000000000000" pitchFamily="18" charset="-120"/>
              </a:rPr>
              <a:t>(where </a:t>
            </a:r>
            <a:r>
              <a:rPr lang="en-US" altLang="zh-TW" sz="2800" i="1">
                <a:ea typeface="新細明體" panose="02020500000000000000" pitchFamily="18" charset="-120"/>
              </a:rPr>
              <a:t>op</a:t>
            </a:r>
            <a:r>
              <a:rPr lang="en-US" altLang="zh-TW" sz="2800">
                <a:ea typeface="新細明體" panose="02020500000000000000" pitchFamily="18" charset="-120"/>
              </a:rPr>
              <a:t> is &lt;, &gt;, &lt;&gt;, =, etc.) has value </a:t>
            </a:r>
            <a:r>
              <a:rPr lang="en-US" altLang="zh-TW" sz="2800" i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unknown</a:t>
            </a:r>
            <a:r>
              <a:rPr lang="en-US" altLang="zh-TW" sz="2800">
                <a:ea typeface="新細明體" panose="02020500000000000000" pitchFamily="18" charset="-120"/>
              </a:rPr>
              <a:t> (</a:t>
            </a:r>
            <a:r>
              <a:rPr lang="en-US" altLang="zh-TW" sz="2800" i="1">
                <a:ea typeface="新細明體" panose="02020500000000000000" pitchFamily="18" charset="-120"/>
              </a:rPr>
              <a:t>U</a:t>
            </a:r>
            <a:r>
              <a:rPr lang="en-US" altLang="zh-TW" sz="2800">
                <a:ea typeface="新細明體" panose="02020500000000000000" pitchFamily="18" charset="-120"/>
              </a:rPr>
              <a:t>) when either x or y is null</a:t>
            </a:r>
          </a:p>
          <a:p>
            <a:pPr lvl="1">
              <a:lnSpc>
                <a:spcPct val="90000"/>
              </a:lnSpc>
            </a:pP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 sz="2400">
                <a:ea typeface="新細明體" panose="02020500000000000000" pitchFamily="18" charset="-120"/>
              </a:rPr>
              <a:t>  T.</a:t>
            </a:r>
            <a:r>
              <a:rPr lang="en-US" altLang="zh-TW" sz="2400" i="1">
                <a:ea typeface="新細明體" panose="02020500000000000000" pitchFamily="18" charset="-120"/>
              </a:rPr>
              <a:t>cost</a:t>
            </a:r>
            <a:r>
              <a:rPr lang="en-US" altLang="zh-TW" sz="2400">
                <a:ea typeface="新細明體" panose="02020500000000000000" pitchFamily="18" charset="-120"/>
              </a:rPr>
              <a:t> &gt; T.</a:t>
            </a:r>
            <a:r>
              <a:rPr lang="en-US" altLang="zh-TW" sz="2400" i="1">
                <a:ea typeface="新細明體" panose="02020500000000000000" pitchFamily="18" charset="-120"/>
              </a:rPr>
              <a:t>price</a:t>
            </a:r>
          </a:p>
          <a:p>
            <a:pPr>
              <a:lnSpc>
                <a:spcPct val="90000"/>
              </a:lnSpc>
            </a:pPr>
            <a:r>
              <a:rPr lang="en-US" altLang="zh-TW" sz="2800" i="1">
                <a:ea typeface="新細明體" panose="02020500000000000000" pitchFamily="18" charset="-120"/>
              </a:rPr>
              <a:t>Arithmetic expression</a:t>
            </a:r>
            <a:r>
              <a:rPr lang="en-US" altLang="zh-TW" sz="2800">
                <a:ea typeface="新細明體" panose="02020500000000000000" pitchFamily="18" charset="-120"/>
              </a:rPr>
              <a:t>: x </a:t>
            </a:r>
            <a:r>
              <a:rPr lang="en-US" altLang="zh-TW" sz="2800" i="1">
                <a:ea typeface="新細明體" panose="02020500000000000000" pitchFamily="18" charset="-120"/>
              </a:rPr>
              <a:t>op y </a:t>
            </a:r>
            <a:r>
              <a:rPr lang="en-US" altLang="zh-TW" sz="2800">
                <a:ea typeface="新細明體" panose="02020500000000000000" pitchFamily="18" charset="-120"/>
              </a:rPr>
              <a:t>(where </a:t>
            </a:r>
            <a:r>
              <a:rPr lang="en-US" altLang="zh-TW" sz="2800" i="1">
                <a:ea typeface="新細明體" panose="02020500000000000000" pitchFamily="18" charset="-120"/>
              </a:rPr>
              <a:t>op </a:t>
            </a:r>
            <a:r>
              <a:rPr lang="en-US" altLang="zh-TW" sz="2800">
                <a:ea typeface="新細明體" panose="02020500000000000000" pitchFamily="18" charset="-120"/>
              </a:rPr>
              <a:t>is +, –, *, etc.) has value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NULL</a:t>
            </a:r>
            <a:r>
              <a:rPr lang="en-US" altLang="zh-TW" sz="2800">
                <a:ea typeface="新細明體" panose="02020500000000000000" pitchFamily="18" charset="-120"/>
              </a:rPr>
              <a:t> if x or y is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NULL</a:t>
            </a:r>
            <a:endParaRPr lang="en-US" altLang="zh-TW" sz="2800">
              <a:ea typeface="新細明體" panose="02020500000000000000" pitchFamily="18" charset="-120"/>
            </a:endParaRPr>
          </a:p>
          <a:p>
            <a:pPr lvl="1">
              <a:lnSpc>
                <a:spcPct val="90000"/>
              </a:lnSpc>
            </a:pP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2400">
                <a:ea typeface="新細明體" panose="02020500000000000000" pitchFamily="18" charset="-120"/>
              </a:rPr>
              <a:t> (T. </a:t>
            </a:r>
            <a:r>
              <a:rPr lang="en-US" altLang="zh-TW" sz="2400" i="1">
                <a:ea typeface="新細明體" panose="02020500000000000000" pitchFamily="18" charset="-120"/>
              </a:rPr>
              <a:t>price</a:t>
            </a:r>
            <a:r>
              <a:rPr lang="en-US" altLang="zh-TW" sz="2400">
                <a:ea typeface="新細明體" panose="02020500000000000000" pitchFamily="18" charset="-120"/>
              </a:rPr>
              <a:t>/T.</a:t>
            </a:r>
            <a:r>
              <a:rPr lang="en-US" altLang="zh-TW" sz="2400" i="1">
                <a:ea typeface="新細明體" panose="02020500000000000000" pitchFamily="18" charset="-120"/>
              </a:rPr>
              <a:t>cost</a:t>
            </a:r>
            <a:r>
              <a:rPr lang="en-US" altLang="zh-TW" sz="2400">
                <a:ea typeface="新細明體" panose="02020500000000000000" pitchFamily="18" charset="-120"/>
              </a:rPr>
              <a:t>) &gt; 2 </a:t>
            </a:r>
          </a:p>
          <a:p>
            <a:pPr>
              <a:lnSpc>
                <a:spcPct val="90000"/>
              </a:lnSpc>
            </a:pPr>
            <a:r>
              <a:rPr lang="en-US" altLang="zh-TW" sz="2800" i="1">
                <a:ea typeface="新細明體" panose="02020500000000000000" pitchFamily="18" charset="-120"/>
              </a:rPr>
              <a:t>Aggregates</a:t>
            </a:r>
            <a:r>
              <a:rPr lang="en-US" altLang="zh-TW" sz="2800">
                <a:ea typeface="新細明體" panose="02020500000000000000" pitchFamily="18" charset="-120"/>
              </a:rPr>
              <a:t>: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COUNT</a:t>
            </a:r>
            <a:r>
              <a:rPr lang="en-US" altLang="zh-TW" sz="2800">
                <a:ea typeface="新細明體" panose="02020500000000000000" pitchFamily="18" charset="-120"/>
              </a:rPr>
              <a:t> counts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NULL</a:t>
            </a:r>
            <a:r>
              <a:rPr lang="en-US" altLang="zh-TW" sz="2800">
                <a:ea typeface="新細明體" panose="02020500000000000000" pitchFamily="18" charset="-120"/>
              </a:rPr>
              <a:t>s like any other value; other aggregates ignore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NULL</a:t>
            </a:r>
            <a:r>
              <a:rPr lang="en-US" altLang="zh-TW" sz="2800">
                <a:ea typeface="新細明體" panose="02020500000000000000" pitchFamily="18" charset="-120"/>
              </a:rPr>
              <a:t>s </a:t>
            </a:r>
          </a:p>
        </p:txBody>
      </p:sp>
      <p:sp>
        <p:nvSpPr>
          <p:cNvPr id="59396" name="Text Box 4">
            <a:extLst>
              <a:ext uri="{FF2B5EF4-FFF2-40B4-BE49-F238E27FC236}">
                <a16:creationId xmlns:a16="http://schemas.microsoft.com/office/drawing/2014/main" id="{7D994F69-889B-406D-BF0D-22007DF770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948238"/>
            <a:ext cx="6307138" cy="1187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SELECT  COUNT</a:t>
            </a:r>
            <a:r>
              <a:rPr lang="en-US" altLang="zh-TW" sz="2400">
                <a:ea typeface="新細明體" panose="02020500000000000000" pitchFamily="18" charset="-120"/>
              </a:rPr>
              <a:t> (T.</a:t>
            </a:r>
            <a:r>
              <a:rPr lang="en-US" altLang="zh-TW" sz="2400" i="1">
                <a:ea typeface="新細明體" panose="02020500000000000000" pitchFamily="18" charset="-120"/>
              </a:rPr>
              <a:t>CrsCode</a:t>
            </a:r>
            <a:r>
              <a:rPr lang="en-US" altLang="zh-TW" sz="2400">
                <a:ea typeface="新細明體" panose="02020500000000000000" pitchFamily="18" charset="-120"/>
              </a:rPr>
              <a:t>),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AVG </a:t>
            </a:r>
            <a:r>
              <a:rPr lang="en-US" altLang="zh-TW" sz="2400">
                <a:ea typeface="新細明體" panose="02020500000000000000" pitchFamily="18" charset="-120"/>
              </a:rPr>
              <a:t>(T.</a:t>
            </a:r>
            <a:r>
              <a:rPr lang="en-US" altLang="zh-TW" sz="2400" i="1">
                <a:ea typeface="新細明體" panose="02020500000000000000" pitchFamily="18" charset="-120"/>
              </a:rPr>
              <a:t>Grade</a:t>
            </a:r>
            <a:r>
              <a:rPr lang="en-US" altLang="zh-TW" sz="240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2400">
                <a:ea typeface="新細明體" panose="02020500000000000000" pitchFamily="18" charset="-120"/>
              </a:rPr>
              <a:t>   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Transcript</a:t>
            </a:r>
            <a:r>
              <a:rPr lang="en-US" altLang="zh-TW" sz="2400">
                <a:ea typeface="新細明體" panose="02020500000000000000" pitchFamily="18" charset="-120"/>
              </a:rPr>
              <a:t> T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 sz="2400">
                <a:ea typeface="新細明體" panose="02020500000000000000" pitchFamily="18" charset="-120"/>
              </a:rPr>
              <a:t>  T.</a:t>
            </a:r>
            <a:r>
              <a:rPr lang="en-US" altLang="zh-TW" sz="2400" i="1">
                <a:ea typeface="新細明體" panose="02020500000000000000" pitchFamily="18" charset="-120"/>
              </a:rPr>
              <a:t>StudId</a:t>
            </a:r>
            <a:r>
              <a:rPr lang="en-US" altLang="zh-TW" sz="2400">
                <a:ea typeface="新細明體" panose="02020500000000000000" pitchFamily="18" charset="-120"/>
              </a:rPr>
              <a:t> = ‘1234’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0BA5BA-8C73-4688-9D49-10899115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88</a:t>
            </a:fld>
            <a:endParaRPr lang="en-US" altLang="zh-TW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9" name="Rectangle 3">
            <a:extLst>
              <a:ext uri="{FF2B5EF4-FFF2-40B4-BE49-F238E27FC236}">
                <a16:creationId xmlns:a16="http://schemas.microsoft.com/office/drawing/2014/main" id="{E73DB277-4F14-44F4-9B04-E73461C3993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066799"/>
            <a:ext cx="7924800" cy="5502965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sz="2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 sz="2800" dirty="0">
                <a:ea typeface="新細明體" panose="02020500000000000000" pitchFamily="18" charset="-120"/>
              </a:rPr>
              <a:t> clause uses a </a:t>
            </a:r>
            <a:r>
              <a:rPr lang="en-US" altLang="zh-TW" sz="2800" i="1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three-valued logic – T, F, U(</a:t>
            </a:r>
            <a:r>
              <a:rPr lang="en-US" altLang="zh-TW" sz="2800" i="1" dirty="0" err="1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ndefined</a:t>
            </a:r>
            <a:r>
              <a:rPr lang="en-US" altLang="zh-TW" sz="2800" i="1" dirty="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) –</a:t>
            </a:r>
            <a:r>
              <a:rPr lang="en-US" altLang="zh-TW" sz="2800" dirty="0">
                <a:ea typeface="新細明體" panose="02020500000000000000" pitchFamily="18" charset="-120"/>
              </a:rPr>
              <a:t> to filter rows.  Portion of truth table: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TW" sz="2800" dirty="0">
              <a:ea typeface="新細明體" panose="02020500000000000000" pitchFamily="18" charset="-120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en-US" altLang="zh-TW" sz="2800" dirty="0">
              <a:ea typeface="新細明體" panose="02020500000000000000" pitchFamily="18" charset="-120"/>
            </a:endParaRPr>
          </a:p>
          <a:p>
            <a:pPr>
              <a:lnSpc>
                <a:spcPct val="90000"/>
              </a:lnSpc>
            </a:pPr>
            <a:endParaRPr lang="en-US" altLang="zh-TW" sz="2800" dirty="0">
              <a:ea typeface="新細明體" panose="02020500000000000000" pitchFamily="18" charset="-120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en-US" altLang="zh-TW" sz="2800" dirty="0">
              <a:ea typeface="新細明體" panose="02020500000000000000" pitchFamily="18" charset="-120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en-US" altLang="zh-TW" sz="2800" dirty="0">
              <a:ea typeface="新細明體" panose="02020500000000000000" pitchFamily="18" charset="-120"/>
            </a:endParaRPr>
          </a:p>
          <a:p>
            <a:pPr>
              <a:lnSpc>
                <a:spcPct val="90000"/>
              </a:lnSpc>
            </a:pPr>
            <a:r>
              <a:rPr lang="en-US" altLang="zh-TW" sz="2800" dirty="0">
                <a:ea typeface="新細明體" panose="02020500000000000000" pitchFamily="18" charset="-120"/>
              </a:rPr>
              <a:t>Rows are discarded if </a:t>
            </a:r>
            <a:r>
              <a:rPr lang="en-US" altLang="zh-TW" sz="2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 sz="2800" dirty="0">
                <a:ea typeface="新細明體" panose="02020500000000000000" pitchFamily="18" charset="-120"/>
              </a:rPr>
              <a:t> condition is </a:t>
            </a:r>
            <a:r>
              <a:rPr lang="en-US" altLang="zh-TW" sz="2800" i="1" dirty="0">
                <a:ea typeface="新細明體" panose="02020500000000000000" pitchFamily="18" charset="-120"/>
              </a:rPr>
              <a:t>F(</a:t>
            </a:r>
            <a:r>
              <a:rPr lang="en-US" altLang="zh-TW" sz="2800" i="1" dirty="0" err="1">
                <a:ea typeface="新細明體" panose="02020500000000000000" pitchFamily="18" charset="-120"/>
              </a:rPr>
              <a:t>alse</a:t>
            </a:r>
            <a:r>
              <a:rPr lang="en-US" altLang="zh-TW" sz="2800" i="1" dirty="0">
                <a:ea typeface="新細明體" panose="02020500000000000000" pitchFamily="18" charset="-120"/>
              </a:rPr>
              <a:t>)</a:t>
            </a:r>
            <a:r>
              <a:rPr lang="en-US" altLang="zh-TW" sz="2800" dirty="0">
                <a:ea typeface="新細明體" panose="02020500000000000000" pitchFamily="18" charset="-120"/>
              </a:rPr>
              <a:t> or U(</a:t>
            </a:r>
            <a:r>
              <a:rPr lang="en-US" altLang="zh-TW" sz="2800" i="1" dirty="0" err="1">
                <a:ea typeface="新細明體" panose="02020500000000000000" pitchFamily="18" charset="-120"/>
              </a:rPr>
              <a:t>nknown</a:t>
            </a:r>
            <a:r>
              <a:rPr lang="en-US" altLang="zh-TW" sz="2800" i="1" dirty="0">
                <a:ea typeface="新細明體" panose="02020500000000000000" pitchFamily="18" charset="-120"/>
              </a:rPr>
              <a:t>)</a:t>
            </a:r>
          </a:p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WHERE </a:t>
            </a:r>
            <a:r>
              <a:rPr lang="en-US" altLang="zh-TW" sz="2800" dirty="0">
                <a:ea typeface="新細明體" panose="02020500000000000000" pitchFamily="18" charset="-120"/>
              </a:rPr>
              <a:t>NOT(</a:t>
            </a:r>
            <a:r>
              <a:rPr lang="en-US" altLang="zh-TW" sz="2400" dirty="0" err="1">
                <a:ea typeface="新細明體" panose="02020500000000000000" pitchFamily="18" charset="-120"/>
              </a:rPr>
              <a:t>T.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CrsCode</a:t>
            </a:r>
            <a:r>
              <a:rPr lang="en-US" altLang="zh-TW" sz="2400" dirty="0">
                <a:ea typeface="新細明體" panose="02020500000000000000" pitchFamily="18" charset="-120"/>
              </a:rPr>
              <a:t> = ‘CS305’)  </a:t>
            </a:r>
            <a:r>
              <a:rPr lang="en-US" altLang="zh-TW" sz="2000" dirty="0">
                <a:latin typeface="Century Gothic" panose="020B0502020202020204" pitchFamily="34" charset="0"/>
                <a:ea typeface="新細明體" panose="02020500000000000000" pitchFamily="18" charset="-120"/>
              </a:rPr>
              <a:t>AND</a:t>
            </a:r>
            <a:r>
              <a:rPr lang="en-US" altLang="zh-TW" sz="2400" dirty="0">
                <a:ea typeface="新細明體" panose="02020500000000000000" pitchFamily="18" charset="-120"/>
              </a:rPr>
              <a:t>  </a:t>
            </a:r>
            <a:r>
              <a:rPr lang="en-US" altLang="zh-TW" sz="2400" dirty="0" err="1">
                <a:ea typeface="新細明體" panose="02020500000000000000" pitchFamily="18" charset="-120"/>
              </a:rPr>
              <a:t>T.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Grade</a:t>
            </a:r>
            <a:r>
              <a:rPr lang="en-US" altLang="zh-TW" sz="2400" dirty="0">
                <a:ea typeface="新細明體" panose="02020500000000000000" pitchFamily="18" charset="-120"/>
              </a:rPr>
              <a:t> &gt; 2.5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altLang="zh-TW" sz="2400" dirty="0">
                <a:ea typeface="新細明體" panose="02020500000000000000" pitchFamily="18" charset="-120"/>
              </a:rPr>
              <a:t>Student: 1111, NULL, 3.3</a:t>
            </a:r>
          </a:p>
        </p:txBody>
      </p:sp>
      <p:sp>
        <p:nvSpPr>
          <p:cNvPr id="68612" name="Rectangle 2">
            <a:extLst>
              <a:ext uri="{FF2B5EF4-FFF2-40B4-BE49-F238E27FC236}">
                <a16:creationId xmlns:a16="http://schemas.microsoft.com/office/drawing/2014/main" id="{CA7765FA-FF11-46D6-AFEB-F6502D9793B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0"/>
            <a:ext cx="7772400" cy="1143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Nulls (cont’d)</a:t>
            </a:r>
          </a:p>
        </p:txBody>
      </p:sp>
      <p:sp>
        <p:nvSpPr>
          <p:cNvPr id="68613" name="Text Box 4">
            <a:extLst>
              <a:ext uri="{FF2B5EF4-FFF2-40B4-BE49-F238E27FC236}">
                <a16:creationId xmlns:a16="http://schemas.microsoft.com/office/drawing/2014/main" id="{541343E6-E59D-4ECB-B431-7BAF85A30B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0200" y="2112963"/>
            <a:ext cx="4398963" cy="1738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i="1" dirty="0">
                <a:ea typeface="新細明體" panose="02020500000000000000" pitchFamily="18" charset="-120"/>
              </a:rPr>
              <a:t>C1   C2    C1</a:t>
            </a:r>
            <a:r>
              <a:rPr lang="en-US" altLang="zh-TW" sz="2400" dirty="0">
                <a:ea typeface="新細明體" panose="02020500000000000000" pitchFamily="18" charset="-120"/>
              </a:rPr>
              <a:t> 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AND</a:t>
            </a:r>
            <a:r>
              <a:rPr lang="en-US" altLang="zh-TW" sz="2400" dirty="0">
                <a:ea typeface="新細明體" panose="02020500000000000000" pitchFamily="18" charset="-120"/>
              </a:rPr>
              <a:t> </a:t>
            </a:r>
            <a:r>
              <a:rPr lang="en-US" altLang="zh-TW" sz="2400" i="1" dirty="0">
                <a:ea typeface="新細明體" panose="02020500000000000000" pitchFamily="18" charset="-120"/>
              </a:rPr>
              <a:t>C2    C1</a:t>
            </a:r>
            <a:r>
              <a:rPr lang="en-US" altLang="zh-TW" sz="2400" dirty="0">
                <a:ea typeface="新細明體" panose="02020500000000000000" pitchFamily="18" charset="-120"/>
              </a:rPr>
              <a:t> 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OR</a:t>
            </a:r>
            <a:r>
              <a:rPr lang="en-US" altLang="zh-TW" sz="2400" dirty="0">
                <a:ea typeface="新細明體" panose="02020500000000000000" pitchFamily="18" charset="-120"/>
              </a:rPr>
              <a:t> </a:t>
            </a:r>
            <a:r>
              <a:rPr lang="en-US" altLang="zh-TW" sz="2400" i="1" dirty="0">
                <a:ea typeface="新細明體" panose="02020500000000000000" pitchFamily="18" charset="-120"/>
              </a:rPr>
              <a:t>C2</a:t>
            </a:r>
            <a:endParaRPr lang="en-US" altLang="zh-TW" sz="2800" i="1" dirty="0">
              <a:ea typeface="新細明體" panose="02020500000000000000" pitchFamily="18" charset="-120"/>
            </a:endParaRPr>
          </a:p>
          <a:p>
            <a:r>
              <a:rPr lang="en-US" altLang="zh-TW" sz="2800" dirty="0">
                <a:ea typeface="新細明體" panose="02020500000000000000" pitchFamily="18" charset="-120"/>
              </a:rPr>
              <a:t>T     U          </a:t>
            </a:r>
            <a:r>
              <a:rPr lang="en-US" altLang="zh-TW" sz="2800" dirty="0" err="1">
                <a:ea typeface="新細明體" panose="02020500000000000000" pitchFamily="18" charset="-120"/>
              </a:rPr>
              <a:t>U</a:t>
            </a:r>
            <a:r>
              <a:rPr lang="en-US" altLang="zh-TW" sz="2800" dirty="0">
                <a:ea typeface="新細明體" panose="02020500000000000000" pitchFamily="18" charset="-120"/>
              </a:rPr>
              <a:t>                T</a:t>
            </a:r>
          </a:p>
          <a:p>
            <a:r>
              <a:rPr lang="en-US" altLang="zh-TW" sz="2800" dirty="0">
                <a:ea typeface="新細明體" panose="02020500000000000000" pitchFamily="18" charset="-120"/>
              </a:rPr>
              <a:t>F     U          F                 U</a:t>
            </a:r>
          </a:p>
          <a:p>
            <a:r>
              <a:rPr lang="en-US" altLang="zh-TW" sz="2800" dirty="0">
                <a:ea typeface="新細明體" panose="02020500000000000000" pitchFamily="18" charset="-120"/>
              </a:rPr>
              <a:t>U    </a:t>
            </a:r>
            <a:r>
              <a:rPr lang="en-US" altLang="zh-TW" sz="2800" dirty="0" err="1">
                <a:ea typeface="新細明體" panose="02020500000000000000" pitchFamily="18" charset="-120"/>
              </a:rPr>
              <a:t>U</a:t>
            </a:r>
            <a:r>
              <a:rPr lang="en-US" altLang="zh-TW" sz="2800" dirty="0">
                <a:ea typeface="新細明體" panose="02020500000000000000" pitchFamily="18" charset="-120"/>
              </a:rPr>
              <a:t>          </a:t>
            </a:r>
            <a:r>
              <a:rPr lang="en-US" altLang="zh-TW" sz="2800" dirty="0" err="1">
                <a:ea typeface="新細明體" panose="02020500000000000000" pitchFamily="18" charset="-120"/>
              </a:rPr>
              <a:t>U</a:t>
            </a:r>
            <a:r>
              <a:rPr lang="en-US" altLang="zh-TW" sz="2800" dirty="0">
                <a:ea typeface="新細明體" panose="02020500000000000000" pitchFamily="18" charset="-120"/>
              </a:rPr>
              <a:t>                 </a:t>
            </a:r>
            <a:r>
              <a:rPr lang="en-US" altLang="zh-TW" sz="2800" dirty="0" err="1">
                <a:ea typeface="新細明體" panose="02020500000000000000" pitchFamily="18" charset="-120"/>
              </a:rPr>
              <a:t>U</a:t>
            </a:r>
            <a:endParaRPr lang="en-US" altLang="zh-TW" sz="2800" dirty="0">
              <a:ea typeface="新細明體" panose="02020500000000000000" pitchFamily="18" charset="-120"/>
            </a:endParaRPr>
          </a:p>
        </p:txBody>
      </p:sp>
      <p:sp>
        <p:nvSpPr>
          <p:cNvPr id="68614" name="Line 5">
            <a:extLst>
              <a:ext uri="{FF2B5EF4-FFF2-40B4-BE49-F238E27FC236}">
                <a16:creationId xmlns:a16="http://schemas.microsoft.com/office/drawing/2014/main" id="{F605BFBF-A50E-4806-9903-6F13E33884EB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0200" y="2514600"/>
            <a:ext cx="4648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68615" name="Line 6">
            <a:extLst>
              <a:ext uri="{FF2B5EF4-FFF2-40B4-BE49-F238E27FC236}">
                <a16:creationId xmlns:a16="http://schemas.microsoft.com/office/drawing/2014/main" id="{0FE87854-17A0-47C1-A85C-221D5D227913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0200" y="2286000"/>
            <a:ext cx="0" cy="152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F45813-6090-4C4E-B918-524711A0F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89</a:t>
            </a:fld>
            <a:endParaRPr lang="en-US" altLang="zh-TW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389BD-D036-5A66-D9A9-5FA2C52B2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2" name="Rectangle 2">
            <a:extLst>
              <a:ext uri="{FF2B5EF4-FFF2-40B4-BE49-F238E27FC236}">
                <a16:creationId xmlns:a16="http://schemas.microsoft.com/office/drawing/2014/main" id="{49850D1D-06F5-4043-6079-D9B69A619D6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0"/>
            <a:ext cx="7772400" cy="1143000"/>
          </a:xfrm>
        </p:spPr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The complete truth table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A0FB01-FEE2-D5F9-6B24-BC5BFB4A3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90</a:t>
            </a:fld>
            <a:endParaRPr lang="en-US" altLang="zh-TW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FBD0B5E-9E28-C8B6-3757-C810B5695A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281966"/>
              </p:ext>
            </p:extLst>
          </p:nvPr>
        </p:nvGraphicFramePr>
        <p:xfrm>
          <a:off x="1524000" y="1397000"/>
          <a:ext cx="6425518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469">
                  <a:extLst>
                    <a:ext uri="{9D8B030D-6E8A-4147-A177-3AD203B41FA5}">
                      <a16:colId xmlns:a16="http://schemas.microsoft.com/office/drawing/2014/main" val="3211139686"/>
                    </a:ext>
                  </a:extLst>
                </a:gridCol>
                <a:gridCol w="738554">
                  <a:extLst>
                    <a:ext uri="{9D8B030D-6E8A-4147-A177-3AD203B41FA5}">
                      <a16:colId xmlns:a16="http://schemas.microsoft.com/office/drawing/2014/main" val="933436796"/>
                    </a:ext>
                  </a:extLst>
                </a:gridCol>
                <a:gridCol w="1415562">
                  <a:extLst>
                    <a:ext uri="{9D8B030D-6E8A-4147-A177-3AD203B41FA5}">
                      <a16:colId xmlns:a16="http://schemas.microsoft.com/office/drawing/2014/main" val="1117315818"/>
                    </a:ext>
                  </a:extLst>
                </a:gridCol>
                <a:gridCol w="1362807">
                  <a:extLst>
                    <a:ext uri="{9D8B030D-6E8A-4147-A177-3AD203B41FA5}">
                      <a16:colId xmlns:a16="http://schemas.microsoft.com/office/drawing/2014/main" val="2870002166"/>
                    </a:ext>
                  </a:extLst>
                </a:gridCol>
                <a:gridCol w="1997126">
                  <a:extLst>
                    <a:ext uri="{9D8B030D-6E8A-4147-A177-3AD203B41FA5}">
                      <a16:colId xmlns:a16="http://schemas.microsoft.com/office/drawing/2014/main" val="2264826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C1  AND 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C1 OR 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C1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0698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8712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7265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5164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599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723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2979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42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873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869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03102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2">
            <a:extLst>
              <a:ext uri="{FF2B5EF4-FFF2-40B4-BE49-F238E27FC236}">
                <a16:creationId xmlns:a16="http://schemas.microsoft.com/office/drawing/2014/main" id="{15C2128D-9ABC-4B6C-88C5-8026DCC005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Modifying Tables – Insert</a:t>
            </a:r>
          </a:p>
        </p:txBody>
      </p:sp>
      <p:sp>
        <p:nvSpPr>
          <p:cNvPr id="69636" name="Rectangle 3">
            <a:extLst>
              <a:ext uri="{FF2B5EF4-FFF2-40B4-BE49-F238E27FC236}">
                <a16:creationId xmlns:a16="http://schemas.microsoft.com/office/drawing/2014/main" id="{86E2FAFF-2383-4128-8941-B60538A95EB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Inserting a single row into a table</a:t>
            </a:r>
          </a:p>
          <a:p>
            <a:pPr lvl="1"/>
            <a:r>
              <a:rPr lang="en-US" altLang="zh-TW">
                <a:ea typeface="新細明體" panose="02020500000000000000" pitchFamily="18" charset="-120"/>
              </a:rPr>
              <a:t>Attribute list can be omitted if it is the same as in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CREATE TABLE</a:t>
            </a:r>
            <a:r>
              <a:rPr lang="en-US" altLang="zh-TW">
                <a:ea typeface="新細明體" panose="02020500000000000000" pitchFamily="18" charset="-120"/>
              </a:rPr>
              <a:t> (but do not omit it)</a:t>
            </a:r>
          </a:p>
          <a:p>
            <a:pPr lvl="1"/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NULL</a:t>
            </a:r>
            <a:r>
              <a:rPr lang="en-US" altLang="zh-TW">
                <a:ea typeface="新細明體" panose="02020500000000000000" pitchFamily="18" charset="-120"/>
              </a:rPr>
              <a:t> and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DEFAULT</a:t>
            </a:r>
            <a:r>
              <a:rPr lang="en-US" altLang="zh-TW">
                <a:ea typeface="新細明體" panose="02020500000000000000" pitchFamily="18" charset="-120"/>
              </a:rPr>
              <a:t> values can be specified</a:t>
            </a:r>
          </a:p>
          <a:p>
            <a:pPr lvl="1"/>
            <a:endParaRPr lang="en-US" altLang="zh-TW">
              <a:ea typeface="新細明體" panose="02020500000000000000" pitchFamily="18" charset="-120"/>
            </a:endParaRPr>
          </a:p>
        </p:txBody>
      </p:sp>
      <p:sp>
        <p:nvSpPr>
          <p:cNvPr id="61444" name="Text Box 4">
            <a:extLst>
              <a:ext uri="{FF2B5EF4-FFF2-40B4-BE49-F238E27FC236}">
                <a16:creationId xmlns:a16="http://schemas.microsoft.com/office/drawing/2014/main" id="{D20E6EE5-23B6-42F5-8BA2-0B20B15F61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4648200"/>
            <a:ext cx="8382000" cy="822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defRPr/>
            </a:pPr>
            <a:r>
              <a:rPr lang="en-US" sz="2400">
                <a:solidFill>
                  <a:srgbClr val="990033"/>
                </a:solidFill>
                <a:latin typeface="Century Gothic" pitchFamily="34" charset="0"/>
              </a:rPr>
              <a:t>INSERT INTO</a:t>
            </a:r>
            <a:r>
              <a:rPr lang="en-US" sz="2400"/>
              <a:t>  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Transcript</a:t>
            </a:r>
            <a:r>
              <a:rPr lang="en-US" sz="2400"/>
              <a:t>(</a:t>
            </a:r>
            <a:r>
              <a:rPr lang="en-US" sz="2400" i="1"/>
              <a:t>StudId</a:t>
            </a:r>
            <a:r>
              <a:rPr lang="en-US" sz="2400"/>
              <a:t>, </a:t>
            </a:r>
            <a:r>
              <a:rPr lang="en-US" sz="2400" i="1"/>
              <a:t>CrsCode</a:t>
            </a:r>
            <a:r>
              <a:rPr lang="en-US" sz="2400"/>
              <a:t>, </a:t>
            </a:r>
            <a:r>
              <a:rPr lang="en-US" sz="2400" i="1"/>
              <a:t>Semester</a:t>
            </a:r>
            <a:r>
              <a:rPr lang="en-US" sz="2400"/>
              <a:t>, </a:t>
            </a:r>
            <a:r>
              <a:rPr lang="en-US" sz="2400" i="1"/>
              <a:t>Grade</a:t>
            </a:r>
            <a:r>
              <a:rPr lang="en-US" sz="2400"/>
              <a:t>)</a:t>
            </a:r>
          </a:p>
          <a:p>
            <a:pPr>
              <a:defRPr/>
            </a:pPr>
            <a:r>
              <a:rPr lang="en-US" sz="2400">
                <a:latin typeface="Century Gothic" pitchFamily="34" charset="0"/>
              </a:rPr>
              <a:t>VALUES</a:t>
            </a:r>
            <a:r>
              <a:rPr lang="en-US" sz="2400"/>
              <a:t> (12345, ‘CSE305’, ‘S2000’,  </a:t>
            </a:r>
            <a:r>
              <a:rPr lang="en-US" sz="2400">
                <a:latin typeface="Century Gothic" pitchFamily="34" charset="0"/>
              </a:rPr>
              <a:t>NULL</a:t>
            </a:r>
            <a:r>
              <a:rPr lang="en-US" sz="2400"/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944696F-5569-4834-B7B1-512391FF5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91</a:t>
            </a:fld>
            <a:endParaRPr lang="en-US" altLang="zh-TW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9" name="Rectangle 2">
            <a:extLst>
              <a:ext uri="{FF2B5EF4-FFF2-40B4-BE49-F238E27FC236}">
                <a16:creationId xmlns:a16="http://schemas.microsoft.com/office/drawing/2014/main" id="{6E95B411-5870-4D99-93C8-6F327467324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0"/>
            <a:ext cx="7772400" cy="1143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Bulk Insertion</a:t>
            </a:r>
          </a:p>
        </p:txBody>
      </p:sp>
      <p:sp>
        <p:nvSpPr>
          <p:cNvPr id="70660" name="Rectangle 3">
            <a:extLst>
              <a:ext uri="{FF2B5EF4-FFF2-40B4-BE49-F238E27FC236}">
                <a16:creationId xmlns:a16="http://schemas.microsoft.com/office/drawing/2014/main" id="{C16A6A96-54E0-4BB7-99F2-DE677532CB4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990600"/>
            <a:ext cx="7696200" cy="5334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>
                <a:ea typeface="新細明體" panose="02020500000000000000" pitchFamily="18" charset="-120"/>
              </a:rPr>
              <a:t>Insert the rows output by a SELECT</a:t>
            </a:r>
          </a:p>
        </p:txBody>
      </p:sp>
      <p:sp>
        <p:nvSpPr>
          <p:cNvPr id="62468" name="Text Box 4">
            <a:extLst>
              <a:ext uri="{FF2B5EF4-FFF2-40B4-BE49-F238E27FC236}">
                <a16:creationId xmlns:a16="http://schemas.microsoft.com/office/drawing/2014/main" id="{E08541A1-D705-4983-8D2C-E4C814F8D7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3962400"/>
            <a:ext cx="8153400" cy="191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INSERT INTO 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DeansList</a:t>
            </a:r>
            <a:r>
              <a:rPr lang="en-US" altLang="zh-TW" sz="2400">
                <a:ea typeface="新細明體" panose="02020500000000000000" pitchFamily="18" charset="-120"/>
              </a:rPr>
              <a:t> (</a:t>
            </a:r>
            <a:r>
              <a:rPr lang="en-US" altLang="zh-TW" sz="2400" i="1">
                <a:ea typeface="新細明體" panose="02020500000000000000" pitchFamily="18" charset="-120"/>
              </a:rPr>
              <a:t>StudId, Credits, CumGpa</a:t>
            </a:r>
            <a:r>
              <a:rPr lang="en-US" altLang="zh-TW" sz="240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SELECT          </a:t>
            </a:r>
            <a:r>
              <a:rPr lang="en-US" altLang="zh-TW" sz="2400">
                <a:ea typeface="新細明體" panose="02020500000000000000" pitchFamily="18" charset="-120"/>
              </a:rPr>
              <a:t>T.</a:t>
            </a:r>
            <a:r>
              <a:rPr lang="en-US" altLang="zh-TW" sz="2400" i="1">
                <a:ea typeface="新細明體" panose="02020500000000000000" pitchFamily="18" charset="-120"/>
              </a:rPr>
              <a:t>StudId</a:t>
            </a:r>
            <a:r>
              <a:rPr lang="en-US" altLang="zh-TW" sz="2400">
                <a:ea typeface="新細明體" panose="02020500000000000000" pitchFamily="18" charset="-120"/>
              </a:rPr>
              <a:t>, 3 *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 COUNT (*),  AVG</a:t>
            </a:r>
            <a:r>
              <a:rPr lang="en-US" altLang="zh-TW" sz="2400">
                <a:ea typeface="新細明體" panose="02020500000000000000" pitchFamily="18" charset="-120"/>
              </a:rPr>
              <a:t>(T.</a:t>
            </a:r>
            <a:r>
              <a:rPr lang="en-US" altLang="zh-TW" sz="2400" i="1">
                <a:ea typeface="新細明體" panose="02020500000000000000" pitchFamily="18" charset="-120"/>
              </a:rPr>
              <a:t>Grade</a:t>
            </a:r>
            <a:r>
              <a:rPr lang="en-US" altLang="zh-TW" sz="2400">
                <a:ea typeface="新細明體" panose="02020500000000000000" pitchFamily="18" charset="-120"/>
              </a:rPr>
              <a:t>)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           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Transcript</a:t>
            </a:r>
            <a:r>
              <a:rPr lang="en-US" altLang="zh-TW" sz="2400">
                <a:ea typeface="新細明體" panose="02020500000000000000" pitchFamily="18" charset="-120"/>
              </a:rPr>
              <a:t> T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GROUP BY     </a:t>
            </a:r>
            <a:r>
              <a:rPr lang="en-US" altLang="zh-TW" sz="2400">
                <a:ea typeface="新細明體" panose="02020500000000000000" pitchFamily="18" charset="-120"/>
              </a:rPr>
              <a:t>T.</a:t>
            </a:r>
            <a:r>
              <a:rPr lang="en-US" altLang="zh-TW" sz="2400" i="1">
                <a:ea typeface="新細明體" panose="02020500000000000000" pitchFamily="18" charset="-120"/>
              </a:rPr>
              <a:t>StudId</a:t>
            </a:r>
            <a:endParaRPr lang="en-US" altLang="zh-TW" sz="2400" i="1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HAVING  AVG </a:t>
            </a:r>
            <a:r>
              <a:rPr lang="en-US" altLang="zh-TW" sz="2400">
                <a:ea typeface="新細明體" panose="02020500000000000000" pitchFamily="18" charset="-120"/>
              </a:rPr>
              <a:t>(T.</a:t>
            </a:r>
            <a:r>
              <a:rPr lang="en-US" altLang="zh-TW" sz="2400" i="1">
                <a:ea typeface="新細明體" panose="02020500000000000000" pitchFamily="18" charset="-120"/>
              </a:rPr>
              <a:t>Grade</a:t>
            </a:r>
            <a:r>
              <a:rPr lang="en-US" altLang="zh-TW" sz="2400">
                <a:ea typeface="新細明體" panose="02020500000000000000" pitchFamily="18" charset="-120"/>
              </a:rPr>
              <a:t>) &gt; 3.5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 AND  COUNT(*) </a:t>
            </a:r>
            <a:r>
              <a:rPr lang="en-US" altLang="zh-TW" sz="2400">
                <a:ea typeface="新細明體" panose="02020500000000000000" pitchFamily="18" charset="-120"/>
              </a:rPr>
              <a:t>&gt; 30</a:t>
            </a:r>
            <a:endParaRPr lang="en-US" altLang="zh-TW" sz="2800">
              <a:ea typeface="新細明體" panose="02020500000000000000" pitchFamily="18" charset="-120"/>
            </a:endParaRPr>
          </a:p>
        </p:txBody>
      </p:sp>
      <p:sp>
        <p:nvSpPr>
          <p:cNvPr id="62469" name="Text Box 5">
            <a:extLst>
              <a:ext uri="{FF2B5EF4-FFF2-40B4-BE49-F238E27FC236}">
                <a16:creationId xmlns:a16="http://schemas.microsoft.com/office/drawing/2014/main" id="{DAD2381A-44DC-4B1C-A041-49066925CA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1651000"/>
            <a:ext cx="4154488" cy="191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CREATE TABLE</a:t>
            </a:r>
            <a:r>
              <a:rPr lang="en-US" altLang="zh-TW" sz="2400">
                <a:ea typeface="新細明體" panose="02020500000000000000" pitchFamily="18" charset="-120"/>
              </a:rPr>
              <a:t>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DeansList</a:t>
            </a:r>
            <a:r>
              <a:rPr lang="en-US" altLang="zh-TW" sz="2400">
                <a:ea typeface="新細明體" panose="02020500000000000000" pitchFamily="18" charset="-120"/>
              </a:rPr>
              <a:t> (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	</a:t>
            </a:r>
            <a:r>
              <a:rPr lang="en-US" altLang="zh-TW" sz="2400" i="1">
                <a:ea typeface="新細明體" panose="02020500000000000000" pitchFamily="18" charset="-120"/>
              </a:rPr>
              <a:t>StudId</a:t>
            </a:r>
            <a:r>
              <a:rPr lang="en-US" altLang="zh-TW" sz="2400">
                <a:ea typeface="新細明體" panose="02020500000000000000" pitchFamily="18" charset="-120"/>
              </a:rPr>
              <a:t>	       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INTEGER</a:t>
            </a:r>
            <a:r>
              <a:rPr lang="en-US" altLang="zh-TW" sz="2400">
                <a:ea typeface="新細明體" panose="02020500000000000000" pitchFamily="18" charset="-120"/>
              </a:rPr>
              <a:t>,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	</a:t>
            </a:r>
            <a:r>
              <a:rPr lang="en-US" altLang="zh-TW" sz="2400" i="1">
                <a:ea typeface="新細明體" panose="02020500000000000000" pitchFamily="18" charset="-120"/>
              </a:rPr>
              <a:t>Credits</a:t>
            </a:r>
            <a:r>
              <a:rPr lang="en-US" altLang="zh-TW" sz="2400">
                <a:ea typeface="新細明體" panose="02020500000000000000" pitchFamily="18" charset="-120"/>
              </a:rPr>
              <a:t>       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INTEGER</a:t>
            </a:r>
            <a:r>
              <a:rPr lang="en-US" altLang="zh-TW" sz="2400">
                <a:ea typeface="新細明體" panose="02020500000000000000" pitchFamily="18" charset="-120"/>
              </a:rPr>
              <a:t>,</a:t>
            </a:r>
          </a:p>
          <a:p>
            <a:r>
              <a:rPr lang="en-US" altLang="zh-TW" sz="2400">
                <a:ea typeface="新細明體" panose="02020500000000000000" pitchFamily="18" charset="-120"/>
              </a:rPr>
              <a:t>	</a:t>
            </a:r>
            <a:r>
              <a:rPr lang="en-US" altLang="zh-TW" sz="2400" i="1">
                <a:ea typeface="新細明體" panose="02020500000000000000" pitchFamily="18" charset="-120"/>
              </a:rPr>
              <a:t>CumGpa</a:t>
            </a:r>
            <a:r>
              <a:rPr lang="en-US" altLang="zh-TW" sz="2400">
                <a:ea typeface="新細明體" panose="02020500000000000000" pitchFamily="18" charset="-120"/>
              </a:rPr>
              <a:t>    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FLOAT,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	PRIMARY KEY  </a:t>
            </a:r>
            <a:r>
              <a:rPr lang="en-US" altLang="zh-TW" sz="2400" i="1">
                <a:ea typeface="新細明體" panose="02020500000000000000" pitchFamily="18" charset="-120"/>
              </a:rPr>
              <a:t>StudId </a:t>
            </a:r>
            <a:r>
              <a:rPr lang="en-US" altLang="zh-TW" sz="2400">
                <a:ea typeface="新細明體" panose="02020500000000000000" pitchFamily="18" charset="-120"/>
              </a:rPr>
              <a:t>)</a:t>
            </a:r>
            <a:endParaRPr lang="en-US" altLang="zh-TW" sz="2400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AA94D9-56C5-46BD-BAFB-2278A201A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92</a:t>
            </a:fld>
            <a:endParaRPr lang="en-US" altLang="zh-TW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3" name="Rectangle 2">
            <a:extLst>
              <a:ext uri="{FF2B5EF4-FFF2-40B4-BE49-F238E27FC236}">
                <a16:creationId xmlns:a16="http://schemas.microsoft.com/office/drawing/2014/main" id="{9AF581ED-A4E8-4D3E-8296-D942FB4800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8382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Modifying Tables – Delete </a:t>
            </a:r>
          </a:p>
        </p:txBody>
      </p:sp>
      <p:sp>
        <p:nvSpPr>
          <p:cNvPr id="71684" name="Rectangle 3">
            <a:extLst>
              <a:ext uri="{FF2B5EF4-FFF2-40B4-BE49-F238E27FC236}">
                <a16:creationId xmlns:a16="http://schemas.microsoft.com/office/drawing/2014/main" id="{E455AB89-B0A6-4B9F-9753-083CEA1FB16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371600"/>
            <a:ext cx="7696200" cy="28956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Similar to 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2800">
                <a:ea typeface="新細明體" panose="02020500000000000000" pitchFamily="18" charset="-120"/>
              </a:rPr>
              <a:t> except:</a:t>
            </a:r>
          </a:p>
          <a:p>
            <a:pPr lvl="1">
              <a:lnSpc>
                <a:spcPct val="9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No project list in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DELETE</a:t>
            </a:r>
            <a:r>
              <a:rPr lang="en-US" altLang="zh-TW" sz="2400">
                <a:ea typeface="新細明體" panose="02020500000000000000" pitchFamily="18" charset="-120"/>
              </a:rPr>
              <a:t> clause</a:t>
            </a:r>
          </a:p>
          <a:p>
            <a:pPr lvl="1">
              <a:lnSpc>
                <a:spcPct val="9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No Cartesian product in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2400">
                <a:ea typeface="新細明體" panose="02020500000000000000" pitchFamily="18" charset="-120"/>
              </a:rPr>
              <a:t> clause (only 1 table name)</a:t>
            </a:r>
          </a:p>
          <a:p>
            <a:pPr lvl="1">
              <a:lnSpc>
                <a:spcPct val="9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Rows satisfying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 sz="2400">
                <a:ea typeface="新細明體" panose="02020500000000000000" pitchFamily="18" charset="-120"/>
              </a:rPr>
              <a:t> clause (general  form, including subqueries, allowed) are deleted instead of output </a:t>
            </a:r>
          </a:p>
        </p:txBody>
      </p:sp>
      <p:sp>
        <p:nvSpPr>
          <p:cNvPr id="63492" name="Text Box 4">
            <a:extLst>
              <a:ext uri="{FF2B5EF4-FFF2-40B4-BE49-F238E27FC236}">
                <a16:creationId xmlns:a16="http://schemas.microsoft.com/office/drawing/2014/main" id="{B5BBCCB8-A21D-46B3-A765-EDB8331142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4468813"/>
            <a:ext cx="7772400" cy="822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solidFill>
                  <a:srgbClr val="990033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DELETE FROM</a:t>
            </a:r>
            <a:r>
              <a:rPr lang="en-US" altLang="zh-TW" sz="2400">
                <a:ea typeface="新細明體" panose="02020500000000000000" pitchFamily="18" charset="-120"/>
              </a:rPr>
              <a:t>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Transcript</a:t>
            </a:r>
            <a:r>
              <a:rPr lang="en-US" altLang="zh-TW" sz="2400">
                <a:ea typeface="新細明體" panose="02020500000000000000" pitchFamily="18" charset="-120"/>
              </a:rPr>
              <a:t> T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WHERE  </a:t>
            </a:r>
            <a:r>
              <a:rPr lang="en-US" altLang="zh-TW" sz="2400">
                <a:ea typeface="新細明體" panose="02020500000000000000" pitchFamily="18" charset="-120"/>
              </a:rPr>
              <a:t>T.</a:t>
            </a:r>
            <a:r>
              <a:rPr lang="en-US" altLang="zh-TW" sz="2400" i="1">
                <a:ea typeface="新細明體" panose="02020500000000000000" pitchFamily="18" charset="-120"/>
              </a:rPr>
              <a:t>Grade</a:t>
            </a:r>
            <a:r>
              <a:rPr lang="en-US" altLang="zh-TW" sz="2400">
                <a:ea typeface="新細明體" panose="02020500000000000000" pitchFamily="18" charset="-120"/>
              </a:rPr>
              <a:t>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IS NULL  AND</a:t>
            </a:r>
            <a:r>
              <a:rPr lang="en-US" altLang="zh-TW" sz="2400">
                <a:ea typeface="新細明體" panose="02020500000000000000" pitchFamily="18" charset="-120"/>
              </a:rPr>
              <a:t>  T.</a:t>
            </a:r>
            <a:r>
              <a:rPr lang="en-US" altLang="zh-TW" sz="2400" i="1">
                <a:ea typeface="新細明體" panose="02020500000000000000" pitchFamily="18" charset="-120"/>
              </a:rPr>
              <a:t>Semester</a:t>
            </a:r>
            <a:r>
              <a:rPr lang="en-US" altLang="zh-TW" sz="2400">
                <a:ea typeface="新細明體" panose="02020500000000000000" pitchFamily="18" charset="-120"/>
              </a:rPr>
              <a:t> &lt;&gt; ‘S2000’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0D3210-E875-4FC5-8756-B6AC2104E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93</a:t>
            </a:fld>
            <a:endParaRPr lang="en-US" altLang="zh-TW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7" name="Rectangle 2">
            <a:extLst>
              <a:ext uri="{FF2B5EF4-FFF2-40B4-BE49-F238E27FC236}">
                <a16:creationId xmlns:a16="http://schemas.microsoft.com/office/drawing/2014/main" id="{B405710C-C47E-4368-9D74-970425D23B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Modifying Data - Update</a:t>
            </a:r>
          </a:p>
        </p:txBody>
      </p:sp>
      <p:sp>
        <p:nvSpPr>
          <p:cNvPr id="72708" name="Rectangle 3">
            <a:extLst>
              <a:ext uri="{FF2B5EF4-FFF2-40B4-BE49-F238E27FC236}">
                <a16:creationId xmlns:a16="http://schemas.microsoft.com/office/drawing/2014/main" id="{B268C353-88CD-457C-8261-CEA2C6739C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3733800"/>
            <a:ext cx="7772400" cy="2667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Updates rows in a single table</a:t>
            </a:r>
          </a:p>
          <a:p>
            <a:r>
              <a:rPr lang="en-US" altLang="zh-TW">
                <a:ea typeface="新細明體" panose="02020500000000000000" pitchFamily="18" charset="-120"/>
              </a:rPr>
              <a:t>All rows satisfying 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>
                <a:ea typeface="新細明體" panose="02020500000000000000" pitchFamily="18" charset="-120"/>
              </a:rPr>
              <a:t> clause (general form, including subqueries, allowed) are updated </a:t>
            </a:r>
          </a:p>
        </p:txBody>
      </p:sp>
      <p:sp>
        <p:nvSpPr>
          <p:cNvPr id="64516" name="Text Box 4">
            <a:extLst>
              <a:ext uri="{FF2B5EF4-FFF2-40B4-BE49-F238E27FC236}">
                <a16:creationId xmlns:a16="http://schemas.microsoft.com/office/drawing/2014/main" id="{D938EAAF-D05F-424E-BEE0-39C7FB7F2B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1947863"/>
            <a:ext cx="5503863" cy="1373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solidFill>
                  <a:srgbClr val="990033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UPDATE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2800">
                <a:ea typeface="新細明體" panose="02020500000000000000" pitchFamily="18" charset="-120"/>
              </a:rPr>
              <a:t> </a:t>
            </a:r>
            <a:r>
              <a:rPr lang="en-US" altLang="zh-TW" sz="28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Employee</a:t>
            </a:r>
            <a:r>
              <a:rPr lang="en-US" altLang="zh-TW" sz="2800">
                <a:ea typeface="新細明體" panose="02020500000000000000" pitchFamily="18" charset="-120"/>
              </a:rPr>
              <a:t> E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SET</a:t>
            </a:r>
            <a:r>
              <a:rPr lang="en-US" altLang="zh-TW" sz="2800">
                <a:ea typeface="新細明體" panose="02020500000000000000" pitchFamily="18" charset="-120"/>
              </a:rPr>
              <a:t>           E.</a:t>
            </a:r>
            <a:r>
              <a:rPr lang="en-US" altLang="zh-TW" sz="2800" i="1">
                <a:ea typeface="新細明體" panose="02020500000000000000" pitchFamily="18" charset="-120"/>
              </a:rPr>
              <a:t>Salary</a:t>
            </a:r>
            <a:r>
              <a:rPr lang="en-US" altLang="zh-TW" sz="2800">
                <a:ea typeface="新細明體" panose="02020500000000000000" pitchFamily="18" charset="-120"/>
              </a:rPr>
              <a:t> = E.</a:t>
            </a:r>
            <a:r>
              <a:rPr lang="en-US" altLang="zh-TW" sz="2800" i="1">
                <a:ea typeface="新細明體" panose="02020500000000000000" pitchFamily="18" charset="-120"/>
              </a:rPr>
              <a:t>Salary</a:t>
            </a:r>
            <a:r>
              <a:rPr lang="en-US" altLang="zh-TW" sz="2800">
                <a:ea typeface="新細明體" panose="02020500000000000000" pitchFamily="18" charset="-120"/>
              </a:rPr>
              <a:t> * 1.05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 sz="2800">
                <a:ea typeface="新細明體" panose="02020500000000000000" pitchFamily="18" charset="-120"/>
              </a:rPr>
              <a:t>   E.</a:t>
            </a:r>
            <a:r>
              <a:rPr lang="en-US" altLang="zh-TW" sz="2800" i="1">
                <a:ea typeface="新細明體" panose="02020500000000000000" pitchFamily="18" charset="-120"/>
              </a:rPr>
              <a:t>Department</a:t>
            </a:r>
            <a:r>
              <a:rPr lang="en-US" altLang="zh-TW" sz="2800">
                <a:ea typeface="新細明體" panose="02020500000000000000" pitchFamily="18" charset="-120"/>
              </a:rPr>
              <a:t> = ‘R&amp;D’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EB1BC75-1690-4265-A227-555F2EBB0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94</a:t>
            </a:fld>
            <a:endParaRPr lang="en-US" altLang="zh-TW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1" name="Rectangle 2">
            <a:extLst>
              <a:ext uri="{FF2B5EF4-FFF2-40B4-BE49-F238E27FC236}">
                <a16:creationId xmlns:a16="http://schemas.microsoft.com/office/drawing/2014/main" id="{C1CEF117-D0AF-4992-9009-134F7145BC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457200"/>
            <a:ext cx="7772400" cy="762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Updating Views</a:t>
            </a:r>
          </a:p>
        </p:txBody>
      </p:sp>
      <p:sp>
        <p:nvSpPr>
          <p:cNvPr id="73732" name="Rectangle 3">
            <a:extLst>
              <a:ext uri="{FF2B5EF4-FFF2-40B4-BE49-F238E27FC236}">
                <a16:creationId xmlns:a16="http://schemas.microsoft.com/office/drawing/2014/main" id="{82DC99A0-D172-488C-8CB5-94EA86D1B90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524000"/>
            <a:ext cx="8153400" cy="21336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Question:  Since views look like tables to users, can they be updated?</a:t>
            </a:r>
          </a:p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Answer:  Yes – a view update changes the underlying base table to produce the requested change to the view</a:t>
            </a:r>
          </a:p>
        </p:txBody>
      </p:sp>
      <p:sp>
        <p:nvSpPr>
          <p:cNvPr id="65540" name="Text Box 4">
            <a:extLst>
              <a:ext uri="{FF2B5EF4-FFF2-40B4-BE49-F238E27FC236}">
                <a16:creationId xmlns:a16="http://schemas.microsoft.com/office/drawing/2014/main" id="{260B3AA8-4F02-4F7D-B364-C5474883FC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3962400"/>
            <a:ext cx="8034338" cy="1552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CREATE VIEW</a:t>
            </a:r>
            <a:r>
              <a:rPr lang="en-US" altLang="zh-TW" sz="2400">
                <a:ea typeface="新細明體" panose="02020500000000000000" pitchFamily="18" charset="-120"/>
              </a:rPr>
              <a:t>  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CsReg</a:t>
            </a:r>
            <a:r>
              <a:rPr lang="en-US" altLang="zh-TW" sz="2400">
                <a:ea typeface="新細明體" panose="02020500000000000000" pitchFamily="18" charset="-120"/>
              </a:rPr>
              <a:t> (</a:t>
            </a:r>
            <a:r>
              <a:rPr lang="en-US" altLang="zh-TW" sz="2400" i="1">
                <a:ea typeface="新細明體" panose="02020500000000000000" pitchFamily="18" charset="-120"/>
              </a:rPr>
              <a:t>StudId, CrsCode, Semester</a:t>
            </a:r>
            <a:r>
              <a:rPr lang="en-US" altLang="zh-TW" sz="2400">
                <a:ea typeface="新細明體" panose="02020500000000000000" pitchFamily="18" charset="-120"/>
              </a:rPr>
              <a:t>)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AS</a:t>
            </a:r>
            <a:endParaRPr lang="en-US" altLang="zh-TW" sz="2400">
              <a:ea typeface="新細明體" panose="02020500000000000000" pitchFamily="18" charset="-120"/>
            </a:endParaRP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SELECT</a:t>
            </a:r>
            <a:r>
              <a:rPr lang="en-US" altLang="zh-TW" sz="2400">
                <a:ea typeface="新細明體" panose="02020500000000000000" pitchFamily="18" charset="-120"/>
              </a:rPr>
              <a:t>               T.</a:t>
            </a:r>
            <a:r>
              <a:rPr lang="en-US" altLang="zh-TW" sz="2400" i="1">
                <a:ea typeface="新細明體" panose="02020500000000000000" pitchFamily="18" charset="-120"/>
              </a:rPr>
              <a:t>StudId</a:t>
            </a:r>
            <a:r>
              <a:rPr lang="en-US" altLang="zh-TW" sz="2400">
                <a:ea typeface="新細明體" panose="02020500000000000000" pitchFamily="18" charset="-120"/>
              </a:rPr>
              <a:t>, T. </a:t>
            </a:r>
            <a:r>
              <a:rPr lang="en-US" altLang="zh-TW" sz="2400" i="1">
                <a:ea typeface="新細明體" panose="02020500000000000000" pitchFamily="18" charset="-120"/>
              </a:rPr>
              <a:t>CrsCode</a:t>
            </a:r>
            <a:r>
              <a:rPr lang="en-US" altLang="zh-TW" sz="2400">
                <a:ea typeface="新細明體" panose="02020500000000000000" pitchFamily="18" charset="-120"/>
              </a:rPr>
              <a:t>, T.</a:t>
            </a:r>
            <a:r>
              <a:rPr lang="en-US" altLang="zh-TW" sz="2400" i="1">
                <a:ea typeface="新細明體" panose="02020500000000000000" pitchFamily="18" charset="-120"/>
              </a:rPr>
              <a:t>Semester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               </a:t>
            </a:r>
            <a:r>
              <a:rPr lang="en-US" altLang="zh-TW" sz="24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Transcript</a:t>
            </a:r>
            <a:r>
              <a:rPr lang="en-US" altLang="zh-TW" sz="2400">
                <a:ea typeface="新細明體" panose="02020500000000000000" pitchFamily="18" charset="-120"/>
              </a:rPr>
              <a:t> T</a:t>
            </a:r>
          </a:p>
          <a:p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WHERE</a:t>
            </a:r>
            <a:r>
              <a:rPr lang="en-US" altLang="zh-TW" sz="2400">
                <a:ea typeface="新細明體" panose="02020500000000000000" pitchFamily="18" charset="-120"/>
              </a:rPr>
              <a:t>      T.</a:t>
            </a:r>
            <a:r>
              <a:rPr lang="en-US" altLang="zh-TW" sz="2400" i="1">
                <a:ea typeface="新細明體" panose="02020500000000000000" pitchFamily="18" charset="-120"/>
              </a:rPr>
              <a:t>CrsCode</a:t>
            </a:r>
            <a:r>
              <a:rPr lang="en-US" altLang="zh-TW" sz="2400">
                <a:ea typeface="新細明體" panose="02020500000000000000" pitchFamily="18" charset="-120"/>
              </a:rPr>
              <a:t>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LIKE</a:t>
            </a:r>
            <a:r>
              <a:rPr lang="en-US" altLang="zh-TW" sz="2400">
                <a:ea typeface="新細明體" panose="02020500000000000000" pitchFamily="18" charset="-120"/>
              </a:rPr>
              <a:t> ‘CS%’ 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AND</a:t>
            </a:r>
            <a:r>
              <a:rPr lang="en-US" altLang="zh-TW" sz="2400">
                <a:ea typeface="新細明體" panose="02020500000000000000" pitchFamily="18" charset="-120"/>
              </a:rPr>
              <a:t>  T.</a:t>
            </a:r>
            <a:r>
              <a:rPr lang="en-US" altLang="zh-TW" sz="2400" i="1">
                <a:ea typeface="新細明體" panose="02020500000000000000" pitchFamily="18" charset="-120"/>
              </a:rPr>
              <a:t>Semester</a:t>
            </a:r>
            <a:r>
              <a:rPr lang="en-US" altLang="zh-TW" sz="2400">
                <a:ea typeface="新細明體" panose="02020500000000000000" pitchFamily="18" charset="-120"/>
              </a:rPr>
              <a:t>=‘S2000’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C7105B-714A-4F5F-ADF5-589555FEA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95</a:t>
            </a:fld>
            <a:endParaRPr lang="en-US" altLang="zh-TW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5" name="Rectangle 2">
            <a:extLst>
              <a:ext uri="{FF2B5EF4-FFF2-40B4-BE49-F238E27FC236}">
                <a16:creationId xmlns:a16="http://schemas.microsoft.com/office/drawing/2014/main" id="{76A284C4-2537-4232-BD3A-CA8946AD6A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Updating Views - Problem 1</a:t>
            </a:r>
          </a:p>
        </p:txBody>
      </p:sp>
      <p:sp>
        <p:nvSpPr>
          <p:cNvPr id="74756" name="Rectangle 3">
            <a:extLst>
              <a:ext uri="{FF2B5EF4-FFF2-40B4-BE49-F238E27FC236}">
                <a16:creationId xmlns:a16="http://schemas.microsoft.com/office/drawing/2014/main" id="{7ABEE06E-43CB-45D4-9AC5-2CE160908E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3352800"/>
            <a:ext cx="7924800" cy="25908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b="1">
                <a:ea typeface="新細明體" panose="02020500000000000000" pitchFamily="18" charset="-120"/>
              </a:rPr>
              <a:t>Question</a:t>
            </a:r>
            <a:r>
              <a:rPr lang="en-US" altLang="zh-TW">
                <a:ea typeface="新細明體" panose="02020500000000000000" pitchFamily="18" charset="-120"/>
              </a:rPr>
              <a:t>: What value should be placed in attributes of underlying table that have been projected out (e.g., </a:t>
            </a:r>
            <a:r>
              <a:rPr lang="en-US" altLang="zh-TW" i="1">
                <a:ea typeface="新細明體" panose="02020500000000000000" pitchFamily="18" charset="-120"/>
              </a:rPr>
              <a:t>Grade</a:t>
            </a:r>
            <a:r>
              <a:rPr lang="en-US" altLang="zh-TW">
                <a:ea typeface="新細明體" panose="02020500000000000000" pitchFamily="18" charset="-120"/>
              </a:rPr>
              <a:t>)?</a:t>
            </a:r>
          </a:p>
          <a:p>
            <a:pPr>
              <a:lnSpc>
                <a:spcPct val="90000"/>
              </a:lnSpc>
            </a:pPr>
            <a:r>
              <a:rPr lang="en-US" altLang="zh-TW" b="1">
                <a:ea typeface="新細明體" panose="02020500000000000000" pitchFamily="18" charset="-120"/>
              </a:rPr>
              <a:t>Answer</a:t>
            </a:r>
            <a:r>
              <a:rPr lang="en-US" altLang="zh-TW">
                <a:ea typeface="新細明體" panose="02020500000000000000" pitchFamily="18" charset="-120"/>
              </a:rPr>
              <a:t>: 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NULL</a:t>
            </a:r>
            <a:r>
              <a:rPr lang="en-US" altLang="zh-TW">
                <a:ea typeface="新細明體" panose="02020500000000000000" pitchFamily="18" charset="-120"/>
              </a:rPr>
              <a:t> (assuming null allowed in the missing attribute) or </a:t>
            </a:r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DEFAULT</a:t>
            </a:r>
            <a:endParaRPr lang="en-US" altLang="zh-TW" sz="2800">
              <a:ea typeface="新細明體" panose="02020500000000000000" pitchFamily="18" charset="-120"/>
            </a:endParaRPr>
          </a:p>
        </p:txBody>
      </p:sp>
      <p:sp>
        <p:nvSpPr>
          <p:cNvPr id="66564" name="Text Box 4">
            <a:extLst>
              <a:ext uri="{FF2B5EF4-FFF2-40B4-BE49-F238E27FC236}">
                <a16:creationId xmlns:a16="http://schemas.microsoft.com/office/drawing/2014/main" id="{60502FF4-217C-4E16-AE0A-C3EA8758C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828800"/>
            <a:ext cx="7356475" cy="1373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INSERT INTO</a:t>
            </a:r>
            <a:r>
              <a:rPr lang="en-US" altLang="zh-TW" sz="2800">
                <a:ea typeface="新細明體" panose="02020500000000000000" pitchFamily="18" charset="-120"/>
              </a:rPr>
              <a:t> </a:t>
            </a:r>
            <a:r>
              <a:rPr lang="en-US" altLang="zh-TW" sz="28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CsReg</a:t>
            </a:r>
            <a:r>
              <a:rPr lang="en-US" altLang="zh-TW" sz="2800">
                <a:ea typeface="新細明體" panose="02020500000000000000" pitchFamily="18" charset="-120"/>
              </a:rPr>
              <a:t> (</a:t>
            </a:r>
            <a:r>
              <a:rPr lang="en-US" altLang="zh-TW" sz="2800" i="1">
                <a:ea typeface="新細明體" panose="02020500000000000000" pitchFamily="18" charset="-120"/>
              </a:rPr>
              <a:t>StudId, CrsCode, Semester</a:t>
            </a:r>
            <a:r>
              <a:rPr lang="en-US" altLang="zh-TW" sz="280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VALUES</a:t>
            </a:r>
            <a:r>
              <a:rPr lang="en-US" altLang="zh-TW" sz="2800">
                <a:ea typeface="新細明體" panose="02020500000000000000" pitchFamily="18" charset="-120"/>
              </a:rPr>
              <a:t> (1111, ‘CSE305’, ‘S2000’)</a:t>
            </a:r>
          </a:p>
          <a:p>
            <a:r>
              <a:rPr lang="en-US" altLang="zh-TW" sz="2800" b="1">
                <a:ea typeface="新細明體" panose="02020500000000000000" pitchFamily="18" charset="-120"/>
              </a:rPr>
              <a:t>Tuple is in the VIEW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345ABB-6107-471D-A86A-4F780CD33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96</a:t>
            </a:fld>
            <a:endParaRPr lang="en-US" altLang="zh-TW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9" name="Rectangle 2">
            <a:extLst>
              <a:ext uri="{FF2B5EF4-FFF2-40B4-BE49-F238E27FC236}">
                <a16:creationId xmlns:a16="http://schemas.microsoft.com/office/drawing/2014/main" id="{C0A8DEF8-796F-47B3-AD8E-BD318055D4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609600"/>
            <a:ext cx="7772400" cy="7620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Updating Views - Problem 2</a:t>
            </a:r>
          </a:p>
        </p:txBody>
      </p:sp>
      <p:sp>
        <p:nvSpPr>
          <p:cNvPr id="75780" name="Rectangle 3">
            <a:extLst>
              <a:ext uri="{FF2B5EF4-FFF2-40B4-BE49-F238E27FC236}">
                <a16:creationId xmlns:a16="http://schemas.microsoft.com/office/drawing/2014/main" id="{C6EAC4AF-B2CF-477A-A908-E4DE7577AF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3200400"/>
            <a:ext cx="7620000" cy="2895600"/>
          </a:xfrm>
        </p:spPr>
        <p:txBody>
          <a:bodyPr/>
          <a:lstStyle/>
          <a:p>
            <a:r>
              <a:rPr lang="en-US" altLang="zh-TW" b="1">
                <a:ea typeface="新細明體" panose="02020500000000000000" pitchFamily="18" charset="-120"/>
              </a:rPr>
              <a:t>Problem</a:t>
            </a:r>
            <a:r>
              <a:rPr lang="en-US" altLang="zh-TW">
                <a:ea typeface="新細明體" panose="02020500000000000000" pitchFamily="18" charset="-120"/>
              </a:rPr>
              <a:t>: New tuple not in view</a:t>
            </a:r>
          </a:p>
          <a:p>
            <a:r>
              <a:rPr lang="en-US" altLang="zh-TW" b="1">
                <a:ea typeface="新細明體" panose="02020500000000000000" pitchFamily="18" charset="-120"/>
              </a:rPr>
              <a:t>Solution</a:t>
            </a:r>
            <a:r>
              <a:rPr lang="en-US" altLang="zh-TW">
                <a:ea typeface="新細明體" panose="02020500000000000000" pitchFamily="18" charset="-120"/>
              </a:rPr>
              <a:t>: Allow insertion (assuming the </a:t>
            </a:r>
            <a:r>
              <a:rPr lang="en-US" altLang="zh-TW">
                <a:latin typeface="Century Gothic" panose="020B0502020202020204" pitchFamily="34" charset="0"/>
                <a:ea typeface="新細明體" panose="02020500000000000000" pitchFamily="18" charset="-120"/>
              </a:rPr>
              <a:t>WITH CHECK OPTION</a:t>
            </a:r>
            <a:r>
              <a:rPr lang="en-US" altLang="zh-TW">
                <a:ea typeface="新細明體" panose="02020500000000000000" pitchFamily="18" charset="-120"/>
              </a:rPr>
              <a:t>  clause has not been appended to the </a:t>
            </a:r>
            <a:r>
              <a:rPr lang="en-US" altLang="zh-TW">
                <a:latin typeface="Century Gothic" panose="020B0502020202020204" pitchFamily="34" charset="0"/>
                <a:ea typeface="新細明體" panose="02020500000000000000" pitchFamily="18" charset="-120"/>
              </a:rPr>
              <a:t>CREATE VIEW</a:t>
            </a:r>
            <a:r>
              <a:rPr lang="en-US" altLang="zh-TW">
                <a:ea typeface="新細明體" panose="02020500000000000000" pitchFamily="18" charset="-120"/>
              </a:rPr>
              <a:t> statement)</a:t>
            </a:r>
          </a:p>
        </p:txBody>
      </p:sp>
      <p:sp>
        <p:nvSpPr>
          <p:cNvPr id="67588" name="Text Box 4">
            <a:extLst>
              <a:ext uri="{FF2B5EF4-FFF2-40B4-BE49-F238E27FC236}">
                <a16:creationId xmlns:a16="http://schemas.microsoft.com/office/drawing/2014/main" id="{13D11228-6392-4DD6-BECC-586FD8BA63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325" y="1738313"/>
            <a:ext cx="7356475" cy="94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INSERT INTO</a:t>
            </a:r>
            <a:r>
              <a:rPr lang="en-US" altLang="zh-TW" sz="2800">
                <a:ea typeface="新細明體" panose="02020500000000000000" pitchFamily="18" charset="-120"/>
              </a:rPr>
              <a:t> </a:t>
            </a:r>
            <a:r>
              <a:rPr lang="en-US" altLang="zh-TW" sz="2800">
                <a:effectLst>
                  <a:outerShdw blurRad="38100" dist="38100" dir="2700000" algn="tl">
                    <a:srgbClr val="C0C0C0"/>
                  </a:outerShdw>
                </a:effectLst>
                <a:ea typeface="新細明體" panose="02020500000000000000" pitchFamily="18" charset="-120"/>
              </a:rPr>
              <a:t>CsReg</a:t>
            </a:r>
            <a:r>
              <a:rPr lang="en-US" altLang="zh-TW" sz="2800">
                <a:ea typeface="新細明體" panose="02020500000000000000" pitchFamily="18" charset="-120"/>
              </a:rPr>
              <a:t> (</a:t>
            </a:r>
            <a:r>
              <a:rPr lang="en-US" altLang="zh-TW" sz="2800" i="1">
                <a:ea typeface="新細明體" panose="02020500000000000000" pitchFamily="18" charset="-120"/>
              </a:rPr>
              <a:t>StudId, CrsCode, Semester</a:t>
            </a:r>
            <a:r>
              <a:rPr lang="en-US" altLang="zh-TW" sz="280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sz="2800">
                <a:latin typeface="Century Gothic" panose="020B0502020202020204" pitchFamily="34" charset="0"/>
                <a:ea typeface="新細明體" panose="02020500000000000000" pitchFamily="18" charset="-120"/>
              </a:rPr>
              <a:t>VALUES</a:t>
            </a:r>
            <a:r>
              <a:rPr lang="en-US" altLang="zh-TW" sz="2800">
                <a:ea typeface="新細明體" panose="02020500000000000000" pitchFamily="18" charset="-120"/>
              </a:rPr>
              <a:t> (1111, ‘ECO105’, ‘S2000’)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4DA93E-2570-4C7A-A3BD-A1D21B9DE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97</a:t>
            </a:fld>
            <a:endParaRPr lang="en-US" altLang="zh-TW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3" name="Rectangle 2">
            <a:extLst>
              <a:ext uri="{FF2B5EF4-FFF2-40B4-BE49-F238E27FC236}">
                <a16:creationId xmlns:a16="http://schemas.microsoft.com/office/drawing/2014/main" id="{72B9E71B-41EC-41D3-A92E-C794A547AB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Updating Views - Problem 3</a:t>
            </a:r>
          </a:p>
        </p:txBody>
      </p:sp>
      <p:sp>
        <p:nvSpPr>
          <p:cNvPr id="76804" name="Rectangle 3">
            <a:extLst>
              <a:ext uri="{FF2B5EF4-FFF2-40B4-BE49-F238E27FC236}">
                <a16:creationId xmlns:a16="http://schemas.microsoft.com/office/drawing/2014/main" id="{ECE91551-7A5A-4D6D-B02F-7794B8102A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9600" y="2133600"/>
            <a:ext cx="8077200" cy="1447800"/>
          </a:xfrm>
        </p:spPr>
        <p:txBody>
          <a:bodyPr/>
          <a:lstStyle/>
          <a:p>
            <a:r>
              <a:rPr lang="en-US" altLang="zh-TW" sz="2800">
                <a:ea typeface="新細明體" panose="02020500000000000000" pitchFamily="18" charset="-120"/>
              </a:rPr>
              <a:t>Update to a view might </a:t>
            </a:r>
            <a:r>
              <a:rPr lang="en-US" altLang="zh-TW" sz="2800" i="1" u="sng">
                <a:ea typeface="新細明體" panose="02020500000000000000" pitchFamily="18" charset="-120"/>
              </a:rPr>
              <a:t>not</a:t>
            </a:r>
            <a:r>
              <a:rPr lang="en-US" altLang="zh-TW" sz="2800">
                <a:ea typeface="新細明體" panose="02020500000000000000" pitchFamily="18" charset="-120"/>
              </a:rPr>
              <a:t> </a:t>
            </a:r>
            <a:r>
              <a:rPr lang="en-US" altLang="zh-TW" sz="2800" i="1" u="sng">
                <a:ea typeface="新細明體" panose="02020500000000000000" pitchFamily="18" charset="-120"/>
              </a:rPr>
              <a:t>uniquely</a:t>
            </a:r>
            <a:r>
              <a:rPr lang="en-US" altLang="zh-TW" sz="2800" i="1">
                <a:ea typeface="新細明體" panose="02020500000000000000" pitchFamily="18" charset="-120"/>
              </a:rPr>
              <a:t> </a:t>
            </a:r>
            <a:r>
              <a:rPr lang="en-US" altLang="zh-TW" sz="2800">
                <a:ea typeface="新細明體" panose="02020500000000000000" pitchFamily="18" charset="-120"/>
              </a:rPr>
              <a:t>specify the change to the base table(s) that results in the desired modification of the view (ambiguity)</a:t>
            </a:r>
          </a:p>
        </p:txBody>
      </p:sp>
      <p:sp>
        <p:nvSpPr>
          <p:cNvPr id="68612" name="Text Box 4">
            <a:extLst>
              <a:ext uri="{FF2B5EF4-FFF2-40B4-BE49-F238E27FC236}">
                <a16:creationId xmlns:a16="http://schemas.microsoft.com/office/drawing/2014/main" id="{7052B793-F517-4968-B911-F29A2A002E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050" y="4005263"/>
            <a:ext cx="7567613" cy="1800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800">
                <a:latin typeface="Century Gothic" pitchFamily="34" charset="0"/>
              </a:rPr>
              <a:t>CREATE VIEW</a:t>
            </a:r>
            <a:r>
              <a:rPr lang="en-US" sz="2800"/>
              <a:t>  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ProfDept</a:t>
            </a:r>
            <a:r>
              <a:rPr lang="en-US" sz="2800"/>
              <a:t> (</a:t>
            </a:r>
            <a:r>
              <a:rPr lang="en-US" sz="2800" i="1"/>
              <a:t>PrName, DeName</a:t>
            </a:r>
            <a:r>
              <a:rPr lang="en-US" sz="2800"/>
              <a:t>)  </a:t>
            </a:r>
            <a:r>
              <a:rPr lang="en-US" sz="2800">
                <a:latin typeface="Century Gothic" pitchFamily="34" charset="0"/>
              </a:rPr>
              <a:t>AS</a:t>
            </a:r>
          </a:p>
          <a:p>
            <a:pPr>
              <a:defRPr/>
            </a:pPr>
            <a:r>
              <a:rPr lang="en-US" sz="2800">
                <a:latin typeface="Century Gothic" pitchFamily="34" charset="0"/>
              </a:rPr>
              <a:t>SELECT</a:t>
            </a:r>
            <a:r>
              <a:rPr lang="en-US" sz="2800"/>
              <a:t>    P.</a:t>
            </a:r>
            <a:r>
              <a:rPr lang="en-US" sz="2800" i="1"/>
              <a:t>Name</a:t>
            </a:r>
            <a:r>
              <a:rPr lang="en-US" sz="2800"/>
              <a:t>, D.</a:t>
            </a:r>
            <a:r>
              <a:rPr lang="en-US" sz="2800" i="1"/>
              <a:t>Name</a:t>
            </a:r>
          </a:p>
          <a:p>
            <a:pPr>
              <a:defRPr/>
            </a:pPr>
            <a:r>
              <a:rPr lang="en-US" sz="2800">
                <a:latin typeface="Century Gothic" pitchFamily="34" charset="0"/>
              </a:rPr>
              <a:t>FROM </a:t>
            </a:r>
            <a:r>
              <a:rPr lang="en-US" sz="2800"/>
              <a:t>   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Professor</a:t>
            </a:r>
            <a:r>
              <a:rPr lang="en-US" sz="2800"/>
              <a:t> P, </a:t>
            </a:r>
            <a:r>
              <a:rPr 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Department</a:t>
            </a:r>
            <a:r>
              <a:rPr lang="en-US" sz="2800"/>
              <a:t> D</a:t>
            </a:r>
          </a:p>
          <a:p>
            <a:pPr>
              <a:defRPr/>
            </a:pPr>
            <a:r>
              <a:rPr lang="en-US" sz="2800">
                <a:latin typeface="Century Gothic" pitchFamily="34" charset="0"/>
              </a:rPr>
              <a:t>WHERE </a:t>
            </a:r>
            <a:r>
              <a:rPr lang="en-US" sz="2800"/>
              <a:t>   P.</a:t>
            </a:r>
            <a:r>
              <a:rPr lang="en-US" sz="2800" i="1"/>
              <a:t>DeptId</a:t>
            </a:r>
            <a:r>
              <a:rPr lang="en-US" sz="2800"/>
              <a:t> = D.</a:t>
            </a:r>
            <a:r>
              <a:rPr lang="en-US" sz="2800" i="1"/>
              <a:t>DeptId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062F7D-1641-4111-A423-D44744B34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98</a:t>
            </a:fld>
            <a:endParaRPr lang="en-US" altLang="zh-TW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7" name="Rectangle 2">
            <a:extLst>
              <a:ext uri="{FF2B5EF4-FFF2-40B4-BE49-F238E27FC236}">
                <a16:creationId xmlns:a16="http://schemas.microsoft.com/office/drawing/2014/main" id="{3887BE6B-E6EA-4FA6-A6C3-4576146462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609600"/>
            <a:ext cx="8001000" cy="762000"/>
          </a:xfrm>
        </p:spPr>
        <p:txBody>
          <a:bodyPr/>
          <a:lstStyle/>
          <a:p>
            <a:r>
              <a:rPr lang="en-US" altLang="zh-TW" sz="4000">
                <a:ea typeface="新細明體" panose="02020500000000000000" pitchFamily="18" charset="-120"/>
              </a:rPr>
              <a:t>Updating Views - Problem 3 (cont’d)</a:t>
            </a:r>
            <a:r>
              <a:rPr lang="en-US" altLang="zh-TW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69635" name="Rectangle 3">
            <a:extLst>
              <a:ext uri="{FF2B5EF4-FFF2-40B4-BE49-F238E27FC236}">
                <a16:creationId xmlns:a16="http://schemas.microsoft.com/office/drawing/2014/main" id="{B7E46741-E0AF-4AE6-89B3-BA4078FA9A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  <a:defRPr/>
            </a:pPr>
            <a:r>
              <a:rPr lang="en-US"/>
              <a:t>Tuple &lt;Smith, CS&gt; can be deleted from </a:t>
            </a:r>
            <a:r>
              <a:rPr lang="en-US">
                <a:effectLst>
                  <a:outerShdw blurRad="38100" dist="38100" dir="2700000" algn="tl">
                    <a:srgbClr val="C0C0C0"/>
                  </a:outerShdw>
                </a:effectLst>
              </a:rPr>
              <a:t>ProfDept</a:t>
            </a:r>
            <a:r>
              <a:rPr lang="en-US"/>
              <a:t> by:</a:t>
            </a:r>
          </a:p>
          <a:p>
            <a:pPr lvl="1">
              <a:lnSpc>
                <a:spcPct val="90000"/>
              </a:lnSpc>
              <a:defRPr/>
            </a:pPr>
            <a:r>
              <a:rPr lang="en-US"/>
              <a:t>Deleting row for Smith from </a:t>
            </a:r>
            <a:r>
              <a:rPr lang="en-US">
                <a:effectLst>
                  <a:outerShdw blurRad="38100" dist="38100" dir="2700000" algn="tl">
                    <a:srgbClr val="C0C0C0"/>
                  </a:outerShdw>
                </a:effectLst>
              </a:rPr>
              <a:t>Professor</a:t>
            </a:r>
            <a:r>
              <a:rPr lang="en-US"/>
              <a:t> (but this is inappropriate if he is still at the University)</a:t>
            </a:r>
          </a:p>
          <a:p>
            <a:pPr lvl="1">
              <a:lnSpc>
                <a:spcPct val="90000"/>
              </a:lnSpc>
              <a:defRPr/>
            </a:pPr>
            <a:r>
              <a:rPr lang="en-US"/>
              <a:t>Deleting row for CS from </a:t>
            </a:r>
            <a:r>
              <a:rPr lang="en-US">
                <a:effectLst>
                  <a:outerShdw blurRad="38100" dist="38100" dir="2700000" algn="tl">
                    <a:srgbClr val="C0C0C0"/>
                  </a:outerShdw>
                </a:effectLst>
              </a:rPr>
              <a:t>Department</a:t>
            </a:r>
            <a:r>
              <a:rPr lang="en-US"/>
              <a:t> (not what is intended)</a:t>
            </a:r>
          </a:p>
          <a:p>
            <a:pPr lvl="1">
              <a:lnSpc>
                <a:spcPct val="90000"/>
              </a:lnSpc>
              <a:defRPr/>
            </a:pPr>
            <a:r>
              <a:rPr lang="en-US"/>
              <a:t>Updating row for Smith in </a:t>
            </a:r>
            <a:r>
              <a:rPr lang="en-US">
                <a:effectLst>
                  <a:outerShdw blurRad="38100" dist="38100" dir="2700000" algn="tl">
                    <a:srgbClr val="C0C0C0"/>
                  </a:outerShdw>
                </a:effectLst>
              </a:rPr>
              <a:t>Professor</a:t>
            </a:r>
            <a:r>
              <a:rPr lang="en-US"/>
              <a:t> by setting </a:t>
            </a:r>
            <a:r>
              <a:rPr lang="en-US" i="1"/>
              <a:t>DeptId</a:t>
            </a:r>
            <a:r>
              <a:rPr lang="en-US"/>
              <a:t> to null (seems like a good idea, but how would the computer know?)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2E4A21-C598-4164-8792-312C2D151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99</a:t>
            </a:fld>
            <a:endParaRPr lang="en-US" altLang="zh-TW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1" name="Rectangle 2">
            <a:extLst>
              <a:ext uri="{FF2B5EF4-FFF2-40B4-BE49-F238E27FC236}">
                <a16:creationId xmlns:a16="http://schemas.microsoft.com/office/drawing/2014/main" id="{F912BC36-ED4F-4387-8576-B4E727A2DFF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152400"/>
            <a:ext cx="7772400" cy="609600"/>
          </a:xfrm>
        </p:spPr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Updating Views – Restrictions</a:t>
            </a:r>
          </a:p>
        </p:txBody>
      </p:sp>
      <p:sp>
        <p:nvSpPr>
          <p:cNvPr id="78852" name="Rectangle 3">
            <a:extLst>
              <a:ext uri="{FF2B5EF4-FFF2-40B4-BE49-F238E27FC236}">
                <a16:creationId xmlns:a16="http://schemas.microsoft.com/office/drawing/2014/main" id="{93E04AE5-355F-4BF9-AB10-C05D7C5D27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9600" y="990600"/>
            <a:ext cx="7543800" cy="1981200"/>
          </a:xfrm>
        </p:spPr>
        <p:txBody>
          <a:bodyPr/>
          <a:lstStyle/>
          <a:p>
            <a:r>
              <a:rPr lang="en-US" altLang="zh-TW" sz="2800">
                <a:ea typeface="新細明體" panose="02020500000000000000" pitchFamily="18" charset="-120"/>
              </a:rPr>
              <a:t>Updatable views are restricted to those in which</a:t>
            </a:r>
          </a:p>
          <a:p>
            <a:pPr lvl="1"/>
            <a:r>
              <a:rPr lang="en-US" altLang="zh-TW" sz="2400">
                <a:ea typeface="新細明體" panose="02020500000000000000" pitchFamily="18" charset="-120"/>
              </a:rPr>
              <a:t>No Cartesian product in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FROM</a:t>
            </a:r>
            <a:r>
              <a:rPr lang="en-US" altLang="zh-TW" sz="2400">
                <a:ea typeface="新細明體" panose="02020500000000000000" pitchFamily="18" charset="-120"/>
              </a:rPr>
              <a:t> clause, single table</a:t>
            </a:r>
          </a:p>
          <a:p>
            <a:pPr lvl="1"/>
            <a:r>
              <a:rPr lang="en-US" altLang="zh-TW" sz="2400">
                <a:ea typeface="新細明體" panose="02020500000000000000" pitchFamily="18" charset="-120"/>
              </a:rPr>
              <a:t>no aggregates, </a:t>
            </a:r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GROUP BY,  HAVING</a:t>
            </a:r>
          </a:p>
          <a:p>
            <a:pPr lvl="1"/>
            <a:r>
              <a:rPr lang="en-US" altLang="zh-TW" sz="2400">
                <a:latin typeface="Century Gothic" panose="020B0502020202020204" pitchFamily="34" charset="0"/>
                <a:ea typeface="新細明體" panose="02020500000000000000" pitchFamily="18" charset="-120"/>
              </a:rPr>
              <a:t> …</a:t>
            </a:r>
          </a:p>
        </p:txBody>
      </p:sp>
      <p:sp>
        <p:nvSpPr>
          <p:cNvPr id="70661" name="Text Box 5">
            <a:extLst>
              <a:ext uri="{FF2B5EF4-FFF2-40B4-BE49-F238E27FC236}">
                <a16:creationId xmlns:a16="http://schemas.microsoft.com/office/drawing/2014/main" id="{4FEE68C9-1A65-4A40-9DC8-661892E847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2971800"/>
            <a:ext cx="6889750" cy="3341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defRPr/>
            </a:pPr>
            <a:r>
              <a:rPr lang="en-US" sz="2400"/>
              <a:t>For example, if we allowed:</a:t>
            </a:r>
          </a:p>
          <a:p>
            <a:pPr>
              <a:lnSpc>
                <a:spcPct val="120000"/>
              </a:lnSpc>
              <a:defRPr/>
            </a:pPr>
            <a:r>
              <a:rPr lang="en-US" sz="2400">
                <a:latin typeface="Century Gothic" pitchFamily="34" charset="0"/>
              </a:rPr>
              <a:t>   CREATE  VIEW</a:t>
            </a:r>
            <a:r>
              <a:rPr lang="en-US" sz="2400"/>
              <a:t>  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AvgSalary</a:t>
            </a:r>
            <a:r>
              <a:rPr lang="en-US" sz="2400"/>
              <a:t>  (</a:t>
            </a:r>
            <a:r>
              <a:rPr lang="en-US" sz="2400" i="1"/>
              <a:t>DeptId, Avg_Sal</a:t>
            </a:r>
            <a:r>
              <a:rPr lang="en-US" sz="2400"/>
              <a:t> )  </a:t>
            </a:r>
            <a:r>
              <a:rPr lang="en-US" sz="2400">
                <a:latin typeface="Century Gothic" pitchFamily="34" charset="0"/>
              </a:rPr>
              <a:t>AS</a:t>
            </a:r>
          </a:p>
          <a:p>
            <a:pPr>
              <a:defRPr/>
            </a:pPr>
            <a:r>
              <a:rPr lang="en-US" sz="2400">
                <a:latin typeface="Century Gothic" pitchFamily="34" charset="0"/>
              </a:rPr>
              <a:t>       SELECT</a:t>
            </a:r>
            <a:r>
              <a:rPr lang="en-US" sz="2400"/>
              <a:t>   E.</a:t>
            </a:r>
            <a:r>
              <a:rPr lang="en-US" sz="2400" i="1"/>
              <a:t>DeptId</a:t>
            </a:r>
            <a:r>
              <a:rPr lang="en-US" sz="2400"/>
              <a:t>, </a:t>
            </a:r>
            <a:r>
              <a:rPr lang="en-US" sz="2400">
                <a:latin typeface="Century Gothic" pitchFamily="34" charset="0"/>
              </a:rPr>
              <a:t>AVG</a:t>
            </a:r>
            <a:r>
              <a:rPr lang="en-US" sz="2400"/>
              <a:t>(E.</a:t>
            </a:r>
            <a:r>
              <a:rPr lang="en-US" sz="2400" i="1"/>
              <a:t>Salary</a:t>
            </a:r>
            <a:r>
              <a:rPr lang="en-US" sz="2400"/>
              <a:t>)</a:t>
            </a:r>
          </a:p>
          <a:p>
            <a:pPr>
              <a:defRPr/>
            </a:pPr>
            <a:r>
              <a:rPr lang="en-US" sz="2400"/>
              <a:t>        </a:t>
            </a:r>
            <a:r>
              <a:rPr lang="en-US" sz="2400">
                <a:latin typeface="Century Gothic" pitchFamily="34" charset="0"/>
              </a:rPr>
              <a:t>FROM</a:t>
            </a:r>
            <a:r>
              <a:rPr lang="en-US" sz="2400"/>
              <a:t>    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Employee</a:t>
            </a:r>
            <a:r>
              <a:rPr lang="en-US" sz="2400"/>
              <a:t> E</a:t>
            </a:r>
          </a:p>
          <a:p>
            <a:pPr>
              <a:defRPr/>
            </a:pPr>
            <a:r>
              <a:rPr lang="en-US" sz="2400"/>
              <a:t>        </a:t>
            </a:r>
            <a:r>
              <a:rPr lang="en-US" sz="2400">
                <a:latin typeface="Century Gothic" pitchFamily="34" charset="0"/>
              </a:rPr>
              <a:t>GROUP  BY</a:t>
            </a:r>
            <a:r>
              <a:rPr lang="en-US" sz="2400"/>
              <a:t>  E.</a:t>
            </a:r>
            <a:r>
              <a:rPr lang="en-US" sz="2400" i="1"/>
              <a:t>DeptId</a:t>
            </a:r>
          </a:p>
          <a:p>
            <a:pPr>
              <a:lnSpc>
                <a:spcPct val="150000"/>
              </a:lnSpc>
              <a:defRPr/>
            </a:pPr>
            <a:r>
              <a:rPr lang="en-US" sz="2400"/>
              <a:t>then how do  we handle: </a:t>
            </a:r>
          </a:p>
          <a:p>
            <a:pPr>
              <a:lnSpc>
                <a:spcPct val="120000"/>
              </a:lnSpc>
              <a:defRPr/>
            </a:pPr>
            <a:r>
              <a:rPr lang="en-US" sz="2400"/>
              <a:t>     </a:t>
            </a:r>
            <a:r>
              <a:rPr lang="en-US" sz="2400">
                <a:latin typeface="Century Gothic" pitchFamily="34" charset="0"/>
              </a:rPr>
              <a:t>UPDATE  </a:t>
            </a:r>
            <a:r>
              <a:rPr lang="en-US" sz="2400">
                <a:effectLst>
                  <a:outerShdw blurRad="38100" dist="38100" dir="2700000" algn="tl">
                    <a:srgbClr val="C0C0C0"/>
                  </a:outerShdw>
                </a:effectLst>
              </a:rPr>
              <a:t>AvgSalary</a:t>
            </a:r>
          </a:p>
          <a:p>
            <a:pPr>
              <a:defRPr/>
            </a:pPr>
            <a:r>
              <a:rPr lang="en-US" sz="2400"/>
              <a:t>        </a:t>
            </a:r>
            <a:r>
              <a:rPr lang="en-US" sz="2400">
                <a:latin typeface="Century Gothic" pitchFamily="34" charset="0"/>
              </a:rPr>
              <a:t>SET</a:t>
            </a:r>
            <a:r>
              <a:rPr lang="en-US" sz="2400"/>
              <a:t>  </a:t>
            </a:r>
            <a:r>
              <a:rPr lang="en-US" sz="2400" i="1"/>
              <a:t>Avg</a:t>
            </a:r>
            <a:r>
              <a:rPr lang="en-US" sz="2400"/>
              <a:t>_</a:t>
            </a:r>
            <a:r>
              <a:rPr lang="en-US" sz="2400" i="1"/>
              <a:t>Sal</a:t>
            </a:r>
            <a:r>
              <a:rPr lang="en-US" sz="2400"/>
              <a:t> = 1.1 * </a:t>
            </a:r>
            <a:r>
              <a:rPr lang="en-US" sz="2400" i="1"/>
              <a:t>Avg</a:t>
            </a:r>
            <a:r>
              <a:rPr lang="en-US" sz="2400"/>
              <a:t>_</a:t>
            </a:r>
            <a:r>
              <a:rPr lang="en-US" sz="2400" i="1"/>
              <a:t>Sal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D312A3-3258-465B-961F-5CC7CBD32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100</a:t>
            </a:fld>
            <a:endParaRPr lang="en-US" altLang="zh-TW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>
            <a:extLst>
              <a:ext uri="{FF2B5EF4-FFF2-40B4-BE49-F238E27FC236}">
                <a16:creationId xmlns:a16="http://schemas.microsoft.com/office/drawing/2014/main" id="{A4A9EF5C-8B32-4836-A07C-3AC064B693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Relational Algebra and SQL Exercises</a:t>
            </a:r>
          </a:p>
        </p:txBody>
      </p:sp>
      <p:sp>
        <p:nvSpPr>
          <p:cNvPr id="79875" name="Rectangle 3">
            <a:extLst>
              <a:ext uri="{FF2B5EF4-FFF2-40B4-BE49-F238E27FC236}">
                <a16:creationId xmlns:a16="http://schemas.microsoft.com/office/drawing/2014/main" id="{737EAAB2-A74C-48E1-BB74-F8CFF93EC3C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2160657"/>
            <a:ext cx="6096000" cy="1828800"/>
          </a:xfrm>
        </p:spPr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Professor(</a:t>
            </a:r>
            <a:r>
              <a:rPr lang="en-US" altLang="zh-TW" u="sng" dirty="0" err="1">
                <a:ea typeface="新細明體" panose="02020500000000000000" pitchFamily="18" charset="-120"/>
              </a:rPr>
              <a:t>ssn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profname</a:t>
            </a:r>
            <a:r>
              <a:rPr lang="en-US" altLang="zh-TW" dirty="0">
                <a:ea typeface="新細明體" panose="02020500000000000000" pitchFamily="18" charset="-120"/>
              </a:rPr>
              <a:t>, status)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Course(</a:t>
            </a:r>
            <a:r>
              <a:rPr lang="en-US" altLang="zh-TW" u="sng" dirty="0" err="1">
                <a:ea typeface="新細明體" panose="02020500000000000000" pitchFamily="18" charset="-120"/>
              </a:rPr>
              <a:t>crscode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crsname</a:t>
            </a:r>
            <a:r>
              <a:rPr lang="en-US" altLang="zh-TW" dirty="0">
                <a:ea typeface="新細明體" panose="02020500000000000000" pitchFamily="18" charset="-120"/>
              </a:rPr>
              <a:t>, credits)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Taught(</a:t>
            </a:r>
            <a:r>
              <a:rPr lang="en-US" altLang="zh-TW" u="sng" dirty="0" err="1">
                <a:ea typeface="新細明體" panose="02020500000000000000" pitchFamily="18" charset="-120"/>
              </a:rPr>
              <a:t>crscode</a:t>
            </a:r>
            <a:r>
              <a:rPr lang="en-US" altLang="zh-TW" u="sng" dirty="0">
                <a:ea typeface="新細明體" panose="02020500000000000000" pitchFamily="18" charset="-120"/>
              </a:rPr>
              <a:t>, semester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ssn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endParaRPr lang="en-US" altLang="zh-TW" dirty="0">
              <a:ea typeface="新細明體" panose="02020500000000000000" pitchFamily="18" charset="-120"/>
            </a:endParaRPr>
          </a:p>
          <a:p>
            <a:endParaRPr lang="en-US" altLang="zh-TW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2CCEA3-B18D-483D-889D-C779D4BF0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101</a:t>
            </a:fld>
            <a:endParaRPr lang="en-US" altLang="zh-TW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64F7F6-8F33-1D3F-F1F9-5BD5DC72AC4D}"/>
              </a:ext>
            </a:extLst>
          </p:cNvPr>
          <p:cNvSpPr txBox="1"/>
          <p:nvPr/>
        </p:nvSpPr>
        <p:spPr>
          <a:xfrm>
            <a:off x="450386" y="4905346"/>
            <a:ext cx="8243228" cy="40011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r>
              <a:rPr lang="en-US" dirty="0"/>
              <a:t>https://www.programiz.com/sql/online-compiler/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0A7F84-5F48-304E-6CC8-8834CB875516}"/>
              </a:ext>
            </a:extLst>
          </p:cNvPr>
          <p:cNvSpPr txBox="1"/>
          <p:nvPr/>
        </p:nvSpPr>
        <p:spPr>
          <a:xfrm>
            <a:off x="450386" y="5934807"/>
            <a:ext cx="8036169" cy="40011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https://github.com/shiyonglu/database_javascript/blob/main/sqlexercise.txt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>
            <a:extLst>
              <a:ext uri="{FF2B5EF4-FFF2-40B4-BE49-F238E27FC236}">
                <a16:creationId xmlns:a16="http://schemas.microsoft.com/office/drawing/2014/main" id="{A4A9EF5C-8B32-4836-A07C-3AC064B693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Relational Algebra and SQL Exercises</a:t>
            </a:r>
          </a:p>
        </p:txBody>
      </p:sp>
      <p:sp>
        <p:nvSpPr>
          <p:cNvPr id="79875" name="Rectangle 3">
            <a:extLst>
              <a:ext uri="{FF2B5EF4-FFF2-40B4-BE49-F238E27FC236}">
                <a16:creationId xmlns:a16="http://schemas.microsoft.com/office/drawing/2014/main" id="{737EAAB2-A74C-48E1-BB74-F8CFF93EC3C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85421" y="2395979"/>
            <a:ext cx="6096000" cy="2590800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CREATE TABLE professor(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</a:t>
            </a:r>
            <a:r>
              <a:rPr lang="en-US" altLang="zh-TW" sz="1800" dirty="0" err="1"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ea typeface="新細明體" panose="02020500000000000000" pitchFamily="18" charset="-120"/>
              </a:rPr>
              <a:t> INTEGER,                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</a:t>
            </a:r>
            <a:r>
              <a:rPr lang="en-US" altLang="zh-TW" sz="1800" dirty="0" err="1">
                <a:ea typeface="新細明體" panose="02020500000000000000" pitchFamily="18" charset="-120"/>
              </a:rPr>
              <a:t>profname</a:t>
            </a:r>
            <a:r>
              <a:rPr lang="en-US" altLang="zh-TW" sz="1800" dirty="0">
                <a:ea typeface="新細明體" panose="02020500000000000000" pitchFamily="18" charset="-120"/>
              </a:rPr>
              <a:t> VARCHAR(50),               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status VARCHAR(10),                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PRIMARY KEY(</a:t>
            </a:r>
            <a:r>
              <a:rPr lang="en-US" altLang="zh-TW" sz="1800" dirty="0" err="1"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ea typeface="新細明體" panose="02020500000000000000" pitchFamily="18" charset="-120"/>
              </a:rPr>
              <a:t>)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);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FA11F51-0465-407C-8549-50715A50E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102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27564633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>
            <a:extLst>
              <a:ext uri="{FF2B5EF4-FFF2-40B4-BE49-F238E27FC236}">
                <a16:creationId xmlns:a16="http://schemas.microsoft.com/office/drawing/2014/main" id="{A4A9EF5C-8B32-4836-A07C-3AC064B693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Relational Algebra and SQL Exercises</a:t>
            </a:r>
          </a:p>
        </p:txBody>
      </p:sp>
      <p:sp>
        <p:nvSpPr>
          <p:cNvPr id="79875" name="Rectangle 3">
            <a:extLst>
              <a:ext uri="{FF2B5EF4-FFF2-40B4-BE49-F238E27FC236}">
                <a16:creationId xmlns:a16="http://schemas.microsoft.com/office/drawing/2014/main" id="{737EAAB2-A74C-48E1-BB74-F8CFF93EC3C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85421" y="2395979"/>
            <a:ext cx="6096000" cy="2590800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CREATE TABLE course(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</a:t>
            </a:r>
            <a:r>
              <a:rPr lang="en-US" altLang="zh-TW" sz="1800" dirty="0" err="1">
                <a:ea typeface="新細明體" panose="02020500000000000000" pitchFamily="18" charset="-120"/>
              </a:rPr>
              <a:t>crscode</a:t>
            </a:r>
            <a:r>
              <a:rPr lang="en-US" altLang="zh-TW" sz="1800" dirty="0">
                <a:ea typeface="新細明體" panose="02020500000000000000" pitchFamily="18" charset="-120"/>
              </a:rPr>
              <a:t> CHAR(7),                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</a:t>
            </a:r>
            <a:r>
              <a:rPr lang="en-US" altLang="zh-TW" sz="1800" dirty="0" err="1">
                <a:ea typeface="新細明體" panose="02020500000000000000" pitchFamily="18" charset="-120"/>
              </a:rPr>
              <a:t>crsname</a:t>
            </a:r>
            <a:r>
              <a:rPr lang="en-US" altLang="zh-TW" sz="1800" dirty="0">
                <a:ea typeface="新細明體" panose="02020500000000000000" pitchFamily="18" charset="-120"/>
              </a:rPr>
              <a:t> VARCHAR(100),               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credit TINYINT,                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PRIMARY KEY(</a:t>
            </a:r>
            <a:r>
              <a:rPr lang="en-US" altLang="zh-TW" sz="1800" dirty="0" err="1">
                <a:ea typeface="新細明體" panose="02020500000000000000" pitchFamily="18" charset="-120"/>
              </a:rPr>
              <a:t>crscode</a:t>
            </a:r>
            <a:r>
              <a:rPr lang="en-US" altLang="zh-TW" sz="1800" dirty="0">
                <a:ea typeface="新細明體" panose="02020500000000000000" pitchFamily="18" charset="-120"/>
              </a:rPr>
              <a:t>)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);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6EECB9-228E-4068-929E-927DA9E8B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103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43192963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>
            <a:extLst>
              <a:ext uri="{FF2B5EF4-FFF2-40B4-BE49-F238E27FC236}">
                <a16:creationId xmlns:a16="http://schemas.microsoft.com/office/drawing/2014/main" id="{A4A9EF5C-8B32-4836-A07C-3AC064B693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Relational Algebra and SQL Exercises</a:t>
            </a:r>
          </a:p>
        </p:txBody>
      </p:sp>
      <p:sp>
        <p:nvSpPr>
          <p:cNvPr id="79875" name="Rectangle 3">
            <a:extLst>
              <a:ext uri="{FF2B5EF4-FFF2-40B4-BE49-F238E27FC236}">
                <a16:creationId xmlns:a16="http://schemas.microsoft.com/office/drawing/2014/main" id="{737EAAB2-A74C-48E1-BB74-F8CFF93EC3C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85421" y="2395978"/>
            <a:ext cx="6865070" cy="3278957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CREATE TABLE taught(		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</a:t>
            </a:r>
            <a:r>
              <a:rPr lang="en-US" altLang="zh-TW" sz="1800" dirty="0" err="1">
                <a:ea typeface="新細明體" panose="02020500000000000000" pitchFamily="18" charset="-120"/>
              </a:rPr>
              <a:t>crscode</a:t>
            </a:r>
            <a:r>
              <a:rPr lang="en-US" altLang="zh-TW" sz="1800" dirty="0">
                <a:ea typeface="新細明體" panose="02020500000000000000" pitchFamily="18" charset="-120"/>
              </a:rPr>
              <a:t> CHAR(7),                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semester MEDIUMINT,               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</a:t>
            </a:r>
            <a:r>
              <a:rPr lang="en-US" altLang="zh-TW" sz="1800" dirty="0" err="1"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ea typeface="新細明體" panose="02020500000000000000" pitchFamily="18" charset="-120"/>
              </a:rPr>
              <a:t> INTEGER,                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PRIMARY KEY(</a:t>
            </a:r>
            <a:r>
              <a:rPr lang="en-US" altLang="zh-TW" sz="1800" dirty="0" err="1">
                <a:ea typeface="新細明體" panose="02020500000000000000" pitchFamily="18" charset="-120"/>
              </a:rPr>
              <a:t>crscode</a:t>
            </a:r>
            <a:r>
              <a:rPr lang="en-US" altLang="zh-TW" sz="1800" dirty="0">
                <a:ea typeface="新細明體" panose="02020500000000000000" pitchFamily="18" charset="-120"/>
              </a:rPr>
              <a:t>, semester),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FOREIGN KEY(</a:t>
            </a:r>
            <a:r>
              <a:rPr lang="en-US" altLang="zh-TW" sz="1800" dirty="0" err="1">
                <a:ea typeface="新細明體" panose="02020500000000000000" pitchFamily="18" charset="-120"/>
              </a:rPr>
              <a:t>crscode</a:t>
            </a:r>
            <a:r>
              <a:rPr lang="en-US" altLang="zh-TW" sz="1800" dirty="0">
                <a:ea typeface="新細明體" panose="02020500000000000000" pitchFamily="18" charset="-120"/>
              </a:rPr>
              <a:t>) REFERENCES course(</a:t>
            </a:r>
            <a:r>
              <a:rPr lang="en-US" altLang="zh-TW" sz="1800" dirty="0" err="1">
                <a:ea typeface="新細明體" panose="02020500000000000000" pitchFamily="18" charset="-120"/>
              </a:rPr>
              <a:t>crscode</a:t>
            </a:r>
            <a:r>
              <a:rPr lang="en-US" altLang="zh-TW" sz="1800" dirty="0">
                <a:ea typeface="新細明體" panose="02020500000000000000" pitchFamily="18" charset="-120"/>
              </a:rPr>
              <a:t>),	FOREIGN KEY(</a:t>
            </a:r>
            <a:r>
              <a:rPr lang="en-US" altLang="zh-TW" sz="1800" dirty="0" err="1"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ea typeface="新細明體" panose="02020500000000000000" pitchFamily="18" charset="-120"/>
              </a:rPr>
              <a:t>) REFERENCES professor(</a:t>
            </a:r>
            <a:r>
              <a:rPr lang="en-US" altLang="zh-TW" sz="1800" dirty="0" err="1"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ea typeface="新細明體" panose="02020500000000000000" pitchFamily="18" charset="-120"/>
              </a:rPr>
              <a:t>)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);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659AF6-0F8C-459C-A72F-DB53448A3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104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2361221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>
            <a:extLst>
              <a:ext uri="{FF2B5EF4-FFF2-40B4-BE49-F238E27FC236}">
                <a16:creationId xmlns:a16="http://schemas.microsoft.com/office/drawing/2014/main" id="{A4A9EF5C-8B32-4836-A07C-3AC064B693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Relational Algebra and SQL Exercises</a:t>
            </a:r>
          </a:p>
        </p:txBody>
      </p:sp>
      <p:sp>
        <p:nvSpPr>
          <p:cNvPr id="79875" name="Rectangle 3">
            <a:extLst>
              <a:ext uri="{FF2B5EF4-FFF2-40B4-BE49-F238E27FC236}">
                <a16:creationId xmlns:a16="http://schemas.microsoft.com/office/drawing/2014/main" id="{737EAAB2-A74C-48E1-BB74-F8CFF93EC3C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85421" y="2395978"/>
            <a:ext cx="6865070" cy="3278957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INSERT INTO professor 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              VALUES (1111, 'Smith', 'Full'), 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              (2222, 'John', 'Associate'),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              (3333, 'Thomas', 'Associate'),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              (4444, 'Kathy', 'Assistant'),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              (5555, 'Peter', 'Full');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DCF128-43E9-4615-965B-FA8035E75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105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2106783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>
            <a:extLst>
              <a:ext uri="{FF2B5EF4-FFF2-40B4-BE49-F238E27FC236}">
                <a16:creationId xmlns:a16="http://schemas.microsoft.com/office/drawing/2014/main" id="{A4A9EF5C-8B32-4836-A07C-3AC064B693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Relational Algebra and SQL Exercises</a:t>
            </a:r>
          </a:p>
        </p:txBody>
      </p:sp>
      <p:sp>
        <p:nvSpPr>
          <p:cNvPr id="79875" name="Rectangle 3">
            <a:extLst>
              <a:ext uri="{FF2B5EF4-FFF2-40B4-BE49-F238E27FC236}">
                <a16:creationId xmlns:a16="http://schemas.microsoft.com/office/drawing/2014/main" id="{737EAAB2-A74C-48E1-BB74-F8CFF93EC3C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85421" y="2395978"/>
            <a:ext cx="6865070" cy="3278957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INSERT INTO course 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VALUES('CSC6710', 'Database course I', 3), 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('CSC7710', 'Database II', 3),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('CSC4710', 'Introduction to Database', 3),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('CSC3020', 'Java Programming', 3),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       	('CSC4110', 'Software engineering', 3),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('CSC8710', 'Big Data Management', 3);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175362-C8A1-4E94-8372-5747B32A0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106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5527454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>
            <a:extLst>
              <a:ext uri="{FF2B5EF4-FFF2-40B4-BE49-F238E27FC236}">
                <a16:creationId xmlns:a16="http://schemas.microsoft.com/office/drawing/2014/main" id="{A4A9EF5C-8B32-4836-A07C-3AC064B693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Relational Algebra and SQL Exercises</a:t>
            </a:r>
          </a:p>
        </p:txBody>
      </p:sp>
      <p:sp>
        <p:nvSpPr>
          <p:cNvPr id="79875" name="Rectangle 3">
            <a:extLst>
              <a:ext uri="{FF2B5EF4-FFF2-40B4-BE49-F238E27FC236}">
                <a16:creationId xmlns:a16="http://schemas.microsoft.com/office/drawing/2014/main" id="{737EAAB2-A74C-48E1-BB74-F8CFF93EC3C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73991" y="1752600"/>
            <a:ext cx="7382846" cy="4953000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INSERT INTO taught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VALUES('CSC6710', 20172, 1111), 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('CSC7710', 20172, 1111),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                ('CSC4710', 20172, 1111),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                ('CSC3020', 20172, 1111),	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('CSC4710', 20150, 2222),	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('CSC3020', 20151, 2222),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('CSC6710', 20190, 2222),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('CSC7710', 20190, 2222),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                ('CSC7710', 20180, 3333),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('CSC8710', 20162, 1111),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                ('CSC6710', 20152, 5555),</a:t>
            </a:r>
          </a:p>
          <a:p>
            <a:pPr marL="0" indent="0">
              <a:buNone/>
            </a:pPr>
            <a:r>
              <a:rPr lang="en-US" altLang="zh-TW" sz="1800" dirty="0">
                <a:ea typeface="新細明體" panose="02020500000000000000" pitchFamily="18" charset="-120"/>
              </a:rPr>
              <a:t>	('CSC4110', 20172, 1111);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458007-93F0-4B96-A571-7D04CDB45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107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31510273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>
            <a:extLst>
              <a:ext uri="{FF2B5EF4-FFF2-40B4-BE49-F238E27FC236}">
                <a16:creationId xmlns:a16="http://schemas.microsoft.com/office/drawing/2014/main" id="{62413AB5-047C-4C22-9780-14B96F9266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ea typeface="宋体" panose="02010600030101010101" pitchFamily="2" charset="-122"/>
              </a:rPr>
              <a:t>Query Patterns</a:t>
            </a:r>
            <a:endParaRPr lang="en-US" altLang="zh-TW">
              <a:ea typeface="新細明體" panose="02020500000000000000" pitchFamily="18" charset="-120"/>
            </a:endParaRPr>
          </a:p>
        </p:txBody>
      </p:sp>
      <p:sp>
        <p:nvSpPr>
          <p:cNvPr id="80899" name="Rectangle 3">
            <a:extLst>
              <a:ext uri="{FF2B5EF4-FFF2-40B4-BE49-F238E27FC236}">
                <a16:creationId xmlns:a16="http://schemas.microsoft.com/office/drawing/2014/main" id="{E891E02B-71A5-4B74-AF17-E5433205620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905000"/>
            <a:ext cx="8153400" cy="4648200"/>
          </a:xfrm>
        </p:spPr>
        <p:txBody>
          <a:bodyPr/>
          <a:lstStyle/>
          <a:p>
            <a:pPr marL="514350" indent="-514350">
              <a:buFont typeface="Times New Roman" panose="02020603050405020304" pitchFamily="18" charset="0"/>
              <a:buAutoNum type="arabicPeriod"/>
            </a:pPr>
            <a:r>
              <a:rPr lang="en-US" altLang="zh-TW" dirty="0">
                <a:ea typeface="新細明體" panose="02020500000000000000" pitchFamily="18" charset="-120"/>
              </a:rPr>
              <a:t>Pattern 1:</a:t>
            </a:r>
            <a:r>
              <a:rPr lang="zh-CN" altLang="en-US" dirty="0">
                <a:ea typeface="宋体" panose="02010600030101010101" pitchFamily="2" charset="-122"/>
              </a:rPr>
              <a:t> </a:t>
            </a:r>
            <a:r>
              <a:rPr lang="en-US" altLang="zh-CN" dirty="0">
                <a:ea typeface="宋体" panose="02010600030101010101" pitchFamily="2" charset="-122"/>
              </a:rPr>
              <a:t>Double circle</a:t>
            </a:r>
          </a:p>
          <a:p>
            <a:pPr marL="514350" indent="-514350">
              <a:buFont typeface="Times New Roman" panose="02020603050405020304" pitchFamily="18" charset="0"/>
              <a:buAutoNum type="arabicPeriod"/>
            </a:pPr>
            <a:r>
              <a:rPr lang="en-US" altLang="zh-TW" dirty="0">
                <a:ea typeface="新細明體" panose="02020500000000000000" pitchFamily="18" charset="-120"/>
              </a:rPr>
              <a:t>Pattern 2: Negation</a:t>
            </a:r>
          </a:p>
          <a:p>
            <a:pPr marL="514350" indent="-514350">
              <a:buFont typeface="Times New Roman" panose="02020603050405020304" pitchFamily="18" charset="0"/>
              <a:buAutoNum type="arabicPeriod"/>
            </a:pPr>
            <a:r>
              <a:rPr lang="en-US" altLang="zh-TW" dirty="0">
                <a:ea typeface="新細明體" panose="02020500000000000000" pitchFamily="18" charset="-120"/>
              </a:rPr>
              <a:t>Pattern 3: Left-hand-right-hand</a:t>
            </a:r>
          </a:p>
          <a:p>
            <a:pPr marL="514350" indent="-514350">
              <a:buFont typeface="Times New Roman" panose="02020603050405020304" pitchFamily="18" charset="0"/>
              <a:buAutoNum type="arabicPeriod"/>
            </a:pPr>
            <a:r>
              <a:rPr lang="en-US" altLang="zh-TW" dirty="0">
                <a:ea typeface="新細明體" panose="02020500000000000000" pitchFamily="18" charset="-120"/>
              </a:rPr>
              <a:t>Pattern 4: IN AND NOT IN</a:t>
            </a:r>
          </a:p>
          <a:p>
            <a:pPr marL="514350" indent="-514350">
              <a:buFont typeface="Times New Roman" panose="02020603050405020304" pitchFamily="18" charset="0"/>
              <a:buAutoNum type="arabicPeriod"/>
            </a:pPr>
            <a:r>
              <a:rPr lang="en-US" altLang="zh-TW" dirty="0">
                <a:ea typeface="新細明體" panose="02020500000000000000" pitchFamily="18" charset="-120"/>
              </a:rPr>
              <a:t>Pattern 5: </a:t>
            </a:r>
            <a:r>
              <a:rPr lang="en-US" altLang="zh-TW" dirty="0" err="1">
                <a:ea typeface="新細明體" panose="02020500000000000000" pitchFamily="18" charset="-120"/>
              </a:rPr>
              <a:t>GroupBy</a:t>
            </a:r>
            <a:endParaRPr lang="en-US" altLang="zh-TW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4E92FA-06B0-4846-8BBD-FCC6198AE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108</a:t>
            </a:fld>
            <a:endParaRPr lang="en-US" altLang="zh-TW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>
            <a:extLst>
              <a:ext uri="{FF2B5EF4-FFF2-40B4-BE49-F238E27FC236}">
                <a16:creationId xmlns:a16="http://schemas.microsoft.com/office/drawing/2014/main" id="{6958958F-8150-4268-93F8-76821E4E43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ea typeface="宋体" panose="02010600030101010101" pitchFamily="2" charset="-122"/>
              </a:rPr>
              <a:t>Query Patterns</a:t>
            </a:r>
            <a:endParaRPr lang="en-US" altLang="zh-TW">
              <a:ea typeface="新細明體" panose="02020500000000000000" pitchFamily="18" charset="-120"/>
            </a:endParaRPr>
          </a:p>
        </p:txBody>
      </p:sp>
      <p:sp>
        <p:nvSpPr>
          <p:cNvPr id="81923" name="Rectangle 3">
            <a:extLst>
              <a:ext uri="{FF2B5EF4-FFF2-40B4-BE49-F238E27FC236}">
                <a16:creationId xmlns:a16="http://schemas.microsoft.com/office/drawing/2014/main" id="{E7176C6F-99EE-4C35-9879-BED486D681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905000"/>
            <a:ext cx="8153400" cy="4648200"/>
          </a:xfrm>
        </p:spPr>
        <p:txBody>
          <a:bodyPr/>
          <a:lstStyle/>
          <a:p>
            <a:pPr marL="0" indent="0">
              <a:buNone/>
            </a:pPr>
            <a:r>
              <a:rPr lang="en-US" altLang="zh-TW" dirty="0">
                <a:ea typeface="新細明體" panose="02020500000000000000" pitchFamily="18" charset="-120"/>
              </a:rPr>
              <a:t>6.  Pattern 6:</a:t>
            </a:r>
            <a:r>
              <a:rPr lang="zh-CN" altLang="en-US" dirty="0">
                <a:ea typeface="宋体" panose="02010600030101010101" pitchFamily="2" charset="-122"/>
              </a:rPr>
              <a:t> </a:t>
            </a:r>
            <a:r>
              <a:rPr lang="en-US" altLang="zh-CN" dirty="0">
                <a:ea typeface="宋体" panose="02010600030101010101" pitchFamily="2" charset="-122"/>
              </a:rPr>
              <a:t>JOIN</a:t>
            </a:r>
          </a:p>
          <a:p>
            <a:pPr marL="514350" indent="-514350">
              <a:buFont typeface="Times New Roman" panose="02020603050405020304" pitchFamily="18" charset="0"/>
              <a:buAutoNum type="arabicPeriod" startAt="7"/>
            </a:pPr>
            <a:r>
              <a:rPr lang="en-US" altLang="zh-TW" dirty="0">
                <a:ea typeface="新細明體" panose="02020500000000000000" pitchFamily="18" charset="-120"/>
              </a:rPr>
              <a:t>Pattern 7: No-witness</a:t>
            </a:r>
          </a:p>
          <a:p>
            <a:pPr marL="514350" indent="-514350">
              <a:buFont typeface="Times New Roman" panose="02020603050405020304" pitchFamily="18" charset="0"/>
              <a:buAutoNum type="arabicPeriod" startAt="7"/>
            </a:pPr>
            <a:r>
              <a:rPr lang="en-US" altLang="zh-TW" dirty="0">
                <a:ea typeface="新細明體" panose="02020500000000000000" pitchFamily="18" charset="-120"/>
              </a:rPr>
              <a:t>Pattern 8: Division </a:t>
            </a:r>
          </a:p>
          <a:p>
            <a:pPr marL="514350" indent="-514350">
              <a:buFont typeface="Times New Roman" panose="02020603050405020304" pitchFamily="18" charset="0"/>
              <a:buAutoNum type="arabicPeriod" startAt="7"/>
            </a:pPr>
            <a:r>
              <a:rPr lang="en-US" altLang="zh-TW" dirty="0">
                <a:ea typeface="新細明體" panose="02020500000000000000" pitchFamily="18" charset="-120"/>
              </a:rPr>
              <a:t>Pattern 9: the VIEW pattern</a:t>
            </a:r>
          </a:p>
          <a:p>
            <a:pPr marL="514350" indent="-514350">
              <a:buFontTx/>
              <a:buNone/>
            </a:pPr>
            <a:endParaRPr lang="en-US" altLang="zh-TW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E33F610-9231-412D-AD23-07FE434EA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109</a:t>
            </a:fld>
            <a:endParaRPr lang="en-US" altLang="zh-TW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2">
            <a:extLst>
              <a:ext uri="{FF2B5EF4-FFF2-40B4-BE49-F238E27FC236}">
                <a16:creationId xmlns:a16="http://schemas.microsoft.com/office/drawing/2014/main" id="{802EA2BD-84F3-4CDA-B0E8-2113F2C13CB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Query 1</a:t>
            </a:r>
          </a:p>
        </p:txBody>
      </p:sp>
      <p:sp>
        <p:nvSpPr>
          <p:cNvPr id="82947" name="Text Box 4">
            <a:extLst>
              <a:ext uri="{FF2B5EF4-FFF2-40B4-BE49-F238E27FC236}">
                <a16:creationId xmlns:a16="http://schemas.microsoft.com/office/drawing/2014/main" id="{E421387D-8223-4A64-BBB3-32A63075D7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>
                <a:ea typeface="新細明體" panose="02020500000000000000" pitchFamily="18" charset="-120"/>
              </a:rPr>
              <a:t>Return those professors who have taught ‘csc6710’ but never ‘csc7710’.</a:t>
            </a:r>
          </a:p>
        </p:txBody>
      </p:sp>
      <p:pic>
        <p:nvPicPr>
          <p:cNvPr id="82948" name="Picture 7" descr="C:\Documents and Settings\Dr. Shiyong Lu\My Documents\schema.bmp">
            <a:extLst>
              <a:ext uri="{FF2B5EF4-FFF2-40B4-BE49-F238E27FC236}">
                <a16:creationId xmlns:a16="http://schemas.microsoft.com/office/drawing/2014/main" id="{705B78DB-37C9-4959-9209-865C42CA69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36BF7C8-36A3-42B1-9819-779C1383B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110</a:t>
            </a:fld>
            <a:endParaRPr lang="en-US" altLang="zh-TW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2">
            <a:extLst>
              <a:ext uri="{FF2B5EF4-FFF2-40B4-BE49-F238E27FC236}">
                <a16:creationId xmlns:a16="http://schemas.microsoft.com/office/drawing/2014/main" id="{B97D61B3-68EA-44F1-B532-78BC29A832C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Double Circle Pattern</a:t>
            </a:r>
          </a:p>
        </p:txBody>
      </p:sp>
      <p:sp>
        <p:nvSpPr>
          <p:cNvPr id="152579" name="椭圆 8">
            <a:extLst>
              <a:ext uri="{FF2B5EF4-FFF2-40B4-BE49-F238E27FC236}">
                <a16:creationId xmlns:a16="http://schemas.microsoft.com/office/drawing/2014/main" id="{34DB466A-73A1-4D16-91CE-52046FC0E3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0" y="1828800"/>
            <a:ext cx="2514600" cy="2362200"/>
          </a:xfrm>
          <a:prstGeom prst="ellipse">
            <a:avLst/>
          </a:prstGeom>
          <a:pattFill prst="wdUpDiag">
            <a:fgClr>
              <a:srgbClr val="00B050"/>
            </a:fgClr>
            <a:bgClr>
              <a:schemeClr val="bg1"/>
            </a:bgClr>
          </a:patt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 dirty="0"/>
          </a:p>
        </p:txBody>
      </p:sp>
      <p:sp>
        <p:nvSpPr>
          <p:cNvPr id="152580" name="椭圆 9">
            <a:extLst>
              <a:ext uri="{FF2B5EF4-FFF2-40B4-BE49-F238E27FC236}">
                <a16:creationId xmlns:a16="http://schemas.microsoft.com/office/drawing/2014/main" id="{4B145CBD-25DD-4127-9B45-B8BA70637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1828800"/>
            <a:ext cx="2514600" cy="2362200"/>
          </a:xfrm>
          <a:prstGeom prst="ellipse">
            <a:avLst/>
          </a:prstGeom>
          <a:solidFill>
            <a:srgbClr val="FF0000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cxnSp>
        <p:nvCxnSpPr>
          <p:cNvPr id="152581" name="直接箭头连接符 13">
            <a:extLst>
              <a:ext uri="{FF2B5EF4-FFF2-40B4-BE49-F238E27FC236}">
                <a16:creationId xmlns:a16="http://schemas.microsoft.com/office/drawing/2014/main" id="{E6D46C6C-B668-4226-81B1-2B998E2922B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200400" y="3657600"/>
            <a:ext cx="533400" cy="15240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2582" name="直接箭头连接符 15">
            <a:extLst>
              <a:ext uri="{FF2B5EF4-FFF2-40B4-BE49-F238E27FC236}">
                <a16:creationId xmlns:a16="http://schemas.microsoft.com/office/drawing/2014/main" id="{BE58FA7A-6AF9-4151-B5E0-88448CDACE1C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57800" y="3657600"/>
            <a:ext cx="304800" cy="14478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2583" name="TextBox 16">
            <a:extLst>
              <a:ext uri="{FF2B5EF4-FFF2-40B4-BE49-F238E27FC236}">
                <a16:creationId xmlns:a16="http://schemas.microsoft.com/office/drawing/2014/main" id="{2C6F448D-2A44-4733-A5D3-AC11B5F140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5181600"/>
            <a:ext cx="2457724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A: Professors 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who taught CSC 6710</a:t>
            </a:r>
          </a:p>
        </p:txBody>
      </p:sp>
      <p:sp>
        <p:nvSpPr>
          <p:cNvPr id="152584" name="TextBox 17">
            <a:extLst>
              <a:ext uri="{FF2B5EF4-FFF2-40B4-BE49-F238E27FC236}">
                <a16:creationId xmlns:a16="http://schemas.microsoft.com/office/drawing/2014/main" id="{8AD3ED0D-8E42-42E1-B36A-7B688D6493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5105400"/>
            <a:ext cx="2393604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B: Professors 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who taught CSC7710</a:t>
            </a:r>
          </a:p>
        </p:txBody>
      </p:sp>
      <p:cxnSp>
        <p:nvCxnSpPr>
          <p:cNvPr id="152585" name="直接连接符 34">
            <a:extLst>
              <a:ext uri="{FF2B5EF4-FFF2-40B4-BE49-F238E27FC236}">
                <a16:creationId xmlns:a16="http://schemas.microsoft.com/office/drawing/2014/main" id="{ABE70AFB-FFB0-4C8F-A620-89E8087157B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38400" y="3505200"/>
            <a:ext cx="0" cy="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2586" name="TextBox 48">
            <a:extLst>
              <a:ext uri="{FF2B5EF4-FFF2-40B4-BE49-F238E27FC236}">
                <a16:creationId xmlns:a16="http://schemas.microsoft.com/office/drawing/2014/main" id="{BA70CA0A-1F47-4FC7-AF10-552BDAF99E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3800" y="6019800"/>
            <a:ext cx="172878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Solution: A - B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1F1081-A699-4266-875B-9E7BBA3DE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111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86414938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2">
            <a:extLst>
              <a:ext uri="{FF2B5EF4-FFF2-40B4-BE49-F238E27FC236}">
                <a16:creationId xmlns:a16="http://schemas.microsoft.com/office/drawing/2014/main" id="{BA8CB722-F13C-4EC8-911A-71196774A10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Relational Algebra Solution</a:t>
            </a:r>
          </a:p>
        </p:txBody>
      </p:sp>
      <p:sp>
        <p:nvSpPr>
          <p:cNvPr id="83971" name="Text Box 3">
            <a:extLst>
              <a:ext uri="{FF2B5EF4-FFF2-40B4-BE49-F238E27FC236}">
                <a16:creationId xmlns:a16="http://schemas.microsoft.com/office/drawing/2014/main" id="{18121300-AFCB-4871-9785-81B8868CE9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baseline="-25000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>
                <a:ea typeface="新細明體" panose="02020500000000000000" pitchFamily="18" charset="-120"/>
                <a:sym typeface="Symbol" panose="05050102010706020507" pitchFamily="18" charset="2"/>
              </a:rPr>
              <a:t>crscode=‘csc6710’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(Taught))-</a:t>
            </a:r>
            <a:r>
              <a:rPr lang="en-US" altLang="zh-TW" sz="3200" baseline="-25000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>
                <a:ea typeface="新細明體" panose="02020500000000000000" pitchFamily="18" charset="-120"/>
                <a:sym typeface="Symbol" panose="05050102010706020507" pitchFamily="18" charset="2"/>
              </a:rPr>
              <a:t>crscode=‘csc7710’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(Taught))</a:t>
            </a:r>
          </a:p>
        </p:txBody>
      </p:sp>
      <p:pic>
        <p:nvPicPr>
          <p:cNvPr id="83972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87FD5C68-D501-4CB7-B232-690C4FB3B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116201-FFA5-4AD2-A730-3FD15B4D2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112</a:t>
            </a:fld>
            <a:endParaRPr lang="en-US" altLang="zh-TW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>
            <a:extLst>
              <a:ext uri="{FF2B5EF4-FFF2-40B4-BE49-F238E27FC236}">
                <a16:creationId xmlns:a16="http://schemas.microsoft.com/office/drawing/2014/main" id="{D663331C-4F16-4074-8516-5F445066591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84995" name="Text Box 4">
            <a:extLst>
              <a:ext uri="{FF2B5EF4-FFF2-40B4-BE49-F238E27FC236}">
                <a16:creationId xmlns:a16="http://schemas.microsoft.com/office/drawing/2014/main" id="{D876A2A7-2535-426C-92BF-187B19FBAA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90800" y="3962400"/>
            <a:ext cx="350520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'CSC6710'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EXCEPT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'CSC7710';</a:t>
            </a:r>
          </a:p>
        </p:txBody>
      </p:sp>
      <p:pic>
        <p:nvPicPr>
          <p:cNvPr id="84996" name="Picture 6" descr="C:\Documents and Settings\Dr. Shiyong Lu\My Documents\schema.bmp">
            <a:extLst>
              <a:ext uri="{FF2B5EF4-FFF2-40B4-BE49-F238E27FC236}">
                <a16:creationId xmlns:a16="http://schemas.microsoft.com/office/drawing/2014/main" id="{55C82517-8D89-4F85-AA62-C0575E464E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D71DEF-2F4F-43EB-8749-3D8EC2B9D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113</a:t>
            </a:fld>
            <a:endParaRPr lang="en-US" altLang="zh-TW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>
            <a:extLst>
              <a:ext uri="{FF2B5EF4-FFF2-40B4-BE49-F238E27FC236}">
                <a16:creationId xmlns:a16="http://schemas.microsoft.com/office/drawing/2014/main" id="{D663331C-4F16-4074-8516-5F445066591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Simulate Except</a:t>
            </a:r>
          </a:p>
        </p:txBody>
      </p:sp>
      <p:sp>
        <p:nvSpPr>
          <p:cNvPr id="84995" name="Text Box 4">
            <a:extLst>
              <a:ext uri="{FF2B5EF4-FFF2-40B4-BE49-F238E27FC236}">
                <a16:creationId xmlns:a16="http://schemas.microsoft.com/office/drawing/2014/main" id="{D876A2A7-2535-426C-92BF-187B19FBAA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4034" y="3934549"/>
            <a:ext cx="5591666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From Taught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'CSC6710' AND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NOT IN 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(SELECT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From Taught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'CSC7710'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);</a:t>
            </a:r>
          </a:p>
          <a:p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84996" name="Picture 6" descr="C:\Documents and Settings\Dr. Shiyong Lu\My Documents\schema.bmp">
            <a:extLst>
              <a:ext uri="{FF2B5EF4-FFF2-40B4-BE49-F238E27FC236}">
                <a16:creationId xmlns:a16="http://schemas.microsoft.com/office/drawing/2014/main" id="{55C82517-8D89-4F85-AA62-C0575E464E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730FCC0-66EF-48F3-9EF9-52B28BB24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114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3333376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F1942-ABBA-524A-2F06-FF795B98B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>
            <a:extLst>
              <a:ext uri="{FF2B5EF4-FFF2-40B4-BE49-F238E27FC236}">
                <a16:creationId xmlns:a16="http://schemas.microsoft.com/office/drawing/2014/main" id="{523DECC9-D296-DD4B-7B16-06D7DB45AB1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What does it mean by NOT IN</a:t>
            </a:r>
          </a:p>
        </p:txBody>
      </p:sp>
      <p:sp>
        <p:nvSpPr>
          <p:cNvPr id="84995" name="Text Box 4">
            <a:extLst>
              <a:ext uri="{FF2B5EF4-FFF2-40B4-BE49-F238E27FC236}">
                <a16:creationId xmlns:a16="http://schemas.microsoft.com/office/drawing/2014/main" id="{60442665-6DD1-8BCC-E103-6F291940CF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4034" y="1931724"/>
            <a:ext cx="5591666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NOT IN 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[1111, 2222, 3333] </a:t>
            </a:r>
          </a:p>
          <a:p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Means</a:t>
            </a:r>
          </a:p>
          <a:p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&lt;&gt; 1111 AND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&lt;&gt; 2222 AND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&lt;&gt; 3333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DBC1C7-D3FE-4970-57A3-7374EE808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115</a:t>
            </a:fld>
            <a:endParaRPr lang="en-US" altLang="zh-TW"/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67FA847D-5D34-7D34-9307-0696F20ED0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4034" y="4228238"/>
            <a:ext cx="5591666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IN 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[1111,2222,3333] </a:t>
            </a:r>
          </a:p>
          <a:p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Means</a:t>
            </a:r>
          </a:p>
          <a:p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1111 OR 2222 OR 3333</a:t>
            </a:r>
          </a:p>
        </p:txBody>
      </p:sp>
    </p:spTree>
    <p:extLst>
      <p:ext uri="{BB962C8B-B14F-4D97-AF65-F5344CB8AC3E}">
        <p14:creationId xmlns:p14="http://schemas.microsoft.com/office/powerpoint/2010/main" val="106193662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>
            <a:extLst>
              <a:ext uri="{FF2B5EF4-FFF2-40B4-BE49-F238E27FC236}">
                <a16:creationId xmlns:a16="http://schemas.microsoft.com/office/drawing/2014/main" id="{0A9F1AD1-9C9C-4BE1-AA86-90B09817F4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Query 2</a:t>
            </a:r>
          </a:p>
        </p:txBody>
      </p:sp>
      <p:sp>
        <p:nvSpPr>
          <p:cNvPr id="86019" name="Text Box 3">
            <a:extLst>
              <a:ext uri="{FF2B5EF4-FFF2-40B4-BE49-F238E27FC236}">
                <a16:creationId xmlns:a16="http://schemas.microsoft.com/office/drawing/2014/main" id="{3B2EC0FF-89C6-4BD3-A469-1D8D14E1BD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>
                <a:ea typeface="新細明體" panose="02020500000000000000" pitchFamily="18" charset="-120"/>
              </a:rPr>
              <a:t>Return those professors who have taught both ‘csc6710’ and ‘csc7710’.</a:t>
            </a:r>
          </a:p>
        </p:txBody>
      </p:sp>
      <p:pic>
        <p:nvPicPr>
          <p:cNvPr id="86020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F39AA188-840F-41D9-8DCB-3DD6C401C7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8D5E9B-6EDB-450C-B9C8-66115179F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116</a:t>
            </a:fld>
            <a:endParaRPr lang="en-US" altLang="zh-TW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80" name="椭圆 9">
            <a:extLst>
              <a:ext uri="{FF2B5EF4-FFF2-40B4-BE49-F238E27FC236}">
                <a16:creationId xmlns:a16="http://schemas.microsoft.com/office/drawing/2014/main" id="{4B145CBD-25DD-4127-9B45-B8BA70637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1828800"/>
            <a:ext cx="2514600" cy="2362200"/>
          </a:xfrm>
          <a:prstGeom prst="ellips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152578" name="Rectangle 2">
            <a:extLst>
              <a:ext uri="{FF2B5EF4-FFF2-40B4-BE49-F238E27FC236}">
                <a16:creationId xmlns:a16="http://schemas.microsoft.com/office/drawing/2014/main" id="{B97D61B3-68EA-44F1-B532-78BC29A832C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Double Circle Pattern</a:t>
            </a:r>
          </a:p>
        </p:txBody>
      </p:sp>
      <p:sp>
        <p:nvSpPr>
          <p:cNvPr id="152579" name="椭圆 8">
            <a:extLst>
              <a:ext uri="{FF2B5EF4-FFF2-40B4-BE49-F238E27FC236}">
                <a16:creationId xmlns:a16="http://schemas.microsoft.com/office/drawing/2014/main" id="{34DB466A-73A1-4D16-91CE-52046FC0E3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0" y="1828800"/>
            <a:ext cx="2514600" cy="2362200"/>
          </a:xfrm>
          <a:prstGeom prst="ellips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 dirty="0"/>
          </a:p>
        </p:txBody>
      </p:sp>
      <p:cxnSp>
        <p:nvCxnSpPr>
          <p:cNvPr id="152581" name="直接箭头连接符 13">
            <a:extLst>
              <a:ext uri="{FF2B5EF4-FFF2-40B4-BE49-F238E27FC236}">
                <a16:creationId xmlns:a16="http://schemas.microsoft.com/office/drawing/2014/main" id="{E6D46C6C-B668-4226-81B1-2B998E2922B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200400" y="3657600"/>
            <a:ext cx="533400" cy="15240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2582" name="直接箭头连接符 15">
            <a:extLst>
              <a:ext uri="{FF2B5EF4-FFF2-40B4-BE49-F238E27FC236}">
                <a16:creationId xmlns:a16="http://schemas.microsoft.com/office/drawing/2014/main" id="{BE58FA7A-6AF9-4151-B5E0-88448CDACE1C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57800" y="3657600"/>
            <a:ext cx="304800" cy="14478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2583" name="TextBox 16">
            <a:extLst>
              <a:ext uri="{FF2B5EF4-FFF2-40B4-BE49-F238E27FC236}">
                <a16:creationId xmlns:a16="http://schemas.microsoft.com/office/drawing/2014/main" id="{2C6F448D-2A44-4733-A5D3-AC11B5F140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5181600"/>
            <a:ext cx="2457724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A: Professors 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who taught CSC 6710</a:t>
            </a:r>
          </a:p>
        </p:txBody>
      </p:sp>
      <p:sp>
        <p:nvSpPr>
          <p:cNvPr id="152584" name="TextBox 17">
            <a:extLst>
              <a:ext uri="{FF2B5EF4-FFF2-40B4-BE49-F238E27FC236}">
                <a16:creationId xmlns:a16="http://schemas.microsoft.com/office/drawing/2014/main" id="{8AD3ED0D-8E42-42E1-B36A-7B688D6493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5105400"/>
            <a:ext cx="2393604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B: Professors 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who taught CSC7710</a:t>
            </a:r>
          </a:p>
        </p:txBody>
      </p:sp>
      <p:cxnSp>
        <p:nvCxnSpPr>
          <p:cNvPr id="152585" name="直接连接符 34">
            <a:extLst>
              <a:ext uri="{FF2B5EF4-FFF2-40B4-BE49-F238E27FC236}">
                <a16:creationId xmlns:a16="http://schemas.microsoft.com/office/drawing/2014/main" id="{ABE70AFB-FFB0-4C8F-A620-89E8087157B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38400" y="3505200"/>
            <a:ext cx="0" cy="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2586" name="TextBox 48">
            <a:extLst>
              <a:ext uri="{FF2B5EF4-FFF2-40B4-BE49-F238E27FC236}">
                <a16:creationId xmlns:a16="http://schemas.microsoft.com/office/drawing/2014/main" id="{BA70CA0A-1F47-4FC7-AF10-552BDAF99E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3800" y="6019800"/>
            <a:ext cx="172878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Solution: A - B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FC29CDC-E747-4AC3-AF02-C608D65E6A14}"/>
              </a:ext>
            </a:extLst>
          </p:cNvPr>
          <p:cNvCxnSpPr>
            <a:endCxn id="152579" idx="7"/>
          </p:cNvCxnSpPr>
          <p:nvPr/>
        </p:nvCxnSpPr>
        <p:spPr bwMode="auto">
          <a:xfrm flipV="1">
            <a:off x="4133461" y="2174736"/>
            <a:ext cx="298884" cy="17657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3E52811-03F1-4655-B881-5C3C88E25DB3}"/>
              </a:ext>
            </a:extLst>
          </p:cNvPr>
          <p:cNvCxnSpPr>
            <a:cxnSpLocks/>
          </p:cNvCxnSpPr>
          <p:nvPr/>
        </p:nvCxnSpPr>
        <p:spPr bwMode="auto">
          <a:xfrm flipV="1">
            <a:off x="3956180" y="2263026"/>
            <a:ext cx="558944" cy="29480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778BB22-AC45-421A-BCE2-699F27319850}"/>
              </a:ext>
            </a:extLst>
          </p:cNvPr>
          <p:cNvCxnSpPr>
            <a:cxnSpLocks/>
          </p:cNvCxnSpPr>
          <p:nvPr/>
        </p:nvCxnSpPr>
        <p:spPr bwMode="auto">
          <a:xfrm flipV="1">
            <a:off x="3886200" y="2351314"/>
            <a:ext cx="711994" cy="39188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0EB759B-43C5-4097-8F28-F315C3CDEF68}"/>
              </a:ext>
            </a:extLst>
          </p:cNvPr>
          <p:cNvCxnSpPr>
            <a:cxnSpLocks/>
          </p:cNvCxnSpPr>
          <p:nvPr/>
        </p:nvCxnSpPr>
        <p:spPr bwMode="auto">
          <a:xfrm flipV="1">
            <a:off x="3886200" y="2446250"/>
            <a:ext cx="762000" cy="41093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92D534E-E445-4624-9021-35560CE689CF}"/>
              </a:ext>
            </a:extLst>
          </p:cNvPr>
          <p:cNvCxnSpPr>
            <a:cxnSpLocks/>
          </p:cNvCxnSpPr>
          <p:nvPr/>
        </p:nvCxnSpPr>
        <p:spPr bwMode="auto">
          <a:xfrm flipV="1">
            <a:off x="3876869" y="2509934"/>
            <a:ext cx="844420" cy="46264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F2AEFD6-4CDE-4F4D-A680-994C20392E8C}"/>
              </a:ext>
            </a:extLst>
          </p:cNvPr>
          <p:cNvCxnSpPr>
            <a:cxnSpLocks/>
          </p:cNvCxnSpPr>
          <p:nvPr/>
        </p:nvCxnSpPr>
        <p:spPr bwMode="auto">
          <a:xfrm flipV="1">
            <a:off x="3876869" y="2602850"/>
            <a:ext cx="844420" cy="5096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08E188A-26F8-41C2-B207-89B1EBDFA6F2}"/>
              </a:ext>
            </a:extLst>
          </p:cNvPr>
          <p:cNvCxnSpPr>
            <a:cxnSpLocks/>
          </p:cNvCxnSpPr>
          <p:nvPr/>
        </p:nvCxnSpPr>
        <p:spPr bwMode="auto">
          <a:xfrm flipV="1">
            <a:off x="3886200" y="2716914"/>
            <a:ext cx="844420" cy="48853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288D810-BFE4-4D72-84BE-B55373FD0AAF}"/>
              </a:ext>
            </a:extLst>
          </p:cNvPr>
          <p:cNvCxnSpPr>
            <a:cxnSpLocks/>
          </p:cNvCxnSpPr>
          <p:nvPr/>
        </p:nvCxnSpPr>
        <p:spPr bwMode="auto">
          <a:xfrm flipV="1">
            <a:off x="3886200" y="2793114"/>
            <a:ext cx="914400" cy="52593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1518BEA-C5B3-4D9B-97C5-2DD3CCC369B5}"/>
              </a:ext>
            </a:extLst>
          </p:cNvPr>
          <p:cNvCxnSpPr>
            <a:cxnSpLocks/>
          </p:cNvCxnSpPr>
          <p:nvPr/>
        </p:nvCxnSpPr>
        <p:spPr bwMode="auto">
          <a:xfrm flipV="1">
            <a:off x="3918857" y="2896030"/>
            <a:ext cx="891074" cy="5376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78766A9-2AA3-4AE6-A52F-676592DD0275}"/>
              </a:ext>
            </a:extLst>
          </p:cNvPr>
          <p:cNvCxnSpPr>
            <a:cxnSpLocks/>
            <a:endCxn id="152579" idx="6"/>
          </p:cNvCxnSpPr>
          <p:nvPr/>
        </p:nvCxnSpPr>
        <p:spPr bwMode="auto">
          <a:xfrm flipV="1">
            <a:off x="3996609" y="3009900"/>
            <a:ext cx="803991" cy="5201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26E1E2CD-03FA-4216-813C-4C93D0F54181}"/>
              </a:ext>
            </a:extLst>
          </p:cNvPr>
          <p:cNvCxnSpPr>
            <a:cxnSpLocks/>
          </p:cNvCxnSpPr>
          <p:nvPr/>
        </p:nvCxnSpPr>
        <p:spPr bwMode="auto">
          <a:xfrm flipV="1">
            <a:off x="4069698" y="3148462"/>
            <a:ext cx="729343" cy="47776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524DB8D-758D-4CBD-829E-B9E5F27ED69B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5016" y="3272927"/>
            <a:ext cx="664025" cy="4400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93EC60D-FD7F-4302-BF94-069E4B575B52}"/>
              </a:ext>
            </a:extLst>
          </p:cNvPr>
          <p:cNvCxnSpPr>
            <a:cxnSpLocks/>
          </p:cNvCxnSpPr>
          <p:nvPr/>
        </p:nvCxnSpPr>
        <p:spPr bwMode="auto">
          <a:xfrm flipV="1">
            <a:off x="4221330" y="3469593"/>
            <a:ext cx="499959" cy="32241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0AF6F08-AFB5-41C8-8731-533398E4ED05}"/>
              </a:ext>
            </a:extLst>
          </p:cNvPr>
          <p:cNvCxnSpPr>
            <a:cxnSpLocks/>
          </p:cNvCxnSpPr>
          <p:nvPr/>
        </p:nvCxnSpPr>
        <p:spPr bwMode="auto">
          <a:xfrm flipV="1">
            <a:off x="4267592" y="3610379"/>
            <a:ext cx="380608" cy="22868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7B8B7B-C1F3-49F0-8C93-66E3D4733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117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2765538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>
            <a:extLst>
              <a:ext uri="{FF2B5EF4-FFF2-40B4-BE49-F238E27FC236}">
                <a16:creationId xmlns:a16="http://schemas.microsoft.com/office/drawing/2014/main" id="{CA20D244-F6AB-43F2-9B6F-B2504C508C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Relational Algebra Solution</a:t>
            </a:r>
          </a:p>
        </p:txBody>
      </p:sp>
      <p:sp>
        <p:nvSpPr>
          <p:cNvPr id="87044" name="Text Box 5">
            <a:extLst>
              <a:ext uri="{FF2B5EF4-FFF2-40B4-BE49-F238E27FC236}">
                <a16:creationId xmlns:a16="http://schemas.microsoft.com/office/drawing/2014/main" id="{E15CFBB1-7481-48EA-9DA5-4A6A86D891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4038601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=‘csc6710’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(Taught))  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=‘csc7710’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(Taught))</a:t>
            </a:r>
          </a:p>
        </p:txBody>
      </p:sp>
      <p:pic>
        <p:nvPicPr>
          <p:cNvPr id="87045" name="Picture 6" descr="C:\Documents and Settings\Dr. Shiyong Lu\My Documents\schema.bmp">
            <a:extLst>
              <a:ext uri="{FF2B5EF4-FFF2-40B4-BE49-F238E27FC236}">
                <a16:creationId xmlns:a16="http://schemas.microsoft.com/office/drawing/2014/main" id="{F95B221E-31AD-4558-A11D-42C05DEE0F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B04EFC-5EF3-4BE3-BD73-A04B65DEB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118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1392256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>
            <a:extLst>
              <a:ext uri="{FF2B5EF4-FFF2-40B4-BE49-F238E27FC236}">
                <a16:creationId xmlns:a16="http://schemas.microsoft.com/office/drawing/2014/main" id="{12FE4BBF-B9C3-4020-A137-AE3E2537E8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88067" name="Text Box 4">
            <a:extLst>
              <a:ext uri="{FF2B5EF4-FFF2-40B4-BE49-F238E27FC236}">
                <a16:creationId xmlns:a16="http://schemas.microsoft.com/office/drawing/2014/main" id="{8815BCA4-3760-474C-A448-20EA03D121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2031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T1.ssn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 T1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T1.crscode = 'CSC6710'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INTERSECT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T2.ssn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 T2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T2.crscode = 'CSC7710’;</a:t>
            </a:r>
          </a:p>
        </p:txBody>
      </p:sp>
      <p:pic>
        <p:nvPicPr>
          <p:cNvPr id="88068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4DCC5C4E-B3FD-437A-9289-AAFF903D63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02A091-1F92-4927-93E7-5BF90B743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119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2178594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>
            <a:extLst>
              <a:ext uri="{FF2B5EF4-FFF2-40B4-BE49-F238E27FC236}">
                <a16:creationId xmlns:a16="http://schemas.microsoft.com/office/drawing/2014/main" id="{12FE4BBF-B9C3-4020-A137-AE3E2537E8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>
                <a:ea typeface="新細明體" panose="02020500000000000000" pitchFamily="18" charset="-120"/>
              </a:rPr>
              <a:t>Similate</a:t>
            </a:r>
            <a:r>
              <a:rPr lang="en-US" altLang="zh-TW" dirty="0">
                <a:ea typeface="新細明體" panose="02020500000000000000" pitchFamily="18" charset="-120"/>
              </a:rPr>
              <a:t> INTERSECT</a:t>
            </a:r>
          </a:p>
        </p:txBody>
      </p:sp>
      <p:sp>
        <p:nvSpPr>
          <p:cNvPr id="88067" name="Text Box 4">
            <a:extLst>
              <a:ext uri="{FF2B5EF4-FFF2-40B4-BE49-F238E27FC236}">
                <a16:creationId xmlns:a16="http://schemas.microsoft.com/office/drawing/2014/main" id="{8815BCA4-3760-474C-A448-20EA03D121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T1.ssn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 T1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T1.crscode = 'CSC6710' AND T1.ssn </a:t>
            </a:r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IN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(SELECT T2.ssn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 T2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T2.crscode = 'CSC7710’);</a:t>
            </a:r>
          </a:p>
        </p:txBody>
      </p:sp>
      <p:pic>
        <p:nvPicPr>
          <p:cNvPr id="88068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4DCC5C4E-B3FD-437A-9289-AAFF903D63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02A091-1F92-4927-93E7-5BF90B743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120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3817245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840687-D3E3-4866-8FE5-26115CE8A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" y="1194839"/>
            <a:ext cx="4105275" cy="397192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10A8221-1263-4041-893D-036020E972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6794" y="1482498"/>
            <a:ext cx="3848100" cy="3762375"/>
          </a:xfrm>
          <a:prstGeom prst="rect">
            <a:avLst/>
          </a:prstGeom>
        </p:spPr>
      </p:pic>
      <p:sp>
        <p:nvSpPr>
          <p:cNvPr id="152578" name="Rectangle 2">
            <a:extLst>
              <a:ext uri="{FF2B5EF4-FFF2-40B4-BE49-F238E27FC236}">
                <a16:creationId xmlns:a16="http://schemas.microsoft.com/office/drawing/2014/main" id="{B97D61B3-68EA-44F1-B532-78BC29A832C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685800" y="141915"/>
            <a:ext cx="7772400" cy="1143000"/>
          </a:xfrm>
        </p:spPr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LHRH Pattern</a:t>
            </a:r>
          </a:p>
        </p:txBody>
      </p:sp>
      <p:cxnSp>
        <p:nvCxnSpPr>
          <p:cNvPr id="152585" name="直接连接符 34">
            <a:extLst>
              <a:ext uri="{FF2B5EF4-FFF2-40B4-BE49-F238E27FC236}">
                <a16:creationId xmlns:a16="http://schemas.microsoft.com/office/drawing/2014/main" id="{ABE70AFB-FFB0-4C8F-A620-89E8087157B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38400" y="3505200"/>
            <a:ext cx="0" cy="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1AE3FF2A-2C47-4FB5-B75A-D2D9E4B6F5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7118102"/>
              </p:ext>
            </p:extLst>
          </p:nvPr>
        </p:nvGraphicFramePr>
        <p:xfrm>
          <a:off x="66902" y="2767216"/>
          <a:ext cx="4137453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6998">
                  <a:extLst>
                    <a:ext uri="{9D8B030D-6E8A-4147-A177-3AD203B41FA5}">
                      <a16:colId xmlns:a16="http://schemas.microsoft.com/office/drawing/2014/main" val="4037064148"/>
                    </a:ext>
                  </a:extLst>
                </a:gridCol>
                <a:gridCol w="1326998">
                  <a:extLst>
                    <a:ext uri="{9D8B030D-6E8A-4147-A177-3AD203B41FA5}">
                      <a16:colId xmlns:a16="http://schemas.microsoft.com/office/drawing/2014/main" val="2690061881"/>
                    </a:ext>
                  </a:extLst>
                </a:gridCol>
                <a:gridCol w="1483457">
                  <a:extLst>
                    <a:ext uri="{9D8B030D-6E8A-4147-A177-3AD203B41FA5}">
                      <a16:colId xmlns:a16="http://schemas.microsoft.com/office/drawing/2014/main" val="2331991773"/>
                    </a:ext>
                  </a:extLst>
                </a:gridCol>
              </a:tblGrid>
              <a:tr h="262961">
                <a:tc>
                  <a:txBody>
                    <a:bodyPr/>
                    <a:lstStyle/>
                    <a:p>
                      <a:r>
                        <a:rPr lang="en-US" altLang="zh-TW" dirty="0" err="1"/>
                        <a:t>Crscode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semester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 err="1"/>
                        <a:t>ssn</a:t>
                      </a:r>
                      <a:endParaRPr lang="zh-TW" altLang="en-US" dirty="0"/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1448380227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csc6710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Fall 2017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111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2834334414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en-US" altLang="zh-TW" dirty="0"/>
                        <a:t>csc7710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Fall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2016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111</a:t>
                      </a:r>
                      <a:endParaRPr lang="zh-TW" altLang="en-US" dirty="0"/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385605648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en-US" altLang="zh-TW" dirty="0"/>
                        <a:t>csc4710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Winter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2015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222</a:t>
                      </a:r>
                      <a:endParaRPr lang="zh-TW" altLang="en-US" dirty="0"/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3564471104"/>
                  </a:ext>
                </a:extLst>
              </a:tr>
            </a:tbl>
          </a:graphicData>
        </a:graphic>
      </p:graphicFrame>
      <p:graphicFrame>
        <p:nvGraphicFramePr>
          <p:cNvPr id="8" name="表格 24">
            <a:extLst>
              <a:ext uri="{FF2B5EF4-FFF2-40B4-BE49-F238E27FC236}">
                <a16:creationId xmlns:a16="http://schemas.microsoft.com/office/drawing/2014/main" id="{540FAB20-A56B-4885-83C3-3931ADB1F9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015515"/>
              </p:ext>
            </p:extLst>
          </p:nvPr>
        </p:nvGraphicFramePr>
        <p:xfrm>
          <a:off x="4901938" y="2765780"/>
          <a:ext cx="3960888" cy="17387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296">
                  <a:extLst>
                    <a:ext uri="{9D8B030D-6E8A-4147-A177-3AD203B41FA5}">
                      <a16:colId xmlns:a16="http://schemas.microsoft.com/office/drawing/2014/main" val="4037064148"/>
                    </a:ext>
                  </a:extLst>
                </a:gridCol>
                <a:gridCol w="1320296">
                  <a:extLst>
                    <a:ext uri="{9D8B030D-6E8A-4147-A177-3AD203B41FA5}">
                      <a16:colId xmlns:a16="http://schemas.microsoft.com/office/drawing/2014/main" val="2690061881"/>
                    </a:ext>
                  </a:extLst>
                </a:gridCol>
                <a:gridCol w="1320296">
                  <a:extLst>
                    <a:ext uri="{9D8B030D-6E8A-4147-A177-3AD203B41FA5}">
                      <a16:colId xmlns:a16="http://schemas.microsoft.com/office/drawing/2014/main" val="2331991773"/>
                    </a:ext>
                  </a:extLst>
                </a:gridCol>
              </a:tblGrid>
              <a:tr h="366062">
                <a:tc>
                  <a:txBody>
                    <a:bodyPr/>
                    <a:lstStyle/>
                    <a:p>
                      <a:r>
                        <a:rPr lang="en-US" altLang="zh-TW" dirty="0" err="1"/>
                        <a:t>Crscode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semester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 err="1"/>
                        <a:t>ssn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380227"/>
                  </a:ext>
                </a:extLst>
              </a:tr>
              <a:tr h="366062"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csc6710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Fall 2017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111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4334414"/>
                  </a:ext>
                </a:extLst>
              </a:tr>
              <a:tr h="366062"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csc7710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Fall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2016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111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605648"/>
                  </a:ext>
                </a:extLst>
              </a:tr>
              <a:tr h="640609">
                <a:tc>
                  <a:txBody>
                    <a:bodyPr/>
                    <a:lstStyle/>
                    <a:p>
                      <a:r>
                        <a:rPr lang="en-US" altLang="zh-TW" dirty="0"/>
                        <a:t>csc4710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Winter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2015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222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4471104"/>
                  </a:ext>
                </a:extLst>
              </a:tr>
            </a:tbl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957F25C-8D91-4914-B7A9-B2795C7CDA47}"/>
              </a:ext>
            </a:extLst>
          </p:cNvPr>
          <p:cNvCxnSpPr>
            <a:cxnSpLocks/>
            <a:endCxn id="8" idx="1"/>
          </p:cNvCxnSpPr>
          <p:nvPr/>
        </p:nvCxnSpPr>
        <p:spPr bwMode="auto">
          <a:xfrm>
            <a:off x="4172177" y="3271101"/>
            <a:ext cx="729761" cy="364076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triangle"/>
            <a:tailEnd type="triangle"/>
          </a:ln>
          <a:effectLst/>
        </p:spPr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C4DF8-91DB-4662-BBB9-4D517F1F4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121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4762897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>
            <a:extLst>
              <a:ext uri="{FF2B5EF4-FFF2-40B4-BE49-F238E27FC236}">
                <a16:creationId xmlns:a16="http://schemas.microsoft.com/office/drawing/2014/main" id="{12FE4BBF-B9C3-4020-A137-AE3E2537E8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88067" name="Text Box 4">
            <a:extLst>
              <a:ext uri="{FF2B5EF4-FFF2-40B4-BE49-F238E27FC236}">
                <a16:creationId xmlns:a16="http://schemas.microsoft.com/office/drawing/2014/main" id="{8815BCA4-3760-474C-A448-20EA03D121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T1.ssn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 T1, Taught T2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T1.crscode = 'CSC6710' AND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T2.crscode='CSC7710' AND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T1.ssn=T2.ssn;</a:t>
            </a:r>
          </a:p>
        </p:txBody>
      </p:sp>
      <p:pic>
        <p:nvPicPr>
          <p:cNvPr id="88068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4DCC5C4E-B3FD-437A-9289-AAFF903D63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02A091-1F92-4927-93E7-5BF90B743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122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2334507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>
            <a:extLst>
              <a:ext uri="{FF2B5EF4-FFF2-40B4-BE49-F238E27FC236}">
                <a16:creationId xmlns:a16="http://schemas.microsoft.com/office/drawing/2014/main" id="{CA20D244-F6AB-43F2-9B6F-B2504C508C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Common mistake</a:t>
            </a:r>
          </a:p>
        </p:txBody>
      </p:sp>
      <p:sp>
        <p:nvSpPr>
          <p:cNvPr id="87043" name="Text Box 3">
            <a:extLst>
              <a:ext uri="{FF2B5EF4-FFF2-40B4-BE49-F238E27FC236}">
                <a16:creationId xmlns:a16="http://schemas.microsoft.com/office/drawing/2014/main" id="{FA873014-3312-4278-B46F-2D1F080183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3733800"/>
            <a:ext cx="7086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baseline="-25000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>
                <a:ea typeface="新細明體" panose="02020500000000000000" pitchFamily="18" charset="-120"/>
                <a:sym typeface="Symbol" panose="05050102010706020507" pitchFamily="18" charset="2"/>
              </a:rPr>
              <a:t>crscode=‘csc6710’  crscode=‘csc7710’ 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(Taught), wrong!</a:t>
            </a:r>
          </a:p>
        </p:txBody>
      </p:sp>
      <p:pic>
        <p:nvPicPr>
          <p:cNvPr id="87045" name="Picture 6" descr="C:\Documents and Settings\Dr. Shiyong Lu\My Documents\schema.bmp">
            <a:extLst>
              <a:ext uri="{FF2B5EF4-FFF2-40B4-BE49-F238E27FC236}">
                <a16:creationId xmlns:a16="http://schemas.microsoft.com/office/drawing/2014/main" id="{F95B221E-31AD-4558-A11D-42C05DEE0F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B04EFC-5EF3-4BE3-BD73-A04B65DEB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123</a:t>
            </a:fld>
            <a:endParaRPr lang="en-US" altLang="zh-TW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>
            <a:extLst>
              <a:ext uri="{FF2B5EF4-FFF2-40B4-BE49-F238E27FC236}">
                <a16:creationId xmlns:a16="http://schemas.microsoft.com/office/drawing/2014/main" id="{7D76D38B-DC52-4BF5-B3BC-F28B360C5A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Query 3</a:t>
            </a:r>
          </a:p>
        </p:txBody>
      </p:sp>
      <p:sp>
        <p:nvSpPr>
          <p:cNvPr id="89091" name="Text Box 3">
            <a:extLst>
              <a:ext uri="{FF2B5EF4-FFF2-40B4-BE49-F238E27FC236}">
                <a16:creationId xmlns:a16="http://schemas.microsoft.com/office/drawing/2014/main" id="{CA2B76AB-E1A0-4774-917A-13D01F4824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>
                <a:ea typeface="新細明體" panose="02020500000000000000" pitchFamily="18" charset="-120"/>
              </a:rPr>
              <a:t>Return those professors who have never taught ‘csc7710’.</a:t>
            </a:r>
          </a:p>
        </p:txBody>
      </p:sp>
      <p:pic>
        <p:nvPicPr>
          <p:cNvPr id="89092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B06EC3A2-A6AE-40FC-A989-4395C27C3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D52D0F-4152-4C74-8995-A2C0E2DB9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124</a:t>
            </a:fld>
            <a:endParaRPr lang="en-US" altLang="zh-TW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>
            <a:extLst>
              <a:ext uri="{FF2B5EF4-FFF2-40B4-BE49-F238E27FC236}">
                <a16:creationId xmlns:a16="http://schemas.microsoft.com/office/drawing/2014/main" id="{CF794E97-5101-402C-A4FF-F2304249F26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Negation Pattern</a:t>
            </a:r>
          </a:p>
        </p:txBody>
      </p:sp>
      <p:sp>
        <p:nvSpPr>
          <p:cNvPr id="153603" name="椭圆 8">
            <a:extLst>
              <a:ext uri="{FF2B5EF4-FFF2-40B4-BE49-F238E27FC236}">
                <a16:creationId xmlns:a16="http://schemas.microsoft.com/office/drawing/2014/main" id="{27617938-E94B-4240-87C4-4477FFD3F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0" y="1828800"/>
            <a:ext cx="3124200" cy="3048000"/>
          </a:xfrm>
          <a:prstGeom prst="ellipse">
            <a:avLst/>
          </a:prstGeom>
          <a:pattFill prst="wdUpDiag">
            <a:fgClr>
              <a:srgbClr val="00B050"/>
            </a:fgClr>
            <a:bgClr>
              <a:schemeClr val="bg1"/>
            </a:bgClr>
          </a:patt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153604" name="椭圆 9">
            <a:extLst>
              <a:ext uri="{FF2B5EF4-FFF2-40B4-BE49-F238E27FC236}">
                <a16:creationId xmlns:a16="http://schemas.microsoft.com/office/drawing/2014/main" id="{B8E20E6D-0875-4BC6-BFDD-C4254B5FEB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2362200"/>
            <a:ext cx="1828800" cy="1752600"/>
          </a:xfrm>
          <a:prstGeom prst="ellipse">
            <a:avLst/>
          </a:prstGeom>
          <a:solidFill>
            <a:srgbClr val="FF0000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153605" name="TextBox 16">
            <a:extLst>
              <a:ext uri="{FF2B5EF4-FFF2-40B4-BE49-F238E27FC236}">
                <a16:creationId xmlns:a16="http://schemas.microsoft.com/office/drawing/2014/main" id="{477BAB8B-4140-4E44-8730-2A5EE1D2F4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5181600"/>
            <a:ext cx="193379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A: All professors</a:t>
            </a:r>
          </a:p>
        </p:txBody>
      </p:sp>
      <p:sp>
        <p:nvSpPr>
          <p:cNvPr id="153606" name="TextBox 17">
            <a:extLst>
              <a:ext uri="{FF2B5EF4-FFF2-40B4-BE49-F238E27FC236}">
                <a16:creationId xmlns:a16="http://schemas.microsoft.com/office/drawing/2014/main" id="{43F4C9F5-6BFD-423A-B394-A52A93D926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5105400"/>
            <a:ext cx="382989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B: Professors who taught CSC7710</a:t>
            </a:r>
          </a:p>
        </p:txBody>
      </p:sp>
      <p:cxnSp>
        <p:nvCxnSpPr>
          <p:cNvPr id="153607" name="直接连接符 34">
            <a:extLst>
              <a:ext uri="{FF2B5EF4-FFF2-40B4-BE49-F238E27FC236}">
                <a16:creationId xmlns:a16="http://schemas.microsoft.com/office/drawing/2014/main" id="{E54E2679-CFFE-401D-8ACA-2EA59C9872C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38400" y="3505200"/>
            <a:ext cx="0" cy="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3608" name="TextBox 48">
            <a:extLst>
              <a:ext uri="{FF2B5EF4-FFF2-40B4-BE49-F238E27FC236}">
                <a16:creationId xmlns:a16="http://schemas.microsoft.com/office/drawing/2014/main" id="{AA1ED686-3E26-41A6-8536-748752A6E5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3800" y="6019800"/>
            <a:ext cx="1836272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Solution: A – B 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cxnSp>
        <p:nvCxnSpPr>
          <p:cNvPr id="153609" name="直接箭头连接符 11">
            <a:extLst>
              <a:ext uri="{FF2B5EF4-FFF2-40B4-BE49-F238E27FC236}">
                <a16:creationId xmlns:a16="http://schemas.microsoft.com/office/drawing/2014/main" id="{1ECFFB00-DC61-46D7-AD7E-0BE57966763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895600" y="4191000"/>
            <a:ext cx="457200" cy="9906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3610" name="直接箭头连接符 14">
            <a:extLst>
              <a:ext uri="{FF2B5EF4-FFF2-40B4-BE49-F238E27FC236}">
                <a16:creationId xmlns:a16="http://schemas.microsoft.com/office/drawing/2014/main" id="{46640AAE-E299-4E70-9C12-F7905EA91607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038600" y="3505200"/>
            <a:ext cx="838200" cy="16764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1B5369-B2D0-4408-BBA7-AA134E426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125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212661392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2">
            <a:extLst>
              <a:ext uri="{FF2B5EF4-FFF2-40B4-BE49-F238E27FC236}">
                <a16:creationId xmlns:a16="http://schemas.microsoft.com/office/drawing/2014/main" id="{90DA5108-6CED-47F4-B2DD-AA1D9024CF8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Relational Algebra Solution</a:t>
            </a:r>
          </a:p>
        </p:txBody>
      </p:sp>
      <p:sp>
        <p:nvSpPr>
          <p:cNvPr id="90115" name="Text Box 3">
            <a:extLst>
              <a:ext uri="{FF2B5EF4-FFF2-40B4-BE49-F238E27FC236}">
                <a16:creationId xmlns:a16="http://schemas.microsoft.com/office/drawing/2014/main" id="{AE8649BD-C640-41FB-BC38-2E6201F136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&lt;&gt;‘csc7710’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(Taught)), wrong answer!</a:t>
            </a:r>
          </a:p>
        </p:txBody>
      </p:sp>
      <p:sp>
        <p:nvSpPr>
          <p:cNvPr id="90116" name="Text Box 5">
            <a:extLst>
              <a:ext uri="{FF2B5EF4-FFF2-40B4-BE49-F238E27FC236}">
                <a16:creationId xmlns:a16="http://schemas.microsoft.com/office/drawing/2014/main" id="{274652E3-3758-422D-AECD-211C01A77E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4953000"/>
            <a:ext cx="7467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baseline="-25000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(Professor)-</a:t>
            </a:r>
            <a:r>
              <a:rPr lang="en-US" altLang="zh-TW" sz="3200" baseline="-25000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>
                <a:ea typeface="新細明體" panose="02020500000000000000" pitchFamily="18" charset="-120"/>
                <a:sym typeface="Symbol" panose="05050102010706020507" pitchFamily="18" charset="2"/>
              </a:rPr>
              <a:t>crscode=‘csc7710’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(Taught)), correct answer!</a:t>
            </a:r>
          </a:p>
        </p:txBody>
      </p:sp>
      <p:pic>
        <p:nvPicPr>
          <p:cNvPr id="90117" name="Picture 6" descr="C:\Documents and Settings\Dr. Shiyong Lu\My Documents\schema.bmp">
            <a:extLst>
              <a:ext uri="{FF2B5EF4-FFF2-40B4-BE49-F238E27FC236}">
                <a16:creationId xmlns:a16="http://schemas.microsoft.com/office/drawing/2014/main" id="{F8B26E3E-76F8-4E6A-A9C2-924579A50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0E4887-918C-4C43-A1EC-B886FA5DE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126</a:t>
            </a:fld>
            <a:endParaRPr lang="en-US" altLang="zh-TW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>
            <a:extLst>
              <a:ext uri="{FF2B5EF4-FFF2-40B4-BE49-F238E27FC236}">
                <a16:creationId xmlns:a16="http://schemas.microsoft.com/office/drawing/2014/main" id="{71FD8D3D-E72B-436E-8AD8-35764A1A0E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91139" name="Text Box 4">
            <a:extLst>
              <a:ext uri="{FF2B5EF4-FFF2-40B4-BE49-F238E27FC236}">
                <a16:creationId xmlns:a16="http://schemas.microsoft.com/office/drawing/2014/main" id="{BA5155E3-AEB0-45C6-94A7-EC90AFE3FD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Professor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EXCEPT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 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'CSC7710’;</a:t>
            </a:r>
          </a:p>
        </p:txBody>
      </p:sp>
      <p:pic>
        <p:nvPicPr>
          <p:cNvPr id="91140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BCE3E9F8-3FB1-4453-A805-7C0F8A8B17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A4921E-4678-4CE4-A40B-625D64AA2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127</a:t>
            </a:fld>
            <a:endParaRPr lang="en-US" altLang="zh-TW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>
            <a:extLst>
              <a:ext uri="{FF2B5EF4-FFF2-40B4-BE49-F238E27FC236}">
                <a16:creationId xmlns:a16="http://schemas.microsoft.com/office/drawing/2014/main" id="{71FD8D3D-E72B-436E-8AD8-35764A1A0E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Simulate Except</a:t>
            </a:r>
          </a:p>
        </p:txBody>
      </p:sp>
      <p:sp>
        <p:nvSpPr>
          <p:cNvPr id="91139" name="Text Box 4">
            <a:extLst>
              <a:ext uri="{FF2B5EF4-FFF2-40B4-BE49-F238E27FC236}">
                <a16:creationId xmlns:a16="http://schemas.microsoft.com/office/drawing/2014/main" id="{BA5155E3-AEB0-45C6-94A7-EC90AFE3FD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482976"/>
            <a:ext cx="7543800" cy="2031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Professor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NOT IN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(SELECT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	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From Taught T	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'CSC7710'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);</a:t>
            </a:r>
          </a:p>
        </p:txBody>
      </p:sp>
      <p:pic>
        <p:nvPicPr>
          <p:cNvPr id="91140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BCE3E9F8-3FB1-4453-A805-7C0F8A8B17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BB4C5B-71C0-4203-8EA8-FFE0F4D90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128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6701631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>
            <a:extLst>
              <a:ext uri="{FF2B5EF4-FFF2-40B4-BE49-F238E27FC236}">
                <a16:creationId xmlns:a16="http://schemas.microsoft.com/office/drawing/2014/main" id="{CD81D7CB-5A90-40EC-99AB-C0B040AAF0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Query 4</a:t>
            </a:r>
          </a:p>
        </p:txBody>
      </p:sp>
      <p:sp>
        <p:nvSpPr>
          <p:cNvPr id="92163" name="Text Box 3">
            <a:extLst>
              <a:ext uri="{FF2B5EF4-FFF2-40B4-BE49-F238E27FC236}">
                <a16:creationId xmlns:a16="http://schemas.microsoft.com/office/drawing/2014/main" id="{506B952C-4114-4A12-9115-2DC04703EA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554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>
                <a:ea typeface="新細明體" panose="02020500000000000000" pitchFamily="18" charset="-120"/>
              </a:rPr>
              <a:t>Return those professors who taught ‘CSC6710’ and ‘CSC7710” in the same semester </a:t>
            </a:r>
          </a:p>
        </p:txBody>
      </p:sp>
      <p:pic>
        <p:nvPicPr>
          <p:cNvPr id="92164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1023A254-E5B2-4EBA-9DB5-F400177E47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6D85B9-87D8-4971-AD4B-7B96B2342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129</a:t>
            </a:fld>
            <a:endParaRPr lang="en-US" altLang="zh-TW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840687-D3E3-4866-8FE5-26115CE8A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" y="1194839"/>
            <a:ext cx="4105275" cy="397192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10A8221-1263-4041-893D-036020E972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6794" y="1482498"/>
            <a:ext cx="3848100" cy="3762375"/>
          </a:xfrm>
          <a:prstGeom prst="rect">
            <a:avLst/>
          </a:prstGeom>
        </p:spPr>
      </p:pic>
      <p:sp>
        <p:nvSpPr>
          <p:cNvPr id="152578" name="Rectangle 2">
            <a:extLst>
              <a:ext uri="{FF2B5EF4-FFF2-40B4-BE49-F238E27FC236}">
                <a16:creationId xmlns:a16="http://schemas.microsoft.com/office/drawing/2014/main" id="{B97D61B3-68EA-44F1-B532-78BC29A832C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685800" y="141915"/>
            <a:ext cx="7772400" cy="1143000"/>
          </a:xfrm>
        </p:spPr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LHRH Pattern</a:t>
            </a:r>
          </a:p>
        </p:txBody>
      </p:sp>
      <p:cxnSp>
        <p:nvCxnSpPr>
          <p:cNvPr id="152585" name="直接连接符 34">
            <a:extLst>
              <a:ext uri="{FF2B5EF4-FFF2-40B4-BE49-F238E27FC236}">
                <a16:creationId xmlns:a16="http://schemas.microsoft.com/office/drawing/2014/main" id="{ABE70AFB-FFB0-4C8F-A620-89E8087157B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38400" y="3505200"/>
            <a:ext cx="0" cy="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1AE3FF2A-2C47-4FB5-B75A-D2D9E4B6F5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3173176"/>
              </p:ext>
            </p:extLst>
          </p:nvPr>
        </p:nvGraphicFramePr>
        <p:xfrm>
          <a:off x="66902" y="2767216"/>
          <a:ext cx="3980994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6998">
                  <a:extLst>
                    <a:ext uri="{9D8B030D-6E8A-4147-A177-3AD203B41FA5}">
                      <a16:colId xmlns:a16="http://schemas.microsoft.com/office/drawing/2014/main" val="4037064148"/>
                    </a:ext>
                  </a:extLst>
                </a:gridCol>
                <a:gridCol w="1326998">
                  <a:extLst>
                    <a:ext uri="{9D8B030D-6E8A-4147-A177-3AD203B41FA5}">
                      <a16:colId xmlns:a16="http://schemas.microsoft.com/office/drawing/2014/main" val="2690061881"/>
                    </a:ext>
                  </a:extLst>
                </a:gridCol>
                <a:gridCol w="1326998">
                  <a:extLst>
                    <a:ext uri="{9D8B030D-6E8A-4147-A177-3AD203B41FA5}">
                      <a16:colId xmlns:a16="http://schemas.microsoft.com/office/drawing/2014/main" val="2331991773"/>
                    </a:ext>
                  </a:extLst>
                </a:gridCol>
              </a:tblGrid>
              <a:tr h="262961">
                <a:tc>
                  <a:txBody>
                    <a:bodyPr/>
                    <a:lstStyle/>
                    <a:p>
                      <a:r>
                        <a:rPr lang="en-US" altLang="zh-TW" dirty="0" err="1"/>
                        <a:t>Crscode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semester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 err="1"/>
                        <a:t>ssn</a:t>
                      </a:r>
                      <a:endParaRPr lang="zh-TW" altLang="en-US" dirty="0"/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1448380227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csc6710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Fall 2017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111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2834334414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en-US" altLang="zh-TW" dirty="0"/>
                        <a:t>csc7710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Fall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2017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111</a:t>
                      </a:r>
                      <a:endParaRPr lang="zh-TW" altLang="en-US" dirty="0"/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385605648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en-US" altLang="zh-TW" dirty="0"/>
                        <a:t>csc4710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Winter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2015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222</a:t>
                      </a:r>
                      <a:endParaRPr lang="zh-TW" altLang="en-US" dirty="0"/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3564471104"/>
                  </a:ext>
                </a:extLst>
              </a:tr>
            </a:tbl>
          </a:graphicData>
        </a:graphic>
      </p:graphicFrame>
      <p:graphicFrame>
        <p:nvGraphicFramePr>
          <p:cNvPr id="8" name="表格 24">
            <a:extLst>
              <a:ext uri="{FF2B5EF4-FFF2-40B4-BE49-F238E27FC236}">
                <a16:creationId xmlns:a16="http://schemas.microsoft.com/office/drawing/2014/main" id="{540FAB20-A56B-4885-83C3-3931ADB1F9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454596"/>
              </p:ext>
            </p:extLst>
          </p:nvPr>
        </p:nvGraphicFramePr>
        <p:xfrm>
          <a:off x="4781301" y="2767216"/>
          <a:ext cx="3452854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0130">
                  <a:extLst>
                    <a:ext uri="{9D8B030D-6E8A-4147-A177-3AD203B41FA5}">
                      <a16:colId xmlns:a16="http://schemas.microsoft.com/office/drawing/2014/main" val="4037064148"/>
                    </a:ext>
                  </a:extLst>
                </a:gridCol>
                <a:gridCol w="1206362">
                  <a:extLst>
                    <a:ext uri="{9D8B030D-6E8A-4147-A177-3AD203B41FA5}">
                      <a16:colId xmlns:a16="http://schemas.microsoft.com/office/drawing/2014/main" val="2690061881"/>
                    </a:ext>
                  </a:extLst>
                </a:gridCol>
                <a:gridCol w="1206362">
                  <a:extLst>
                    <a:ext uri="{9D8B030D-6E8A-4147-A177-3AD203B41FA5}">
                      <a16:colId xmlns:a16="http://schemas.microsoft.com/office/drawing/2014/main" val="2331991773"/>
                    </a:ext>
                  </a:extLst>
                </a:gridCol>
              </a:tblGrid>
              <a:tr h="262961">
                <a:tc>
                  <a:txBody>
                    <a:bodyPr/>
                    <a:lstStyle/>
                    <a:p>
                      <a:r>
                        <a:rPr lang="en-US" altLang="zh-TW" dirty="0" err="1"/>
                        <a:t>Crscode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semester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 err="1"/>
                        <a:t>ssn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380227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csc6710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Fall 2017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111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4334414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csc7710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Fall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2017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111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605648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en-US" altLang="zh-TW" dirty="0"/>
                        <a:t>csc4710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Winter 2015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222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4471104"/>
                  </a:ext>
                </a:extLst>
              </a:tr>
            </a:tbl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957F25C-8D91-4914-B7A9-B2795C7CDA47}"/>
              </a:ext>
            </a:extLst>
          </p:cNvPr>
          <p:cNvCxnSpPr/>
          <p:nvPr/>
        </p:nvCxnSpPr>
        <p:spPr bwMode="auto">
          <a:xfrm>
            <a:off x="4047896" y="3363685"/>
            <a:ext cx="733405" cy="32190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triangle"/>
            <a:tailEnd type="triangle"/>
          </a:ln>
          <a:effectLst/>
        </p:spPr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101BC-D5E3-44A4-AE9E-DA0B10C22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130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4199896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>
            <a:extLst>
              <a:ext uri="{FF2B5EF4-FFF2-40B4-BE49-F238E27FC236}">
                <a16:creationId xmlns:a16="http://schemas.microsoft.com/office/drawing/2014/main" id="{5FA484A0-4647-429B-8E69-5916BF558F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Relational Algebra Solution</a:t>
            </a:r>
          </a:p>
        </p:txBody>
      </p:sp>
      <p:sp>
        <p:nvSpPr>
          <p:cNvPr id="93187" name="Text Box 3">
            <a:extLst>
              <a:ext uri="{FF2B5EF4-FFF2-40B4-BE49-F238E27FC236}">
                <a16:creationId xmlns:a16="http://schemas.microsoft.com/office/drawing/2014/main" id="{6E438824-EC1D-4897-A4CA-56B938B0D8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7620000" cy="2062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crscode1=‘csc6710’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(Taught[crscode1, </a:t>
            </a:r>
            <a:r>
              <a:rPr lang="en-US" altLang="zh-TW" sz="3200" dirty="0" err="1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, semester])     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crscode2=‘csc7710’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(Taught[crscode2, </a:t>
            </a:r>
            <a:r>
              <a:rPr lang="en-US" altLang="zh-TW" sz="3200" dirty="0" err="1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, semester]))</a:t>
            </a:r>
          </a:p>
        </p:txBody>
      </p:sp>
      <p:grpSp>
        <p:nvGrpSpPr>
          <p:cNvPr id="93188" name="Group 1034">
            <a:extLst>
              <a:ext uri="{FF2B5EF4-FFF2-40B4-BE49-F238E27FC236}">
                <a16:creationId xmlns:a16="http://schemas.microsoft.com/office/drawing/2014/main" id="{08A0963B-B481-427E-A2CD-C118A4B541F1}"/>
              </a:ext>
            </a:extLst>
          </p:cNvPr>
          <p:cNvGrpSpPr>
            <a:grpSpLocks/>
          </p:cNvGrpSpPr>
          <p:nvPr/>
        </p:nvGrpSpPr>
        <p:grpSpPr bwMode="auto">
          <a:xfrm>
            <a:off x="2895600" y="4495800"/>
            <a:ext cx="457200" cy="152400"/>
            <a:chOff x="2352" y="2064"/>
            <a:chExt cx="288" cy="96"/>
          </a:xfrm>
        </p:grpSpPr>
        <p:sp>
          <p:nvSpPr>
            <p:cNvPr id="93191" name="AutoShape 1030">
              <a:extLst>
                <a:ext uri="{FF2B5EF4-FFF2-40B4-BE49-F238E27FC236}">
                  <a16:creationId xmlns:a16="http://schemas.microsoft.com/office/drawing/2014/main" id="{D1159D99-2652-4919-A12E-56EC08636C6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93192" name="AutoShape 1033">
              <a:extLst>
                <a:ext uri="{FF2B5EF4-FFF2-40B4-BE49-F238E27FC236}">
                  <a16:creationId xmlns:a16="http://schemas.microsoft.com/office/drawing/2014/main" id="{75A40EFD-1176-48FB-A758-9579522576C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pic>
        <p:nvPicPr>
          <p:cNvPr id="93189" name="Picture 9" descr="C:\Documents and Settings\Dr. Shiyong Lu\My Documents\schema.bmp">
            <a:extLst>
              <a:ext uri="{FF2B5EF4-FFF2-40B4-BE49-F238E27FC236}">
                <a16:creationId xmlns:a16="http://schemas.microsoft.com/office/drawing/2014/main" id="{70352EEE-92F3-47FC-83CB-08A26C1B8F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3190" name="Rectangle 10">
            <a:extLst>
              <a:ext uri="{FF2B5EF4-FFF2-40B4-BE49-F238E27FC236}">
                <a16:creationId xmlns:a16="http://schemas.microsoft.com/office/drawing/2014/main" id="{C00BD686-E8D5-4005-B311-D6D4D7BCAA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3048000"/>
            <a:ext cx="6454775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4400">
                <a:solidFill>
                  <a:schemeClr val="tx2"/>
                </a:solidFill>
                <a:ea typeface="新細明體" panose="02020500000000000000" pitchFamily="18" charset="-120"/>
              </a:rPr>
              <a:t>Relational Algebra Solution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7CC4D22-E53F-43B3-851C-706213816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131</a:t>
            </a:fld>
            <a:endParaRPr lang="en-US" altLang="zh-TW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2">
            <a:extLst>
              <a:ext uri="{FF2B5EF4-FFF2-40B4-BE49-F238E27FC236}">
                <a16:creationId xmlns:a16="http://schemas.microsoft.com/office/drawing/2014/main" id="{E2AC14CA-6039-4FED-902D-8F0AC686B3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94211" name="Text Box 4">
            <a:extLst>
              <a:ext uri="{FF2B5EF4-FFF2-40B4-BE49-F238E27FC236}">
                <a16:creationId xmlns:a16="http://schemas.microsoft.com/office/drawing/2014/main" id="{8951F16D-D836-4223-8B3F-3B5352BD7A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T1.ssn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 T1, Taught T2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T1.crscode = 'CSC6710' AND T2.crscode='CSC7710' AND T1.ssn=T2.ssn AND T1.semester=T2.semester;</a:t>
            </a:r>
          </a:p>
        </p:txBody>
      </p:sp>
      <p:pic>
        <p:nvPicPr>
          <p:cNvPr id="94212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4039AB54-3023-4792-A1C9-23B98BD91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7A193F-6DB7-40D4-8F74-6562BA9E3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132</a:t>
            </a:fld>
            <a:endParaRPr lang="en-US" altLang="zh-TW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2">
            <a:extLst>
              <a:ext uri="{FF2B5EF4-FFF2-40B4-BE49-F238E27FC236}">
                <a16:creationId xmlns:a16="http://schemas.microsoft.com/office/drawing/2014/main" id="{61C80DB8-62BF-43CC-87FE-C4D7F04449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Query 5</a:t>
            </a:r>
          </a:p>
        </p:txBody>
      </p:sp>
      <p:sp>
        <p:nvSpPr>
          <p:cNvPr id="95235" name="Text Box 3">
            <a:extLst>
              <a:ext uri="{FF2B5EF4-FFF2-40B4-BE49-F238E27FC236}">
                <a16:creationId xmlns:a16="http://schemas.microsoft.com/office/drawing/2014/main" id="{A6F62257-5BC3-4D70-947C-CE2BC5938B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those professors who taught ‘CSC6710’ or ‘CSC7710’ </a:t>
            </a:r>
            <a:r>
              <a:rPr lang="en-US" altLang="zh-TW" sz="3200" dirty="0">
                <a:solidFill>
                  <a:srgbClr val="FF0000"/>
                </a:solidFill>
                <a:ea typeface="新細明體" panose="02020500000000000000" pitchFamily="18" charset="-120"/>
              </a:rPr>
              <a:t>but not both</a:t>
            </a:r>
            <a:r>
              <a:rPr lang="en-US" altLang="zh-TW" sz="3200" dirty="0">
                <a:ea typeface="新細明體" panose="02020500000000000000" pitchFamily="18" charset="-120"/>
              </a:rPr>
              <a:t>.</a:t>
            </a:r>
          </a:p>
        </p:txBody>
      </p:sp>
      <p:pic>
        <p:nvPicPr>
          <p:cNvPr id="95236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6E2F3EB0-E362-4B72-9CD9-DEE0667513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00C3D5-E543-4871-ACBB-878791812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133</a:t>
            </a:fld>
            <a:endParaRPr lang="en-US" altLang="zh-TW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80" name="椭圆 9">
            <a:extLst>
              <a:ext uri="{FF2B5EF4-FFF2-40B4-BE49-F238E27FC236}">
                <a16:creationId xmlns:a16="http://schemas.microsoft.com/office/drawing/2014/main" id="{4B145CBD-25DD-4127-9B45-B8BA70637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1828800"/>
            <a:ext cx="2514600" cy="2362200"/>
          </a:xfrm>
          <a:prstGeom prst="ellips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152578" name="Rectangle 2">
            <a:extLst>
              <a:ext uri="{FF2B5EF4-FFF2-40B4-BE49-F238E27FC236}">
                <a16:creationId xmlns:a16="http://schemas.microsoft.com/office/drawing/2014/main" id="{B97D61B3-68EA-44F1-B532-78BC29A832C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Double Circle Pattern</a:t>
            </a:r>
          </a:p>
        </p:txBody>
      </p:sp>
      <p:sp>
        <p:nvSpPr>
          <p:cNvPr id="152579" name="椭圆 8">
            <a:extLst>
              <a:ext uri="{FF2B5EF4-FFF2-40B4-BE49-F238E27FC236}">
                <a16:creationId xmlns:a16="http://schemas.microsoft.com/office/drawing/2014/main" id="{34DB466A-73A1-4D16-91CE-52046FC0E3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0" y="1828800"/>
            <a:ext cx="2514600" cy="2362200"/>
          </a:xfrm>
          <a:prstGeom prst="ellips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 dirty="0"/>
          </a:p>
        </p:txBody>
      </p:sp>
      <p:cxnSp>
        <p:nvCxnSpPr>
          <p:cNvPr id="152581" name="直接箭头连接符 13">
            <a:extLst>
              <a:ext uri="{FF2B5EF4-FFF2-40B4-BE49-F238E27FC236}">
                <a16:creationId xmlns:a16="http://schemas.microsoft.com/office/drawing/2014/main" id="{E6D46C6C-B668-4226-81B1-2B998E2922B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200400" y="3657600"/>
            <a:ext cx="533400" cy="15240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2582" name="直接箭头连接符 15">
            <a:extLst>
              <a:ext uri="{FF2B5EF4-FFF2-40B4-BE49-F238E27FC236}">
                <a16:creationId xmlns:a16="http://schemas.microsoft.com/office/drawing/2014/main" id="{BE58FA7A-6AF9-4151-B5E0-88448CDACE1C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57800" y="3657600"/>
            <a:ext cx="304800" cy="14478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2583" name="TextBox 16">
            <a:extLst>
              <a:ext uri="{FF2B5EF4-FFF2-40B4-BE49-F238E27FC236}">
                <a16:creationId xmlns:a16="http://schemas.microsoft.com/office/drawing/2014/main" id="{2C6F448D-2A44-4733-A5D3-AC11B5F140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5181600"/>
            <a:ext cx="2457724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A: Professors 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who taught CSC 6710</a:t>
            </a:r>
          </a:p>
        </p:txBody>
      </p:sp>
      <p:sp>
        <p:nvSpPr>
          <p:cNvPr id="152584" name="TextBox 17">
            <a:extLst>
              <a:ext uri="{FF2B5EF4-FFF2-40B4-BE49-F238E27FC236}">
                <a16:creationId xmlns:a16="http://schemas.microsoft.com/office/drawing/2014/main" id="{8AD3ED0D-8E42-42E1-B36A-7B688D6493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5105400"/>
            <a:ext cx="2393604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B: Professors 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who taught CSC7710</a:t>
            </a:r>
          </a:p>
        </p:txBody>
      </p:sp>
      <p:cxnSp>
        <p:nvCxnSpPr>
          <p:cNvPr id="152585" name="直接连接符 34">
            <a:extLst>
              <a:ext uri="{FF2B5EF4-FFF2-40B4-BE49-F238E27FC236}">
                <a16:creationId xmlns:a16="http://schemas.microsoft.com/office/drawing/2014/main" id="{ABE70AFB-FFB0-4C8F-A620-89E8087157B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38400" y="3505200"/>
            <a:ext cx="0" cy="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2586" name="TextBox 48">
            <a:extLst>
              <a:ext uri="{FF2B5EF4-FFF2-40B4-BE49-F238E27FC236}">
                <a16:creationId xmlns:a16="http://schemas.microsoft.com/office/drawing/2014/main" id="{BA70CA0A-1F47-4FC7-AF10-552BDAF99E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48257" y="6107575"/>
            <a:ext cx="3307829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Solution 1: (A – B) 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 (B – A) </a:t>
            </a:r>
          </a:p>
          <a:p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Solution 2: (A  B) – (A  B)</a:t>
            </a:r>
            <a:endParaRPr lang="en-US" altLang="zh-TW" dirty="0">
              <a:ea typeface="新細明體" panose="02020500000000000000" pitchFamily="18" charset="-12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199FE1E-1A1F-47EB-97A2-2169448A22C6}"/>
              </a:ext>
            </a:extLst>
          </p:cNvPr>
          <p:cNvCxnSpPr>
            <a:stCxn id="152579" idx="1"/>
            <a:endCxn id="152579" idx="2"/>
          </p:cNvCxnSpPr>
          <p:nvPr/>
        </p:nvCxnSpPr>
        <p:spPr bwMode="auto">
          <a:xfrm flipH="1">
            <a:off x="2286000" y="2174736"/>
            <a:ext cx="368255" cy="83516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1A6D56F-EF52-4B2A-9528-29EB0F1B3F97}"/>
              </a:ext>
            </a:extLst>
          </p:cNvPr>
          <p:cNvCxnSpPr/>
          <p:nvPr/>
        </p:nvCxnSpPr>
        <p:spPr bwMode="auto">
          <a:xfrm flipH="1">
            <a:off x="2286000" y="2044422"/>
            <a:ext cx="501588" cy="109579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89D7483-4836-44D9-A306-CFA9055BE125}"/>
              </a:ext>
            </a:extLst>
          </p:cNvPr>
          <p:cNvCxnSpPr>
            <a:cxnSpLocks/>
          </p:cNvCxnSpPr>
          <p:nvPr/>
        </p:nvCxnSpPr>
        <p:spPr bwMode="auto">
          <a:xfrm flipH="1">
            <a:off x="2286001" y="1979720"/>
            <a:ext cx="590364" cy="128726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D5CDF5A-1749-4AA2-8220-743CA26CE8EE}"/>
              </a:ext>
            </a:extLst>
          </p:cNvPr>
          <p:cNvCxnSpPr>
            <a:cxnSpLocks/>
          </p:cNvCxnSpPr>
          <p:nvPr/>
        </p:nvCxnSpPr>
        <p:spPr bwMode="auto">
          <a:xfrm flipH="1">
            <a:off x="2364537" y="1979720"/>
            <a:ext cx="582851" cy="128726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196095-11B2-4FEE-B7A7-039C649108F2}"/>
              </a:ext>
            </a:extLst>
          </p:cNvPr>
          <p:cNvCxnSpPr/>
          <p:nvPr/>
        </p:nvCxnSpPr>
        <p:spPr bwMode="auto">
          <a:xfrm flipV="1">
            <a:off x="2364537" y="1979720"/>
            <a:ext cx="662748" cy="1449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E7F5ED2-98C7-4D16-B03B-245FA62283DC}"/>
              </a:ext>
            </a:extLst>
          </p:cNvPr>
          <p:cNvCxnSpPr>
            <a:cxnSpLocks/>
          </p:cNvCxnSpPr>
          <p:nvPr/>
        </p:nvCxnSpPr>
        <p:spPr bwMode="auto">
          <a:xfrm flipH="1">
            <a:off x="2402949" y="1899821"/>
            <a:ext cx="730868" cy="159798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CF323C5-A6F5-4EC2-87EE-9759ADC8BD79}"/>
              </a:ext>
            </a:extLst>
          </p:cNvPr>
          <p:cNvCxnSpPr/>
          <p:nvPr/>
        </p:nvCxnSpPr>
        <p:spPr bwMode="auto">
          <a:xfrm flipV="1">
            <a:off x="2470127" y="1899821"/>
            <a:ext cx="730273" cy="16778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584EE52-81F3-4F35-8CA6-6BDFF08C38C6}"/>
              </a:ext>
            </a:extLst>
          </p:cNvPr>
          <p:cNvCxnSpPr/>
          <p:nvPr/>
        </p:nvCxnSpPr>
        <p:spPr bwMode="auto">
          <a:xfrm flipH="1">
            <a:off x="2536794" y="1828800"/>
            <a:ext cx="749468" cy="182880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12970CE-38F7-4F91-9EE9-21598E7779E5}"/>
              </a:ext>
            </a:extLst>
          </p:cNvPr>
          <p:cNvCxnSpPr/>
          <p:nvPr/>
        </p:nvCxnSpPr>
        <p:spPr bwMode="auto">
          <a:xfrm flipV="1">
            <a:off x="2581183" y="1828800"/>
            <a:ext cx="774576" cy="192645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576" name="Straight Connector 152575">
            <a:extLst>
              <a:ext uri="{FF2B5EF4-FFF2-40B4-BE49-F238E27FC236}">
                <a16:creationId xmlns:a16="http://schemas.microsoft.com/office/drawing/2014/main" id="{578FF005-29F7-46B4-A92C-92B29511B2D0}"/>
              </a:ext>
            </a:extLst>
          </p:cNvPr>
          <p:cNvCxnSpPr>
            <a:cxnSpLocks/>
            <a:endCxn id="152579" idx="3"/>
          </p:cNvCxnSpPr>
          <p:nvPr/>
        </p:nvCxnSpPr>
        <p:spPr bwMode="auto">
          <a:xfrm flipH="1">
            <a:off x="2654255" y="1828800"/>
            <a:ext cx="750333" cy="201626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588" name="Straight Connector 152587">
            <a:extLst>
              <a:ext uri="{FF2B5EF4-FFF2-40B4-BE49-F238E27FC236}">
                <a16:creationId xmlns:a16="http://schemas.microsoft.com/office/drawing/2014/main" id="{13E493E9-7F59-43C3-9AEA-83F978BD89F2}"/>
              </a:ext>
            </a:extLst>
          </p:cNvPr>
          <p:cNvCxnSpPr>
            <a:stCxn id="152579" idx="3"/>
            <a:endCxn id="152579" idx="0"/>
          </p:cNvCxnSpPr>
          <p:nvPr/>
        </p:nvCxnSpPr>
        <p:spPr bwMode="auto">
          <a:xfrm flipV="1">
            <a:off x="2654255" y="1828800"/>
            <a:ext cx="889045" cy="201626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590" name="Straight Connector 152589">
            <a:extLst>
              <a:ext uri="{FF2B5EF4-FFF2-40B4-BE49-F238E27FC236}">
                <a16:creationId xmlns:a16="http://schemas.microsoft.com/office/drawing/2014/main" id="{EEA63FB5-5A07-4419-AA45-DE2185F091C8}"/>
              </a:ext>
            </a:extLst>
          </p:cNvPr>
          <p:cNvCxnSpPr/>
          <p:nvPr/>
        </p:nvCxnSpPr>
        <p:spPr bwMode="auto">
          <a:xfrm flipH="1">
            <a:off x="2768383" y="1837908"/>
            <a:ext cx="889217" cy="208639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592" name="Straight Connector 152591">
            <a:extLst>
              <a:ext uri="{FF2B5EF4-FFF2-40B4-BE49-F238E27FC236}">
                <a16:creationId xmlns:a16="http://schemas.microsoft.com/office/drawing/2014/main" id="{6F8094C1-061F-4665-B784-AA5992ED59F9}"/>
              </a:ext>
            </a:extLst>
          </p:cNvPr>
          <p:cNvCxnSpPr/>
          <p:nvPr/>
        </p:nvCxnSpPr>
        <p:spPr bwMode="auto">
          <a:xfrm flipV="1">
            <a:off x="2876365" y="1837908"/>
            <a:ext cx="857435" cy="208639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594" name="Straight Connector 152593">
            <a:extLst>
              <a:ext uri="{FF2B5EF4-FFF2-40B4-BE49-F238E27FC236}">
                <a16:creationId xmlns:a16="http://schemas.microsoft.com/office/drawing/2014/main" id="{ADC1146D-8908-4F7C-AEEF-F03F0572B2A7}"/>
              </a:ext>
            </a:extLst>
          </p:cNvPr>
          <p:cNvCxnSpPr/>
          <p:nvPr/>
        </p:nvCxnSpPr>
        <p:spPr bwMode="auto">
          <a:xfrm flipH="1">
            <a:off x="2911528" y="1837908"/>
            <a:ext cx="974672" cy="216592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596" name="Straight Connector 152595">
            <a:extLst>
              <a:ext uri="{FF2B5EF4-FFF2-40B4-BE49-F238E27FC236}">
                <a16:creationId xmlns:a16="http://schemas.microsoft.com/office/drawing/2014/main" id="{DF29CE6B-CFDF-4AFF-8BF7-0F818545E238}"/>
              </a:ext>
            </a:extLst>
          </p:cNvPr>
          <p:cNvCxnSpPr/>
          <p:nvPr/>
        </p:nvCxnSpPr>
        <p:spPr bwMode="auto">
          <a:xfrm flipV="1">
            <a:off x="3027285" y="1849406"/>
            <a:ext cx="941033" cy="2211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598" name="Straight Connector 152597">
            <a:extLst>
              <a:ext uri="{FF2B5EF4-FFF2-40B4-BE49-F238E27FC236}">
                <a16:creationId xmlns:a16="http://schemas.microsoft.com/office/drawing/2014/main" id="{722789D5-504F-4EFB-BFFE-CC2364E39CE4}"/>
              </a:ext>
            </a:extLst>
          </p:cNvPr>
          <p:cNvCxnSpPr/>
          <p:nvPr/>
        </p:nvCxnSpPr>
        <p:spPr bwMode="auto">
          <a:xfrm flipH="1">
            <a:off x="3133817" y="1917653"/>
            <a:ext cx="896645" cy="222226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00" name="Straight Connector 152599">
            <a:extLst>
              <a:ext uri="{FF2B5EF4-FFF2-40B4-BE49-F238E27FC236}">
                <a16:creationId xmlns:a16="http://schemas.microsoft.com/office/drawing/2014/main" id="{3486A345-5741-4762-9F5D-1E9A18448157}"/>
              </a:ext>
            </a:extLst>
          </p:cNvPr>
          <p:cNvCxnSpPr/>
          <p:nvPr/>
        </p:nvCxnSpPr>
        <p:spPr bwMode="auto">
          <a:xfrm flipV="1">
            <a:off x="3286262" y="1979720"/>
            <a:ext cx="815221" cy="216020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02" name="Straight Connector 152601">
            <a:extLst>
              <a:ext uri="{FF2B5EF4-FFF2-40B4-BE49-F238E27FC236}">
                <a16:creationId xmlns:a16="http://schemas.microsoft.com/office/drawing/2014/main" id="{4A1942FD-3243-4C7A-A74A-0566B25B6354}"/>
              </a:ext>
            </a:extLst>
          </p:cNvPr>
          <p:cNvCxnSpPr/>
          <p:nvPr/>
        </p:nvCxnSpPr>
        <p:spPr bwMode="auto">
          <a:xfrm flipH="1">
            <a:off x="3355759" y="1979720"/>
            <a:ext cx="834501" cy="216020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04" name="Straight Connector 152603">
            <a:extLst>
              <a:ext uri="{FF2B5EF4-FFF2-40B4-BE49-F238E27FC236}">
                <a16:creationId xmlns:a16="http://schemas.microsoft.com/office/drawing/2014/main" id="{E47D9EFE-01CF-45CD-BAE3-39C8912E703A}"/>
              </a:ext>
            </a:extLst>
          </p:cNvPr>
          <p:cNvCxnSpPr>
            <a:stCxn id="152579" idx="4"/>
          </p:cNvCxnSpPr>
          <p:nvPr/>
        </p:nvCxnSpPr>
        <p:spPr bwMode="auto">
          <a:xfrm flipV="1">
            <a:off x="3543300" y="3924300"/>
            <a:ext cx="114300" cy="26670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06" name="Straight Connector 152605">
            <a:extLst>
              <a:ext uri="{FF2B5EF4-FFF2-40B4-BE49-F238E27FC236}">
                <a16:creationId xmlns:a16="http://schemas.microsoft.com/office/drawing/2014/main" id="{F1218268-236A-4A5C-8231-05A135132442}"/>
              </a:ext>
            </a:extLst>
          </p:cNvPr>
          <p:cNvCxnSpPr>
            <a:endCxn id="152580" idx="2"/>
          </p:cNvCxnSpPr>
          <p:nvPr/>
        </p:nvCxnSpPr>
        <p:spPr bwMode="auto">
          <a:xfrm flipV="1">
            <a:off x="3398864" y="3009900"/>
            <a:ext cx="487336" cy="118110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5312748-5323-4F81-98F4-DD7FCD847760}"/>
              </a:ext>
            </a:extLst>
          </p:cNvPr>
          <p:cNvCxnSpPr>
            <a:stCxn id="152579" idx="4"/>
          </p:cNvCxnSpPr>
          <p:nvPr/>
        </p:nvCxnSpPr>
        <p:spPr bwMode="auto">
          <a:xfrm flipV="1">
            <a:off x="3543300" y="4003829"/>
            <a:ext cx="99232" cy="18717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0C91980-5DDA-441F-A5AF-A10BBD8194F8}"/>
              </a:ext>
            </a:extLst>
          </p:cNvPr>
          <p:cNvCxnSpPr>
            <a:cxnSpLocks/>
          </p:cNvCxnSpPr>
          <p:nvPr/>
        </p:nvCxnSpPr>
        <p:spPr bwMode="auto">
          <a:xfrm flipV="1">
            <a:off x="3413859" y="3216414"/>
            <a:ext cx="502624" cy="101236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A467B24-3418-4288-B18E-5E4C53FBC508}"/>
              </a:ext>
            </a:extLst>
          </p:cNvPr>
          <p:cNvCxnSpPr>
            <a:endCxn id="152579" idx="4"/>
          </p:cNvCxnSpPr>
          <p:nvPr/>
        </p:nvCxnSpPr>
        <p:spPr bwMode="auto">
          <a:xfrm flipH="1">
            <a:off x="3543300" y="3364637"/>
            <a:ext cx="425018" cy="82636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016FA62-FB16-4DA0-B6A7-8D24AE8AE1F0}"/>
              </a:ext>
            </a:extLst>
          </p:cNvPr>
          <p:cNvCxnSpPr/>
          <p:nvPr/>
        </p:nvCxnSpPr>
        <p:spPr bwMode="auto">
          <a:xfrm flipV="1">
            <a:off x="3665171" y="3497802"/>
            <a:ext cx="303147" cy="69319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57F4B70-132F-45D9-BB47-1FD4A3206B70}"/>
              </a:ext>
            </a:extLst>
          </p:cNvPr>
          <p:cNvCxnSpPr/>
          <p:nvPr/>
        </p:nvCxnSpPr>
        <p:spPr bwMode="auto">
          <a:xfrm flipV="1">
            <a:off x="3816744" y="3577701"/>
            <a:ext cx="213718" cy="56222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4D6A28C-A2D5-4BB1-BC24-699972173666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4079" y="2044422"/>
            <a:ext cx="127203" cy="2726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D11F3DF-21C0-45AF-A9B2-6CD97AAE47B4}"/>
              </a:ext>
            </a:extLst>
          </p:cNvPr>
          <p:cNvCxnSpPr/>
          <p:nvPr/>
        </p:nvCxnSpPr>
        <p:spPr bwMode="auto">
          <a:xfrm flipV="1">
            <a:off x="3968318" y="3722594"/>
            <a:ext cx="133165" cy="41732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5846F82D-4E93-4B05-9051-25E7CA040089}"/>
              </a:ext>
            </a:extLst>
          </p:cNvPr>
          <p:cNvCxnSpPr>
            <a:cxnSpLocks/>
          </p:cNvCxnSpPr>
          <p:nvPr/>
        </p:nvCxnSpPr>
        <p:spPr bwMode="auto">
          <a:xfrm flipV="1">
            <a:off x="4080920" y="3755254"/>
            <a:ext cx="85862" cy="33699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B726CDB-96DD-41C0-A0F8-DDBC63F6B85A}"/>
              </a:ext>
            </a:extLst>
          </p:cNvPr>
          <p:cNvCxnSpPr>
            <a:stCxn id="152580" idx="3"/>
          </p:cNvCxnSpPr>
          <p:nvPr/>
        </p:nvCxnSpPr>
        <p:spPr bwMode="auto">
          <a:xfrm flipH="1">
            <a:off x="4197680" y="3845064"/>
            <a:ext cx="56775" cy="21258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09" name="Straight Connector 152608">
            <a:extLst>
              <a:ext uri="{FF2B5EF4-FFF2-40B4-BE49-F238E27FC236}">
                <a16:creationId xmlns:a16="http://schemas.microsoft.com/office/drawing/2014/main" id="{A82911E7-4538-48AC-9DED-0F32A1E70B51}"/>
              </a:ext>
            </a:extLst>
          </p:cNvPr>
          <p:cNvCxnSpPr>
            <a:stCxn id="152579" idx="7"/>
          </p:cNvCxnSpPr>
          <p:nvPr/>
        </p:nvCxnSpPr>
        <p:spPr bwMode="auto">
          <a:xfrm flipV="1">
            <a:off x="4432345" y="1917653"/>
            <a:ext cx="139655" cy="25708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11" name="Straight Connector 152610">
            <a:extLst>
              <a:ext uri="{FF2B5EF4-FFF2-40B4-BE49-F238E27FC236}">
                <a16:creationId xmlns:a16="http://schemas.microsoft.com/office/drawing/2014/main" id="{44A31992-A225-4A32-A886-F31B09219D63}"/>
              </a:ext>
            </a:extLst>
          </p:cNvPr>
          <p:cNvCxnSpPr/>
          <p:nvPr/>
        </p:nvCxnSpPr>
        <p:spPr bwMode="auto">
          <a:xfrm flipH="1">
            <a:off x="4502172" y="1910918"/>
            <a:ext cx="146028" cy="36873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18" name="Straight Connector 152617">
            <a:extLst>
              <a:ext uri="{FF2B5EF4-FFF2-40B4-BE49-F238E27FC236}">
                <a16:creationId xmlns:a16="http://schemas.microsoft.com/office/drawing/2014/main" id="{3D503061-DB1F-4E08-AAC2-333E921181BE}"/>
              </a:ext>
            </a:extLst>
          </p:cNvPr>
          <p:cNvCxnSpPr>
            <a:cxnSpLocks/>
          </p:cNvCxnSpPr>
          <p:nvPr/>
        </p:nvCxnSpPr>
        <p:spPr bwMode="auto">
          <a:xfrm flipH="1">
            <a:off x="4592143" y="1882914"/>
            <a:ext cx="176611" cy="43415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22" name="Straight Connector 152621">
            <a:extLst>
              <a:ext uri="{FF2B5EF4-FFF2-40B4-BE49-F238E27FC236}">
                <a16:creationId xmlns:a16="http://schemas.microsoft.com/office/drawing/2014/main" id="{B13ECFEC-450F-4ED6-96B5-5ED4BD322A07}"/>
              </a:ext>
            </a:extLst>
          </p:cNvPr>
          <p:cNvCxnSpPr>
            <a:cxnSpLocks/>
          </p:cNvCxnSpPr>
          <p:nvPr/>
        </p:nvCxnSpPr>
        <p:spPr bwMode="auto">
          <a:xfrm flipH="1">
            <a:off x="4627485" y="1849406"/>
            <a:ext cx="261606" cy="5550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27" name="Straight Connector 152626">
            <a:extLst>
              <a:ext uri="{FF2B5EF4-FFF2-40B4-BE49-F238E27FC236}">
                <a16:creationId xmlns:a16="http://schemas.microsoft.com/office/drawing/2014/main" id="{A6BCE71D-BA30-4240-B564-BBB305EFFB97}"/>
              </a:ext>
            </a:extLst>
          </p:cNvPr>
          <p:cNvCxnSpPr/>
          <p:nvPr/>
        </p:nvCxnSpPr>
        <p:spPr bwMode="auto">
          <a:xfrm flipH="1">
            <a:off x="4680448" y="1849406"/>
            <a:ext cx="308802" cy="66297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29" name="Straight Connector 152628">
            <a:extLst>
              <a:ext uri="{FF2B5EF4-FFF2-40B4-BE49-F238E27FC236}">
                <a16:creationId xmlns:a16="http://schemas.microsoft.com/office/drawing/2014/main" id="{992AEF19-3902-4BFB-B3CD-CE0F00F7BC4B}"/>
              </a:ext>
            </a:extLst>
          </p:cNvPr>
          <p:cNvCxnSpPr>
            <a:cxnSpLocks/>
            <a:stCxn id="152580" idx="0"/>
          </p:cNvCxnSpPr>
          <p:nvPr/>
        </p:nvCxnSpPr>
        <p:spPr bwMode="auto">
          <a:xfrm flipH="1">
            <a:off x="4758288" y="1828800"/>
            <a:ext cx="385212" cy="76351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32" name="Straight Connector 152631">
            <a:extLst>
              <a:ext uri="{FF2B5EF4-FFF2-40B4-BE49-F238E27FC236}">
                <a16:creationId xmlns:a16="http://schemas.microsoft.com/office/drawing/2014/main" id="{5CFE1829-D500-4F66-81F7-80C5909A7309}"/>
              </a:ext>
            </a:extLst>
          </p:cNvPr>
          <p:cNvCxnSpPr/>
          <p:nvPr/>
        </p:nvCxnSpPr>
        <p:spPr bwMode="auto">
          <a:xfrm flipH="1">
            <a:off x="4768754" y="1828800"/>
            <a:ext cx="489046" cy="90996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34" name="Straight Connector 152633">
            <a:extLst>
              <a:ext uri="{FF2B5EF4-FFF2-40B4-BE49-F238E27FC236}">
                <a16:creationId xmlns:a16="http://schemas.microsoft.com/office/drawing/2014/main" id="{121FD422-E8D2-4C24-A4A1-2525DD772E8B}"/>
              </a:ext>
            </a:extLst>
          </p:cNvPr>
          <p:cNvCxnSpPr/>
          <p:nvPr/>
        </p:nvCxnSpPr>
        <p:spPr bwMode="auto">
          <a:xfrm flipH="1">
            <a:off x="4812890" y="1849406"/>
            <a:ext cx="566389" cy="98752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36" name="Straight Connector 152635">
            <a:extLst>
              <a:ext uri="{FF2B5EF4-FFF2-40B4-BE49-F238E27FC236}">
                <a16:creationId xmlns:a16="http://schemas.microsoft.com/office/drawing/2014/main" id="{C8E85CF3-BE4D-4F0C-9F4B-792E789CF228}"/>
              </a:ext>
            </a:extLst>
          </p:cNvPr>
          <p:cNvCxnSpPr>
            <a:endCxn id="152579" idx="6"/>
          </p:cNvCxnSpPr>
          <p:nvPr/>
        </p:nvCxnSpPr>
        <p:spPr bwMode="auto">
          <a:xfrm flipH="1">
            <a:off x="4800600" y="1882914"/>
            <a:ext cx="661988" cy="112698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38" name="Straight Connector 152637">
            <a:extLst>
              <a:ext uri="{FF2B5EF4-FFF2-40B4-BE49-F238E27FC236}">
                <a16:creationId xmlns:a16="http://schemas.microsoft.com/office/drawing/2014/main" id="{55462105-814E-4ECD-BC89-DD576706FFA3}"/>
              </a:ext>
            </a:extLst>
          </p:cNvPr>
          <p:cNvCxnSpPr/>
          <p:nvPr/>
        </p:nvCxnSpPr>
        <p:spPr bwMode="auto">
          <a:xfrm flipH="1">
            <a:off x="4820432" y="1910918"/>
            <a:ext cx="770138" cy="122929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40" name="Straight Connector 152639">
            <a:extLst>
              <a:ext uri="{FF2B5EF4-FFF2-40B4-BE49-F238E27FC236}">
                <a16:creationId xmlns:a16="http://schemas.microsoft.com/office/drawing/2014/main" id="{7336F433-66AF-4C6F-8681-5C9C3E174105}"/>
              </a:ext>
            </a:extLst>
          </p:cNvPr>
          <p:cNvCxnSpPr/>
          <p:nvPr/>
        </p:nvCxnSpPr>
        <p:spPr bwMode="auto">
          <a:xfrm flipH="1">
            <a:off x="4768754" y="1959114"/>
            <a:ext cx="922434" cy="142734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42" name="Straight Connector 152641">
            <a:extLst>
              <a:ext uri="{FF2B5EF4-FFF2-40B4-BE49-F238E27FC236}">
                <a16:creationId xmlns:a16="http://schemas.microsoft.com/office/drawing/2014/main" id="{382B3420-9428-4872-94FA-4EFD42E96AC8}"/>
              </a:ext>
            </a:extLst>
          </p:cNvPr>
          <p:cNvCxnSpPr/>
          <p:nvPr/>
        </p:nvCxnSpPr>
        <p:spPr bwMode="auto">
          <a:xfrm flipH="1">
            <a:off x="4391117" y="2014214"/>
            <a:ext cx="1388103" cy="198850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44" name="Straight Connector 152643">
            <a:extLst>
              <a:ext uri="{FF2B5EF4-FFF2-40B4-BE49-F238E27FC236}">
                <a16:creationId xmlns:a16="http://schemas.microsoft.com/office/drawing/2014/main" id="{61AF04A2-97DE-4486-BD01-F94C10A8EEE2}"/>
              </a:ext>
            </a:extLst>
          </p:cNvPr>
          <p:cNvCxnSpPr/>
          <p:nvPr/>
        </p:nvCxnSpPr>
        <p:spPr bwMode="auto">
          <a:xfrm flipH="1">
            <a:off x="4522690" y="2055265"/>
            <a:ext cx="1349489" cy="194827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46" name="Straight Connector 152645">
            <a:extLst>
              <a:ext uri="{FF2B5EF4-FFF2-40B4-BE49-F238E27FC236}">
                <a16:creationId xmlns:a16="http://schemas.microsoft.com/office/drawing/2014/main" id="{343CE9A9-60D2-407E-A7B2-376062A15BDE}"/>
              </a:ext>
            </a:extLst>
          </p:cNvPr>
          <p:cNvCxnSpPr>
            <a:cxnSpLocks/>
          </p:cNvCxnSpPr>
          <p:nvPr/>
        </p:nvCxnSpPr>
        <p:spPr bwMode="auto">
          <a:xfrm flipV="1">
            <a:off x="4592143" y="2083756"/>
            <a:ext cx="1339477" cy="197389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50" name="Straight Connector 152649">
            <a:extLst>
              <a:ext uri="{FF2B5EF4-FFF2-40B4-BE49-F238E27FC236}">
                <a16:creationId xmlns:a16="http://schemas.microsoft.com/office/drawing/2014/main" id="{3C6E3610-AFFB-45B4-8EBE-76BA587F2FC9}"/>
              </a:ext>
            </a:extLst>
          </p:cNvPr>
          <p:cNvCxnSpPr>
            <a:endCxn id="152580" idx="7"/>
          </p:cNvCxnSpPr>
          <p:nvPr/>
        </p:nvCxnSpPr>
        <p:spPr bwMode="auto">
          <a:xfrm flipV="1">
            <a:off x="4680448" y="2174736"/>
            <a:ext cx="1352097" cy="19175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52" name="Straight Connector 152651">
            <a:extLst>
              <a:ext uri="{FF2B5EF4-FFF2-40B4-BE49-F238E27FC236}">
                <a16:creationId xmlns:a16="http://schemas.microsoft.com/office/drawing/2014/main" id="{7F584287-524E-4BD8-9F8F-32E6F08C7DB4}"/>
              </a:ext>
            </a:extLst>
          </p:cNvPr>
          <p:cNvCxnSpPr/>
          <p:nvPr/>
        </p:nvCxnSpPr>
        <p:spPr bwMode="auto">
          <a:xfrm flipV="1">
            <a:off x="4768754" y="2279657"/>
            <a:ext cx="1356838" cy="18602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54" name="Straight Connector 152653">
            <a:extLst>
              <a:ext uri="{FF2B5EF4-FFF2-40B4-BE49-F238E27FC236}">
                <a16:creationId xmlns:a16="http://schemas.microsoft.com/office/drawing/2014/main" id="{03A710E9-2559-4555-9A8E-18ABB0A0DDAC}"/>
              </a:ext>
            </a:extLst>
          </p:cNvPr>
          <p:cNvCxnSpPr>
            <a:cxnSpLocks/>
          </p:cNvCxnSpPr>
          <p:nvPr/>
        </p:nvCxnSpPr>
        <p:spPr bwMode="auto">
          <a:xfrm flipV="1">
            <a:off x="4896633" y="2343170"/>
            <a:ext cx="1299981" cy="181277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57" name="Straight Connector 152656">
            <a:extLst>
              <a:ext uri="{FF2B5EF4-FFF2-40B4-BE49-F238E27FC236}">
                <a16:creationId xmlns:a16="http://schemas.microsoft.com/office/drawing/2014/main" id="{5A57BCBE-EBC3-4D59-BD2A-2DBF62C27DF0}"/>
              </a:ext>
            </a:extLst>
          </p:cNvPr>
          <p:cNvCxnSpPr>
            <a:cxnSpLocks/>
          </p:cNvCxnSpPr>
          <p:nvPr/>
        </p:nvCxnSpPr>
        <p:spPr bwMode="auto">
          <a:xfrm flipH="1">
            <a:off x="5013278" y="2445733"/>
            <a:ext cx="1247867" cy="174526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60" name="Straight Connector 152659">
            <a:extLst>
              <a:ext uri="{FF2B5EF4-FFF2-40B4-BE49-F238E27FC236}">
                <a16:creationId xmlns:a16="http://schemas.microsoft.com/office/drawing/2014/main" id="{1C84A659-38B5-44FC-AB5F-4E48DD81A69B}"/>
              </a:ext>
            </a:extLst>
          </p:cNvPr>
          <p:cNvCxnSpPr>
            <a:cxnSpLocks/>
            <a:stCxn id="152580" idx="4"/>
          </p:cNvCxnSpPr>
          <p:nvPr/>
        </p:nvCxnSpPr>
        <p:spPr bwMode="auto">
          <a:xfrm flipV="1">
            <a:off x="5143500" y="2525566"/>
            <a:ext cx="1167584" cy="166543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63" name="Straight Connector 152662">
            <a:extLst>
              <a:ext uri="{FF2B5EF4-FFF2-40B4-BE49-F238E27FC236}">
                <a16:creationId xmlns:a16="http://schemas.microsoft.com/office/drawing/2014/main" id="{2AF291EA-406B-4079-8AAF-60391BD23AEC}"/>
              </a:ext>
            </a:extLst>
          </p:cNvPr>
          <p:cNvCxnSpPr>
            <a:cxnSpLocks/>
          </p:cNvCxnSpPr>
          <p:nvPr/>
        </p:nvCxnSpPr>
        <p:spPr bwMode="auto">
          <a:xfrm flipV="1">
            <a:off x="5257800" y="2610648"/>
            <a:ext cx="1069036" cy="158035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66" name="Straight Connector 152665">
            <a:extLst>
              <a:ext uri="{FF2B5EF4-FFF2-40B4-BE49-F238E27FC236}">
                <a16:creationId xmlns:a16="http://schemas.microsoft.com/office/drawing/2014/main" id="{8F78340F-0FAD-4BD0-9BDA-49B4A18CAD21}"/>
              </a:ext>
            </a:extLst>
          </p:cNvPr>
          <p:cNvCxnSpPr/>
          <p:nvPr/>
        </p:nvCxnSpPr>
        <p:spPr bwMode="auto">
          <a:xfrm flipV="1">
            <a:off x="5379279" y="2698811"/>
            <a:ext cx="947557" cy="145713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68" name="Straight Connector 152667">
            <a:extLst>
              <a:ext uri="{FF2B5EF4-FFF2-40B4-BE49-F238E27FC236}">
                <a16:creationId xmlns:a16="http://schemas.microsoft.com/office/drawing/2014/main" id="{02D8BC8B-0C3B-4D8B-B670-FF65ABC9A0E4}"/>
              </a:ext>
            </a:extLst>
          </p:cNvPr>
          <p:cNvCxnSpPr/>
          <p:nvPr/>
        </p:nvCxnSpPr>
        <p:spPr bwMode="auto">
          <a:xfrm flipV="1">
            <a:off x="5462588" y="2738761"/>
            <a:ext cx="938212" cy="1417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70" name="Straight Connector 152669">
            <a:extLst>
              <a:ext uri="{FF2B5EF4-FFF2-40B4-BE49-F238E27FC236}">
                <a16:creationId xmlns:a16="http://schemas.microsoft.com/office/drawing/2014/main" id="{EA9D7041-9BDB-42E7-98B6-80681A220104}"/>
              </a:ext>
            </a:extLst>
          </p:cNvPr>
          <p:cNvCxnSpPr/>
          <p:nvPr/>
        </p:nvCxnSpPr>
        <p:spPr bwMode="auto">
          <a:xfrm flipV="1">
            <a:off x="5587201" y="2845751"/>
            <a:ext cx="801619" cy="127541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72" name="Straight Connector 152671">
            <a:extLst>
              <a:ext uri="{FF2B5EF4-FFF2-40B4-BE49-F238E27FC236}">
                <a16:creationId xmlns:a16="http://schemas.microsoft.com/office/drawing/2014/main" id="{B4EFB904-A591-4276-953A-81ABDD85C6FF}"/>
              </a:ext>
            </a:extLst>
          </p:cNvPr>
          <p:cNvCxnSpPr>
            <a:endCxn id="152580" idx="6"/>
          </p:cNvCxnSpPr>
          <p:nvPr/>
        </p:nvCxnSpPr>
        <p:spPr bwMode="auto">
          <a:xfrm flipV="1">
            <a:off x="5727292" y="3009900"/>
            <a:ext cx="673508" cy="10477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74" name="Straight Connector 152673">
            <a:extLst>
              <a:ext uri="{FF2B5EF4-FFF2-40B4-BE49-F238E27FC236}">
                <a16:creationId xmlns:a16="http://schemas.microsoft.com/office/drawing/2014/main" id="{8FD9F56D-5440-4DC4-8210-2FE70B95DAA1}"/>
              </a:ext>
            </a:extLst>
          </p:cNvPr>
          <p:cNvCxnSpPr/>
          <p:nvPr/>
        </p:nvCxnSpPr>
        <p:spPr bwMode="auto">
          <a:xfrm flipV="1">
            <a:off x="5853057" y="3133493"/>
            <a:ext cx="547743" cy="86922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2676" name="Straight Connector 152675">
            <a:extLst>
              <a:ext uri="{FF2B5EF4-FFF2-40B4-BE49-F238E27FC236}">
                <a16:creationId xmlns:a16="http://schemas.microsoft.com/office/drawing/2014/main" id="{01016A3D-7FE0-4C37-8DA6-9224F36FEBA6}"/>
              </a:ext>
            </a:extLst>
          </p:cNvPr>
          <p:cNvCxnSpPr>
            <a:stCxn id="152580" idx="5"/>
          </p:cNvCxnSpPr>
          <p:nvPr/>
        </p:nvCxnSpPr>
        <p:spPr bwMode="auto">
          <a:xfrm flipV="1">
            <a:off x="6032545" y="3427378"/>
            <a:ext cx="294291" cy="41768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EC0575-9E6A-4BDE-9E3E-6703731F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134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8471583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>
            <a:extLst>
              <a:ext uri="{FF2B5EF4-FFF2-40B4-BE49-F238E27FC236}">
                <a16:creationId xmlns:a16="http://schemas.microsoft.com/office/drawing/2014/main" id="{03BB5604-1D42-46DB-8AA4-BEFA8C018D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Relational Algebra Solution 2</a:t>
            </a:r>
          </a:p>
        </p:txBody>
      </p:sp>
      <p:sp>
        <p:nvSpPr>
          <p:cNvPr id="96259" name="Text Box 3">
            <a:extLst>
              <a:ext uri="{FF2B5EF4-FFF2-40B4-BE49-F238E27FC236}">
                <a16:creationId xmlns:a16="http://schemas.microsoft.com/office/drawing/2014/main" id="{6C58190A-1E50-468E-B90A-63B63C4F13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solidFill>
                  <a:schemeClr val="accent6">
                    <a:lumMod val="75000"/>
                  </a:schemeClr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(</a:t>
            </a:r>
            <a:r>
              <a:rPr lang="en-US" altLang="zh-TW" sz="3200" baseline="-25000" dirty="0" err="1">
                <a:solidFill>
                  <a:schemeClr val="accent6">
                    <a:lumMod val="75000"/>
                  </a:schemeClr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solidFill>
                  <a:schemeClr val="accent6">
                    <a:lumMod val="75000"/>
                  </a:schemeClr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 err="1">
                <a:solidFill>
                  <a:schemeClr val="accent6">
                    <a:lumMod val="75000"/>
                  </a:schemeClr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 dirty="0">
                <a:solidFill>
                  <a:schemeClr val="accent6">
                    <a:lumMod val="75000"/>
                  </a:schemeClr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=‘csc6710’</a:t>
            </a:r>
            <a:r>
              <a:rPr lang="en-US" altLang="zh-TW" sz="3200" dirty="0">
                <a:solidFill>
                  <a:schemeClr val="accent6">
                    <a:lumMod val="75000"/>
                  </a:schemeClr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(Taught))  </a:t>
            </a:r>
            <a:r>
              <a:rPr lang="en-US" altLang="zh-TW" sz="3200" baseline="-25000" dirty="0" err="1">
                <a:solidFill>
                  <a:schemeClr val="accent6">
                    <a:lumMod val="75000"/>
                  </a:schemeClr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solidFill>
                  <a:schemeClr val="accent6">
                    <a:lumMod val="75000"/>
                  </a:schemeClr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 err="1">
                <a:solidFill>
                  <a:schemeClr val="accent6">
                    <a:lumMod val="75000"/>
                  </a:schemeClr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 dirty="0">
                <a:solidFill>
                  <a:schemeClr val="accent6">
                    <a:lumMod val="75000"/>
                  </a:schemeClr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=‘csc7710’</a:t>
            </a:r>
            <a:r>
              <a:rPr lang="en-US" altLang="zh-TW" sz="3200" dirty="0">
                <a:solidFill>
                  <a:schemeClr val="accent6">
                    <a:lumMod val="75000"/>
                  </a:schemeClr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(Taught)))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-</a:t>
            </a:r>
          </a:p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=‘csc6710’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(Taught))  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=‘csc7710’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(Taught)))</a:t>
            </a:r>
          </a:p>
          <a:p>
            <a:pPr>
              <a:spcBef>
                <a:spcPct val="50000"/>
              </a:spcBef>
            </a:pPr>
            <a:endParaRPr lang="en-US" altLang="zh-TW" sz="3200" dirty="0">
              <a:ea typeface="新細明體" panose="02020500000000000000" pitchFamily="18" charset="-120"/>
              <a:sym typeface="Symbol" panose="05050102010706020507" pitchFamily="18" charset="2"/>
            </a:endParaRPr>
          </a:p>
        </p:txBody>
      </p:sp>
      <p:pic>
        <p:nvPicPr>
          <p:cNvPr id="96260" name="Picture 6" descr="C:\Documents and Settings\Dr. Shiyong Lu\My Documents\schema.bmp">
            <a:extLst>
              <a:ext uri="{FF2B5EF4-FFF2-40B4-BE49-F238E27FC236}">
                <a16:creationId xmlns:a16="http://schemas.microsoft.com/office/drawing/2014/main" id="{6BBB2DBD-6C39-46D6-A91B-81430C5BBF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F3226C-A4A4-41FB-91A1-01661A02E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135</a:t>
            </a:fld>
            <a:endParaRPr lang="en-US" altLang="zh-TW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>
            <a:extLst>
              <a:ext uri="{FF2B5EF4-FFF2-40B4-BE49-F238E27FC236}">
                <a16:creationId xmlns:a16="http://schemas.microsoft.com/office/drawing/2014/main" id="{03BB5604-1D42-46DB-8AA4-BEFA8C018D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Relational Algebra Solution 3</a:t>
            </a:r>
          </a:p>
        </p:txBody>
      </p:sp>
      <p:sp>
        <p:nvSpPr>
          <p:cNvPr id="96259" name="Text Box 3">
            <a:extLst>
              <a:ext uri="{FF2B5EF4-FFF2-40B4-BE49-F238E27FC236}">
                <a16:creationId xmlns:a16="http://schemas.microsoft.com/office/drawing/2014/main" id="{6C58190A-1E50-468E-B90A-63B63C4F13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2800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solidFill>
                  <a:schemeClr val="accent6"/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baseline="-25000" dirty="0" err="1">
                <a:solidFill>
                  <a:schemeClr val="accent6"/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solidFill>
                  <a:schemeClr val="accent6"/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 err="1">
                <a:solidFill>
                  <a:schemeClr val="accent6"/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 dirty="0">
                <a:solidFill>
                  <a:schemeClr val="accent6"/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=‘csc6710’  </a:t>
            </a:r>
            <a:r>
              <a:rPr lang="en-US" altLang="zh-TW" sz="3200" baseline="-25000" dirty="0" err="1">
                <a:solidFill>
                  <a:schemeClr val="accent6"/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 dirty="0">
                <a:solidFill>
                  <a:schemeClr val="accent6"/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=‘csc7710’</a:t>
            </a:r>
            <a:r>
              <a:rPr lang="en-US" altLang="zh-TW" sz="3200" dirty="0">
                <a:solidFill>
                  <a:schemeClr val="accent6"/>
                </a:solidFill>
                <a:ea typeface="新細明體" panose="02020500000000000000" pitchFamily="18" charset="-120"/>
                <a:sym typeface="Symbol" panose="05050102010706020507" pitchFamily="18" charset="2"/>
              </a:rPr>
              <a:t>(Taught))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-(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=‘csc6710’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(Taught))  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=‘csc7710’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(Taught)))</a:t>
            </a:r>
          </a:p>
          <a:p>
            <a:pPr>
              <a:spcBef>
                <a:spcPct val="50000"/>
              </a:spcBef>
            </a:pPr>
            <a:endParaRPr lang="en-US" altLang="zh-TW" sz="3200" dirty="0">
              <a:ea typeface="新細明體" panose="02020500000000000000" pitchFamily="18" charset="-120"/>
              <a:sym typeface="Symbol" panose="05050102010706020507" pitchFamily="18" charset="2"/>
            </a:endParaRPr>
          </a:p>
        </p:txBody>
      </p:sp>
      <p:pic>
        <p:nvPicPr>
          <p:cNvPr id="96260" name="Picture 6" descr="C:\Documents and Settings\Dr. Shiyong Lu\My Documents\schema.bmp">
            <a:extLst>
              <a:ext uri="{FF2B5EF4-FFF2-40B4-BE49-F238E27FC236}">
                <a16:creationId xmlns:a16="http://schemas.microsoft.com/office/drawing/2014/main" id="{6BBB2DBD-6C39-46D6-A91B-81430C5BBF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peech Bubble: Rectangle 1">
            <a:extLst>
              <a:ext uri="{FF2B5EF4-FFF2-40B4-BE49-F238E27FC236}">
                <a16:creationId xmlns:a16="http://schemas.microsoft.com/office/drawing/2014/main" id="{F7126EF5-B2F1-4353-86F5-C93687A1C19D}"/>
              </a:ext>
            </a:extLst>
          </p:cNvPr>
          <p:cNvSpPr/>
          <p:nvPr/>
        </p:nvSpPr>
        <p:spPr bwMode="auto">
          <a:xfrm>
            <a:off x="6560598" y="2602668"/>
            <a:ext cx="2583402" cy="699825"/>
          </a:xfrm>
          <a:prstGeom prst="wedgeRectCallout">
            <a:avLst>
              <a:gd name="adj1" fmla="val -185438"/>
              <a:gd name="adj2" fmla="val 156373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rPr>
              <a:t>Use v to implement UNION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40B65F-1FA8-473F-87DD-D32E2D5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136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9347447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>
            <a:extLst>
              <a:ext uri="{FF2B5EF4-FFF2-40B4-BE49-F238E27FC236}">
                <a16:creationId xmlns:a16="http://schemas.microsoft.com/office/drawing/2014/main" id="{03BB5604-1D42-46DB-8AA4-BEFA8C018D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Relational Algebra Solution 4</a:t>
            </a:r>
          </a:p>
        </p:txBody>
      </p:sp>
      <p:sp>
        <p:nvSpPr>
          <p:cNvPr id="96259" name="Text Box 3">
            <a:extLst>
              <a:ext uri="{FF2B5EF4-FFF2-40B4-BE49-F238E27FC236}">
                <a16:creationId xmlns:a16="http://schemas.microsoft.com/office/drawing/2014/main" id="{6C58190A-1E50-468E-B90A-63B63C4F13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7940336" cy="3293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>
                <a:ea typeface="新細明體" panose="02020500000000000000" pitchFamily="18" charset="-120"/>
                <a:sym typeface="Symbol" panose="05050102010706020507" pitchFamily="18" charset="2"/>
              </a:rPr>
              <a:t>=‘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csc6710’  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=‘csc7710’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(Taught))-(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crscode1=‘csc6710’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(Taught[crscode1, </a:t>
            </a:r>
            <a:r>
              <a:rPr lang="en-US" altLang="zh-TW" sz="3200" dirty="0" err="1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, semester1])     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crscode2=‘csc7710’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(Taught[crscode2, </a:t>
            </a:r>
            <a:r>
              <a:rPr lang="en-US" altLang="zh-TW" sz="3200" dirty="0" err="1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, semester2])))</a:t>
            </a:r>
          </a:p>
          <a:p>
            <a:pPr>
              <a:spcBef>
                <a:spcPct val="50000"/>
              </a:spcBef>
            </a:pPr>
            <a:endParaRPr lang="en-US" altLang="zh-TW" sz="3200" dirty="0">
              <a:ea typeface="新細明體" panose="02020500000000000000" pitchFamily="18" charset="-120"/>
              <a:sym typeface="Symbol" panose="05050102010706020507" pitchFamily="18" charset="2"/>
            </a:endParaRPr>
          </a:p>
        </p:txBody>
      </p:sp>
      <p:pic>
        <p:nvPicPr>
          <p:cNvPr id="96260" name="Picture 6" descr="C:\Documents and Settings\Dr. Shiyong Lu\My Documents\schema.bmp">
            <a:extLst>
              <a:ext uri="{FF2B5EF4-FFF2-40B4-BE49-F238E27FC236}">
                <a16:creationId xmlns:a16="http://schemas.microsoft.com/office/drawing/2014/main" id="{6BBB2DBD-6C39-46D6-A91B-81430C5BBF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Group 1034">
            <a:extLst>
              <a:ext uri="{FF2B5EF4-FFF2-40B4-BE49-F238E27FC236}">
                <a16:creationId xmlns:a16="http://schemas.microsoft.com/office/drawing/2014/main" id="{F2F6BCC1-6B7A-4169-AA8E-6DCB73B0BACF}"/>
              </a:ext>
            </a:extLst>
          </p:cNvPr>
          <p:cNvGrpSpPr>
            <a:grpSpLocks/>
          </p:cNvGrpSpPr>
          <p:nvPr/>
        </p:nvGrpSpPr>
        <p:grpSpPr bwMode="auto">
          <a:xfrm>
            <a:off x="3170807" y="5019583"/>
            <a:ext cx="457200" cy="152400"/>
            <a:chOff x="2352" y="2064"/>
            <a:chExt cx="288" cy="96"/>
          </a:xfrm>
        </p:grpSpPr>
        <p:sp>
          <p:nvSpPr>
            <p:cNvPr id="6" name="AutoShape 1030">
              <a:extLst>
                <a:ext uri="{FF2B5EF4-FFF2-40B4-BE49-F238E27FC236}">
                  <a16:creationId xmlns:a16="http://schemas.microsoft.com/office/drawing/2014/main" id="{AD5DBBCB-22F8-4740-B894-27E1BE0FF4D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7" name="AutoShape 1033">
              <a:extLst>
                <a:ext uri="{FF2B5EF4-FFF2-40B4-BE49-F238E27FC236}">
                  <a16:creationId xmlns:a16="http://schemas.microsoft.com/office/drawing/2014/main" id="{5ADD07C8-4861-4E93-B8D1-7957D8731B2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FE4AD9F6-D169-4DE6-B3F9-5C1481190480}"/>
              </a:ext>
            </a:extLst>
          </p:cNvPr>
          <p:cNvSpPr/>
          <p:nvPr/>
        </p:nvSpPr>
        <p:spPr bwMode="auto">
          <a:xfrm>
            <a:off x="6134470" y="2602668"/>
            <a:ext cx="3009530" cy="699825"/>
          </a:xfrm>
          <a:prstGeom prst="wedgeRectCallout">
            <a:avLst>
              <a:gd name="adj1" fmla="val -140728"/>
              <a:gd name="adj2" fmla="val 285766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rPr>
              <a:t>Use LFRH to implement INTERSECTION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564459-7C01-4B10-83EF-8418F39B1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137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5011269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2">
            <a:extLst>
              <a:ext uri="{FF2B5EF4-FFF2-40B4-BE49-F238E27FC236}">
                <a16:creationId xmlns:a16="http://schemas.microsoft.com/office/drawing/2014/main" id="{C9289C25-ADDB-454B-BFB9-63AD7295A1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97283" name="Text Box 4">
            <a:extLst>
              <a:ext uri="{FF2B5EF4-FFF2-40B4-BE49-F238E27FC236}">
                <a16:creationId xmlns:a16="http://schemas.microsoft.com/office/drawing/2014/main" id="{FE0386A7-E0B1-4A06-A764-C280F85173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 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='CSC6710' OR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='CSC7710’ </a:t>
            </a:r>
            <a:b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</a:b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Except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T1.ssn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 T1, Taught T2,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T1.crscode = ‘CSC6710’ AND T2.crscode=‘CSC7710’ AND T1.ssn=T2.ssn;</a:t>
            </a:r>
          </a:p>
        </p:txBody>
      </p:sp>
      <p:pic>
        <p:nvPicPr>
          <p:cNvPr id="97284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4E4718DA-D9DE-4397-A163-273859E19F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68DDB2C3-0E46-427C-AB68-DCA0F37541B9}"/>
              </a:ext>
            </a:extLst>
          </p:cNvPr>
          <p:cNvSpPr/>
          <p:nvPr/>
        </p:nvSpPr>
        <p:spPr bwMode="auto">
          <a:xfrm>
            <a:off x="230819" y="767950"/>
            <a:ext cx="2583402" cy="699825"/>
          </a:xfrm>
          <a:prstGeom prst="wedgeRectCallout">
            <a:avLst>
              <a:gd name="adj1" fmla="val 111813"/>
              <a:gd name="adj2" fmla="val 441798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rPr>
              <a:t>Use v to implement UNION</a:t>
            </a:r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03D57D1E-E161-4EE4-89A2-563F98788288}"/>
              </a:ext>
            </a:extLst>
          </p:cNvPr>
          <p:cNvSpPr/>
          <p:nvPr/>
        </p:nvSpPr>
        <p:spPr bwMode="auto">
          <a:xfrm>
            <a:off x="6759575" y="2698087"/>
            <a:ext cx="2077375" cy="944005"/>
          </a:xfrm>
          <a:prstGeom prst="wedgeRectCallout">
            <a:avLst>
              <a:gd name="adj1" fmla="val -160078"/>
              <a:gd name="adj2" fmla="val 218524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rPr>
              <a:t>Use LFRH to implement INTERSECTION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9DDFE8-AB30-4DD6-A87A-8C46F23E1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138</a:t>
            </a:fld>
            <a:endParaRPr lang="en-US" altLang="zh-TW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2">
            <a:extLst>
              <a:ext uri="{FF2B5EF4-FFF2-40B4-BE49-F238E27FC236}">
                <a16:creationId xmlns:a16="http://schemas.microsoft.com/office/drawing/2014/main" id="{C9289C25-ADDB-454B-BFB9-63AD7295A1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97283" name="Text Box 4">
            <a:extLst>
              <a:ext uri="{FF2B5EF4-FFF2-40B4-BE49-F238E27FC236}">
                <a16:creationId xmlns:a16="http://schemas.microsoft.com/office/drawing/2014/main" id="{FE0386A7-E0B1-4A06-A764-C280F85173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25853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 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(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='CSC6710' OR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='CSC7710') 		AND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NOT IN	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(SELECT T1.ssn 	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From Taught T1, Taught T2	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Where T1.crscode = 'CSC6710' AND 	T2.crscode='CSC7710'	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AND T1.ssn=T2.ssn);</a:t>
            </a:r>
          </a:p>
        </p:txBody>
      </p:sp>
      <p:pic>
        <p:nvPicPr>
          <p:cNvPr id="97284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4E4718DA-D9DE-4397-A163-273859E19F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071C8B-905E-48E3-B42A-B136805C9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139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2618596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>
            <a:extLst>
              <a:ext uri="{FF2B5EF4-FFF2-40B4-BE49-F238E27FC236}">
                <a16:creationId xmlns:a16="http://schemas.microsoft.com/office/drawing/2014/main" id="{82422157-7940-4D15-B341-865B7A0345E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Query 6</a:t>
            </a:r>
          </a:p>
        </p:txBody>
      </p:sp>
      <p:sp>
        <p:nvSpPr>
          <p:cNvPr id="98307" name="Text Box 3">
            <a:extLst>
              <a:ext uri="{FF2B5EF4-FFF2-40B4-BE49-F238E27FC236}">
                <a16:creationId xmlns:a16="http://schemas.microsoft.com/office/drawing/2014/main" id="{89AFB02F-E6D5-40C0-8725-B8C65B3212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>
                <a:ea typeface="新細明體" panose="02020500000000000000" pitchFamily="18" charset="-120"/>
              </a:rPr>
              <a:t>Return those courses that have never been taught.</a:t>
            </a:r>
          </a:p>
        </p:txBody>
      </p:sp>
      <p:pic>
        <p:nvPicPr>
          <p:cNvPr id="98308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D779662C-B339-4542-BE37-93588AD7FC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CE9CAB-D08D-465B-97FB-8863C4EC6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140</a:t>
            </a:fld>
            <a:endParaRPr lang="en-US" altLang="zh-TW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>
            <a:extLst>
              <a:ext uri="{FF2B5EF4-FFF2-40B4-BE49-F238E27FC236}">
                <a16:creationId xmlns:a16="http://schemas.microsoft.com/office/drawing/2014/main" id="{CF794E97-5101-402C-A4FF-F2304249F26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Negation Pattern</a:t>
            </a:r>
          </a:p>
        </p:txBody>
      </p:sp>
      <p:sp>
        <p:nvSpPr>
          <p:cNvPr id="153603" name="椭圆 8">
            <a:extLst>
              <a:ext uri="{FF2B5EF4-FFF2-40B4-BE49-F238E27FC236}">
                <a16:creationId xmlns:a16="http://schemas.microsoft.com/office/drawing/2014/main" id="{27617938-E94B-4240-87C4-4477FFD3F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0" y="1828800"/>
            <a:ext cx="3124200" cy="3048000"/>
          </a:xfrm>
          <a:prstGeom prst="ellipse">
            <a:avLst/>
          </a:prstGeom>
          <a:pattFill prst="wdUpDiag">
            <a:fgClr>
              <a:srgbClr val="00B050"/>
            </a:fgClr>
            <a:bgClr>
              <a:schemeClr val="bg1"/>
            </a:bgClr>
          </a:patt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153604" name="椭圆 9">
            <a:extLst>
              <a:ext uri="{FF2B5EF4-FFF2-40B4-BE49-F238E27FC236}">
                <a16:creationId xmlns:a16="http://schemas.microsoft.com/office/drawing/2014/main" id="{B8E20E6D-0875-4BC6-BFDD-C4254B5FEB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2362200"/>
            <a:ext cx="1828800" cy="1752600"/>
          </a:xfrm>
          <a:prstGeom prst="ellipse">
            <a:avLst/>
          </a:prstGeom>
          <a:solidFill>
            <a:srgbClr val="FF0000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153605" name="TextBox 16">
            <a:extLst>
              <a:ext uri="{FF2B5EF4-FFF2-40B4-BE49-F238E27FC236}">
                <a16:creationId xmlns:a16="http://schemas.microsoft.com/office/drawing/2014/main" id="{477BAB8B-4140-4E44-8730-2A5EE1D2F4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5181600"/>
            <a:ext cx="165006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A: All courses</a:t>
            </a:r>
          </a:p>
        </p:txBody>
      </p:sp>
      <p:sp>
        <p:nvSpPr>
          <p:cNvPr id="153606" name="TextBox 17">
            <a:extLst>
              <a:ext uri="{FF2B5EF4-FFF2-40B4-BE49-F238E27FC236}">
                <a16:creationId xmlns:a16="http://schemas.microsoft.com/office/drawing/2014/main" id="{43F4C9F5-6BFD-423A-B394-A52A93D926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5105400"/>
            <a:ext cx="252505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B: Courses ever taught</a:t>
            </a:r>
          </a:p>
        </p:txBody>
      </p:sp>
      <p:cxnSp>
        <p:nvCxnSpPr>
          <p:cNvPr id="153607" name="直接连接符 34">
            <a:extLst>
              <a:ext uri="{FF2B5EF4-FFF2-40B4-BE49-F238E27FC236}">
                <a16:creationId xmlns:a16="http://schemas.microsoft.com/office/drawing/2014/main" id="{E54E2679-CFFE-401D-8ACA-2EA59C9872C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38400" y="3505200"/>
            <a:ext cx="0" cy="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3608" name="TextBox 48">
            <a:extLst>
              <a:ext uri="{FF2B5EF4-FFF2-40B4-BE49-F238E27FC236}">
                <a16:creationId xmlns:a16="http://schemas.microsoft.com/office/drawing/2014/main" id="{AA1ED686-3E26-41A6-8536-748752A6E5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3800" y="6019800"/>
            <a:ext cx="1836272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Solution: A – B 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cxnSp>
        <p:nvCxnSpPr>
          <p:cNvPr id="153609" name="直接箭头连接符 11">
            <a:extLst>
              <a:ext uri="{FF2B5EF4-FFF2-40B4-BE49-F238E27FC236}">
                <a16:creationId xmlns:a16="http://schemas.microsoft.com/office/drawing/2014/main" id="{1ECFFB00-DC61-46D7-AD7E-0BE57966763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895600" y="4191000"/>
            <a:ext cx="457200" cy="9906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3610" name="直接箭头连接符 14">
            <a:extLst>
              <a:ext uri="{FF2B5EF4-FFF2-40B4-BE49-F238E27FC236}">
                <a16:creationId xmlns:a16="http://schemas.microsoft.com/office/drawing/2014/main" id="{46640AAE-E299-4E70-9C12-F7905EA91607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038600" y="3505200"/>
            <a:ext cx="838200" cy="16764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29F5ED-A671-40DD-880B-BCA524D01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141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02199853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>
            <a:extLst>
              <a:ext uri="{FF2B5EF4-FFF2-40B4-BE49-F238E27FC236}">
                <a16:creationId xmlns:a16="http://schemas.microsoft.com/office/drawing/2014/main" id="{E1AE8FB1-E655-4716-9E32-1518121EAB4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Relational Algebra Solution</a:t>
            </a:r>
          </a:p>
        </p:txBody>
      </p:sp>
      <p:sp>
        <p:nvSpPr>
          <p:cNvPr id="99331" name="Text Box 3">
            <a:extLst>
              <a:ext uri="{FF2B5EF4-FFF2-40B4-BE49-F238E27FC236}">
                <a16:creationId xmlns:a16="http://schemas.microsoft.com/office/drawing/2014/main" id="{74C3EE98-3102-4641-8C27-1833D68BA4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7620000" cy="579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baseline="-25000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(Course)-</a:t>
            </a:r>
            <a:r>
              <a:rPr lang="en-US" altLang="zh-TW" sz="3200" baseline="-25000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>
                <a:ea typeface="新細明體" panose="02020500000000000000" pitchFamily="18" charset="-120"/>
                <a:sym typeface="Symbol" panose="05050102010706020507" pitchFamily="18" charset="2"/>
              </a:rPr>
              <a:t>(Taught)</a:t>
            </a:r>
          </a:p>
        </p:txBody>
      </p:sp>
      <p:pic>
        <p:nvPicPr>
          <p:cNvPr id="99332" name="Picture 8" descr="C:\Documents and Settings\Dr. Shiyong Lu\My Documents\schema.bmp">
            <a:extLst>
              <a:ext uri="{FF2B5EF4-FFF2-40B4-BE49-F238E27FC236}">
                <a16:creationId xmlns:a16="http://schemas.microsoft.com/office/drawing/2014/main" id="{D01EDB25-8AB6-49D2-95A5-C24E0288D8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3E2D82-37BF-4DB4-8500-85EA25753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142</a:t>
            </a:fld>
            <a:endParaRPr lang="en-US" altLang="zh-TW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>
            <a:extLst>
              <a:ext uri="{FF2B5EF4-FFF2-40B4-BE49-F238E27FC236}">
                <a16:creationId xmlns:a16="http://schemas.microsoft.com/office/drawing/2014/main" id="{98124FCE-B39C-4F37-B910-EA31B4747C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00355" name="Text Box 4">
            <a:extLst>
              <a:ext uri="{FF2B5EF4-FFF2-40B4-BE49-F238E27FC236}">
                <a16:creationId xmlns:a16="http://schemas.microsoft.com/office/drawing/2014/main" id="{4609DA30-0EA4-4D2B-B628-C9DFA97A65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Course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EXCEPT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</a:t>
            </a:r>
          </a:p>
        </p:txBody>
      </p:sp>
      <p:pic>
        <p:nvPicPr>
          <p:cNvPr id="100356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94380647-F42A-4791-9EEB-053FAC02C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608ED5-7973-45FD-9BF7-5DD102B64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143</a:t>
            </a:fld>
            <a:endParaRPr lang="en-US" altLang="zh-TW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>
            <a:extLst>
              <a:ext uri="{FF2B5EF4-FFF2-40B4-BE49-F238E27FC236}">
                <a16:creationId xmlns:a16="http://schemas.microsoft.com/office/drawing/2014/main" id="{98124FCE-B39C-4F37-B910-EA31B4747C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00355" name="Text Box 4">
            <a:extLst>
              <a:ext uri="{FF2B5EF4-FFF2-40B4-BE49-F238E27FC236}">
                <a16:creationId xmlns:a16="http://schemas.microsoft.com/office/drawing/2014/main" id="{4609DA30-0EA4-4D2B-B628-C9DFA97A65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Course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NOT IN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(SELECT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FROM TAUGHT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)</a:t>
            </a:r>
          </a:p>
        </p:txBody>
      </p:sp>
      <p:pic>
        <p:nvPicPr>
          <p:cNvPr id="100356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94380647-F42A-4791-9EEB-053FAC02C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8AB81D-4B8F-4FF1-913E-6D5C6C82F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144</a:t>
            </a:fld>
            <a:endParaRPr lang="en-US" altLang="zh-TW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3E023B-93AC-C224-16E0-6DA21C2CDDA5}"/>
              </a:ext>
            </a:extLst>
          </p:cNvPr>
          <p:cNvSpPr txBox="1"/>
          <p:nvPr/>
        </p:nvSpPr>
        <p:spPr>
          <a:xfrm>
            <a:off x="1828799" y="5461337"/>
            <a:ext cx="7235687" cy="707886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zh-TW" sz="2000" dirty="0">
                <a:ea typeface="新細明體" panose="02020500000000000000" pitchFamily="18" charset="-120"/>
              </a:rPr>
              <a:t>INSERT INTO course 	</a:t>
            </a:r>
          </a:p>
          <a:p>
            <a:pPr marL="0" indent="0">
              <a:buNone/>
            </a:pPr>
            <a:r>
              <a:rPr lang="en-US" altLang="zh-TW" sz="2000" dirty="0">
                <a:ea typeface="新細明體" panose="02020500000000000000" pitchFamily="18" charset="-120"/>
              </a:rPr>
              <a:t>	VALUE ('CSC7777', 'Database course 7', 3); </a:t>
            </a:r>
          </a:p>
        </p:txBody>
      </p:sp>
    </p:spTree>
    <p:extLst>
      <p:ext uri="{BB962C8B-B14F-4D97-AF65-F5344CB8AC3E}">
        <p14:creationId xmlns:p14="http://schemas.microsoft.com/office/powerpoint/2010/main" val="142706276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>
            <a:extLst>
              <a:ext uri="{FF2B5EF4-FFF2-40B4-BE49-F238E27FC236}">
                <a16:creationId xmlns:a16="http://schemas.microsoft.com/office/drawing/2014/main" id="{1BB7FF2D-0513-448D-8BCB-8E0214F2F2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Query 7</a:t>
            </a:r>
          </a:p>
        </p:txBody>
      </p:sp>
      <p:sp>
        <p:nvSpPr>
          <p:cNvPr id="101379" name="Text Box 3">
            <a:extLst>
              <a:ext uri="{FF2B5EF4-FFF2-40B4-BE49-F238E27FC236}">
                <a16:creationId xmlns:a16="http://schemas.microsoft.com/office/drawing/2014/main" id="{F5E7D3E2-B195-44DD-BF82-B1A0D35357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>
                <a:ea typeface="新細明體" panose="02020500000000000000" pitchFamily="18" charset="-120"/>
              </a:rPr>
              <a:t>Return those courses that have been taught at least in two semesters.</a:t>
            </a:r>
          </a:p>
        </p:txBody>
      </p:sp>
      <p:pic>
        <p:nvPicPr>
          <p:cNvPr id="101380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F1E48A8D-618B-4102-9AD5-1AD48822E5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19801F-BE6E-4AD3-AA8D-F34F84697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145</a:t>
            </a:fld>
            <a:endParaRPr lang="en-US" altLang="zh-TW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840687-D3E3-4866-8FE5-26115CE8A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" y="1194839"/>
            <a:ext cx="4105275" cy="397192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10A8221-1263-4041-893D-036020E972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6794" y="1482498"/>
            <a:ext cx="3848100" cy="3762375"/>
          </a:xfrm>
          <a:prstGeom prst="rect">
            <a:avLst/>
          </a:prstGeom>
        </p:spPr>
      </p:pic>
      <p:sp>
        <p:nvSpPr>
          <p:cNvPr id="152578" name="Rectangle 2">
            <a:extLst>
              <a:ext uri="{FF2B5EF4-FFF2-40B4-BE49-F238E27FC236}">
                <a16:creationId xmlns:a16="http://schemas.microsoft.com/office/drawing/2014/main" id="{B97D61B3-68EA-44F1-B532-78BC29A832C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685800" y="141915"/>
            <a:ext cx="7772400" cy="1143000"/>
          </a:xfrm>
        </p:spPr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LHRH Pattern</a:t>
            </a:r>
          </a:p>
        </p:txBody>
      </p:sp>
      <p:cxnSp>
        <p:nvCxnSpPr>
          <p:cNvPr id="152585" name="直接连接符 34">
            <a:extLst>
              <a:ext uri="{FF2B5EF4-FFF2-40B4-BE49-F238E27FC236}">
                <a16:creationId xmlns:a16="http://schemas.microsoft.com/office/drawing/2014/main" id="{ABE70AFB-FFB0-4C8F-A620-89E8087157B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38400" y="3505200"/>
            <a:ext cx="0" cy="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1AE3FF2A-2C47-4FB5-B75A-D2D9E4B6F5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86367"/>
              </p:ext>
            </p:extLst>
          </p:nvPr>
        </p:nvGraphicFramePr>
        <p:xfrm>
          <a:off x="66902" y="2767216"/>
          <a:ext cx="398099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6998">
                  <a:extLst>
                    <a:ext uri="{9D8B030D-6E8A-4147-A177-3AD203B41FA5}">
                      <a16:colId xmlns:a16="http://schemas.microsoft.com/office/drawing/2014/main" val="4037064148"/>
                    </a:ext>
                  </a:extLst>
                </a:gridCol>
                <a:gridCol w="1500220">
                  <a:extLst>
                    <a:ext uri="{9D8B030D-6E8A-4147-A177-3AD203B41FA5}">
                      <a16:colId xmlns:a16="http://schemas.microsoft.com/office/drawing/2014/main" val="2690061881"/>
                    </a:ext>
                  </a:extLst>
                </a:gridCol>
                <a:gridCol w="1153776">
                  <a:extLst>
                    <a:ext uri="{9D8B030D-6E8A-4147-A177-3AD203B41FA5}">
                      <a16:colId xmlns:a16="http://schemas.microsoft.com/office/drawing/2014/main" val="2331991773"/>
                    </a:ext>
                  </a:extLst>
                </a:gridCol>
              </a:tblGrid>
              <a:tr h="262961">
                <a:tc>
                  <a:txBody>
                    <a:bodyPr/>
                    <a:lstStyle/>
                    <a:p>
                      <a:r>
                        <a:rPr lang="en-US" altLang="zh-TW" dirty="0" err="1"/>
                        <a:t>Crscode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semester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ssn</a:t>
                      </a:r>
                      <a:endParaRPr lang="zh-TW" altLang="en-US" dirty="0"/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1448380227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csc6710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Fall 2017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111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2834334414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en-US" altLang="zh-TW" dirty="0"/>
                        <a:t>csc6710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Winter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2017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222</a:t>
                      </a:r>
                      <a:endParaRPr lang="zh-TW" altLang="en-US" dirty="0"/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385605648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en-US" altLang="zh-TW" dirty="0"/>
                        <a:t>csc4710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Winter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2015</a:t>
                      </a:r>
                      <a:endParaRPr lang="zh-TW" altLang="en-US" dirty="0"/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333</a:t>
                      </a:r>
                      <a:endParaRPr lang="zh-TW" altLang="en-US" dirty="0"/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3564471104"/>
                  </a:ext>
                </a:extLst>
              </a:tr>
            </a:tbl>
          </a:graphicData>
        </a:graphic>
      </p:graphicFrame>
      <p:graphicFrame>
        <p:nvGraphicFramePr>
          <p:cNvPr id="8" name="表格 24">
            <a:extLst>
              <a:ext uri="{FF2B5EF4-FFF2-40B4-BE49-F238E27FC236}">
                <a16:creationId xmlns:a16="http://schemas.microsoft.com/office/drawing/2014/main" id="{540FAB20-A56B-4885-83C3-3931ADB1F9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895639"/>
              </p:ext>
            </p:extLst>
          </p:nvPr>
        </p:nvGraphicFramePr>
        <p:xfrm>
          <a:off x="4781301" y="2767216"/>
          <a:ext cx="3619086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6362">
                  <a:extLst>
                    <a:ext uri="{9D8B030D-6E8A-4147-A177-3AD203B41FA5}">
                      <a16:colId xmlns:a16="http://schemas.microsoft.com/office/drawing/2014/main" val="4037064148"/>
                    </a:ext>
                  </a:extLst>
                </a:gridCol>
                <a:gridCol w="1442947">
                  <a:extLst>
                    <a:ext uri="{9D8B030D-6E8A-4147-A177-3AD203B41FA5}">
                      <a16:colId xmlns:a16="http://schemas.microsoft.com/office/drawing/2014/main" val="2690061881"/>
                    </a:ext>
                  </a:extLst>
                </a:gridCol>
                <a:gridCol w="969777">
                  <a:extLst>
                    <a:ext uri="{9D8B030D-6E8A-4147-A177-3AD203B41FA5}">
                      <a16:colId xmlns:a16="http://schemas.microsoft.com/office/drawing/2014/main" val="2331991773"/>
                    </a:ext>
                  </a:extLst>
                </a:gridCol>
              </a:tblGrid>
              <a:tr h="262961">
                <a:tc>
                  <a:txBody>
                    <a:bodyPr/>
                    <a:lstStyle/>
                    <a:p>
                      <a:r>
                        <a:rPr lang="en-US" altLang="zh-TW" dirty="0" err="1"/>
                        <a:t>Crscode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semester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ssn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380227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csc6710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Fall 2017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111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4334414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csc6710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Winter 2017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222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605648"/>
                  </a:ext>
                </a:extLst>
              </a:tr>
              <a:tr h="262961">
                <a:tc>
                  <a:txBody>
                    <a:bodyPr/>
                    <a:lstStyle/>
                    <a:p>
                      <a:r>
                        <a:rPr lang="en-US" altLang="zh-TW" dirty="0"/>
                        <a:t>csc4710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Winter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2015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333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4471104"/>
                  </a:ext>
                </a:extLst>
              </a:tr>
            </a:tbl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957F25C-8D91-4914-B7A9-B2795C7CDA47}"/>
              </a:ext>
            </a:extLst>
          </p:cNvPr>
          <p:cNvCxnSpPr/>
          <p:nvPr/>
        </p:nvCxnSpPr>
        <p:spPr bwMode="auto">
          <a:xfrm>
            <a:off x="4047896" y="3363685"/>
            <a:ext cx="733405" cy="32190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triangle"/>
            <a:tailEnd type="triangle"/>
          </a:ln>
          <a:effectLst/>
        </p:spPr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E83D8033-480A-49E7-91B1-A3891D6543D4}"/>
              </a:ext>
            </a:extLst>
          </p:cNvPr>
          <p:cNvSpPr/>
          <p:nvPr/>
        </p:nvSpPr>
        <p:spPr>
          <a:xfrm>
            <a:off x="1323111" y="5323739"/>
            <a:ext cx="6285052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Condition 1: T1.crscode = T2.crscode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Condition 2: T1.semester &lt;&gt; T2.semester</a:t>
            </a:r>
          </a:p>
          <a:p>
            <a:r>
              <a:rPr lang="en-US" dirty="0">
                <a:latin typeface="Century Gothic" panose="020B0502020202020204" pitchFamily="34" charset="0"/>
                <a:ea typeface="新細明體" panose="02020500000000000000" pitchFamily="18" charset="-120"/>
              </a:rPr>
              <a:t>No need to compare between T1.ssn and T2.ssn;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8F9F01-D95D-49E0-9831-A85AE5C42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146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23862435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>
            <a:extLst>
              <a:ext uri="{FF2B5EF4-FFF2-40B4-BE49-F238E27FC236}">
                <a16:creationId xmlns:a16="http://schemas.microsoft.com/office/drawing/2014/main" id="{D0C1727F-4A2C-4DCF-AE5E-282919D657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Relational Algebra Solution</a:t>
            </a:r>
          </a:p>
        </p:txBody>
      </p:sp>
      <p:sp>
        <p:nvSpPr>
          <p:cNvPr id="102403" name="Text Box 3">
            <a:extLst>
              <a:ext uri="{FF2B5EF4-FFF2-40B4-BE49-F238E27FC236}">
                <a16:creationId xmlns:a16="http://schemas.microsoft.com/office/drawing/2014/main" id="{89A605B6-FC5D-4C9A-9E3A-5D08AFA163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7620000" cy="579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endParaRPr lang="zh-TW" altLang="zh-TW" sz="3200">
              <a:sym typeface="Symbol" panose="05050102010706020507" pitchFamily="18" charset="2"/>
            </a:endParaRPr>
          </a:p>
        </p:txBody>
      </p:sp>
      <p:sp>
        <p:nvSpPr>
          <p:cNvPr id="102404" name="Rectangle 5">
            <a:extLst>
              <a:ext uri="{FF2B5EF4-FFF2-40B4-BE49-F238E27FC236}">
                <a16:creationId xmlns:a16="http://schemas.microsoft.com/office/drawing/2014/main" id="{B4548BBD-BCEA-42A2-A10D-C815123EA6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0" y="3352800"/>
            <a:ext cx="7010400" cy="1798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 semester1 &lt;&gt; semester2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</a:t>
            </a:r>
          </a:p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Taught[</a:t>
            </a:r>
            <a:r>
              <a:rPr lang="en-US" altLang="zh-TW" sz="32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, ssn1, semester1]  Taught[</a:t>
            </a:r>
            <a:r>
              <a:rPr lang="en-US" altLang="zh-TW" sz="32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, ssn2, semester2]))</a:t>
            </a:r>
          </a:p>
        </p:txBody>
      </p:sp>
      <p:grpSp>
        <p:nvGrpSpPr>
          <p:cNvPr id="102405" name="Group 1034">
            <a:extLst>
              <a:ext uri="{FF2B5EF4-FFF2-40B4-BE49-F238E27FC236}">
                <a16:creationId xmlns:a16="http://schemas.microsoft.com/office/drawing/2014/main" id="{4B09ED2D-E4EF-4C17-A8B0-D241B6AD01AA}"/>
              </a:ext>
            </a:extLst>
          </p:cNvPr>
          <p:cNvGrpSpPr>
            <a:grpSpLocks/>
          </p:cNvGrpSpPr>
          <p:nvPr/>
        </p:nvGrpSpPr>
        <p:grpSpPr bwMode="auto">
          <a:xfrm>
            <a:off x="6400800" y="4267200"/>
            <a:ext cx="457200" cy="152400"/>
            <a:chOff x="2352" y="2064"/>
            <a:chExt cx="288" cy="96"/>
          </a:xfrm>
        </p:grpSpPr>
        <p:sp>
          <p:nvSpPr>
            <p:cNvPr id="102407" name="AutoShape 1030">
              <a:extLst>
                <a:ext uri="{FF2B5EF4-FFF2-40B4-BE49-F238E27FC236}">
                  <a16:creationId xmlns:a16="http://schemas.microsoft.com/office/drawing/2014/main" id="{DA0C4987-7E32-48D6-B5A5-0146199A33D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102408" name="AutoShape 1033">
              <a:extLst>
                <a:ext uri="{FF2B5EF4-FFF2-40B4-BE49-F238E27FC236}">
                  <a16:creationId xmlns:a16="http://schemas.microsoft.com/office/drawing/2014/main" id="{C960C5F4-96AB-4507-BEA0-C57462FF359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pic>
        <p:nvPicPr>
          <p:cNvPr id="102406" name="Picture 9" descr="C:\Documents and Settings\Dr. Shiyong Lu\My Documents\schema.bmp">
            <a:extLst>
              <a:ext uri="{FF2B5EF4-FFF2-40B4-BE49-F238E27FC236}">
                <a16:creationId xmlns:a16="http://schemas.microsoft.com/office/drawing/2014/main" id="{E97AC2A2-8598-4037-B40E-630AF32F3A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7886A97-AFC2-4703-999D-6C8565E39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147</a:t>
            </a:fld>
            <a:endParaRPr lang="en-US" altLang="zh-TW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>
            <a:extLst>
              <a:ext uri="{FF2B5EF4-FFF2-40B4-BE49-F238E27FC236}">
                <a16:creationId xmlns:a16="http://schemas.microsoft.com/office/drawing/2014/main" id="{DA23A63D-65B8-4B6D-9380-AE52E81AE8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03427" name="Text Box 4">
            <a:extLst>
              <a:ext uri="{FF2B5EF4-FFF2-40B4-BE49-F238E27FC236}">
                <a16:creationId xmlns:a16="http://schemas.microsoft.com/office/drawing/2014/main" id="{CA27E604-B429-41F9-9683-AB6A9416F4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4802587"/>
            <a:ext cx="7543800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T1.crscode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 T1, Taught T2, Taught T3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T1.crscode=T2.crscode AND T1.semester &lt;&gt; T2.semester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AND T1.crscode = T3.crscode AND T1.semester &lt;&gt; T3.semester AND T2.semester &lt;&gt; T3.semester</a:t>
            </a:r>
          </a:p>
        </p:txBody>
      </p:sp>
      <p:pic>
        <p:nvPicPr>
          <p:cNvPr id="103428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61D70C68-88E8-425B-AB75-E2F2AAB3E7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 Box 4">
            <a:extLst>
              <a:ext uri="{FF2B5EF4-FFF2-40B4-BE49-F238E27FC236}">
                <a16:creationId xmlns:a16="http://schemas.microsoft.com/office/drawing/2014/main" id="{DBB099B4-A67B-4049-A825-DA45F65DC4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603625"/>
            <a:ext cx="754380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DISTINCT(T1.crscode)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 T1, Taught T2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T1.crscode=T2.crscode AND T1.semester &lt;&gt; T2.semester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006DBA-2609-4526-A7DD-9BFEFCB59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148</a:t>
            </a:fld>
            <a:endParaRPr lang="en-US" altLang="zh-TW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>
            <a:extLst>
              <a:ext uri="{FF2B5EF4-FFF2-40B4-BE49-F238E27FC236}">
                <a16:creationId xmlns:a16="http://schemas.microsoft.com/office/drawing/2014/main" id="{047A366A-0A03-4310-8FE3-E634FEC063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8</a:t>
            </a:r>
          </a:p>
        </p:txBody>
      </p:sp>
      <p:sp>
        <p:nvSpPr>
          <p:cNvPr id="104451" name="Text Box 3">
            <a:extLst>
              <a:ext uri="{FF2B5EF4-FFF2-40B4-BE49-F238E27FC236}">
                <a16:creationId xmlns:a16="http://schemas.microsoft.com/office/drawing/2014/main" id="{2DDBA71B-61EB-4B7C-B49C-72DDA9550A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those courses that have been taught at least in 3 semesters.</a:t>
            </a:r>
          </a:p>
        </p:txBody>
      </p:sp>
      <p:pic>
        <p:nvPicPr>
          <p:cNvPr id="104452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3D690342-2421-4AF7-A319-5B8CEDF3F4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5D637A-D9FE-492F-93E7-B61A5A9C8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149</a:t>
            </a:fld>
            <a:endParaRPr lang="en-US" altLang="zh-TW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FA20D-8457-B1FA-5BBF-4F330DA84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A55841-5213-8526-8CE0-6E279055D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150</a:t>
            </a:fld>
            <a:endParaRPr lang="en-US" altLang="zh-TW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BCCC63-DA4A-1A9D-2E14-A147ACC76F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158" y="492163"/>
            <a:ext cx="7091018" cy="5756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97895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>
            <a:extLst>
              <a:ext uri="{FF2B5EF4-FFF2-40B4-BE49-F238E27FC236}">
                <a16:creationId xmlns:a16="http://schemas.microsoft.com/office/drawing/2014/main" id="{C70B65A2-ED1E-4B50-B27C-B9292B9785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05475" name="Text Box 4">
            <a:extLst>
              <a:ext uri="{FF2B5EF4-FFF2-40B4-BE49-F238E27FC236}">
                <a16:creationId xmlns:a16="http://schemas.microsoft.com/office/drawing/2014/main" id="{4BF76722-06CF-4C06-8F47-1874F926DB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482976"/>
            <a:ext cx="75438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 BY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HAVING COUNT(semester) &gt;= 3;</a:t>
            </a:r>
          </a:p>
        </p:txBody>
      </p:sp>
      <p:pic>
        <p:nvPicPr>
          <p:cNvPr id="105476" name="Picture 5" descr="C:\Documents and Settings\Dr. Shiyong Lu\My Documents\schema.bmp">
            <a:extLst>
              <a:ext uri="{FF2B5EF4-FFF2-40B4-BE49-F238E27FC236}">
                <a16:creationId xmlns:a16="http://schemas.microsoft.com/office/drawing/2014/main" id="{677C6892-140B-47DA-9BDA-F9A165FBC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8F23710-FC6F-4FF9-97D1-83944BA29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151</a:t>
            </a:fld>
            <a:endParaRPr lang="en-US" altLang="zh-TW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2">
            <a:extLst>
              <a:ext uri="{FF2B5EF4-FFF2-40B4-BE49-F238E27FC236}">
                <a16:creationId xmlns:a16="http://schemas.microsoft.com/office/drawing/2014/main" id="{9C4CB62B-E438-4549-8A53-BF3C581856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9</a:t>
            </a:r>
          </a:p>
        </p:txBody>
      </p:sp>
      <p:sp>
        <p:nvSpPr>
          <p:cNvPr id="106499" name="Text Box 3">
            <a:extLst>
              <a:ext uri="{FF2B5EF4-FFF2-40B4-BE49-F238E27FC236}">
                <a16:creationId xmlns:a16="http://schemas.microsoft.com/office/drawing/2014/main" id="{D65162B1-0BBA-4E86-A791-B5FEA5287C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those courses that have been taught by at least 3 different professors.</a:t>
            </a:r>
          </a:p>
        </p:txBody>
      </p:sp>
      <p:pic>
        <p:nvPicPr>
          <p:cNvPr id="106500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8EB251AD-2222-4209-8A7B-378CC873FB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97EF1C-4362-49AF-A265-E7376D870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152</a:t>
            </a:fld>
            <a:endParaRPr lang="en-US" altLang="zh-TW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>
            <a:extLst>
              <a:ext uri="{FF2B5EF4-FFF2-40B4-BE49-F238E27FC236}">
                <a16:creationId xmlns:a16="http://schemas.microsoft.com/office/drawing/2014/main" id="{8A363E14-E187-4356-8FF2-3517EAEF71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07523" name="Text Box 4">
            <a:extLst>
              <a:ext uri="{FF2B5EF4-FFF2-40B4-BE49-F238E27FC236}">
                <a16:creationId xmlns:a16="http://schemas.microsoft.com/office/drawing/2014/main" id="{F8E9E75E-95AC-483C-84C8-8ABA2F1105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 BY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HAVING COUNT(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) &gt;= 3;</a:t>
            </a:r>
          </a:p>
        </p:txBody>
      </p:sp>
      <p:pic>
        <p:nvPicPr>
          <p:cNvPr id="107524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C09949B2-BE65-4366-9829-CEDEC6D4C0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87DEDC-721E-4F05-A686-473ABC806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153</a:t>
            </a:fld>
            <a:endParaRPr lang="en-US" altLang="zh-TW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>
            <a:extLst>
              <a:ext uri="{FF2B5EF4-FFF2-40B4-BE49-F238E27FC236}">
                <a16:creationId xmlns:a16="http://schemas.microsoft.com/office/drawing/2014/main" id="{731E3939-8469-4249-86EB-E911FC84B9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10</a:t>
            </a:r>
          </a:p>
        </p:txBody>
      </p:sp>
      <p:sp>
        <p:nvSpPr>
          <p:cNvPr id="108547" name="Text Box 3">
            <a:extLst>
              <a:ext uri="{FF2B5EF4-FFF2-40B4-BE49-F238E27FC236}">
                <a16:creationId xmlns:a16="http://schemas.microsoft.com/office/drawing/2014/main" id="{7DA6B730-1FD9-4723-87EE-70758C2BF3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the names of professors who ever taught ‘CSC6710’.</a:t>
            </a:r>
          </a:p>
        </p:txBody>
      </p:sp>
      <p:pic>
        <p:nvPicPr>
          <p:cNvPr id="108548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9F2209FE-A510-4E4B-ABE3-3B65A3771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A27AF6-98EF-47EB-8D62-195B85839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154</a:t>
            </a:fld>
            <a:endParaRPr lang="en-US" altLang="zh-TW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>
            <a:extLst>
              <a:ext uri="{FF2B5EF4-FFF2-40B4-BE49-F238E27FC236}">
                <a16:creationId xmlns:a16="http://schemas.microsoft.com/office/drawing/2014/main" id="{9A44E768-8215-4A2A-B96C-BB6FE6D89C2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Relational Algebra Solution</a:t>
            </a:r>
          </a:p>
        </p:txBody>
      </p:sp>
      <p:sp>
        <p:nvSpPr>
          <p:cNvPr id="109571" name="Text Box 3">
            <a:extLst>
              <a:ext uri="{FF2B5EF4-FFF2-40B4-BE49-F238E27FC236}">
                <a16:creationId xmlns:a16="http://schemas.microsoft.com/office/drawing/2014/main" id="{A6FE5DCC-F95C-4AC0-A5E8-468C581BAC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profname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=‘csc6710’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(Taught)      Professor)</a:t>
            </a:r>
          </a:p>
        </p:txBody>
      </p:sp>
      <p:pic>
        <p:nvPicPr>
          <p:cNvPr id="109572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0D0235EE-5500-4F8F-89B7-B36598F1E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9573" name="Group 1034">
            <a:extLst>
              <a:ext uri="{FF2B5EF4-FFF2-40B4-BE49-F238E27FC236}">
                <a16:creationId xmlns:a16="http://schemas.microsoft.com/office/drawing/2014/main" id="{5ADA3428-E0BF-4279-B3B8-CEAF73DA601A}"/>
              </a:ext>
            </a:extLst>
          </p:cNvPr>
          <p:cNvGrpSpPr>
            <a:grpSpLocks/>
          </p:cNvGrpSpPr>
          <p:nvPr/>
        </p:nvGrpSpPr>
        <p:grpSpPr bwMode="auto">
          <a:xfrm>
            <a:off x="6324600" y="3962400"/>
            <a:ext cx="457200" cy="152400"/>
            <a:chOff x="2352" y="2064"/>
            <a:chExt cx="288" cy="96"/>
          </a:xfrm>
        </p:grpSpPr>
        <p:sp>
          <p:nvSpPr>
            <p:cNvPr id="109574" name="AutoShape 1030">
              <a:extLst>
                <a:ext uri="{FF2B5EF4-FFF2-40B4-BE49-F238E27FC236}">
                  <a16:creationId xmlns:a16="http://schemas.microsoft.com/office/drawing/2014/main" id="{C7C50312-3301-44AD-812B-9AAFA22C24F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109575" name="AutoShape 1033">
              <a:extLst>
                <a:ext uri="{FF2B5EF4-FFF2-40B4-BE49-F238E27FC236}">
                  <a16:creationId xmlns:a16="http://schemas.microsoft.com/office/drawing/2014/main" id="{63703850-8E8F-4397-9FB8-55E7E45198A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068BC0-3D02-44DD-B7AF-3B10AB255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155</a:t>
            </a:fld>
            <a:endParaRPr lang="en-US" altLang="zh-TW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2">
            <a:extLst>
              <a:ext uri="{FF2B5EF4-FFF2-40B4-BE49-F238E27FC236}">
                <a16:creationId xmlns:a16="http://schemas.microsoft.com/office/drawing/2014/main" id="{C7C67C87-2D9D-4F39-80C2-1BDA33263B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10595" name="Text Box 4">
            <a:extLst>
              <a:ext uri="{FF2B5EF4-FFF2-40B4-BE49-F238E27FC236}">
                <a16:creationId xmlns:a16="http://schemas.microsoft.com/office/drawing/2014/main" id="{07C44717-265C-456F-BA83-302C7B71BB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,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P.profname</a:t>
            </a:r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Professor P, Taught  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AND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'CSC6710';</a:t>
            </a:r>
          </a:p>
        </p:txBody>
      </p:sp>
      <p:pic>
        <p:nvPicPr>
          <p:cNvPr id="110596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B22D9C81-FF00-43DD-A864-52E9270AB8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9F2613-8409-4042-9B9E-8E0CF9E8F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156</a:t>
            </a:fld>
            <a:endParaRPr lang="en-US" altLang="zh-TW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>
            <a:extLst>
              <a:ext uri="{FF2B5EF4-FFF2-40B4-BE49-F238E27FC236}">
                <a16:creationId xmlns:a16="http://schemas.microsoft.com/office/drawing/2014/main" id="{07805DF1-42C5-4BDE-BA58-1C646BCD83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11</a:t>
            </a:r>
          </a:p>
        </p:txBody>
      </p:sp>
      <p:sp>
        <p:nvSpPr>
          <p:cNvPr id="111619" name="Text Box 3">
            <a:extLst>
              <a:ext uri="{FF2B5EF4-FFF2-40B4-BE49-F238E27FC236}">
                <a16:creationId xmlns:a16="http://schemas.microsoft.com/office/drawing/2014/main" id="{75F08E15-1B0E-4140-BB5C-1EEF0BD124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the names of full professors who ever taught ‘CSC6710’.</a:t>
            </a:r>
          </a:p>
        </p:txBody>
      </p:sp>
      <p:pic>
        <p:nvPicPr>
          <p:cNvPr id="111620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23B72360-3D5E-42CB-9630-49EA165C4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653F4F-FAB0-4292-B193-17E59BACD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157</a:t>
            </a:fld>
            <a:endParaRPr lang="en-US" altLang="zh-TW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2">
            <a:extLst>
              <a:ext uri="{FF2B5EF4-FFF2-40B4-BE49-F238E27FC236}">
                <a16:creationId xmlns:a16="http://schemas.microsoft.com/office/drawing/2014/main" id="{98D0D1CB-DAC4-4E71-9716-7C6B735F54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Relational Algebra Solution</a:t>
            </a:r>
          </a:p>
        </p:txBody>
      </p:sp>
      <p:sp>
        <p:nvSpPr>
          <p:cNvPr id="112643" name="Text Box 3">
            <a:extLst>
              <a:ext uri="{FF2B5EF4-FFF2-40B4-BE49-F238E27FC236}">
                <a16:creationId xmlns:a16="http://schemas.microsoft.com/office/drawing/2014/main" id="{935DC150-C8A9-4FE1-963A-33FFD0C8B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profname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=‘csc6710’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(Taught) 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status=‘full’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(Professor))</a:t>
            </a:r>
          </a:p>
        </p:txBody>
      </p:sp>
      <p:pic>
        <p:nvPicPr>
          <p:cNvPr id="112644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C0851DE1-BB51-471F-87C3-B6DE56860C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2645" name="Group 1034">
            <a:extLst>
              <a:ext uri="{FF2B5EF4-FFF2-40B4-BE49-F238E27FC236}">
                <a16:creationId xmlns:a16="http://schemas.microsoft.com/office/drawing/2014/main" id="{6B9357C4-A64D-4490-BB07-EADDB89F4ECD}"/>
              </a:ext>
            </a:extLst>
          </p:cNvPr>
          <p:cNvGrpSpPr>
            <a:grpSpLocks/>
          </p:cNvGrpSpPr>
          <p:nvPr/>
        </p:nvGrpSpPr>
        <p:grpSpPr bwMode="auto">
          <a:xfrm>
            <a:off x="6324600" y="3962400"/>
            <a:ext cx="457200" cy="152400"/>
            <a:chOff x="2352" y="2064"/>
            <a:chExt cx="288" cy="96"/>
          </a:xfrm>
        </p:grpSpPr>
        <p:sp>
          <p:nvSpPr>
            <p:cNvPr id="112646" name="AutoShape 1030">
              <a:extLst>
                <a:ext uri="{FF2B5EF4-FFF2-40B4-BE49-F238E27FC236}">
                  <a16:creationId xmlns:a16="http://schemas.microsoft.com/office/drawing/2014/main" id="{4E374FFF-73C5-4F59-9DF5-B7FF5A4150D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112647" name="AutoShape 1033">
              <a:extLst>
                <a:ext uri="{FF2B5EF4-FFF2-40B4-BE49-F238E27FC236}">
                  <a16:creationId xmlns:a16="http://schemas.microsoft.com/office/drawing/2014/main" id="{64C0103D-B4F4-46E4-BFB5-D82001CDC2D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088701-E40E-43B6-8918-8219AC11A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158</a:t>
            </a:fld>
            <a:endParaRPr lang="en-US" altLang="zh-TW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94087F78-8018-4C95-B37F-DD1F6C0BEB5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13667" name="Text Box 4">
            <a:extLst>
              <a:ext uri="{FF2B5EF4-FFF2-40B4-BE49-F238E27FC236}">
                <a16:creationId xmlns:a16="http://schemas.microsoft.com/office/drawing/2014/main" id="{303C3C8D-A24D-410B-AB3C-84DDC705DB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P.profname</a:t>
            </a:r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Professor P, Taught  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 AND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</a:t>
            </a:r>
            <a:r>
              <a:rPr lang="en-US" altLang="zh-TW" sz="1800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P.status</a:t>
            </a:r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= 'Full' 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AND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'CSC6710';</a:t>
            </a:r>
          </a:p>
        </p:txBody>
      </p:sp>
      <p:pic>
        <p:nvPicPr>
          <p:cNvPr id="113668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1204AFC0-92C5-46C6-8DBA-BA6012D234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DC5C01-045D-4DD4-8A93-BD8471FD2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159</a:t>
            </a:fld>
            <a:endParaRPr lang="en-US" altLang="zh-TW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>
            <a:extLst>
              <a:ext uri="{FF2B5EF4-FFF2-40B4-BE49-F238E27FC236}">
                <a16:creationId xmlns:a16="http://schemas.microsoft.com/office/drawing/2014/main" id="{A188E4C8-B461-4140-BEE4-A016117D6A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12</a:t>
            </a:r>
          </a:p>
        </p:txBody>
      </p:sp>
      <p:sp>
        <p:nvSpPr>
          <p:cNvPr id="114691" name="Text Box 3">
            <a:extLst>
              <a:ext uri="{FF2B5EF4-FFF2-40B4-BE49-F238E27FC236}">
                <a16:creationId xmlns:a16="http://schemas.microsoft.com/office/drawing/2014/main" id="{FBC06DC3-C061-4E57-964F-8695FB02CE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the names of full professors </a:t>
            </a:r>
            <a:r>
              <a:rPr lang="en-US" altLang="zh-TW" sz="3200" dirty="0">
                <a:solidFill>
                  <a:srgbClr val="FF0000"/>
                </a:solidFill>
                <a:ea typeface="新細明體" panose="02020500000000000000" pitchFamily="18" charset="-120"/>
              </a:rPr>
              <a:t>who ever taught more than two courses in one semester</a:t>
            </a:r>
            <a:r>
              <a:rPr lang="en-US" altLang="zh-TW" sz="3200" dirty="0">
                <a:ea typeface="新細明體" panose="02020500000000000000" pitchFamily="18" charset="-120"/>
              </a:rPr>
              <a:t>.</a:t>
            </a:r>
          </a:p>
        </p:txBody>
      </p:sp>
      <p:pic>
        <p:nvPicPr>
          <p:cNvPr id="114692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A0D2A793-C127-4CCF-829E-6B0078D423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A3E29A-98B1-43FC-A39A-8DAEC3321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160</a:t>
            </a:fld>
            <a:endParaRPr lang="en-US" altLang="zh-TW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>
            <a:extLst>
              <a:ext uri="{FF2B5EF4-FFF2-40B4-BE49-F238E27FC236}">
                <a16:creationId xmlns:a16="http://schemas.microsoft.com/office/drawing/2014/main" id="{33987796-E5A9-47CA-91A5-35EB3BD92D3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15715" name="Text Box 4">
            <a:extLst>
              <a:ext uri="{FF2B5EF4-FFF2-40B4-BE49-F238E27FC236}">
                <a16:creationId xmlns:a16="http://schemas.microsoft.com/office/drawing/2014/main" id="{64E57D98-E8D1-4076-BBCC-3327A9CFA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31393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P.profname</a:t>
            </a:r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Professor P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p.status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'Full' AND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IN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</a:t>
            </a:r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(SELECT </a:t>
            </a:r>
            <a:r>
              <a:rPr lang="en-US" altLang="zh-TW" sz="1800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endParaRPr lang="en-US" altLang="zh-TW" sz="1800" dirty="0">
              <a:solidFill>
                <a:srgbClr val="FF0000"/>
              </a:solidFill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	FROM Taught</a:t>
            </a:r>
          </a:p>
          <a:p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	GROUP BY </a:t>
            </a:r>
            <a:r>
              <a:rPr lang="en-US" altLang="zh-TW" sz="1800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, semester</a:t>
            </a:r>
          </a:p>
          <a:p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	HAVING COUNT(*) &gt; 2</a:t>
            </a:r>
          </a:p>
          <a:p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	);</a:t>
            </a:r>
          </a:p>
          <a:p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What are counting? For each professor in each semester, </a:t>
            </a:r>
          </a:p>
        </p:txBody>
      </p:sp>
      <p:pic>
        <p:nvPicPr>
          <p:cNvPr id="115716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EE5FC1C3-C80F-4381-9225-6046B304F1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0632A1C-3092-4E3B-86FC-A718D53B0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161</a:t>
            </a:fld>
            <a:endParaRPr lang="en-US" altLang="zh-TW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>
            <a:extLst>
              <a:ext uri="{FF2B5EF4-FFF2-40B4-BE49-F238E27FC236}">
                <a16:creationId xmlns:a16="http://schemas.microsoft.com/office/drawing/2014/main" id="{C3C8DFA4-AF24-4BFC-8B64-9C24F59A45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16739" name="Text Box 4">
            <a:extLst>
              <a:ext uri="{FF2B5EF4-FFF2-40B4-BE49-F238E27FC236}">
                <a16:creationId xmlns:a16="http://schemas.microsoft.com/office/drawing/2014/main" id="{B3213F06-D63B-4D29-8D38-E6EB38B35D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P.profname</a:t>
            </a:r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professor P, taught 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P.status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='Full' AND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=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 by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,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T.semester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// for each prof and each semester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Having Count(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)&gt;2;</a:t>
            </a:r>
          </a:p>
          <a:p>
            <a:endParaRPr lang="en-US" altLang="zh-TW" sz="18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116740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B8834A0B-3EB7-4F74-89DF-8C00C5C6B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6741" name="TextBox 4">
            <a:extLst>
              <a:ext uri="{FF2B5EF4-FFF2-40B4-BE49-F238E27FC236}">
                <a16:creationId xmlns:a16="http://schemas.microsoft.com/office/drawing/2014/main" id="{B95AE9AB-0562-4284-9F88-AC323B7F3E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6324600"/>
            <a:ext cx="5029200" cy="4000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Courtesy of Shahrzad </a:t>
            </a:r>
            <a:r>
              <a:rPr lang="en-US" altLang="zh-TW" dirty="0" err="1">
                <a:ea typeface="新細明體" panose="02020500000000000000" pitchFamily="18" charset="-120"/>
              </a:rPr>
              <a:t>Amoozegar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625FC2-4B82-48DC-82C2-652FB57A3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162</a:t>
            </a:fld>
            <a:endParaRPr lang="en-US" altLang="zh-TW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>
            <a:extLst>
              <a:ext uri="{FF2B5EF4-FFF2-40B4-BE49-F238E27FC236}">
                <a16:creationId xmlns:a16="http://schemas.microsoft.com/office/drawing/2014/main" id="{9A8B5DC7-A2C2-46E2-ACCC-9B353690BB9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13</a:t>
            </a:r>
          </a:p>
        </p:txBody>
      </p:sp>
      <p:sp>
        <p:nvSpPr>
          <p:cNvPr id="117763" name="Text Box 3">
            <a:extLst>
              <a:ext uri="{FF2B5EF4-FFF2-40B4-BE49-F238E27FC236}">
                <a16:creationId xmlns:a16="http://schemas.microsoft.com/office/drawing/2014/main" id="{64CE3EE1-00BC-462F-A60C-D253A1EC5E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Delete those professors who never taught a course.</a:t>
            </a:r>
          </a:p>
        </p:txBody>
      </p:sp>
      <p:pic>
        <p:nvPicPr>
          <p:cNvPr id="117764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46FB6E5A-36F8-4B2C-9934-17F1E1164F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6487FC-9E11-428E-A294-824927E5A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163</a:t>
            </a:fld>
            <a:endParaRPr lang="en-US" altLang="zh-TW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>
            <a:extLst>
              <a:ext uri="{FF2B5EF4-FFF2-40B4-BE49-F238E27FC236}">
                <a16:creationId xmlns:a16="http://schemas.microsoft.com/office/drawing/2014/main" id="{E4D3FB8F-810C-476B-9B73-570FA62665E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18787" name="Text Box 4">
            <a:extLst>
              <a:ext uri="{FF2B5EF4-FFF2-40B4-BE49-F238E27FC236}">
                <a16:creationId xmlns:a16="http://schemas.microsoft.com/office/drawing/2014/main" id="{EE6F3705-062B-4EFE-B5A9-E276607C58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147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DELETE FROM Professor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NOT IN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(</a:t>
            </a:r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</a:p>
          <a:p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FROM Taught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pic>
        <p:nvPicPr>
          <p:cNvPr id="118788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CD528442-9213-42C6-9886-8D63CE26DC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A9B660-D02B-4461-A677-B38BD5A67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164</a:t>
            </a:fld>
            <a:endParaRPr lang="en-US" altLang="zh-TW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Rectangle 2">
            <a:extLst>
              <a:ext uri="{FF2B5EF4-FFF2-40B4-BE49-F238E27FC236}">
                <a16:creationId xmlns:a16="http://schemas.microsoft.com/office/drawing/2014/main" id="{7CB31D88-4746-499F-B75E-DD799913E43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14</a:t>
            </a:r>
          </a:p>
        </p:txBody>
      </p:sp>
      <p:sp>
        <p:nvSpPr>
          <p:cNvPr id="119811" name="Text Box 3">
            <a:extLst>
              <a:ext uri="{FF2B5EF4-FFF2-40B4-BE49-F238E27FC236}">
                <a16:creationId xmlns:a16="http://schemas.microsoft.com/office/drawing/2014/main" id="{A3088CBD-646F-48E6-9055-3064C01DEE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57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Change all the credits to 4 for </a:t>
            </a:r>
            <a:r>
              <a:rPr lang="en-US" altLang="zh-TW" sz="3200" dirty="0">
                <a:solidFill>
                  <a:srgbClr val="FF0000"/>
                </a:solidFill>
                <a:ea typeface="新細明體" panose="02020500000000000000" pitchFamily="18" charset="-120"/>
              </a:rPr>
              <a:t>those courses that are taught in Spring 2015 semester.</a:t>
            </a:r>
          </a:p>
        </p:txBody>
      </p:sp>
      <p:pic>
        <p:nvPicPr>
          <p:cNvPr id="119812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302DCA86-6059-44A7-ABFA-353183DE37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A77309-26BA-4D5B-B5C9-BBE0ACA5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165</a:t>
            </a:fld>
            <a:endParaRPr lang="en-US" altLang="zh-TW"/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>
            <a:extLst>
              <a:ext uri="{FF2B5EF4-FFF2-40B4-BE49-F238E27FC236}">
                <a16:creationId xmlns:a16="http://schemas.microsoft.com/office/drawing/2014/main" id="{8D057C48-3205-4093-97EC-7DAF9E37611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20835" name="Text Box 4">
            <a:extLst>
              <a:ext uri="{FF2B5EF4-FFF2-40B4-BE49-F238E27FC236}">
                <a16:creationId xmlns:a16="http://schemas.microsoft.com/office/drawing/2014/main" id="{13C2AAD9-4A02-46B1-BB2A-721358E50B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2031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UPDATE Course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SET credit = 4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IN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(SELECT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FROM Taught     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WHERE semester = 20151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	);</a:t>
            </a:r>
          </a:p>
        </p:txBody>
      </p:sp>
      <p:pic>
        <p:nvPicPr>
          <p:cNvPr id="120836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0EDEA834-3AD0-465D-B14B-7FB83A40C7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AD9738-15CD-406D-B8E4-BEDD446D1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166</a:t>
            </a:fld>
            <a:endParaRPr lang="en-US" altLang="zh-TW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>
            <a:extLst>
              <a:ext uri="{FF2B5EF4-FFF2-40B4-BE49-F238E27FC236}">
                <a16:creationId xmlns:a16="http://schemas.microsoft.com/office/drawing/2014/main" id="{1343B519-85EB-454F-BD75-05D506D4B12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15</a:t>
            </a:r>
          </a:p>
        </p:txBody>
      </p:sp>
      <p:sp>
        <p:nvSpPr>
          <p:cNvPr id="121859" name="Text Box 3">
            <a:extLst>
              <a:ext uri="{FF2B5EF4-FFF2-40B4-BE49-F238E27FC236}">
                <a16:creationId xmlns:a16="http://schemas.microsoft.com/office/drawing/2014/main" id="{78904DBF-4C1E-4590-B3C8-E6096E5EBA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57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the names of the professors </a:t>
            </a:r>
            <a:r>
              <a:rPr lang="en-US" altLang="zh-TW" sz="3200" dirty="0">
                <a:solidFill>
                  <a:srgbClr val="FF0000"/>
                </a:solidFill>
                <a:ea typeface="新細明體" panose="02020500000000000000" pitchFamily="18" charset="-120"/>
              </a:rPr>
              <a:t>who have taught more than 12 credits of courses. </a:t>
            </a:r>
          </a:p>
        </p:txBody>
      </p:sp>
      <p:pic>
        <p:nvPicPr>
          <p:cNvPr id="121860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30DA8C79-4351-489B-BEF7-9773E41BA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14132A3-3F03-4AA6-8DD9-77CA94D07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167</a:t>
            </a:fld>
            <a:endParaRPr lang="en-US" altLang="zh-TW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2">
            <a:extLst>
              <a:ext uri="{FF2B5EF4-FFF2-40B4-BE49-F238E27FC236}">
                <a16:creationId xmlns:a16="http://schemas.microsoft.com/office/drawing/2014/main" id="{AA2B2911-308F-486E-AFF7-EF514CDF3A4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22883" name="Text Box 4">
            <a:extLst>
              <a:ext uri="{FF2B5EF4-FFF2-40B4-BE49-F238E27FC236}">
                <a16:creationId xmlns:a16="http://schemas.microsoft.com/office/drawing/2014/main" id="{0C3D8632-7C95-480E-B1AB-DEA5C3669F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286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profname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Professor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8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IN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(</a:t>
            </a:r>
          </a:p>
          <a:p>
            <a:r>
              <a:rPr lang="en-US" altLang="zh-TW" sz="18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</a:t>
            </a:r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800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FROM Taught  T, Course C</a:t>
            </a:r>
          </a:p>
          <a:p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WHERE </a:t>
            </a:r>
            <a:r>
              <a:rPr lang="en-US" altLang="zh-TW" sz="1800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sz="1800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C.crscode</a:t>
            </a:r>
          </a:p>
          <a:p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GROUP BY </a:t>
            </a:r>
            <a:r>
              <a:rPr lang="en-US" altLang="zh-TW" sz="1800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</a:p>
          <a:p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HAVING </a:t>
            </a:r>
            <a:r>
              <a:rPr lang="en-US" altLang="zh-TW" sz="16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SUM(</a:t>
            </a:r>
            <a:r>
              <a:rPr lang="en-US" altLang="zh-TW" sz="1600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C.credit</a:t>
            </a:r>
            <a:r>
              <a:rPr lang="en-US" altLang="zh-TW" sz="16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) &gt; 12</a:t>
            </a:r>
          </a:p>
          <a:p>
            <a:r>
              <a:rPr lang="en-US" altLang="zh-TW" sz="16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pic>
        <p:nvPicPr>
          <p:cNvPr id="122884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2E1D4FA5-1AB9-40F3-B688-6334D2B669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1DF683-BE07-477F-939F-AC9809F00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168</a:t>
            </a:fld>
            <a:endParaRPr lang="en-US" altLang="zh-TW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2">
            <a:extLst>
              <a:ext uri="{FF2B5EF4-FFF2-40B4-BE49-F238E27FC236}">
                <a16:creationId xmlns:a16="http://schemas.microsoft.com/office/drawing/2014/main" id="{6F9AA50C-A101-44DE-823C-53DC033018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16</a:t>
            </a:r>
          </a:p>
        </p:txBody>
      </p:sp>
      <p:sp>
        <p:nvSpPr>
          <p:cNvPr id="123907" name="Text Box 3">
            <a:extLst>
              <a:ext uri="{FF2B5EF4-FFF2-40B4-BE49-F238E27FC236}">
                <a16:creationId xmlns:a16="http://schemas.microsoft.com/office/drawing/2014/main" id="{EEA1116B-CD80-459A-B4F4-D8A396CE6D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57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the name(s) of the professor(s) who taught the most number of courses in F2017.</a:t>
            </a:r>
          </a:p>
        </p:txBody>
      </p:sp>
      <p:pic>
        <p:nvPicPr>
          <p:cNvPr id="123908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BBE63DAB-E1DF-454D-9618-A1D4538C9D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7B7E12-224B-4F9B-AC37-FC334EE49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169</a:t>
            </a:fld>
            <a:endParaRPr lang="en-US" altLang="zh-TW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2">
            <a:extLst>
              <a:ext uri="{FF2B5EF4-FFF2-40B4-BE49-F238E27FC236}">
                <a16:creationId xmlns:a16="http://schemas.microsoft.com/office/drawing/2014/main" id="{B03AE599-99A7-4525-B6CC-5E946BB0F1F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24931" name="Text Box 4">
            <a:extLst>
              <a:ext uri="{FF2B5EF4-FFF2-40B4-BE49-F238E27FC236}">
                <a16:creationId xmlns:a16="http://schemas.microsoft.com/office/drawing/2014/main" id="{7D80CE1F-268B-420A-934E-6E8AF6381E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22467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CREATE VIEW TeachNumS2006(</a:t>
            </a:r>
            <a:r>
              <a:rPr lang="en-US" altLang="zh-TW" sz="14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, Num)</a:t>
            </a:r>
          </a:p>
          <a:p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AS</a:t>
            </a:r>
          </a:p>
          <a:p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SELECT </a:t>
            </a:r>
            <a:r>
              <a:rPr lang="en-US" altLang="zh-TW" sz="14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, COUNT(*) as Num</a:t>
            </a:r>
          </a:p>
          <a:p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FROM Taught</a:t>
            </a:r>
          </a:p>
          <a:p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WHERE semester = 20172</a:t>
            </a:r>
          </a:p>
          <a:p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GROUP BY </a:t>
            </a:r>
            <a:r>
              <a:rPr lang="en-US" altLang="zh-TW" sz="14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;</a:t>
            </a:r>
          </a:p>
          <a:p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</a:t>
            </a:r>
          </a:p>
          <a:p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* from TeachNumS2006;</a:t>
            </a:r>
          </a:p>
          <a:p>
            <a:endParaRPr lang="en-US" altLang="zh-TW" sz="1400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MAX(Num) From TeachNumS2006;</a:t>
            </a:r>
          </a:p>
        </p:txBody>
      </p:sp>
      <p:pic>
        <p:nvPicPr>
          <p:cNvPr id="124932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D865FFB0-3426-48C2-B240-025EE3E63E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1D2B9B-AA95-4A58-8693-35BECCF15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170</a:t>
            </a:fld>
            <a:endParaRPr lang="en-US" altLang="zh-TW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2">
            <a:extLst>
              <a:ext uri="{FF2B5EF4-FFF2-40B4-BE49-F238E27FC236}">
                <a16:creationId xmlns:a16="http://schemas.microsoft.com/office/drawing/2014/main" id="{B03AE599-99A7-4525-B6CC-5E946BB0F1F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24931" name="Text Box 4">
            <a:extLst>
              <a:ext uri="{FF2B5EF4-FFF2-40B4-BE49-F238E27FC236}">
                <a16:creationId xmlns:a16="http://schemas.microsoft.com/office/drawing/2014/main" id="{7D80CE1F-268B-420A-934E-6E8AF6381E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4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profname</a:t>
            </a:r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Professor </a:t>
            </a:r>
          </a:p>
          <a:p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sz="14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 IN (</a:t>
            </a:r>
          </a:p>
          <a:p>
            <a:r>
              <a:rPr lang="en-US" altLang="zh-TW" sz="14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SELECT </a:t>
            </a:r>
            <a:r>
              <a:rPr lang="en-US" altLang="zh-TW" sz="1400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sz="14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FROM TeachNumS2006 </a:t>
            </a:r>
          </a:p>
          <a:p>
            <a:r>
              <a:rPr lang="en-US" altLang="zh-TW" sz="14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where num = </a:t>
            </a:r>
          </a:p>
          <a:p>
            <a:r>
              <a:rPr lang="en-US" altLang="zh-TW" sz="14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      (SELECT MAX(Num)</a:t>
            </a:r>
          </a:p>
          <a:p>
            <a:r>
              <a:rPr lang="en-US" altLang="zh-TW" sz="14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       FROM TeachNumS2006) </a:t>
            </a:r>
          </a:p>
          <a:p>
            <a:r>
              <a:rPr lang="en-US" altLang="zh-TW" sz="1400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pic>
        <p:nvPicPr>
          <p:cNvPr id="124932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D865FFB0-3426-48C2-B240-025EE3E63E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D0D6D3-5B69-486E-AC1F-B3CBAFF25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0A34B-63A5-4A4A-AF13-D208EE42D3DF}" type="slidenum">
              <a:rPr lang="en-US" altLang="zh-TW" smtClean="0"/>
              <a:pPr/>
              <a:t>171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89822936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>
            <a:extLst>
              <a:ext uri="{FF2B5EF4-FFF2-40B4-BE49-F238E27FC236}">
                <a16:creationId xmlns:a16="http://schemas.microsoft.com/office/drawing/2014/main" id="{275AB667-616E-4631-BB09-A1E3D8BC7A46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17</a:t>
            </a:r>
          </a:p>
        </p:txBody>
      </p:sp>
      <p:sp>
        <p:nvSpPr>
          <p:cNvPr id="125955" name="Text Box 3">
            <a:extLst>
              <a:ext uri="{FF2B5EF4-FFF2-40B4-BE49-F238E27FC236}">
                <a16:creationId xmlns:a16="http://schemas.microsoft.com/office/drawing/2014/main" id="{5A7B1DA2-64EC-41DD-B496-F10BE8A30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List all the course names that professor ‘Smith’ taught in Fall of 2017.</a:t>
            </a:r>
          </a:p>
        </p:txBody>
      </p:sp>
      <p:pic>
        <p:nvPicPr>
          <p:cNvPr id="125956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D7DEDA63-8D73-4848-89B6-0EE238B8DA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EC0209-23E0-4F9D-875B-B0C233D2A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172</a:t>
            </a:fld>
            <a:endParaRPr lang="en-US" altLang="zh-TW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>
            <a:extLst>
              <a:ext uri="{FF2B5EF4-FFF2-40B4-BE49-F238E27FC236}">
                <a16:creationId xmlns:a16="http://schemas.microsoft.com/office/drawing/2014/main" id="{5B16B012-AAB5-4899-8D61-6F36D6504A5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Relational Algebra Solution</a:t>
            </a:r>
          </a:p>
        </p:txBody>
      </p:sp>
      <p:sp>
        <p:nvSpPr>
          <p:cNvPr id="126979" name="Text Box 3">
            <a:extLst>
              <a:ext uri="{FF2B5EF4-FFF2-40B4-BE49-F238E27FC236}">
                <a16:creationId xmlns:a16="http://schemas.microsoft.com/office/drawing/2014/main" id="{30B7EB39-9C06-4F4B-853E-7825E154FD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253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crsname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(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profname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=‘Smith’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(Professor) 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semester=‘f2007’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(Taught) </a:t>
            </a:r>
          </a:p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Course)</a:t>
            </a:r>
          </a:p>
          <a:p>
            <a:pPr>
              <a:spcBef>
                <a:spcPct val="50000"/>
              </a:spcBef>
            </a:pPr>
            <a:endParaRPr lang="en-US" altLang="zh-TW" sz="3200">
              <a:ea typeface="新細明體" panose="02020500000000000000" pitchFamily="18" charset="-120"/>
              <a:sym typeface="Symbol" panose="05050102010706020507" pitchFamily="18" charset="2"/>
            </a:endParaRPr>
          </a:p>
        </p:txBody>
      </p:sp>
      <p:pic>
        <p:nvPicPr>
          <p:cNvPr id="126980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C5750EF8-DCEA-4C03-9E57-19FDE031F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26981" name="Group 1034">
            <a:extLst>
              <a:ext uri="{FF2B5EF4-FFF2-40B4-BE49-F238E27FC236}">
                <a16:creationId xmlns:a16="http://schemas.microsoft.com/office/drawing/2014/main" id="{37FFDA13-DEA5-4577-A9B2-4EBBBB5D5248}"/>
              </a:ext>
            </a:extLst>
          </p:cNvPr>
          <p:cNvGrpSpPr>
            <a:grpSpLocks/>
          </p:cNvGrpSpPr>
          <p:nvPr/>
        </p:nvGrpSpPr>
        <p:grpSpPr bwMode="auto">
          <a:xfrm>
            <a:off x="6477000" y="3962400"/>
            <a:ext cx="457200" cy="152400"/>
            <a:chOff x="2352" y="2064"/>
            <a:chExt cx="288" cy="96"/>
          </a:xfrm>
        </p:grpSpPr>
        <p:sp>
          <p:nvSpPr>
            <p:cNvPr id="126985" name="AutoShape 1030">
              <a:extLst>
                <a:ext uri="{FF2B5EF4-FFF2-40B4-BE49-F238E27FC236}">
                  <a16:creationId xmlns:a16="http://schemas.microsoft.com/office/drawing/2014/main" id="{1E1F1E13-D15D-49BF-B3B6-F0DD421AE4D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126986" name="AutoShape 1033">
              <a:extLst>
                <a:ext uri="{FF2B5EF4-FFF2-40B4-BE49-F238E27FC236}">
                  <a16:creationId xmlns:a16="http://schemas.microsoft.com/office/drawing/2014/main" id="{FBE4C2A3-5550-4E5E-A2A7-0536640342A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grpSp>
        <p:nvGrpSpPr>
          <p:cNvPr id="126982" name="Group 1034">
            <a:extLst>
              <a:ext uri="{FF2B5EF4-FFF2-40B4-BE49-F238E27FC236}">
                <a16:creationId xmlns:a16="http://schemas.microsoft.com/office/drawing/2014/main" id="{540EE765-C8DF-4351-92F8-504B3899A664}"/>
              </a:ext>
            </a:extLst>
          </p:cNvPr>
          <p:cNvGrpSpPr>
            <a:grpSpLocks/>
          </p:cNvGrpSpPr>
          <p:nvPr/>
        </p:nvGrpSpPr>
        <p:grpSpPr bwMode="auto">
          <a:xfrm>
            <a:off x="4800600" y="4495800"/>
            <a:ext cx="457200" cy="152400"/>
            <a:chOff x="2352" y="2064"/>
            <a:chExt cx="288" cy="96"/>
          </a:xfrm>
        </p:grpSpPr>
        <p:sp>
          <p:nvSpPr>
            <p:cNvPr id="126983" name="AutoShape 1030">
              <a:extLst>
                <a:ext uri="{FF2B5EF4-FFF2-40B4-BE49-F238E27FC236}">
                  <a16:creationId xmlns:a16="http://schemas.microsoft.com/office/drawing/2014/main" id="{3E257E1E-965A-4CDC-8AB0-0489A6DF968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126984" name="AutoShape 1033">
              <a:extLst>
                <a:ext uri="{FF2B5EF4-FFF2-40B4-BE49-F238E27FC236}">
                  <a16:creationId xmlns:a16="http://schemas.microsoft.com/office/drawing/2014/main" id="{98046E64-8C17-4A8F-A01F-01D2EB76665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3495CF-FE01-4302-A8F1-309A0AD10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173</a:t>
            </a:fld>
            <a:endParaRPr lang="en-US" altLang="zh-TW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2">
            <a:extLst>
              <a:ext uri="{FF2B5EF4-FFF2-40B4-BE49-F238E27FC236}">
                <a16:creationId xmlns:a16="http://schemas.microsoft.com/office/drawing/2014/main" id="{D13101AC-14AA-4FE1-AED1-995F8AFE9481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28003" name="Text Box 4">
            <a:extLst>
              <a:ext uri="{FF2B5EF4-FFF2-40B4-BE49-F238E27FC236}">
                <a16:creationId xmlns:a16="http://schemas.microsoft.com/office/drawing/2014/main" id="{68DCF22A-2747-45F6-A847-827B5D105A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crsname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FROM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Professor P, Taught T, Course C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P.profname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'Smith' AND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AND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T.semester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20172 AND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C.crscode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;</a:t>
            </a:r>
          </a:p>
        </p:txBody>
      </p:sp>
      <p:pic>
        <p:nvPicPr>
          <p:cNvPr id="128004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ABE0A10D-F276-42CD-8637-6A93D193C1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B9DEBD-7EFD-410B-8B9C-9F26D8D64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174</a:t>
            </a:fld>
            <a:endParaRPr lang="en-US" altLang="zh-TW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>
            <a:extLst>
              <a:ext uri="{FF2B5EF4-FFF2-40B4-BE49-F238E27FC236}">
                <a16:creationId xmlns:a16="http://schemas.microsoft.com/office/drawing/2014/main" id="{C1EE02D9-9EFA-4941-BA4D-081A53A0547B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18</a:t>
            </a:r>
          </a:p>
        </p:txBody>
      </p:sp>
      <p:sp>
        <p:nvSpPr>
          <p:cNvPr id="129027" name="Text Box 3">
            <a:extLst>
              <a:ext uri="{FF2B5EF4-FFF2-40B4-BE49-F238E27FC236}">
                <a16:creationId xmlns:a16="http://schemas.microsoft.com/office/drawing/2014/main" id="{AE09E097-CC38-44F9-A9C8-1820FBFFEE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In chronological order, list the number of courses that the professor with </a:t>
            </a:r>
            <a:r>
              <a:rPr lang="en-US" altLang="zh-TW" sz="3200" dirty="0" err="1">
                <a:ea typeface="新細明體" panose="02020500000000000000" pitchFamily="18" charset="-120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</a:rPr>
              <a:t> </a:t>
            </a:r>
            <a:r>
              <a:rPr lang="en-US" altLang="zh-TW" sz="3200" dirty="0" err="1">
                <a:ea typeface="新細明體" panose="02020500000000000000" pitchFamily="18" charset="-120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</a:rPr>
              <a:t> = 1111 taught in each semester.</a:t>
            </a:r>
          </a:p>
        </p:txBody>
      </p:sp>
      <p:pic>
        <p:nvPicPr>
          <p:cNvPr id="129028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748749F5-94E1-4DA2-A036-1A61AC15CE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338C67-4958-42A0-B905-EB5A2ADB3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175</a:t>
            </a:fld>
            <a:endParaRPr lang="en-US" altLang="zh-TW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2">
            <a:extLst>
              <a:ext uri="{FF2B5EF4-FFF2-40B4-BE49-F238E27FC236}">
                <a16:creationId xmlns:a16="http://schemas.microsoft.com/office/drawing/2014/main" id="{AA0D25FA-7906-4C1C-83E0-01D25DEA0AD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30051" name="Text Box 4">
            <a:extLst>
              <a:ext uri="{FF2B5EF4-FFF2-40B4-BE49-F238E27FC236}">
                <a16:creationId xmlns:a16="http://schemas.microsoft.com/office/drawing/2014/main" id="{E846111A-D737-4026-AB46-3798E1543C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0200" y="3735111"/>
            <a:ext cx="7543800" cy="1920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semester, COUNT(*)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1111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 BY semester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ORDER BY semester ASC;</a:t>
            </a:r>
          </a:p>
          <a:p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130052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A66BE8A3-13B9-42F6-9C6F-2A381177FB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1F88D2-8884-452C-BF33-09483998B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176</a:t>
            </a:fld>
            <a:endParaRPr lang="en-US" altLang="zh-TW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>
            <a:extLst>
              <a:ext uri="{FF2B5EF4-FFF2-40B4-BE49-F238E27FC236}">
                <a16:creationId xmlns:a16="http://schemas.microsoft.com/office/drawing/2014/main" id="{40F03EAF-0122-4F1C-BC8D-F2DEF6D9444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19</a:t>
            </a:r>
          </a:p>
        </p:txBody>
      </p:sp>
      <p:sp>
        <p:nvSpPr>
          <p:cNvPr id="131075" name="Text Box 3">
            <a:extLst>
              <a:ext uri="{FF2B5EF4-FFF2-40B4-BE49-F238E27FC236}">
                <a16:creationId xmlns:a16="http://schemas.microsoft.com/office/drawing/2014/main" id="{3B4E895B-39F5-4515-A29B-90D51B6F5B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2041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In alphabetical order of the names of professors, list the name of each professor and the total number of courses she/he has taught.</a:t>
            </a:r>
          </a:p>
        </p:txBody>
      </p:sp>
      <p:pic>
        <p:nvPicPr>
          <p:cNvPr id="131076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4280D3A1-D32D-449A-A20A-F3D26F11C8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3A419C-8B21-4FE9-AD78-BDF1AA614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177</a:t>
            </a:fld>
            <a:endParaRPr lang="en-US" altLang="zh-TW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Rectangle 2">
            <a:extLst>
              <a:ext uri="{FF2B5EF4-FFF2-40B4-BE49-F238E27FC236}">
                <a16:creationId xmlns:a16="http://schemas.microsoft.com/office/drawing/2014/main" id="{7FD4650C-1ECE-4B4A-9A48-0E7E38DF2A06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32099" name="Text Box 4">
            <a:extLst>
              <a:ext uri="{FF2B5EF4-FFF2-40B4-BE49-F238E27FC236}">
                <a16:creationId xmlns:a16="http://schemas.microsoft.com/office/drawing/2014/main" id="{D532826D-EA2E-482C-8639-4FAD73AF9D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4267200"/>
            <a:ext cx="7543800" cy="1920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P.profname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, COUNT(distinct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Professor P, Taught T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 BY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solidFill>
                  <a:srgbClr val="990033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P.profname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ORDER BY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P.profname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ASC</a:t>
            </a:r>
          </a:p>
          <a:p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5FCAB8D-1989-426E-B3F7-7D41CA3EE8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6693389"/>
              </p:ext>
            </p:extLst>
          </p:nvPr>
        </p:nvGraphicFramePr>
        <p:xfrm>
          <a:off x="990600" y="1752600"/>
          <a:ext cx="7391400" cy="2486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1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1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1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1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2502">
                <a:tc>
                  <a:txBody>
                    <a:bodyPr/>
                    <a:lstStyle/>
                    <a:p>
                      <a:r>
                        <a:rPr lang="en-US" sz="1800" b="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1111</a:t>
                      </a:r>
                    </a:p>
                  </a:txBody>
                  <a:tcPr marT="45716" marB="4571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1111</a:t>
                      </a:r>
                    </a:p>
                  </a:txBody>
                  <a:tcPr marT="45716" marB="4571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Smith</a:t>
                      </a:r>
                    </a:p>
                  </a:txBody>
                  <a:tcPr marT="45716" marB="4571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Full</a:t>
                      </a:r>
                    </a:p>
                  </a:txBody>
                  <a:tcPr marT="45716" marB="4571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Csc6710</a:t>
                      </a:r>
                    </a:p>
                  </a:txBody>
                  <a:tcPr marT="45716" marB="4571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Fall 2011</a:t>
                      </a:r>
                    </a:p>
                  </a:txBody>
                  <a:tcPr marT="45716" marB="45716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26">
                <a:tc>
                  <a:txBody>
                    <a:bodyPr/>
                    <a:lstStyle/>
                    <a:p>
                      <a:r>
                        <a:rPr lang="en-US" sz="18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1111</a:t>
                      </a:r>
                    </a:p>
                  </a:txBody>
                  <a:tcPr marT="45716" marB="4571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1111</a:t>
                      </a:r>
                    </a:p>
                  </a:txBody>
                  <a:tcPr marT="45716" marB="4571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Smith</a:t>
                      </a:r>
                    </a:p>
                  </a:txBody>
                  <a:tcPr marT="45716" marB="4571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Full</a:t>
                      </a:r>
                    </a:p>
                  </a:txBody>
                  <a:tcPr marT="45716" marB="4571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CSC4710</a:t>
                      </a:r>
                    </a:p>
                  </a:txBody>
                  <a:tcPr marT="45716" marB="4571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Winter 2011</a:t>
                      </a:r>
                    </a:p>
                  </a:txBody>
                  <a:tcPr marT="45716" marB="45716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968">
                <a:tc>
                  <a:txBody>
                    <a:bodyPr/>
                    <a:lstStyle/>
                    <a:p>
                      <a:r>
                        <a:rPr lang="en-US" sz="1800" dirty="0"/>
                        <a:t>2222</a:t>
                      </a:r>
                    </a:p>
                  </a:txBody>
                  <a:tcPr marT="45716" marB="45716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2222</a:t>
                      </a:r>
                    </a:p>
                  </a:txBody>
                  <a:tcPr marT="45716" marB="45716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John</a:t>
                      </a:r>
                    </a:p>
                  </a:txBody>
                  <a:tcPr marT="45716" marB="45716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Associate</a:t>
                      </a:r>
                    </a:p>
                  </a:txBody>
                  <a:tcPr marT="45716" marB="45716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CSC7710</a:t>
                      </a:r>
                    </a:p>
                  </a:txBody>
                  <a:tcPr marT="45716" marB="45716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Fall 2012</a:t>
                      </a:r>
                    </a:p>
                  </a:txBody>
                  <a:tcPr marT="45716" marB="45716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26">
                <a:tc>
                  <a:txBody>
                    <a:bodyPr/>
                    <a:lstStyle/>
                    <a:p>
                      <a:r>
                        <a:rPr lang="en-US" sz="1800" dirty="0"/>
                        <a:t>3333</a:t>
                      </a:r>
                    </a:p>
                  </a:txBody>
                  <a:tcPr marT="45716" marB="4571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3333</a:t>
                      </a:r>
                    </a:p>
                  </a:txBody>
                  <a:tcPr marT="45716" marB="4571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Thomas</a:t>
                      </a:r>
                    </a:p>
                  </a:txBody>
                  <a:tcPr marT="45716" marB="4571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Associate</a:t>
                      </a:r>
                    </a:p>
                  </a:txBody>
                  <a:tcPr marT="45716" marB="4571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CSC 8710</a:t>
                      </a:r>
                    </a:p>
                  </a:txBody>
                  <a:tcPr marT="45716" marB="4571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Winter 2012</a:t>
                      </a:r>
                    </a:p>
                  </a:txBody>
                  <a:tcPr marT="45716" marB="45716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502">
                <a:tc>
                  <a:txBody>
                    <a:bodyPr/>
                    <a:lstStyle/>
                    <a:p>
                      <a:r>
                        <a:rPr lang="en-US" sz="1800" dirty="0"/>
                        <a:t>3333</a:t>
                      </a:r>
                    </a:p>
                  </a:txBody>
                  <a:tcPr marT="45716" marB="4571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3333</a:t>
                      </a:r>
                    </a:p>
                  </a:txBody>
                  <a:tcPr marT="45716" marB="4571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Thomas</a:t>
                      </a:r>
                    </a:p>
                  </a:txBody>
                  <a:tcPr marT="45716" marB="4571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Assistant</a:t>
                      </a:r>
                    </a:p>
                  </a:txBody>
                  <a:tcPr marT="45716" marB="4571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CSC 5710</a:t>
                      </a:r>
                    </a:p>
                  </a:txBody>
                  <a:tcPr marT="45716" marB="4571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Fall 2012</a:t>
                      </a:r>
                    </a:p>
                  </a:txBody>
                  <a:tcPr marT="45716" marB="45716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2144" name="Oval Callout 7">
            <a:extLst>
              <a:ext uri="{FF2B5EF4-FFF2-40B4-BE49-F238E27FC236}">
                <a16:creationId xmlns:a16="http://schemas.microsoft.com/office/drawing/2014/main" id="{6536903B-14DA-4E69-8E2A-04B3424262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57800" y="4038600"/>
            <a:ext cx="3429000" cy="685800"/>
          </a:xfrm>
          <a:prstGeom prst="wedgeEllipseCallout">
            <a:avLst>
              <a:gd name="adj1" fmla="val -115685"/>
              <a:gd name="adj2" fmla="val 138449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For each professor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B0D696-60BA-496A-8F43-D7B74D12C5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0584" y="5882144"/>
            <a:ext cx="5257800" cy="8925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solidFill>
                  <a:srgbClr val="FF0000"/>
                </a:solidFill>
                <a:ea typeface="新細明體" panose="02020500000000000000" pitchFamily="18" charset="-120"/>
              </a:rPr>
              <a:t>Note: we can only select </a:t>
            </a:r>
            <a:r>
              <a:rPr lang="en-US" altLang="zh-TW" sz="2600" dirty="0" err="1">
                <a:solidFill>
                  <a:srgbClr val="FF0000"/>
                </a:solidFill>
                <a:ea typeface="新細明體" panose="02020500000000000000" pitchFamily="18" charset="-120"/>
              </a:rPr>
              <a:t>groupby</a:t>
            </a:r>
            <a:r>
              <a:rPr lang="en-US" altLang="zh-TW" sz="2600" dirty="0">
                <a:solidFill>
                  <a:srgbClr val="FF0000"/>
                </a:solidFill>
                <a:ea typeface="新細明體" panose="02020500000000000000" pitchFamily="18" charset="-120"/>
              </a:rPr>
              <a:t> attributes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BBFD7E1-42A2-46C8-A20A-B133975E2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178</a:t>
            </a:fld>
            <a:endParaRPr lang="en-US" altLang="zh-TW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>
            <a:extLst>
              <a:ext uri="{FF2B5EF4-FFF2-40B4-BE49-F238E27FC236}">
                <a16:creationId xmlns:a16="http://schemas.microsoft.com/office/drawing/2014/main" id="{47DDD4EA-45B4-4AC5-93BF-6DD8DF2CF54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20</a:t>
            </a:r>
          </a:p>
        </p:txBody>
      </p:sp>
      <p:sp>
        <p:nvSpPr>
          <p:cNvPr id="133123" name="Text Box 3">
            <a:extLst>
              <a:ext uri="{FF2B5EF4-FFF2-40B4-BE49-F238E27FC236}">
                <a16:creationId xmlns:a16="http://schemas.microsoft.com/office/drawing/2014/main" id="{7FC7325B-BAFD-4129-B089-28E7E5DA6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Delete those professors </a:t>
            </a:r>
            <a:r>
              <a:rPr lang="en-US" altLang="zh-TW" sz="3200" dirty="0">
                <a:solidFill>
                  <a:srgbClr val="FF0000"/>
                </a:solidFill>
                <a:ea typeface="新細明體" panose="02020500000000000000" pitchFamily="18" charset="-120"/>
              </a:rPr>
              <a:t>who taught less than 3 courses.</a:t>
            </a:r>
          </a:p>
        </p:txBody>
      </p:sp>
      <p:pic>
        <p:nvPicPr>
          <p:cNvPr id="133124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EFB5CF91-8295-4A7D-B804-4600E166A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C97B68-2329-4AD3-BA9D-85505FED7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179</a:t>
            </a:fld>
            <a:endParaRPr lang="en-US" altLang="zh-TW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>
            <a:extLst>
              <a:ext uri="{FF2B5EF4-FFF2-40B4-BE49-F238E27FC236}">
                <a16:creationId xmlns:a16="http://schemas.microsoft.com/office/drawing/2014/main" id="{850B134C-8AA7-42E3-8F83-AC411C8527C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34147" name="Text Box 4">
            <a:extLst>
              <a:ext uri="{FF2B5EF4-FFF2-40B4-BE49-F238E27FC236}">
                <a16:creationId xmlns:a16="http://schemas.microsoft.com/office/drawing/2014/main" id="{ACF37B1A-46B8-4672-BB77-EE536F5ECD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7543800" cy="222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DELETE FROM Professor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IN(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endParaRPr lang="en-US" altLang="zh-TW" dirty="0">
              <a:solidFill>
                <a:srgbClr val="FF0000"/>
              </a:solidFill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FROM Taught</a:t>
            </a: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GROUP BY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endParaRPr lang="en-US" altLang="zh-TW" dirty="0">
              <a:solidFill>
                <a:srgbClr val="FF0000"/>
              </a:solidFill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HAVING COUNT(DISTINCT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) &lt; 3</a:t>
            </a:r>
          </a:p>
          <a:p>
            <a:r>
              <a:rPr lang="en-US" altLang="zh-TW" i="1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D2EEB90-F907-432B-8B8D-186E016CF1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0065846"/>
              </p:ext>
            </p:extLst>
          </p:nvPr>
        </p:nvGraphicFramePr>
        <p:xfrm>
          <a:off x="2438400" y="1600200"/>
          <a:ext cx="4435476" cy="2044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8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84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2623">
                <a:tc>
                  <a:txBody>
                    <a:bodyPr/>
                    <a:lstStyle/>
                    <a:p>
                      <a:r>
                        <a:rPr lang="en-US" sz="1800" b="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1111</a:t>
                      </a:r>
                    </a:p>
                  </a:txBody>
                  <a:tcPr marL="91453" marR="91453" marT="45730" marB="45730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CSC 6710</a:t>
                      </a:r>
                    </a:p>
                  </a:txBody>
                  <a:tcPr marL="91453" marR="91453" marT="45730" marB="45730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Fall 2011</a:t>
                      </a:r>
                    </a:p>
                  </a:txBody>
                  <a:tcPr marL="91453" marR="91453" marT="45730" marB="45730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752">
                <a:tc>
                  <a:txBody>
                    <a:bodyPr/>
                    <a:lstStyle/>
                    <a:p>
                      <a:r>
                        <a:rPr lang="en-US" sz="18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1111</a:t>
                      </a:r>
                    </a:p>
                  </a:txBody>
                  <a:tcPr marL="91453" marR="91453" marT="45730" marB="45730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CSC 4710</a:t>
                      </a:r>
                    </a:p>
                  </a:txBody>
                  <a:tcPr marL="91453" marR="91453" marT="45730" marB="45730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Winter 2011</a:t>
                      </a:r>
                    </a:p>
                  </a:txBody>
                  <a:tcPr marL="91453" marR="91453" marT="45730" marB="45730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79">
                <a:tc>
                  <a:txBody>
                    <a:bodyPr/>
                    <a:lstStyle/>
                    <a:p>
                      <a:r>
                        <a:rPr lang="en-US" sz="1800" dirty="0"/>
                        <a:t>2222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CSC 7710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Fall 2012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623">
                <a:tc>
                  <a:txBody>
                    <a:bodyPr/>
                    <a:lstStyle/>
                    <a:p>
                      <a:r>
                        <a:rPr lang="en-US" sz="1800" dirty="0"/>
                        <a:t>2222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CSC 2110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Fall 2013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623">
                <a:tc>
                  <a:txBody>
                    <a:bodyPr/>
                    <a:lstStyle/>
                    <a:p>
                      <a:r>
                        <a:rPr lang="en-US" sz="1800" dirty="0"/>
                        <a:t>2222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CSC 8710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Winter 2012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174" name="Oval Callout 6">
            <a:extLst>
              <a:ext uri="{FF2B5EF4-FFF2-40B4-BE49-F238E27FC236}">
                <a16:creationId xmlns:a16="http://schemas.microsoft.com/office/drawing/2014/main" id="{95208FAE-B958-4948-9724-9249686BAB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0" y="3810000"/>
            <a:ext cx="3429000" cy="685800"/>
          </a:xfrm>
          <a:prstGeom prst="wedgeEllipseCallout">
            <a:avLst>
              <a:gd name="adj1" fmla="val -115685"/>
              <a:gd name="adj2" fmla="val 138449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For each professor </a:t>
            </a:r>
          </a:p>
        </p:txBody>
      </p:sp>
      <p:pic>
        <p:nvPicPr>
          <p:cNvPr id="134175" name="图片 7" descr="equipmentprotection3.png">
            <a:extLst>
              <a:ext uri="{FF2B5EF4-FFF2-40B4-BE49-F238E27FC236}">
                <a16:creationId xmlns:a16="http://schemas.microsoft.com/office/drawing/2014/main" id="{5BCA5FA4-71E6-4E2C-A031-EC59F3E130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5943600"/>
            <a:ext cx="9144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4176" name="TextBox 8">
            <a:extLst>
              <a:ext uri="{FF2B5EF4-FFF2-40B4-BE49-F238E27FC236}">
                <a16:creationId xmlns:a16="http://schemas.microsoft.com/office/drawing/2014/main" id="{B80ABC4B-FCD7-4962-8B8C-0EC51F5181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8000" y="6365875"/>
            <a:ext cx="5257800" cy="492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ea typeface="新細明體" panose="02020500000000000000" pitchFamily="18" charset="-120"/>
              </a:rPr>
              <a:t>Is it a correct solution?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266B8-B1FC-4B77-8DB6-99C3F9D1B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180</a:t>
            </a:fld>
            <a:endParaRPr lang="en-US" altLang="zh-TW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2">
            <a:extLst>
              <a:ext uri="{FF2B5EF4-FFF2-40B4-BE49-F238E27FC236}">
                <a16:creationId xmlns:a16="http://schemas.microsoft.com/office/drawing/2014/main" id="{2D3E7586-28F5-41D6-AA4A-5557C99736F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35171" name="Text Box 4">
            <a:extLst>
              <a:ext uri="{FF2B5EF4-FFF2-40B4-BE49-F238E27FC236}">
                <a16:creationId xmlns:a16="http://schemas.microsoft.com/office/drawing/2014/main" id="{435156CA-EA3A-4B5E-B4ED-09B22DD94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7543800" cy="222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DELETE FROM Professor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NOT IN(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FROM Taught</a:t>
            </a: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GROUP BY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HAVING COUNT(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) &gt;= 3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sp>
        <p:nvSpPr>
          <p:cNvPr id="135172" name="Oval Callout 6">
            <a:extLst>
              <a:ext uri="{FF2B5EF4-FFF2-40B4-BE49-F238E27FC236}">
                <a16:creationId xmlns:a16="http://schemas.microsoft.com/office/drawing/2014/main" id="{335C9B53-3832-409B-A3DC-DD60C80281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0" y="3810000"/>
            <a:ext cx="3429000" cy="685800"/>
          </a:xfrm>
          <a:prstGeom prst="wedgeEllipseCallout">
            <a:avLst>
              <a:gd name="adj1" fmla="val -115685"/>
              <a:gd name="adj2" fmla="val 138449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For each professor </a:t>
            </a:r>
          </a:p>
        </p:txBody>
      </p:sp>
      <p:pic>
        <p:nvPicPr>
          <p:cNvPr id="135173" name="图片 7" descr="equipmentprotection3.png">
            <a:extLst>
              <a:ext uri="{FF2B5EF4-FFF2-40B4-BE49-F238E27FC236}">
                <a16:creationId xmlns:a16="http://schemas.microsoft.com/office/drawing/2014/main" id="{E2351FC9-D938-4AC1-BF34-5176DA6F9F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7400" y="5943600"/>
            <a:ext cx="9144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5174" name="TextBox 8">
            <a:extLst>
              <a:ext uri="{FF2B5EF4-FFF2-40B4-BE49-F238E27FC236}">
                <a16:creationId xmlns:a16="http://schemas.microsoft.com/office/drawing/2014/main" id="{D1AC4D8A-4955-4C88-8FC7-FCA8465F08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8000" y="6365875"/>
            <a:ext cx="5257800" cy="492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ea typeface="新細明體" panose="02020500000000000000" pitchFamily="18" charset="-120"/>
              </a:rPr>
              <a:t>Is it a correct solution?</a:t>
            </a:r>
          </a:p>
        </p:txBody>
      </p:sp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E88A297E-DB13-40FB-AB64-00DE30B1A8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1419036"/>
              </p:ext>
            </p:extLst>
          </p:nvPr>
        </p:nvGraphicFramePr>
        <p:xfrm>
          <a:off x="2438400" y="1600200"/>
          <a:ext cx="4435476" cy="2044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8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84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2623">
                <a:tc>
                  <a:txBody>
                    <a:bodyPr/>
                    <a:lstStyle/>
                    <a:p>
                      <a:r>
                        <a:rPr lang="en-US" sz="1800" b="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1111</a:t>
                      </a:r>
                    </a:p>
                  </a:txBody>
                  <a:tcPr marL="91453" marR="91453" marT="45730" marB="45730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CSC 6710</a:t>
                      </a:r>
                    </a:p>
                  </a:txBody>
                  <a:tcPr marL="91453" marR="91453" marT="45730" marB="45730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Fall 2011</a:t>
                      </a:r>
                    </a:p>
                  </a:txBody>
                  <a:tcPr marL="91453" marR="91453" marT="45730" marB="45730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752">
                <a:tc>
                  <a:txBody>
                    <a:bodyPr/>
                    <a:lstStyle/>
                    <a:p>
                      <a:r>
                        <a:rPr lang="en-US" sz="18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1111</a:t>
                      </a:r>
                    </a:p>
                  </a:txBody>
                  <a:tcPr marL="91453" marR="91453" marT="45730" marB="45730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CSC 4710</a:t>
                      </a:r>
                    </a:p>
                  </a:txBody>
                  <a:tcPr marL="91453" marR="91453" marT="45730" marB="45730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Winter 2011</a:t>
                      </a:r>
                    </a:p>
                  </a:txBody>
                  <a:tcPr marL="91453" marR="91453" marT="45730" marB="45730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79">
                <a:tc>
                  <a:txBody>
                    <a:bodyPr/>
                    <a:lstStyle/>
                    <a:p>
                      <a:r>
                        <a:rPr lang="en-US" sz="1800" dirty="0"/>
                        <a:t>2222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CSC 7710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Fall 2012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623">
                <a:tc>
                  <a:txBody>
                    <a:bodyPr/>
                    <a:lstStyle/>
                    <a:p>
                      <a:r>
                        <a:rPr lang="en-US" sz="1800" dirty="0"/>
                        <a:t>2222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CSC 2110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Fall 2013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623">
                <a:tc>
                  <a:txBody>
                    <a:bodyPr/>
                    <a:lstStyle/>
                    <a:p>
                      <a:r>
                        <a:rPr lang="en-US" sz="1800" dirty="0"/>
                        <a:t>2222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CSC 8710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Winter 2012</a:t>
                      </a:r>
                    </a:p>
                  </a:txBody>
                  <a:tcPr marL="91453" marR="91453" marT="45730" marB="45730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4F46F9-266B-46E3-831F-EEBCE74DF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181</a:t>
            </a:fld>
            <a:endParaRPr lang="en-US" altLang="zh-TW"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Rectangle 2">
            <a:extLst>
              <a:ext uri="{FF2B5EF4-FFF2-40B4-BE49-F238E27FC236}">
                <a16:creationId xmlns:a16="http://schemas.microsoft.com/office/drawing/2014/main" id="{159B3E7D-961B-4246-9A43-4403D8701FA6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21</a:t>
            </a:r>
          </a:p>
        </p:txBody>
      </p:sp>
      <p:sp>
        <p:nvSpPr>
          <p:cNvPr id="136195" name="Text Box 3">
            <a:extLst>
              <a:ext uri="{FF2B5EF4-FFF2-40B4-BE49-F238E27FC236}">
                <a16:creationId xmlns:a16="http://schemas.microsoft.com/office/drawing/2014/main" id="{898FCE3D-DC96-40AD-B638-6F4948638F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Delete those </a:t>
            </a:r>
            <a:r>
              <a:rPr lang="en-US" altLang="zh-TW" sz="3200" dirty="0">
                <a:solidFill>
                  <a:srgbClr val="FF0000"/>
                </a:solidFill>
                <a:ea typeface="新細明體" panose="02020500000000000000" pitchFamily="18" charset="-120"/>
              </a:rPr>
              <a:t>professors who taught less than 5 credits.</a:t>
            </a:r>
          </a:p>
        </p:txBody>
      </p:sp>
      <p:pic>
        <p:nvPicPr>
          <p:cNvPr id="136196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B5E485D3-062A-4730-A3F0-19F421480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39EDF7-D3A2-4EE7-ADA1-D69F4922E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182</a:t>
            </a:fld>
            <a:endParaRPr lang="en-US" altLang="zh-TW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Rectangle 2">
            <a:extLst>
              <a:ext uri="{FF2B5EF4-FFF2-40B4-BE49-F238E27FC236}">
                <a16:creationId xmlns:a16="http://schemas.microsoft.com/office/drawing/2014/main" id="{739F15D8-26DB-4BB5-ABE1-13D34A00DBE5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37219" name="Text Box 4">
            <a:extLst>
              <a:ext uri="{FF2B5EF4-FFF2-40B4-BE49-F238E27FC236}">
                <a16:creationId xmlns:a16="http://schemas.microsoft.com/office/drawing/2014/main" id="{98F23AF1-27AA-4A78-A6A7-8AF78658D0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253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DELETE FROM Professor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IN(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FROM Taught T, Course C</a:t>
            </a: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WHERE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C.crscode</a:t>
            </a: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GROUP BY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endParaRPr lang="en-US" altLang="zh-TW" dirty="0">
              <a:solidFill>
                <a:srgbClr val="FF0000"/>
              </a:solidFill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HAVING SUM(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C.credit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) &lt; 5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pic>
        <p:nvPicPr>
          <p:cNvPr id="137220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A72DC8DC-234E-4860-BDF4-2964E2E0E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7221" name="图片 4" descr="equipmentprotection3.png">
            <a:extLst>
              <a:ext uri="{FF2B5EF4-FFF2-40B4-BE49-F238E27FC236}">
                <a16:creationId xmlns:a16="http://schemas.microsoft.com/office/drawing/2014/main" id="{9F064808-B3F6-46F3-9DEF-AE93DC48C0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7400" y="5943600"/>
            <a:ext cx="9144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7222" name="TextBox 5">
            <a:extLst>
              <a:ext uri="{FF2B5EF4-FFF2-40B4-BE49-F238E27FC236}">
                <a16:creationId xmlns:a16="http://schemas.microsoft.com/office/drawing/2014/main" id="{BBF96B40-5D71-4235-A2C7-74B9CCFD3E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1800" y="6365875"/>
            <a:ext cx="5257800" cy="492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ea typeface="新細明體" panose="02020500000000000000" pitchFamily="18" charset="-120"/>
              </a:rPr>
              <a:t>Is it a correct solution?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F000244-B7CD-46C1-AA90-C24B873CF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183</a:t>
            </a:fld>
            <a:endParaRPr lang="en-US" altLang="zh-TW"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2">
            <a:extLst>
              <a:ext uri="{FF2B5EF4-FFF2-40B4-BE49-F238E27FC236}">
                <a16:creationId xmlns:a16="http://schemas.microsoft.com/office/drawing/2014/main" id="{95BEAE48-421A-479E-9304-44365F8EDF1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38243" name="Text Box 4">
            <a:extLst>
              <a:ext uri="{FF2B5EF4-FFF2-40B4-BE49-F238E27FC236}">
                <a16:creationId xmlns:a16="http://schemas.microsoft.com/office/drawing/2014/main" id="{3565D951-C535-48DE-8A07-B503435B8B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253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DELETE FROM Professor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NOT IN(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FROM Taught T, Course C</a:t>
            </a: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WHERE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C.crscode</a:t>
            </a: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GROUP BY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HAVING SUM(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C.credit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) &gt;= 5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pic>
        <p:nvPicPr>
          <p:cNvPr id="138244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967F35B8-3769-4448-92D3-C50D445DE1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F15A7C-0F17-43B5-BDBE-886489F9E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184</a:t>
            </a:fld>
            <a:endParaRPr lang="en-US" altLang="zh-TW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Rectangle 2">
            <a:extLst>
              <a:ext uri="{FF2B5EF4-FFF2-40B4-BE49-F238E27FC236}">
                <a16:creationId xmlns:a16="http://schemas.microsoft.com/office/drawing/2014/main" id="{81872656-37F7-4C1A-91DB-457041F1546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22</a:t>
            </a:r>
          </a:p>
        </p:txBody>
      </p:sp>
      <p:sp>
        <p:nvSpPr>
          <p:cNvPr id="139267" name="Text Box 3">
            <a:extLst>
              <a:ext uri="{FF2B5EF4-FFF2-40B4-BE49-F238E27FC236}">
                <a16:creationId xmlns:a16="http://schemas.microsoft.com/office/drawing/2014/main" id="{3A55E679-F7A9-45C8-AD0F-26E4BAF2D7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List those professors who have </a:t>
            </a:r>
            <a:r>
              <a:rPr lang="en-US" altLang="zh-TW" sz="3200" dirty="0">
                <a:solidFill>
                  <a:srgbClr val="FF0000"/>
                </a:solidFill>
                <a:ea typeface="新細明體" panose="02020500000000000000" pitchFamily="18" charset="-120"/>
              </a:rPr>
              <a:t>not</a:t>
            </a:r>
            <a:r>
              <a:rPr lang="en-US" altLang="zh-TW" sz="3200" dirty="0">
                <a:ea typeface="新細明體" panose="02020500000000000000" pitchFamily="18" charset="-120"/>
              </a:rPr>
              <a:t> taught any course in the past three semesters (F2006, W2007, F2007).</a:t>
            </a:r>
          </a:p>
        </p:txBody>
      </p:sp>
      <p:pic>
        <p:nvPicPr>
          <p:cNvPr id="139268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2B9D0FC2-CF2D-48AA-9FBE-D699F9899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CEEE13-E680-4C93-BE5D-D33233702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185</a:t>
            </a:fld>
            <a:endParaRPr lang="en-US" altLang="zh-TW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Rectangle 2">
            <a:extLst>
              <a:ext uri="{FF2B5EF4-FFF2-40B4-BE49-F238E27FC236}">
                <a16:creationId xmlns:a16="http://schemas.microsoft.com/office/drawing/2014/main" id="{81872656-37F7-4C1A-91DB-457041F1546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22</a:t>
            </a:r>
          </a:p>
        </p:txBody>
      </p:sp>
      <p:sp>
        <p:nvSpPr>
          <p:cNvPr id="139267" name="Text Box 3">
            <a:extLst>
              <a:ext uri="{FF2B5EF4-FFF2-40B4-BE49-F238E27FC236}">
                <a16:creationId xmlns:a16="http://schemas.microsoft.com/office/drawing/2014/main" id="{3A55E679-F7A9-45C8-AD0F-26E4BAF2D7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2462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2800" dirty="0">
                <a:ea typeface="新細明體" panose="02020500000000000000" pitchFamily="18" charset="-120"/>
              </a:rPr>
              <a:t>INSERT INTO taught	</a:t>
            </a:r>
          </a:p>
          <a:p>
            <a:pPr>
              <a:spcBef>
                <a:spcPct val="50000"/>
              </a:spcBef>
            </a:pPr>
            <a:r>
              <a:rPr lang="en-US" altLang="zh-TW" sz="2800" dirty="0">
                <a:ea typeface="新細明體" panose="02020500000000000000" pitchFamily="18" charset="-120"/>
              </a:rPr>
              <a:t>	VALUES('CSC6710', 20062, 1111), 	</a:t>
            </a:r>
          </a:p>
          <a:p>
            <a:pPr>
              <a:spcBef>
                <a:spcPct val="50000"/>
              </a:spcBef>
            </a:pPr>
            <a:r>
              <a:rPr lang="en-US" altLang="zh-TW" sz="2800" dirty="0">
                <a:ea typeface="新細明體" panose="02020500000000000000" pitchFamily="18" charset="-120"/>
              </a:rPr>
              <a:t>	('CSC4710', 20070, 2222),	</a:t>
            </a:r>
          </a:p>
          <a:p>
            <a:pPr>
              <a:spcBef>
                <a:spcPct val="50000"/>
              </a:spcBef>
            </a:pPr>
            <a:r>
              <a:rPr lang="en-US" altLang="zh-TW" sz="2800" dirty="0">
                <a:ea typeface="新細明體" panose="02020500000000000000" pitchFamily="18" charset="-120"/>
              </a:rPr>
              <a:t>        ('CSC6710', 20072, 5555);</a:t>
            </a:r>
          </a:p>
        </p:txBody>
      </p:sp>
      <p:pic>
        <p:nvPicPr>
          <p:cNvPr id="139268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2B9D0FC2-CF2D-48AA-9FBE-D699F9899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CEEE13-E680-4C93-BE5D-D33233702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186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2434052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Rectangle 2">
            <a:extLst>
              <a:ext uri="{FF2B5EF4-FFF2-40B4-BE49-F238E27FC236}">
                <a16:creationId xmlns:a16="http://schemas.microsoft.com/office/drawing/2014/main" id="{81872656-37F7-4C1A-91DB-457041F1546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 Meaning of IN</a:t>
            </a:r>
          </a:p>
        </p:txBody>
      </p:sp>
      <p:sp>
        <p:nvSpPr>
          <p:cNvPr id="139267" name="Text Box 3">
            <a:extLst>
              <a:ext uri="{FF2B5EF4-FFF2-40B4-BE49-F238E27FC236}">
                <a16:creationId xmlns:a16="http://schemas.microsoft.com/office/drawing/2014/main" id="{3A55E679-F7A9-45C8-AD0F-26E4BAF2D7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6335" y="1933575"/>
            <a:ext cx="670560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 err="1">
                <a:ea typeface="新細明體" panose="02020500000000000000" pitchFamily="18" charset="-120"/>
              </a:rPr>
              <a:t>T.semester</a:t>
            </a:r>
            <a:r>
              <a:rPr lang="en-US" altLang="zh-TW" sz="3200" dirty="0">
                <a:ea typeface="新細明體" panose="02020500000000000000" pitchFamily="18" charset="-120"/>
              </a:rPr>
              <a:t> IN (20062, 20070, 20072) means </a:t>
            </a:r>
          </a:p>
          <a:p>
            <a:pPr>
              <a:spcBef>
                <a:spcPct val="50000"/>
              </a:spcBef>
            </a:pPr>
            <a:r>
              <a:rPr lang="en-US" altLang="zh-TW" sz="3200" dirty="0" err="1">
                <a:ea typeface="新細明體" panose="02020500000000000000" pitchFamily="18" charset="-120"/>
              </a:rPr>
              <a:t>T.semester</a:t>
            </a:r>
            <a:r>
              <a:rPr lang="en-US" altLang="zh-TW" sz="3200" dirty="0">
                <a:ea typeface="新細明體" panose="02020500000000000000" pitchFamily="18" charset="-120"/>
              </a:rPr>
              <a:t> = 20062 OR </a:t>
            </a:r>
            <a:r>
              <a:rPr lang="en-US" altLang="zh-TW" sz="3200" dirty="0" err="1">
                <a:ea typeface="新細明體" panose="02020500000000000000" pitchFamily="18" charset="-120"/>
              </a:rPr>
              <a:t>T.semester</a:t>
            </a:r>
            <a:r>
              <a:rPr lang="en-US" altLang="zh-TW" sz="3200" dirty="0">
                <a:ea typeface="新細明體" panose="02020500000000000000" pitchFamily="18" charset="-120"/>
              </a:rPr>
              <a:t> = 20070 OR </a:t>
            </a:r>
            <a:r>
              <a:rPr lang="en-US" altLang="zh-TW" sz="3200" dirty="0" err="1">
                <a:ea typeface="新細明體" panose="02020500000000000000" pitchFamily="18" charset="-120"/>
              </a:rPr>
              <a:t>T.semester</a:t>
            </a:r>
            <a:r>
              <a:rPr lang="en-US" altLang="zh-TW" sz="3200" dirty="0">
                <a:ea typeface="新細明體" panose="02020500000000000000" pitchFamily="18" charset="-120"/>
              </a:rPr>
              <a:t>=20072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CEEE13-E680-4C93-BE5D-D33233702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187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89476277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Rectangle 2">
            <a:extLst>
              <a:ext uri="{FF2B5EF4-FFF2-40B4-BE49-F238E27FC236}">
                <a16:creationId xmlns:a16="http://schemas.microsoft.com/office/drawing/2014/main" id="{9DB236B2-0F9B-4F59-B773-A1EC6CCBB45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 1</a:t>
            </a:r>
          </a:p>
        </p:txBody>
      </p:sp>
      <p:sp>
        <p:nvSpPr>
          <p:cNvPr id="140291" name="Text Box 4">
            <a:extLst>
              <a:ext uri="{FF2B5EF4-FFF2-40B4-BE49-F238E27FC236}">
                <a16:creationId xmlns:a16="http://schemas.microsoft.com/office/drawing/2014/main" id="{1398379E-A59C-476C-897D-01BC8B284F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253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*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Professor P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NOT IN(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endParaRPr lang="en-US" altLang="zh-TW" dirty="0">
              <a:solidFill>
                <a:srgbClr val="FF0000"/>
              </a:solidFill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FROM Taught T</a:t>
            </a: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WHERE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T.semester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= 20062 OR </a:t>
            </a: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T.semester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= 20070 OR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T.semester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=20072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pic>
        <p:nvPicPr>
          <p:cNvPr id="140292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7B4B1C82-CDA8-43F1-931A-39CCD04ED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8580C699-C1FA-402E-B6C0-A9D649131D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0584" y="5882144"/>
            <a:ext cx="5257800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solidFill>
                  <a:srgbClr val="FF0000"/>
                </a:solidFill>
                <a:ea typeface="新細明體" panose="02020500000000000000" pitchFamily="18" charset="-120"/>
              </a:rPr>
              <a:t>The IN Pattern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FB7D64-5AE9-4B91-82E9-D4C29F5BD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188</a:t>
            </a:fld>
            <a:endParaRPr lang="en-US" altLang="zh-TW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Rectangle 2">
            <a:extLst>
              <a:ext uri="{FF2B5EF4-FFF2-40B4-BE49-F238E27FC236}">
                <a16:creationId xmlns:a16="http://schemas.microsoft.com/office/drawing/2014/main" id="{9DB236B2-0F9B-4F59-B773-A1EC6CCBB45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 2</a:t>
            </a:r>
          </a:p>
        </p:txBody>
      </p:sp>
      <p:sp>
        <p:nvSpPr>
          <p:cNvPr id="140291" name="Text Box 4">
            <a:extLst>
              <a:ext uri="{FF2B5EF4-FFF2-40B4-BE49-F238E27FC236}">
                <a16:creationId xmlns:a16="http://schemas.microsoft.com/office/drawing/2014/main" id="{1398379E-A59C-476C-897D-01BC8B284F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31700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*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Professor P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IN(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FROM Professor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EXCEPT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ssn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FROM Taught T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T.semester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20062 OR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T.semester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20070 OR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T.semester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=20072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pic>
        <p:nvPicPr>
          <p:cNvPr id="140292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7B4B1C82-CDA8-43F1-931A-39CCD04ED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16559C15-AE2C-4D88-81B4-8A39E8947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23930" y="6248400"/>
            <a:ext cx="5257800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solidFill>
                  <a:srgbClr val="FF0000"/>
                </a:solidFill>
                <a:ea typeface="新細明體" panose="02020500000000000000" pitchFamily="18" charset="-120"/>
              </a:rPr>
              <a:t>The Negation Pattern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688ACE-19C5-496B-B0CA-E30DC389B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189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37889283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Rectangle 2">
            <a:extLst>
              <a:ext uri="{FF2B5EF4-FFF2-40B4-BE49-F238E27FC236}">
                <a16:creationId xmlns:a16="http://schemas.microsoft.com/office/drawing/2014/main" id="{9DB236B2-0F9B-4F59-B773-A1EC6CCBB45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 3</a:t>
            </a:r>
          </a:p>
        </p:txBody>
      </p:sp>
      <p:sp>
        <p:nvSpPr>
          <p:cNvPr id="140291" name="Text Box 4">
            <a:extLst>
              <a:ext uri="{FF2B5EF4-FFF2-40B4-BE49-F238E27FC236}">
                <a16:creationId xmlns:a16="http://schemas.microsoft.com/office/drawing/2014/main" id="{1398379E-A59C-476C-897D-01BC8B284F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482976"/>
            <a:ext cx="7543800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*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Professor 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P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no witness will say P teaches a course in one of the three semesters</a:t>
            </a:r>
          </a:p>
        </p:txBody>
      </p:sp>
      <p:pic>
        <p:nvPicPr>
          <p:cNvPr id="140292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7B4B1C82-CDA8-43F1-931A-39CCD04ED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B0DBE361-4FD9-4A26-8F26-002FD9B239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25428" y="6248400"/>
            <a:ext cx="5257800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solidFill>
                  <a:srgbClr val="FF0000"/>
                </a:solidFill>
                <a:ea typeface="新細明體" panose="02020500000000000000" pitchFamily="18" charset="-120"/>
              </a:rPr>
              <a:t>The no-witness pattern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3D16A81-C7BD-4782-A67C-5F5F8CEF3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190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99238144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35F09-D206-F852-7654-5DAD7D85B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Rectangle 2">
            <a:extLst>
              <a:ext uri="{FF2B5EF4-FFF2-40B4-BE49-F238E27FC236}">
                <a16:creationId xmlns:a16="http://schemas.microsoft.com/office/drawing/2014/main" id="{BD810F2D-1C6E-A412-4028-C0F11379D48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 3</a:t>
            </a:r>
          </a:p>
        </p:txBody>
      </p:sp>
      <p:sp>
        <p:nvSpPr>
          <p:cNvPr id="140291" name="Text Box 4">
            <a:extLst>
              <a:ext uri="{FF2B5EF4-FFF2-40B4-BE49-F238E27FC236}">
                <a16:creationId xmlns:a16="http://schemas.microsoft.com/office/drawing/2014/main" id="{6CBD2319-2A6A-82B7-9AA9-D77033F57D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482976"/>
            <a:ext cx="7543800" cy="2862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*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Professor 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P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NOT EXISTS(   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SELECT *   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FROM Taught T   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AND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(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T.semester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20062 OR    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T.semester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20070 OR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T.semester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=</a:t>
            </a:r>
            <a:r>
              <a:rPr lang="en-US" altLang="zh-TW">
                <a:latin typeface="Century Gothic" panose="020B0502020202020204" pitchFamily="34" charset="0"/>
                <a:ea typeface="新細明體" panose="02020500000000000000" pitchFamily="18" charset="-120"/>
              </a:rPr>
              <a:t>20072)</a:t>
            </a:r>
            <a:br>
              <a:rPr lang="en-US" altLang="zh-TW">
                <a:latin typeface="Century Gothic" panose="020B0502020202020204" pitchFamily="34" charset="0"/>
                <a:ea typeface="新細明體" panose="02020500000000000000" pitchFamily="18" charset="-120"/>
              </a:rPr>
            </a:br>
            <a:r>
              <a:rPr lang="en-US" altLang="zh-TW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140292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6E369947-1167-187A-71DD-BBF46E8C51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E360EB5E-38EA-65BE-B2B3-FD94207422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25428" y="6248400"/>
            <a:ext cx="5257800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solidFill>
                  <a:srgbClr val="FF0000"/>
                </a:solidFill>
                <a:ea typeface="新細明體" panose="02020500000000000000" pitchFamily="18" charset="-120"/>
              </a:rPr>
              <a:t>The no-witness pattern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E09132C-09FA-F655-1EC3-E2C68B5F7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191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7528921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Rectangle 2">
            <a:extLst>
              <a:ext uri="{FF2B5EF4-FFF2-40B4-BE49-F238E27FC236}">
                <a16:creationId xmlns:a16="http://schemas.microsoft.com/office/drawing/2014/main" id="{9DB236B2-0F9B-4F59-B773-A1EC6CCBB45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Meaning of NOT EXISTS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3D16A81-C7BD-4782-A67C-5F5F8CEF3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192</a:t>
            </a:fld>
            <a:endParaRPr lang="en-US" altLang="zh-TW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1722CF-9E8D-EAC5-86BC-507894AD78EC}"/>
              </a:ext>
            </a:extLst>
          </p:cNvPr>
          <p:cNvSpPr txBox="1"/>
          <p:nvPr/>
        </p:nvSpPr>
        <p:spPr>
          <a:xfrm>
            <a:off x="1537335" y="2097405"/>
            <a:ext cx="5755005" cy="2431435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NOT EXISTS([]) TRUE</a:t>
            </a:r>
          </a:p>
          <a:p>
            <a:pPr algn="ctr"/>
            <a:r>
              <a:rPr lang="en-US" sz="2800" dirty="0"/>
              <a:t>NOT EXISTS([1111, 2222] FALSE</a:t>
            </a:r>
          </a:p>
          <a:p>
            <a:pPr algn="ctr"/>
            <a:r>
              <a:rPr lang="en-US" sz="2800" dirty="0"/>
              <a:t>EXISTS([]) FALSE</a:t>
            </a:r>
          </a:p>
          <a:p>
            <a:pPr algn="ctr"/>
            <a:r>
              <a:rPr lang="en-US" sz="2800" dirty="0"/>
              <a:t>EXISTS ([1111, 2222] TRUE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062378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Rectangle 2">
            <a:extLst>
              <a:ext uri="{FF2B5EF4-FFF2-40B4-BE49-F238E27FC236}">
                <a16:creationId xmlns:a16="http://schemas.microsoft.com/office/drawing/2014/main" id="{703D788A-DA49-4689-B7C4-21EA306C95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 4</a:t>
            </a:r>
          </a:p>
        </p:txBody>
      </p:sp>
      <p:sp>
        <p:nvSpPr>
          <p:cNvPr id="141315" name="Text Box 4">
            <a:extLst>
              <a:ext uri="{FF2B5EF4-FFF2-40B4-BE49-F238E27FC236}">
                <a16:creationId xmlns:a16="http://schemas.microsoft.com/office/drawing/2014/main" id="{660492A9-8BF5-4A84-B743-1FB0A0F8B5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253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*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Professor P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NOT EXISTS(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SELECT *      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FROM Taught T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AND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T.semester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IN (20062, 20070, 20072)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pic>
        <p:nvPicPr>
          <p:cNvPr id="141316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B9D0A246-A5B9-4D9A-92B7-E7CA6E89D6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DD299D9-0CC8-449E-8150-640E3ABC51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7906" y="5789453"/>
            <a:ext cx="5257800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solidFill>
                  <a:srgbClr val="FF0000"/>
                </a:solidFill>
                <a:ea typeface="新細明體" panose="02020500000000000000" pitchFamily="18" charset="-120"/>
              </a:rPr>
              <a:t>The no-witness pattern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39A305-4633-42A4-A6A4-BFC00B96F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193</a:t>
            </a:fld>
            <a:endParaRPr lang="en-US" altLang="zh-TW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>
            <a:extLst>
              <a:ext uri="{FF2B5EF4-FFF2-40B4-BE49-F238E27FC236}">
                <a16:creationId xmlns:a16="http://schemas.microsoft.com/office/drawing/2014/main" id="{A23EE165-5685-4021-993D-7749A9FD4646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23</a:t>
            </a:r>
          </a:p>
        </p:txBody>
      </p:sp>
      <p:sp>
        <p:nvSpPr>
          <p:cNvPr id="142339" name="Text Box 3">
            <a:extLst>
              <a:ext uri="{FF2B5EF4-FFF2-40B4-BE49-F238E27FC236}">
                <a16:creationId xmlns:a16="http://schemas.microsoft.com/office/drawing/2014/main" id="{F992D937-DE94-4EEC-A913-B11FE77013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List the names of those courses that professor Smith have </a:t>
            </a:r>
            <a:r>
              <a:rPr lang="en-US" altLang="zh-TW" sz="3200" dirty="0">
                <a:solidFill>
                  <a:srgbClr val="FF0000"/>
                </a:solidFill>
                <a:ea typeface="新細明體" panose="02020500000000000000" pitchFamily="18" charset="-120"/>
              </a:rPr>
              <a:t>never</a:t>
            </a:r>
            <a:r>
              <a:rPr lang="en-US" altLang="zh-TW" sz="3200" dirty="0">
                <a:ea typeface="新細明體" panose="02020500000000000000" pitchFamily="18" charset="-120"/>
              </a:rPr>
              <a:t> taught.</a:t>
            </a:r>
          </a:p>
        </p:txBody>
      </p:sp>
      <p:pic>
        <p:nvPicPr>
          <p:cNvPr id="142340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E2C879FF-0775-46A3-B325-132FF95FF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89BA25-CEB5-4904-ABE8-5F90162CC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194</a:t>
            </a:fld>
            <a:endParaRPr lang="en-US" altLang="zh-TW"/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>
            <a:extLst>
              <a:ext uri="{FF2B5EF4-FFF2-40B4-BE49-F238E27FC236}">
                <a16:creationId xmlns:a16="http://schemas.microsoft.com/office/drawing/2014/main" id="{86CDA88D-49BB-496D-9FC5-02A8B6E5A78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 1</a:t>
            </a:r>
          </a:p>
        </p:txBody>
      </p:sp>
      <p:sp>
        <p:nvSpPr>
          <p:cNvPr id="144387" name="Text Box 4">
            <a:extLst>
              <a:ext uri="{FF2B5EF4-FFF2-40B4-BE49-F238E27FC236}">
                <a16:creationId xmlns:a16="http://schemas.microsoft.com/office/drawing/2014/main" id="{EECDDCA5-5ACC-40A8-A4A3-33DFE1634E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crsname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Course C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C.crscode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NOT IN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(SELECT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FROM Professor P, Taught T   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P.profname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='Smith' AND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pic>
        <p:nvPicPr>
          <p:cNvPr id="144388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6CFBAFC5-2443-4407-917E-50D9AA5791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8AB678E4-ADB7-4DE8-9322-AA73412626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0584" y="5882144"/>
            <a:ext cx="5257800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solidFill>
                  <a:srgbClr val="FF0000"/>
                </a:solidFill>
                <a:ea typeface="新細明體" panose="02020500000000000000" pitchFamily="18" charset="-120"/>
              </a:rPr>
              <a:t>The NOT IN Pattern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24A812-D3E5-407B-9E17-4117D9E20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195</a:t>
            </a:fld>
            <a:endParaRPr lang="en-US" altLang="zh-TW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>
            <a:extLst>
              <a:ext uri="{FF2B5EF4-FFF2-40B4-BE49-F238E27FC236}">
                <a16:creationId xmlns:a16="http://schemas.microsoft.com/office/drawing/2014/main" id="{86CDA88D-49BB-496D-9FC5-02A8B6E5A78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 2</a:t>
            </a:r>
          </a:p>
        </p:txBody>
      </p:sp>
      <p:sp>
        <p:nvSpPr>
          <p:cNvPr id="144387" name="Text Box 4">
            <a:extLst>
              <a:ext uri="{FF2B5EF4-FFF2-40B4-BE49-F238E27FC236}">
                <a16:creationId xmlns:a16="http://schemas.microsoft.com/office/drawing/2014/main" id="{EECDDCA5-5ACC-40A8-A4A3-33DFE1634E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2862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crsname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Course C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C.crscode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IN 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FROM Course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EXCEPT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FROM Professor P, Taught T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P.profname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='Smith' AND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pic>
        <p:nvPicPr>
          <p:cNvPr id="144388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6CFBAFC5-2443-4407-917E-50D9AA5791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654E8434-604C-49BA-B940-04DCA17EF3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7319" y="6196461"/>
            <a:ext cx="5257800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solidFill>
                  <a:srgbClr val="FF0000"/>
                </a:solidFill>
                <a:ea typeface="新細明體" panose="02020500000000000000" pitchFamily="18" charset="-120"/>
              </a:rPr>
              <a:t>The Negation Pattern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26B638-3041-4739-96F3-143A61A38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196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46938807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>
            <a:extLst>
              <a:ext uri="{FF2B5EF4-FFF2-40B4-BE49-F238E27FC236}">
                <a16:creationId xmlns:a16="http://schemas.microsoft.com/office/drawing/2014/main" id="{86CDA88D-49BB-496D-9FC5-02A8B6E5A78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 2</a:t>
            </a:r>
          </a:p>
        </p:txBody>
      </p:sp>
      <p:sp>
        <p:nvSpPr>
          <p:cNvPr id="144387" name="Text Box 4">
            <a:extLst>
              <a:ext uri="{FF2B5EF4-FFF2-40B4-BE49-F238E27FC236}">
                <a16:creationId xmlns:a16="http://schemas.microsoft.com/office/drawing/2014/main" id="{EECDDCA5-5ACC-40A8-A4A3-33DFE1634E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599" y="2816578"/>
            <a:ext cx="7543800" cy="2862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>
                <a:latin typeface="Century Gothic" panose="020B0502020202020204" pitchFamily="34" charset="0"/>
                <a:ea typeface="新細明體" panose="02020500000000000000" pitchFamily="18" charset="-120"/>
              </a:rPr>
              <a:t>C.crsname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Course C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C.crscode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IN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(SELECT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FROM Course    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NOT IN   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(SELECT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FROM Professor P, Taught T   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P.profname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='Smith' AND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));</a:t>
            </a:r>
          </a:p>
        </p:txBody>
      </p:sp>
      <p:pic>
        <p:nvPicPr>
          <p:cNvPr id="144388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6CFBAFC5-2443-4407-917E-50D9AA5791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7612" y="1570743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654E8434-604C-49BA-B940-04DCA17EF3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2119" y="5890285"/>
            <a:ext cx="5257800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solidFill>
                  <a:srgbClr val="FF0000"/>
                </a:solidFill>
                <a:ea typeface="新細明體" panose="02020500000000000000" pitchFamily="18" charset="-120"/>
              </a:rPr>
              <a:t>The Negation Pattern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BB2798-C96D-4FE7-94D9-BBE377042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197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2741593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>
            <a:extLst>
              <a:ext uri="{FF2B5EF4-FFF2-40B4-BE49-F238E27FC236}">
                <a16:creationId xmlns:a16="http://schemas.microsoft.com/office/drawing/2014/main" id="{86CDA88D-49BB-496D-9FC5-02A8B6E5A78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 3</a:t>
            </a:r>
          </a:p>
        </p:txBody>
      </p:sp>
      <p:sp>
        <p:nvSpPr>
          <p:cNvPr id="144387" name="Text Box 4">
            <a:extLst>
              <a:ext uri="{FF2B5EF4-FFF2-40B4-BE49-F238E27FC236}">
                <a16:creationId xmlns:a16="http://schemas.microsoft.com/office/drawing/2014/main" id="{EECDDCA5-5ACC-40A8-A4A3-33DFE1634E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4576" y="3482976"/>
            <a:ext cx="8069424" cy="2554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crsname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Course </a:t>
            </a:r>
            <a:r>
              <a:rPr lang="en-US" altLang="zh-TW" dirty="0">
                <a:solidFill>
                  <a:srgbClr val="0070C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C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NOT EXISTS(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SELECT * </a:t>
            </a: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FROM Professor P, Taught T</a:t>
            </a:r>
          </a:p>
          <a:p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    WHERE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P.profname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='Smith' AND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AND      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C.crscode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pic>
        <p:nvPicPr>
          <p:cNvPr id="144388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6CFBAFC5-2443-4407-917E-50D9AA5791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33234A60-06F3-499F-9832-B6ED705BF8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1254" y="5919628"/>
            <a:ext cx="5257800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solidFill>
                  <a:srgbClr val="FF0000"/>
                </a:solidFill>
                <a:ea typeface="新細明體" panose="02020500000000000000" pitchFamily="18" charset="-120"/>
              </a:rPr>
              <a:t>The No-witness pattern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4EF3B43-9364-4CA6-B6D9-BF75F7B08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198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87740779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2">
            <a:extLst>
              <a:ext uri="{FF2B5EF4-FFF2-40B4-BE49-F238E27FC236}">
                <a16:creationId xmlns:a16="http://schemas.microsoft.com/office/drawing/2014/main" id="{DFB90443-6338-4352-85AA-82560678EDE5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24</a:t>
            </a:r>
          </a:p>
        </p:txBody>
      </p:sp>
      <p:sp>
        <p:nvSpPr>
          <p:cNvPr id="145411" name="Text Box 3">
            <a:extLst>
              <a:ext uri="{FF2B5EF4-FFF2-40B4-BE49-F238E27FC236}">
                <a16:creationId xmlns:a16="http://schemas.microsoft.com/office/drawing/2014/main" id="{3E5F2410-9B9D-4A1E-9ACD-E20A36B479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those professors that have taught all the courses (each course).</a:t>
            </a:r>
          </a:p>
        </p:txBody>
      </p:sp>
      <p:pic>
        <p:nvPicPr>
          <p:cNvPr id="145412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AF8F44C4-9462-4787-878D-9E0D7FDCB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FB7671-FE7D-44E6-BDA7-678320AD8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199</a:t>
            </a:fld>
            <a:endParaRPr lang="en-US" altLang="zh-TW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>
            <a:extLst>
              <a:ext uri="{FF2B5EF4-FFF2-40B4-BE49-F238E27FC236}">
                <a16:creationId xmlns:a16="http://schemas.microsoft.com/office/drawing/2014/main" id="{A5E7487E-318A-408A-86F3-11D0F34A7D0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Relational Algebra Solution</a:t>
            </a:r>
          </a:p>
        </p:txBody>
      </p:sp>
      <p:pic>
        <p:nvPicPr>
          <p:cNvPr id="146435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B57A9E39-A19F-4166-89E2-166467944E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6436" name="Text Box 11">
            <a:extLst>
              <a:ext uri="{FF2B5EF4-FFF2-40B4-BE49-F238E27FC236}">
                <a16:creationId xmlns:a16="http://schemas.microsoft.com/office/drawing/2014/main" id="{C757ED6B-BF04-444A-9AFE-7C08AFE361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3733800"/>
            <a:ext cx="72390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endParaRPr lang="zh-TW" altLang="zh-TW"/>
          </a:p>
        </p:txBody>
      </p:sp>
      <p:sp>
        <p:nvSpPr>
          <p:cNvPr id="146437" name="Text Box 12">
            <a:extLst>
              <a:ext uri="{FF2B5EF4-FFF2-40B4-BE49-F238E27FC236}">
                <a16:creationId xmlns:a16="http://schemas.microsoft.com/office/drawing/2014/main" id="{55F54888-2360-4021-91FD-85DB8D6D7F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810000"/>
            <a:ext cx="7315200" cy="579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, 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ssn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(Taught)/ 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(Course)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74B045B-F030-44CC-81E9-D64299E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200</a:t>
            </a:fld>
            <a:endParaRPr lang="en-US" altLang="zh-TW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Rectangle 2">
            <a:extLst>
              <a:ext uri="{FF2B5EF4-FFF2-40B4-BE49-F238E27FC236}">
                <a16:creationId xmlns:a16="http://schemas.microsoft.com/office/drawing/2014/main" id="{C4350441-1026-4647-A123-46C1F2046C2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</a:t>
            </a:r>
          </a:p>
        </p:txBody>
      </p:sp>
      <p:sp>
        <p:nvSpPr>
          <p:cNvPr id="147459" name="Text Box 4">
            <a:extLst>
              <a:ext uri="{FF2B5EF4-FFF2-40B4-BE49-F238E27FC236}">
                <a16:creationId xmlns:a16="http://schemas.microsoft.com/office/drawing/2014/main" id="{721BEDF8-A1E0-4A71-A935-2E1B38BFFE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79195" y="3375025"/>
            <a:ext cx="7543800" cy="314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*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Professor 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P  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NOT EXISTS(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FROM Course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EXCEPT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FROM Taught T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endParaRPr lang="en-US" altLang="zh-TW" dirty="0">
              <a:solidFill>
                <a:srgbClr val="FF0000"/>
              </a:solidFill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pic>
        <p:nvPicPr>
          <p:cNvPr id="147460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3AE47181-5F5F-4B40-90B2-AC77BE4DFF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E8EC72C3-F46D-466F-9626-F4856971A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8617" y="6283007"/>
            <a:ext cx="6552217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solidFill>
                  <a:srgbClr val="FF0000"/>
                </a:solidFill>
                <a:ea typeface="新細明體" panose="02020500000000000000" pitchFamily="18" charset="-120"/>
              </a:rPr>
              <a:t>The division pattern = </a:t>
            </a:r>
            <a:r>
              <a:rPr lang="en-US" altLang="zh-TW" sz="2600" dirty="0" err="1">
                <a:solidFill>
                  <a:srgbClr val="FF0000"/>
                </a:solidFill>
                <a:ea typeface="新細明體" panose="02020500000000000000" pitchFamily="18" charset="-120"/>
              </a:rPr>
              <a:t>no-witness+negation</a:t>
            </a:r>
            <a:endParaRPr lang="en-US" altLang="zh-TW" sz="2600" dirty="0">
              <a:solidFill>
                <a:srgbClr val="FF0000"/>
              </a:solidFill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0882B9-3072-4716-96F0-4C380FFC2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201</a:t>
            </a:fld>
            <a:endParaRPr lang="en-US" altLang="zh-TW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Rectangle 2">
            <a:extLst>
              <a:ext uri="{FF2B5EF4-FFF2-40B4-BE49-F238E27FC236}">
                <a16:creationId xmlns:a16="http://schemas.microsoft.com/office/drawing/2014/main" id="{C4350441-1026-4647-A123-46C1F2046C2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NO witness | all witness</a:t>
            </a:r>
          </a:p>
        </p:txBody>
      </p:sp>
      <p:sp>
        <p:nvSpPr>
          <p:cNvPr id="147459" name="Text Box 4">
            <a:extLst>
              <a:ext uri="{FF2B5EF4-FFF2-40B4-BE49-F238E27FC236}">
                <a16:creationId xmlns:a16="http://schemas.microsoft.com/office/drawing/2014/main" id="{721BEDF8-A1E0-4A71-A935-2E1B38BFFE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79195" y="3375025"/>
            <a:ext cx="75438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3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No witness: nobody say yes</a:t>
            </a:r>
          </a:p>
          <a:p>
            <a:r>
              <a:rPr lang="en-US" altLang="zh-TW" sz="3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All witness: everybody say yes, DIVISION pattern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0882B9-3072-4716-96F0-4C380FFC2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202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83848756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2">
            <a:extLst>
              <a:ext uri="{FF2B5EF4-FFF2-40B4-BE49-F238E27FC236}">
                <a16:creationId xmlns:a16="http://schemas.microsoft.com/office/drawing/2014/main" id="{13214968-6DC5-45DE-B4FE-2BEC1101FB3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25</a:t>
            </a:r>
          </a:p>
        </p:txBody>
      </p:sp>
      <p:sp>
        <p:nvSpPr>
          <p:cNvPr id="151555" name="Text Box 3">
            <a:extLst>
              <a:ext uri="{FF2B5EF4-FFF2-40B4-BE49-F238E27FC236}">
                <a16:creationId xmlns:a16="http://schemas.microsoft.com/office/drawing/2014/main" id="{EC8D504F-81B9-45F6-B92F-3D0187DF3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those courses that have been taught ONLY by Full professors.</a:t>
            </a:r>
          </a:p>
        </p:txBody>
      </p:sp>
      <p:pic>
        <p:nvPicPr>
          <p:cNvPr id="151556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6D5E1313-A8A4-44FA-BFDB-B2709156A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CDC641-E88B-41D9-9660-872D9DF4A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203</a:t>
            </a:fld>
            <a:endParaRPr lang="en-US" altLang="zh-TW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2">
            <a:extLst>
              <a:ext uri="{FF2B5EF4-FFF2-40B4-BE49-F238E27FC236}">
                <a16:creationId xmlns:a16="http://schemas.microsoft.com/office/drawing/2014/main" id="{B97D61B3-68EA-44F1-B532-78BC29A832C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Double Circle Pattern</a:t>
            </a:r>
          </a:p>
        </p:txBody>
      </p:sp>
      <p:sp>
        <p:nvSpPr>
          <p:cNvPr id="152579" name="椭圆 8">
            <a:extLst>
              <a:ext uri="{FF2B5EF4-FFF2-40B4-BE49-F238E27FC236}">
                <a16:creationId xmlns:a16="http://schemas.microsoft.com/office/drawing/2014/main" id="{34DB466A-73A1-4D16-91CE-52046FC0E3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0" y="1828800"/>
            <a:ext cx="2514600" cy="2362200"/>
          </a:xfrm>
          <a:prstGeom prst="ellipse">
            <a:avLst/>
          </a:prstGeom>
          <a:solidFill>
            <a:srgbClr val="00B050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152580" name="椭圆 9">
            <a:extLst>
              <a:ext uri="{FF2B5EF4-FFF2-40B4-BE49-F238E27FC236}">
                <a16:creationId xmlns:a16="http://schemas.microsoft.com/office/drawing/2014/main" id="{4B145CBD-25DD-4127-9B45-B8BA70637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1828800"/>
            <a:ext cx="2514600" cy="2362200"/>
          </a:xfrm>
          <a:prstGeom prst="ellipse">
            <a:avLst/>
          </a:prstGeom>
          <a:solidFill>
            <a:srgbClr val="FF0000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cxnSp>
        <p:nvCxnSpPr>
          <p:cNvPr id="152581" name="直接箭头连接符 13">
            <a:extLst>
              <a:ext uri="{FF2B5EF4-FFF2-40B4-BE49-F238E27FC236}">
                <a16:creationId xmlns:a16="http://schemas.microsoft.com/office/drawing/2014/main" id="{E6D46C6C-B668-4226-81B1-2B998E2922B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200400" y="3657600"/>
            <a:ext cx="533400" cy="15240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2582" name="直接箭头连接符 15">
            <a:extLst>
              <a:ext uri="{FF2B5EF4-FFF2-40B4-BE49-F238E27FC236}">
                <a16:creationId xmlns:a16="http://schemas.microsoft.com/office/drawing/2014/main" id="{BE58FA7A-6AF9-4151-B5E0-88448CDACE1C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57800" y="3657600"/>
            <a:ext cx="304800" cy="14478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2583" name="TextBox 16">
            <a:extLst>
              <a:ext uri="{FF2B5EF4-FFF2-40B4-BE49-F238E27FC236}">
                <a16:creationId xmlns:a16="http://schemas.microsoft.com/office/drawing/2014/main" id="{2C6F448D-2A44-4733-A5D3-AC11B5F140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5181600"/>
            <a:ext cx="2419350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A: Courses taught by 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Full professors</a:t>
            </a:r>
          </a:p>
        </p:txBody>
      </p:sp>
      <p:sp>
        <p:nvSpPr>
          <p:cNvPr id="152584" name="TextBox 17">
            <a:extLst>
              <a:ext uri="{FF2B5EF4-FFF2-40B4-BE49-F238E27FC236}">
                <a16:creationId xmlns:a16="http://schemas.microsoft.com/office/drawing/2014/main" id="{8AD3ED0D-8E42-42E1-B36A-7B688D6493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5105400"/>
            <a:ext cx="2405063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B: Courses taught by 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non-Full professors</a:t>
            </a:r>
          </a:p>
        </p:txBody>
      </p:sp>
      <p:cxnSp>
        <p:nvCxnSpPr>
          <p:cNvPr id="152585" name="直接连接符 34">
            <a:extLst>
              <a:ext uri="{FF2B5EF4-FFF2-40B4-BE49-F238E27FC236}">
                <a16:creationId xmlns:a16="http://schemas.microsoft.com/office/drawing/2014/main" id="{ABE70AFB-FFB0-4C8F-A620-89E8087157B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38400" y="3505200"/>
            <a:ext cx="0" cy="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2586" name="TextBox 48">
            <a:extLst>
              <a:ext uri="{FF2B5EF4-FFF2-40B4-BE49-F238E27FC236}">
                <a16:creationId xmlns:a16="http://schemas.microsoft.com/office/drawing/2014/main" id="{BA70CA0A-1F47-4FC7-AF10-552BDAF99E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3800" y="6019800"/>
            <a:ext cx="172878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Solution: A - B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21F5E4-C492-4FF8-9B36-40A217E65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204</a:t>
            </a:fld>
            <a:endParaRPr lang="en-US" altLang="zh-TW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2">
            <a:extLst>
              <a:ext uri="{FF2B5EF4-FFF2-40B4-BE49-F238E27FC236}">
                <a16:creationId xmlns:a16="http://schemas.microsoft.com/office/drawing/2014/main" id="{713F2C18-EFB3-4E11-8C32-532A68EC3BCB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 1</a:t>
            </a:r>
          </a:p>
        </p:txBody>
      </p:sp>
      <p:sp>
        <p:nvSpPr>
          <p:cNvPr id="155651" name="Text Box 4">
            <a:extLst>
              <a:ext uri="{FF2B5EF4-FFF2-40B4-BE49-F238E27FC236}">
                <a16:creationId xmlns:a16="http://schemas.microsoft.com/office/drawing/2014/main" id="{2C6B1B88-1E93-411F-960E-098B707F36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22467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FROM Taught T, Professor P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AND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P.status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'Full'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EXCEPT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FROM Taught T, Professor P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AND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P.status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&lt;&gt; 'Full’;</a:t>
            </a:r>
          </a:p>
        </p:txBody>
      </p:sp>
      <p:pic>
        <p:nvPicPr>
          <p:cNvPr id="155652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3CD62371-A916-4D69-B861-C1232070AE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4784C7-BB79-491C-A2B8-523D9B57A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205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12028338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>
            <a:extLst>
              <a:ext uri="{FF2B5EF4-FFF2-40B4-BE49-F238E27FC236}">
                <a16:creationId xmlns:a16="http://schemas.microsoft.com/office/drawing/2014/main" id="{CF794E97-5101-402C-A4FF-F2304249F26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Negation Pattern</a:t>
            </a:r>
          </a:p>
        </p:txBody>
      </p:sp>
      <p:sp>
        <p:nvSpPr>
          <p:cNvPr id="153603" name="椭圆 8">
            <a:extLst>
              <a:ext uri="{FF2B5EF4-FFF2-40B4-BE49-F238E27FC236}">
                <a16:creationId xmlns:a16="http://schemas.microsoft.com/office/drawing/2014/main" id="{27617938-E94B-4240-87C4-4477FFD3F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0" y="1828800"/>
            <a:ext cx="3124200" cy="3048000"/>
          </a:xfrm>
          <a:prstGeom prst="ellipse">
            <a:avLst/>
          </a:prstGeom>
          <a:solidFill>
            <a:srgbClr val="00B050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153604" name="椭圆 9">
            <a:extLst>
              <a:ext uri="{FF2B5EF4-FFF2-40B4-BE49-F238E27FC236}">
                <a16:creationId xmlns:a16="http://schemas.microsoft.com/office/drawing/2014/main" id="{B8E20E6D-0875-4BC6-BFDD-C4254B5FEB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2362200"/>
            <a:ext cx="1828800" cy="1752600"/>
          </a:xfrm>
          <a:prstGeom prst="ellipse">
            <a:avLst/>
          </a:prstGeom>
          <a:solidFill>
            <a:srgbClr val="FF0000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zh-TW" altLang="zh-TW"/>
          </a:p>
        </p:txBody>
      </p:sp>
      <p:sp>
        <p:nvSpPr>
          <p:cNvPr id="153605" name="TextBox 16">
            <a:extLst>
              <a:ext uri="{FF2B5EF4-FFF2-40B4-BE49-F238E27FC236}">
                <a16:creationId xmlns:a16="http://schemas.microsoft.com/office/drawing/2014/main" id="{477BAB8B-4140-4E44-8730-2A5EE1D2F4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5181600"/>
            <a:ext cx="2419350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U: Courses taught by 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some professors</a:t>
            </a:r>
          </a:p>
        </p:txBody>
      </p:sp>
      <p:sp>
        <p:nvSpPr>
          <p:cNvPr id="153606" name="TextBox 17">
            <a:extLst>
              <a:ext uri="{FF2B5EF4-FFF2-40B4-BE49-F238E27FC236}">
                <a16:creationId xmlns:a16="http://schemas.microsoft.com/office/drawing/2014/main" id="{43F4C9F5-6BFD-423A-B394-A52A93D926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5105400"/>
            <a:ext cx="2405063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B: Courses taught by 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non-full professors</a:t>
            </a:r>
          </a:p>
        </p:txBody>
      </p:sp>
      <p:cxnSp>
        <p:nvCxnSpPr>
          <p:cNvPr id="153607" name="直接连接符 34">
            <a:extLst>
              <a:ext uri="{FF2B5EF4-FFF2-40B4-BE49-F238E27FC236}">
                <a16:creationId xmlns:a16="http://schemas.microsoft.com/office/drawing/2014/main" id="{E54E2679-CFFE-401D-8ACA-2EA59C9872C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38400" y="3505200"/>
            <a:ext cx="0" cy="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3608" name="TextBox 48">
            <a:extLst>
              <a:ext uri="{FF2B5EF4-FFF2-40B4-BE49-F238E27FC236}">
                <a16:creationId xmlns:a16="http://schemas.microsoft.com/office/drawing/2014/main" id="{AA1ED686-3E26-41A6-8536-748752A6E5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3800" y="6019800"/>
            <a:ext cx="2722563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Solution: U – B = A – B 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Because U = A </a:t>
            </a:r>
            <a:r>
              <a:rPr lang="en-US" altLang="zh-TW" dirty="0">
                <a:ea typeface="新細明體" panose="02020500000000000000" pitchFamily="18" charset="-120"/>
                <a:sym typeface="Symbol" panose="05050102010706020507" pitchFamily="18" charset="2"/>
              </a:rPr>
              <a:t></a:t>
            </a:r>
            <a:r>
              <a:rPr lang="en-US" altLang="zh-TW" dirty="0">
                <a:ea typeface="新細明體" panose="02020500000000000000" pitchFamily="18" charset="-120"/>
              </a:rPr>
              <a:t> B </a:t>
            </a:r>
          </a:p>
        </p:txBody>
      </p:sp>
      <p:cxnSp>
        <p:nvCxnSpPr>
          <p:cNvPr id="153609" name="直接箭头连接符 11">
            <a:extLst>
              <a:ext uri="{FF2B5EF4-FFF2-40B4-BE49-F238E27FC236}">
                <a16:creationId xmlns:a16="http://schemas.microsoft.com/office/drawing/2014/main" id="{1ECFFB00-DC61-46D7-AD7E-0BE57966763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895600" y="4191000"/>
            <a:ext cx="457200" cy="9906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3610" name="直接箭头连接符 14">
            <a:extLst>
              <a:ext uri="{FF2B5EF4-FFF2-40B4-BE49-F238E27FC236}">
                <a16:creationId xmlns:a16="http://schemas.microsoft.com/office/drawing/2014/main" id="{46640AAE-E299-4E70-9C12-F7905EA91607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038600" y="3505200"/>
            <a:ext cx="838200" cy="16764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C59EEE-4DC9-44F1-9AA3-A95573DF8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206</a:t>
            </a:fld>
            <a:endParaRPr lang="en-US" altLang="zh-TW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2">
            <a:extLst>
              <a:ext uri="{FF2B5EF4-FFF2-40B4-BE49-F238E27FC236}">
                <a16:creationId xmlns:a16="http://schemas.microsoft.com/office/drawing/2014/main" id="{713F2C18-EFB3-4E11-8C32-532A68EC3BCB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 2</a:t>
            </a:r>
          </a:p>
        </p:txBody>
      </p:sp>
      <p:sp>
        <p:nvSpPr>
          <p:cNvPr id="155651" name="Text Box 4">
            <a:extLst>
              <a:ext uri="{FF2B5EF4-FFF2-40B4-BE49-F238E27FC236}">
                <a16:creationId xmlns:a16="http://schemas.microsoft.com/office/drawing/2014/main" id="{2C6B1B88-1E93-411F-960E-098B707F36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0530" y="3688328"/>
            <a:ext cx="7543800" cy="22467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 T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EXCEPT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 T, Professor P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AND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P.status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&lt;&gt; 'Full'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</p:txBody>
      </p:sp>
      <p:pic>
        <p:nvPicPr>
          <p:cNvPr id="155652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3CD62371-A916-4D69-B861-C1232070AE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53B51F2-CD2A-4201-8091-D5088FEA0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207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1835701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2">
            <a:extLst>
              <a:ext uri="{FF2B5EF4-FFF2-40B4-BE49-F238E27FC236}">
                <a16:creationId xmlns:a16="http://schemas.microsoft.com/office/drawing/2014/main" id="{0DE84342-8A51-4E66-B34D-551FC6B5EBA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Relational Algebra Solution</a:t>
            </a:r>
          </a:p>
        </p:txBody>
      </p:sp>
      <p:pic>
        <p:nvPicPr>
          <p:cNvPr id="154627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EC91404C-A560-4CFA-81FB-F92F532535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4628" name="Text Box 4">
            <a:extLst>
              <a:ext uri="{FF2B5EF4-FFF2-40B4-BE49-F238E27FC236}">
                <a16:creationId xmlns:a16="http://schemas.microsoft.com/office/drawing/2014/main" id="{1F1C8EC0-44AE-4C84-853A-E1AAAA5E2D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3733800"/>
            <a:ext cx="72390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endParaRPr lang="zh-TW" altLang="zh-TW"/>
          </a:p>
        </p:txBody>
      </p:sp>
      <p:sp>
        <p:nvSpPr>
          <p:cNvPr id="154629" name="Text Box 5">
            <a:extLst>
              <a:ext uri="{FF2B5EF4-FFF2-40B4-BE49-F238E27FC236}">
                <a16:creationId xmlns:a16="http://schemas.microsoft.com/office/drawing/2014/main" id="{0C8FAE81-3D7A-40C4-8AEA-9D4FA5E495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810000"/>
            <a:ext cx="73152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(Taught) - 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 (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status‘Junior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’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(Professor)      Taught)</a:t>
            </a:r>
          </a:p>
        </p:txBody>
      </p:sp>
      <p:grpSp>
        <p:nvGrpSpPr>
          <p:cNvPr id="154630" name="Group 1034">
            <a:extLst>
              <a:ext uri="{FF2B5EF4-FFF2-40B4-BE49-F238E27FC236}">
                <a16:creationId xmlns:a16="http://schemas.microsoft.com/office/drawing/2014/main" id="{6D57AA4B-584C-456D-95D0-0EE2FFCE6419}"/>
              </a:ext>
            </a:extLst>
          </p:cNvPr>
          <p:cNvGrpSpPr>
            <a:grpSpLocks/>
          </p:cNvGrpSpPr>
          <p:nvPr/>
        </p:nvGrpSpPr>
        <p:grpSpPr bwMode="auto">
          <a:xfrm>
            <a:off x="4953000" y="4572000"/>
            <a:ext cx="457200" cy="152400"/>
            <a:chOff x="2352" y="2064"/>
            <a:chExt cx="288" cy="96"/>
          </a:xfrm>
        </p:grpSpPr>
        <p:sp>
          <p:nvSpPr>
            <p:cNvPr id="154631" name="AutoShape 1030">
              <a:extLst>
                <a:ext uri="{FF2B5EF4-FFF2-40B4-BE49-F238E27FC236}">
                  <a16:creationId xmlns:a16="http://schemas.microsoft.com/office/drawing/2014/main" id="{3A78325B-82C2-4CA9-B748-964F26EF9E3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533107">
              <a:off x="2376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rot="10800000"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  <p:sp>
          <p:nvSpPr>
            <p:cNvPr id="154632" name="AutoShape 1033">
              <a:extLst>
                <a:ext uri="{FF2B5EF4-FFF2-40B4-BE49-F238E27FC236}">
                  <a16:creationId xmlns:a16="http://schemas.microsoft.com/office/drawing/2014/main" id="{84F37DBA-536E-423E-A8F2-0DCC1A969D4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66893">
              <a:off x="2520" y="2040"/>
              <a:ext cx="96" cy="144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vert="eaVert" wrap="none" anchor="ctr"/>
            <a:lstStyle>
              <a:lvl1pPr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/>
              <a:endParaRPr lang="zh-TW" altLang="zh-TW" sz="16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AF2DDC6-E551-49FF-A486-6D39D0333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208</a:t>
            </a:fld>
            <a:endParaRPr lang="en-US" altLang="zh-TW"/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2">
            <a:extLst>
              <a:ext uri="{FF2B5EF4-FFF2-40B4-BE49-F238E27FC236}">
                <a16:creationId xmlns:a16="http://schemas.microsoft.com/office/drawing/2014/main" id="{713F2C18-EFB3-4E11-8C32-532A68EC3BCB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 3</a:t>
            </a:r>
          </a:p>
        </p:txBody>
      </p:sp>
      <p:sp>
        <p:nvSpPr>
          <p:cNvPr id="155651" name="Text Box 4">
            <a:extLst>
              <a:ext uri="{FF2B5EF4-FFF2-40B4-BE49-F238E27FC236}">
                <a16:creationId xmlns:a16="http://schemas.microsoft.com/office/drawing/2014/main" id="{2C6B1B88-1E93-411F-960E-098B707F36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2862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T1.crscode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 Taught T1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T1.crscode NOT IN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(SELECT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FROM Taught T2, Professor P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WHERE T2.ssn =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AND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P.status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&lt;&gt; 'Full'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)</a:t>
            </a:r>
          </a:p>
          <a:p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</p:txBody>
      </p:sp>
      <p:pic>
        <p:nvPicPr>
          <p:cNvPr id="155652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3CD62371-A916-4D69-B861-C1232070AE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0FBA6FB7-FE5A-407D-AECD-411F0ED859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3600" y="5730875"/>
            <a:ext cx="5257800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solidFill>
                  <a:srgbClr val="FF0000"/>
                </a:solidFill>
                <a:ea typeface="新細明體" panose="02020500000000000000" pitchFamily="18" charset="-120"/>
              </a:rPr>
              <a:t>The NOT-IN pattern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2867B4-1CA4-4203-9E34-0E8748CDB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209</a:t>
            </a:fld>
            <a:endParaRPr lang="en-US" altLang="zh-TW"/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2">
            <a:extLst>
              <a:ext uri="{FF2B5EF4-FFF2-40B4-BE49-F238E27FC236}">
                <a16:creationId xmlns:a16="http://schemas.microsoft.com/office/drawing/2014/main" id="{5D7A5238-0215-438B-A52B-666C1153957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solidFill>
                  <a:srgbClr val="FF0000"/>
                </a:solidFill>
                <a:ea typeface="新細明體" panose="02020500000000000000" pitchFamily="18" charset="-120"/>
              </a:rPr>
              <a:t>Common Mistake</a:t>
            </a:r>
          </a:p>
        </p:txBody>
      </p:sp>
      <p:sp>
        <p:nvSpPr>
          <p:cNvPr id="156675" name="Text Box 4">
            <a:extLst>
              <a:ext uri="{FF2B5EF4-FFF2-40B4-BE49-F238E27FC236}">
                <a16:creationId xmlns:a16="http://schemas.microsoft.com/office/drawing/2014/main" id="{FB19F766-7A44-400D-BD46-B2090D6C6B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25237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 Course C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c.crscode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NOT IN(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(SELECT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T.crscode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  </a:t>
            </a:r>
            <a:r>
              <a:rPr lang="en-US" altLang="zh-TW" sz="1800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 // a list of tuples rather than a list of elements</a:t>
            </a:r>
            <a:endParaRPr lang="en-US" altLang="zh-TW" dirty="0">
              <a:solidFill>
                <a:srgbClr val="FF0000"/>
              </a:solidFill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FROM Taught T, Professor P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P.ssn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AND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P.status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&lt;&gt; ‘Junior’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</p:txBody>
      </p:sp>
      <p:pic>
        <p:nvPicPr>
          <p:cNvPr id="156676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3142987C-D412-47B1-8CAC-BF813D9A9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56677" name="直接箭头连接符 5">
            <a:extLst>
              <a:ext uri="{FF2B5EF4-FFF2-40B4-BE49-F238E27FC236}">
                <a16:creationId xmlns:a16="http://schemas.microsoft.com/office/drawing/2014/main" id="{94581E39-50B9-4D45-A393-BF419E070921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124200" y="2819400"/>
            <a:ext cx="4114800" cy="13716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6678" name="直接箭头连接符 7">
            <a:extLst>
              <a:ext uri="{FF2B5EF4-FFF2-40B4-BE49-F238E27FC236}">
                <a16:creationId xmlns:a16="http://schemas.microsoft.com/office/drawing/2014/main" id="{F06A3387-9553-485E-960A-071CE88E246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743200" y="2971800"/>
            <a:ext cx="4572000" cy="16764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6679" name="TextBox 8">
            <a:extLst>
              <a:ext uri="{FF2B5EF4-FFF2-40B4-BE49-F238E27FC236}">
                <a16:creationId xmlns:a16="http://schemas.microsoft.com/office/drawing/2014/main" id="{12D743ED-0845-4C12-91AB-BC742A1284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5200" y="2667000"/>
            <a:ext cx="13430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Matching 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430B79-22B3-4723-9CA5-D2FF6AF3F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210</a:t>
            </a:fld>
            <a:endParaRPr lang="en-US" altLang="zh-TW"/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Rectangle 2">
            <a:extLst>
              <a:ext uri="{FF2B5EF4-FFF2-40B4-BE49-F238E27FC236}">
                <a16:creationId xmlns:a16="http://schemas.microsoft.com/office/drawing/2014/main" id="{685BAAA8-DB6A-499A-A605-A4EBF1ED7B3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25</a:t>
            </a:r>
          </a:p>
        </p:txBody>
      </p:sp>
      <p:sp>
        <p:nvSpPr>
          <p:cNvPr id="148483" name="Text Box 3">
            <a:extLst>
              <a:ext uri="{FF2B5EF4-FFF2-40B4-BE49-F238E27FC236}">
                <a16:creationId xmlns:a16="http://schemas.microsoft.com/office/drawing/2014/main" id="{70F0610B-E055-420E-9B2F-2D3E414AF0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those courses that have been taught in </a:t>
            </a:r>
            <a:r>
              <a:rPr lang="en-US" altLang="zh-TW" sz="3200" dirty="0">
                <a:solidFill>
                  <a:srgbClr val="FF0000"/>
                </a:solidFill>
                <a:ea typeface="新細明體" panose="02020500000000000000" pitchFamily="18" charset="-120"/>
              </a:rPr>
              <a:t>all</a:t>
            </a:r>
            <a:r>
              <a:rPr lang="en-US" altLang="zh-TW" sz="3200" dirty="0">
                <a:ea typeface="新細明體" panose="02020500000000000000" pitchFamily="18" charset="-120"/>
              </a:rPr>
              <a:t> semesters (each).</a:t>
            </a:r>
          </a:p>
        </p:txBody>
      </p:sp>
      <p:pic>
        <p:nvPicPr>
          <p:cNvPr id="148484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2A305789-7940-43E5-BF88-F8E5631F60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357247-16EC-4496-BF5A-4C664E596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211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78374299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Rectangle 2">
            <a:extLst>
              <a:ext uri="{FF2B5EF4-FFF2-40B4-BE49-F238E27FC236}">
                <a16:creationId xmlns:a16="http://schemas.microsoft.com/office/drawing/2014/main" id="{685BAAA8-DB6A-499A-A605-A4EBF1ED7B3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Change the Taught table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357247-16EC-4496-BF5A-4C664E596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212</a:t>
            </a:fld>
            <a:endParaRPr lang="en-US" altLang="zh-TW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DD427CCD-8A6B-8D09-D161-09A37258F245}"/>
              </a:ext>
            </a:extLst>
          </p:cNvPr>
          <p:cNvSpPr txBox="1">
            <a:spLocks noChangeArrowheads="1"/>
          </p:cNvSpPr>
          <p:nvPr/>
        </p:nvSpPr>
        <p:spPr>
          <a:xfrm>
            <a:off x="1173991" y="1752600"/>
            <a:ext cx="7382846" cy="49530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US" altLang="zh-TW" sz="1800" kern="0" dirty="0">
                <a:ea typeface="新細明體" panose="02020500000000000000" pitchFamily="18" charset="-120"/>
              </a:rPr>
              <a:t>INSERT INTO taught	</a:t>
            </a:r>
          </a:p>
          <a:p>
            <a:pPr marL="0" indent="0">
              <a:buFontTx/>
              <a:buNone/>
            </a:pPr>
            <a:r>
              <a:rPr lang="en-US" altLang="zh-TW" sz="1800" kern="0" dirty="0">
                <a:ea typeface="新細明體" panose="02020500000000000000" pitchFamily="18" charset="-120"/>
              </a:rPr>
              <a:t>	VALUES('CSC6710', 20170, 1111), 	</a:t>
            </a:r>
          </a:p>
          <a:p>
            <a:pPr marL="0" indent="0">
              <a:buFontTx/>
              <a:buNone/>
            </a:pPr>
            <a:r>
              <a:rPr lang="en-US" altLang="zh-TW" sz="1800" kern="0" dirty="0">
                <a:ea typeface="新細明體" panose="02020500000000000000" pitchFamily="18" charset="-120"/>
              </a:rPr>
              <a:t>	('CSC7710', 20170, 1111),</a:t>
            </a:r>
          </a:p>
          <a:p>
            <a:pPr marL="0" indent="0">
              <a:buFontTx/>
              <a:buNone/>
            </a:pPr>
            <a:r>
              <a:rPr lang="en-US" altLang="zh-TW" sz="1800" kern="0" dirty="0">
                <a:ea typeface="新細明體" panose="02020500000000000000" pitchFamily="18" charset="-120"/>
              </a:rPr>
              <a:t>                ('CSC4710', 20171, 1111),</a:t>
            </a:r>
          </a:p>
          <a:p>
            <a:pPr marL="0" indent="0">
              <a:buFontTx/>
              <a:buNone/>
            </a:pPr>
            <a:r>
              <a:rPr lang="en-US" altLang="zh-TW" sz="1800" kern="0" dirty="0">
                <a:ea typeface="新細明體" panose="02020500000000000000" pitchFamily="18" charset="-120"/>
              </a:rPr>
              <a:t>                ('CSC3020', 20172, 1111),		</a:t>
            </a:r>
          </a:p>
          <a:p>
            <a:pPr marL="0" indent="0">
              <a:buFontTx/>
              <a:buNone/>
            </a:pPr>
            <a:r>
              <a:rPr lang="en-US" altLang="zh-TW" sz="1800" kern="0" dirty="0">
                <a:ea typeface="新細明體" panose="02020500000000000000" pitchFamily="18" charset="-120"/>
              </a:rPr>
              <a:t>	('CSC6710', 20171, 2222),	</a:t>
            </a:r>
          </a:p>
          <a:p>
            <a:pPr marL="0" indent="0">
              <a:buFontTx/>
              <a:buNone/>
            </a:pPr>
            <a:r>
              <a:rPr lang="en-US" altLang="zh-TW" sz="1800" kern="0" dirty="0">
                <a:ea typeface="新細明體" panose="02020500000000000000" pitchFamily="18" charset="-120"/>
              </a:rPr>
              <a:t>	('CSC6710', 20172, 2222),</a:t>
            </a:r>
          </a:p>
          <a:p>
            <a:pPr marL="0" indent="0">
              <a:buFontTx/>
              <a:buNone/>
            </a:pPr>
            <a:r>
              <a:rPr lang="en-US" altLang="zh-TW" sz="1800" kern="0" dirty="0">
                <a:ea typeface="新細明體" panose="02020500000000000000" pitchFamily="18" charset="-120"/>
              </a:rPr>
              <a:t>                ('CSC4110', 20171, 3333);	</a:t>
            </a:r>
          </a:p>
        </p:txBody>
      </p:sp>
    </p:spTree>
    <p:extLst>
      <p:ext uri="{BB962C8B-B14F-4D97-AF65-F5344CB8AC3E}">
        <p14:creationId xmlns:p14="http://schemas.microsoft.com/office/powerpoint/2010/main" val="1539591685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2">
            <a:extLst>
              <a:ext uri="{FF2B5EF4-FFF2-40B4-BE49-F238E27FC236}">
                <a16:creationId xmlns:a16="http://schemas.microsoft.com/office/drawing/2014/main" id="{F5A70CF9-1810-4EBD-B89F-5E5F46B9201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Relational Algebra Solution</a:t>
            </a:r>
          </a:p>
        </p:txBody>
      </p:sp>
      <p:pic>
        <p:nvPicPr>
          <p:cNvPr id="149507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AD412ECC-1A1B-4C60-A454-E571872E3B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9508" name="Text Box 4">
            <a:extLst>
              <a:ext uri="{FF2B5EF4-FFF2-40B4-BE49-F238E27FC236}">
                <a16:creationId xmlns:a16="http://schemas.microsoft.com/office/drawing/2014/main" id="{C5694FD5-2C94-40F8-954A-9BFA921802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3733800"/>
            <a:ext cx="72390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endParaRPr lang="zh-TW" altLang="zh-TW"/>
          </a:p>
        </p:txBody>
      </p:sp>
      <p:sp>
        <p:nvSpPr>
          <p:cNvPr id="149509" name="Text Box 5">
            <a:extLst>
              <a:ext uri="{FF2B5EF4-FFF2-40B4-BE49-F238E27FC236}">
                <a16:creationId xmlns:a16="http://schemas.microsoft.com/office/drawing/2014/main" id="{7943D8DA-A066-4ACF-B231-72C6A191B9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810000"/>
            <a:ext cx="7315200" cy="579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</a:t>
            </a:r>
            <a:r>
              <a:rPr lang="en-US" altLang="zh-TW" sz="3200" baseline="-25000" dirty="0" err="1">
                <a:ea typeface="新細明體" panose="02020500000000000000" pitchFamily="18" charset="-120"/>
                <a:sym typeface="Symbol" panose="05050102010706020507" pitchFamily="18" charset="2"/>
              </a:rPr>
              <a:t>crscode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, semester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(Taught)/ </a:t>
            </a:r>
            <a:r>
              <a:rPr lang="en-US" altLang="zh-TW" sz="3200" baseline="-25000" dirty="0">
                <a:ea typeface="新細明體" panose="02020500000000000000" pitchFamily="18" charset="-120"/>
                <a:sym typeface="Symbol" panose="05050102010706020507" pitchFamily="18" charset="2"/>
              </a:rPr>
              <a:t>semester</a:t>
            </a:r>
            <a:r>
              <a:rPr lang="en-US" altLang="zh-TW" sz="3200" dirty="0">
                <a:ea typeface="新細明體" panose="02020500000000000000" pitchFamily="18" charset="-120"/>
                <a:sym typeface="Symbol" panose="05050102010706020507" pitchFamily="18" charset="2"/>
              </a:rPr>
              <a:t>(Taught)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79317D2-AC6C-4E3B-9A26-518AF10B0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213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31228620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2">
            <a:extLst>
              <a:ext uri="{FF2B5EF4-FFF2-40B4-BE49-F238E27FC236}">
                <a16:creationId xmlns:a16="http://schemas.microsoft.com/office/drawing/2014/main" id="{4F8D1342-8C33-491D-8DDF-6CEF6B35DCE5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 1</a:t>
            </a:r>
          </a:p>
        </p:txBody>
      </p:sp>
      <p:sp>
        <p:nvSpPr>
          <p:cNvPr id="150531" name="Text Box 4">
            <a:extLst>
              <a:ext uri="{FF2B5EF4-FFF2-40B4-BE49-F238E27FC236}">
                <a16:creationId xmlns:a16="http://schemas.microsoft.com/office/drawing/2014/main" id="{26A65B2D-92D5-4312-96BF-3F8F5CBC72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9180" y="3375025"/>
            <a:ext cx="7543800" cy="31700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 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T1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NOT EXISTS(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SELECT semester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FROM Taught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EXCEPT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SELECT semester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FROM Taught T2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WHERE T2.crscode = 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T1</a:t>
            </a:r>
            <a:r>
              <a:rPr lang="en-US" altLang="zh-TW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.crscode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pic>
        <p:nvPicPr>
          <p:cNvPr id="150532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C153147E-A8A1-4908-B729-3F782AFF0D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1A7CA9AB-2F9A-4A9A-81C9-4268CA06F3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8618" y="6283007"/>
            <a:ext cx="5257800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solidFill>
                  <a:srgbClr val="FF0000"/>
                </a:solidFill>
                <a:ea typeface="新細明體" panose="02020500000000000000" pitchFamily="18" charset="-120"/>
              </a:rPr>
              <a:t>The division pattern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148A3D-0F79-457E-9988-528A8C020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214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23326232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2">
            <a:extLst>
              <a:ext uri="{FF2B5EF4-FFF2-40B4-BE49-F238E27FC236}">
                <a16:creationId xmlns:a16="http://schemas.microsoft.com/office/drawing/2014/main" id="{4F8D1342-8C33-491D-8DDF-6CEF6B35DCE5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 Solution 2</a:t>
            </a:r>
          </a:p>
        </p:txBody>
      </p:sp>
      <p:sp>
        <p:nvSpPr>
          <p:cNvPr id="150531" name="Text Box 4">
            <a:extLst>
              <a:ext uri="{FF2B5EF4-FFF2-40B4-BE49-F238E27FC236}">
                <a16:creationId xmlns:a16="http://schemas.microsoft.com/office/drawing/2014/main" id="{26A65B2D-92D5-4312-96BF-3F8F5CBC72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505200"/>
            <a:ext cx="7543800" cy="2862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distinct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crscode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Taught T1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NOT EXISTS(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SELECT semester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FROM Taught WHERE semester NOT IN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(SELECT semester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FROM Taught T2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WHERE T2.crscode = T1.crscode)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</p:txBody>
      </p:sp>
      <p:pic>
        <p:nvPicPr>
          <p:cNvPr id="150532" name="Picture 4" descr="C:\Documents and Settings\Dr. Shiyong Lu\My Documents\schema.bmp">
            <a:extLst>
              <a:ext uri="{FF2B5EF4-FFF2-40B4-BE49-F238E27FC236}">
                <a16:creationId xmlns:a16="http://schemas.microsoft.com/office/drawing/2014/main" id="{C153147E-A8A1-4908-B729-3F782AFF0D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549775" cy="139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1A7CA9AB-2F9A-4A9A-81C9-4268CA06F3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8618" y="6283007"/>
            <a:ext cx="5257800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600" dirty="0">
                <a:solidFill>
                  <a:srgbClr val="FF0000"/>
                </a:solidFill>
                <a:ea typeface="新細明體" panose="02020500000000000000" pitchFamily="18" charset="-120"/>
              </a:rPr>
              <a:t>The division pattern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148A3D-0F79-457E-9988-528A8C020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215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3986491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ext, whiteboard&#10;&#10;Description automatically generated">
            <a:extLst>
              <a:ext uri="{FF2B5EF4-FFF2-40B4-BE49-F238E27FC236}">
                <a16:creationId xmlns:a16="http://schemas.microsoft.com/office/drawing/2014/main" id="{329E1212-804C-43E9-A790-9C52C93F3D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461" y="405353"/>
            <a:ext cx="8799738" cy="622169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233BA2-97E9-480F-B5A5-E7846B16C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216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63005368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2">
            <a:extLst>
              <a:ext uri="{FF2B5EF4-FFF2-40B4-BE49-F238E27FC236}">
                <a16:creationId xmlns:a16="http://schemas.microsoft.com/office/drawing/2014/main" id="{BCD6A0F8-7530-4690-AB53-4D2E46052C2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27</a:t>
            </a:r>
          </a:p>
        </p:txBody>
      </p:sp>
      <p:sp>
        <p:nvSpPr>
          <p:cNvPr id="157699" name="TextBox 4">
            <a:extLst>
              <a:ext uri="{FF2B5EF4-FFF2-40B4-BE49-F238E27FC236}">
                <a16:creationId xmlns:a16="http://schemas.microsoft.com/office/drawing/2014/main" id="{6C3A1CCE-A5DA-4BBA-91B8-4C2AAEB2B1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157700" name="Text Box 3">
            <a:extLst>
              <a:ext uri="{FF2B5EF4-FFF2-40B4-BE49-F238E27FC236}">
                <a16:creationId xmlns:a16="http://schemas.microsoft.com/office/drawing/2014/main" id="{DCBAAB3F-591B-4D10-91A6-5BC9E1E07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3293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Entry nodes: no incoming edges</a:t>
            </a:r>
          </a:p>
          <a:p>
            <a:pPr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Exit nodes: no outgoing edges</a:t>
            </a:r>
          </a:p>
          <a:p>
            <a:pPr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Fork nodes: at least two outgoing edges</a:t>
            </a:r>
          </a:p>
          <a:p>
            <a:pPr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Join nodes: at least two incoming edges</a:t>
            </a:r>
          </a:p>
          <a:p>
            <a:pPr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Linear nodes: one incoming edge and one outgoing edge, or one parent AND one child</a:t>
            </a:r>
          </a:p>
          <a:p>
            <a:pPr>
              <a:spcBef>
                <a:spcPct val="50000"/>
              </a:spcBef>
            </a:pP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753E1B-D83A-46F3-BBFF-8C99DD178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217</a:t>
            </a:fld>
            <a:endParaRPr lang="en-US" altLang="zh-TW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>
            <a:extLst>
              <a:ext uri="{FF2B5EF4-FFF2-40B4-BE49-F238E27FC236}">
                <a16:creationId xmlns:a16="http://schemas.microsoft.com/office/drawing/2014/main" id="{D3D06058-39DB-48E9-A234-441A7A7BA52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685800" y="362147"/>
            <a:ext cx="7772400" cy="1143000"/>
          </a:xfrm>
        </p:spPr>
        <p:txBody>
          <a:bodyPr/>
          <a:lstStyle/>
          <a:p>
            <a:r>
              <a:rPr lang="en-US" altLang="zh-CN" dirty="0">
                <a:ea typeface="宋体" panose="02010600030101010101" pitchFamily="2" charset="-122"/>
              </a:rPr>
              <a:t>A graph example</a:t>
            </a:r>
            <a:endParaRPr lang="en-US" altLang="zh-TW" dirty="0">
              <a:ea typeface="新細明體" panose="02020500000000000000" pitchFamily="18" charset="-120"/>
            </a:endParaRPr>
          </a:p>
        </p:txBody>
      </p:sp>
      <p:pic>
        <p:nvPicPr>
          <p:cNvPr id="158723" name="Picture 4">
            <a:extLst>
              <a:ext uri="{FF2B5EF4-FFF2-40B4-BE49-F238E27FC236}">
                <a16:creationId xmlns:a16="http://schemas.microsoft.com/office/drawing/2014/main" id="{6612BD71-7F17-453E-B2AD-2FACD27BE6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1662" y="1408899"/>
            <a:ext cx="5400675" cy="480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44032A-33A1-4D07-B822-C1B638483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218</a:t>
            </a:fld>
            <a:endParaRPr lang="en-US" altLang="zh-TW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BAA21E-779D-4A8C-9350-A8A24AD0F9D7}"/>
              </a:ext>
            </a:extLst>
          </p:cNvPr>
          <p:cNvSpPr txBox="1"/>
          <p:nvPr/>
        </p:nvSpPr>
        <p:spPr>
          <a:xfrm>
            <a:off x="2922309" y="1384511"/>
            <a:ext cx="216817" cy="276999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2D2DAE-90FC-4B1C-8204-236F33A279FB}"/>
              </a:ext>
            </a:extLst>
          </p:cNvPr>
          <p:cNvSpPr txBox="1"/>
          <p:nvPr/>
        </p:nvSpPr>
        <p:spPr>
          <a:xfrm>
            <a:off x="5581847" y="1723065"/>
            <a:ext cx="480765" cy="26161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13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9234DD-D9C2-4AE3-AE2F-2C539FC31B59}"/>
              </a:ext>
            </a:extLst>
          </p:cNvPr>
          <p:cNvSpPr txBox="1"/>
          <p:nvPr/>
        </p:nvSpPr>
        <p:spPr>
          <a:xfrm>
            <a:off x="4169004" y="1365070"/>
            <a:ext cx="518474" cy="276999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C66363-DC03-44BD-A024-B8DE1C5FC04D}"/>
              </a:ext>
            </a:extLst>
          </p:cNvPr>
          <p:cNvSpPr txBox="1"/>
          <p:nvPr/>
        </p:nvSpPr>
        <p:spPr>
          <a:xfrm>
            <a:off x="2672499" y="2055991"/>
            <a:ext cx="358218" cy="276999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E7344C-E3AA-42A9-966C-5581D30182FB}"/>
              </a:ext>
            </a:extLst>
          </p:cNvPr>
          <p:cNvSpPr txBox="1"/>
          <p:nvPr/>
        </p:nvSpPr>
        <p:spPr>
          <a:xfrm>
            <a:off x="2851608" y="2615494"/>
            <a:ext cx="358218" cy="276999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C0136D-4706-4767-B806-8230DC1D6D8B}"/>
              </a:ext>
            </a:extLst>
          </p:cNvPr>
          <p:cNvSpPr txBox="1"/>
          <p:nvPr/>
        </p:nvSpPr>
        <p:spPr>
          <a:xfrm>
            <a:off x="4213781" y="2231071"/>
            <a:ext cx="358218" cy="276999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E54DAF-943F-4482-91DE-BEC20EE7086A}"/>
              </a:ext>
            </a:extLst>
          </p:cNvPr>
          <p:cNvSpPr txBox="1"/>
          <p:nvPr/>
        </p:nvSpPr>
        <p:spPr>
          <a:xfrm>
            <a:off x="4329260" y="2820073"/>
            <a:ext cx="358218" cy="276999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CAC802-6F12-481E-8B40-C7513F125467}"/>
              </a:ext>
            </a:extLst>
          </p:cNvPr>
          <p:cNvSpPr txBox="1"/>
          <p:nvPr/>
        </p:nvSpPr>
        <p:spPr>
          <a:xfrm>
            <a:off x="5822229" y="2413399"/>
            <a:ext cx="358218" cy="276999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11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23C1CA-E17E-45DF-9216-2F27187FB39B}"/>
              </a:ext>
            </a:extLst>
          </p:cNvPr>
          <p:cNvSpPr txBox="1"/>
          <p:nvPr/>
        </p:nvSpPr>
        <p:spPr>
          <a:xfrm>
            <a:off x="5697324" y="3342147"/>
            <a:ext cx="358218" cy="276999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5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8" name="Text Box 3">
            <a:extLst>
              <a:ext uri="{FF2B5EF4-FFF2-40B4-BE49-F238E27FC236}">
                <a16:creationId xmlns:a16="http://schemas.microsoft.com/office/drawing/2014/main" id="{5EC9E550-1F4F-40DA-A24D-43861D6037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539" y="262377"/>
            <a:ext cx="7559510" cy="54784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create table Graphs (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	</a:t>
            </a:r>
            <a:r>
              <a:rPr lang="en-US" altLang="zh-TW" sz="1400" dirty="0" err="1">
                <a:ea typeface="新細明體" panose="02020500000000000000" pitchFamily="18" charset="-120"/>
              </a:rPr>
              <a:t>graphid</a:t>
            </a:r>
            <a:r>
              <a:rPr lang="en-US" altLang="zh-TW" sz="1400" dirty="0">
                <a:ea typeface="新細明體" panose="02020500000000000000" pitchFamily="18" charset="-120"/>
              </a:rPr>
              <a:t> int, 	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	</a:t>
            </a:r>
            <a:r>
              <a:rPr lang="en-US" altLang="zh-TW" sz="1400" dirty="0" err="1">
                <a:ea typeface="新細明體" panose="02020500000000000000" pitchFamily="18" charset="-120"/>
              </a:rPr>
              <a:t>graphname</a:t>
            </a:r>
            <a:r>
              <a:rPr lang="en-US" altLang="zh-TW" sz="1400" dirty="0">
                <a:ea typeface="新細明體" panose="02020500000000000000" pitchFamily="18" charset="-120"/>
              </a:rPr>
              <a:t> VARCHAR(50));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create table Nodes(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	</a:t>
            </a:r>
            <a:r>
              <a:rPr lang="en-US" altLang="zh-TW" sz="1400" dirty="0" err="1">
                <a:ea typeface="新細明體" panose="02020500000000000000" pitchFamily="18" charset="-120"/>
              </a:rPr>
              <a:t>nodeid</a:t>
            </a:r>
            <a:r>
              <a:rPr lang="en-US" altLang="zh-TW" sz="1400" dirty="0">
                <a:ea typeface="新細明體" panose="02020500000000000000" pitchFamily="18" charset="-120"/>
              </a:rPr>
              <a:t> int, 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	</a:t>
            </a:r>
            <a:r>
              <a:rPr lang="en-US" altLang="zh-TW" sz="1400" dirty="0" err="1">
                <a:ea typeface="新細明體" panose="02020500000000000000" pitchFamily="18" charset="-120"/>
              </a:rPr>
              <a:t>nodename</a:t>
            </a:r>
            <a:r>
              <a:rPr lang="en-US" altLang="zh-TW" sz="1400" dirty="0">
                <a:ea typeface="新細明體" panose="02020500000000000000" pitchFamily="18" charset="-120"/>
              </a:rPr>
              <a:t> VARCHAR(50), 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	weight float, 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	</a:t>
            </a:r>
            <a:r>
              <a:rPr lang="en-US" altLang="zh-TW" sz="1400" dirty="0" err="1">
                <a:ea typeface="新細明體" panose="02020500000000000000" pitchFamily="18" charset="-120"/>
              </a:rPr>
              <a:t>graphid</a:t>
            </a:r>
            <a:r>
              <a:rPr lang="en-US" altLang="zh-TW" sz="1400" dirty="0">
                <a:ea typeface="新細明體" panose="02020500000000000000" pitchFamily="18" charset="-120"/>
              </a:rPr>
              <a:t> int, 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	primary key(</a:t>
            </a:r>
            <a:r>
              <a:rPr lang="en-US" altLang="zh-TW" sz="1400" dirty="0" err="1">
                <a:ea typeface="新細明體" panose="02020500000000000000" pitchFamily="18" charset="-120"/>
              </a:rPr>
              <a:t>nodeid</a:t>
            </a:r>
            <a:r>
              <a:rPr lang="en-US" altLang="zh-TW" sz="1400" dirty="0">
                <a:ea typeface="新細明體" panose="02020500000000000000" pitchFamily="18" charset="-120"/>
              </a:rPr>
              <a:t>), 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	foreign key(</a:t>
            </a:r>
            <a:r>
              <a:rPr lang="en-US" altLang="zh-TW" sz="1400" dirty="0" err="1">
                <a:ea typeface="新細明體" panose="02020500000000000000" pitchFamily="18" charset="-120"/>
              </a:rPr>
              <a:t>graphid</a:t>
            </a:r>
            <a:r>
              <a:rPr lang="en-US" altLang="zh-TW" sz="1400" dirty="0">
                <a:ea typeface="新細明體" panose="02020500000000000000" pitchFamily="18" charset="-120"/>
              </a:rPr>
              <a:t>) references Graphs(</a:t>
            </a:r>
            <a:r>
              <a:rPr lang="en-US" altLang="zh-TW" sz="1400" dirty="0" err="1">
                <a:ea typeface="新細明體" panose="02020500000000000000" pitchFamily="18" charset="-120"/>
              </a:rPr>
              <a:t>graphid</a:t>
            </a:r>
            <a:r>
              <a:rPr lang="en-US" altLang="zh-TW" sz="1400" dirty="0">
                <a:ea typeface="新細明體" panose="02020500000000000000" pitchFamily="18" charset="-120"/>
              </a:rPr>
              <a:t>));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create table Edges (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	</a:t>
            </a:r>
            <a:r>
              <a:rPr lang="en-US" altLang="zh-TW" sz="1400" dirty="0" err="1">
                <a:ea typeface="新細明體" panose="02020500000000000000" pitchFamily="18" charset="-120"/>
              </a:rPr>
              <a:t>parentid</a:t>
            </a:r>
            <a:r>
              <a:rPr lang="en-US" altLang="zh-TW" sz="1400" dirty="0">
                <a:ea typeface="新細明體" panose="02020500000000000000" pitchFamily="18" charset="-120"/>
              </a:rPr>
              <a:t> int, 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	</a:t>
            </a:r>
            <a:r>
              <a:rPr lang="en-US" altLang="zh-TW" sz="1400" dirty="0" err="1">
                <a:ea typeface="新細明體" panose="02020500000000000000" pitchFamily="18" charset="-120"/>
              </a:rPr>
              <a:t>childid</a:t>
            </a:r>
            <a:r>
              <a:rPr lang="en-US" altLang="zh-TW" sz="1400" dirty="0">
                <a:ea typeface="新細明體" panose="02020500000000000000" pitchFamily="18" charset="-120"/>
              </a:rPr>
              <a:t> int, 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	weight float, 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	</a:t>
            </a:r>
            <a:r>
              <a:rPr lang="en-US" altLang="zh-TW" sz="1400" dirty="0" err="1">
                <a:ea typeface="新細明體" panose="02020500000000000000" pitchFamily="18" charset="-120"/>
              </a:rPr>
              <a:t>graphid</a:t>
            </a:r>
            <a:r>
              <a:rPr lang="en-US" altLang="zh-TW" sz="1400" dirty="0">
                <a:ea typeface="新細明體" panose="02020500000000000000" pitchFamily="18" charset="-120"/>
              </a:rPr>
              <a:t> int, 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	primary key(</a:t>
            </a:r>
            <a:r>
              <a:rPr lang="en-US" altLang="zh-TW" sz="1400" dirty="0" err="1">
                <a:ea typeface="新細明體" panose="02020500000000000000" pitchFamily="18" charset="-120"/>
              </a:rPr>
              <a:t>parentid</a:t>
            </a:r>
            <a:r>
              <a:rPr lang="en-US" altLang="zh-TW" sz="1400" dirty="0">
                <a:ea typeface="新細明體" panose="02020500000000000000" pitchFamily="18" charset="-120"/>
              </a:rPr>
              <a:t>, </a:t>
            </a:r>
            <a:r>
              <a:rPr lang="en-US" altLang="zh-TW" sz="1400" dirty="0" err="1">
                <a:ea typeface="新細明體" panose="02020500000000000000" pitchFamily="18" charset="-120"/>
              </a:rPr>
              <a:t>childid</a:t>
            </a:r>
            <a:r>
              <a:rPr lang="en-US" altLang="zh-TW" sz="1400" dirty="0">
                <a:ea typeface="新細明體" panose="02020500000000000000" pitchFamily="18" charset="-120"/>
              </a:rPr>
              <a:t>), 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	foreign key(</a:t>
            </a:r>
            <a:r>
              <a:rPr lang="en-US" altLang="zh-TW" sz="1400" dirty="0" err="1">
                <a:ea typeface="新細明體" panose="02020500000000000000" pitchFamily="18" charset="-120"/>
              </a:rPr>
              <a:t>graphid</a:t>
            </a:r>
            <a:r>
              <a:rPr lang="en-US" altLang="zh-TW" sz="1400" dirty="0">
                <a:ea typeface="新細明體" panose="02020500000000000000" pitchFamily="18" charset="-120"/>
              </a:rPr>
              <a:t>) references Graphs(</a:t>
            </a:r>
            <a:r>
              <a:rPr lang="en-US" altLang="zh-TW" sz="1400" dirty="0" err="1">
                <a:ea typeface="新細明體" panose="02020500000000000000" pitchFamily="18" charset="-120"/>
              </a:rPr>
              <a:t>graphid</a:t>
            </a:r>
            <a:r>
              <a:rPr lang="en-US" altLang="zh-TW" sz="1400" dirty="0">
                <a:ea typeface="新細明體" panose="02020500000000000000" pitchFamily="18" charset="-120"/>
              </a:rPr>
              <a:t>));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DB62F2-A3E6-47B3-A2A5-676E8A67F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219</a:t>
            </a:fld>
            <a:endParaRPr lang="en-US" altLang="zh-TW"/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8" name="Text Box 3">
            <a:extLst>
              <a:ext uri="{FF2B5EF4-FFF2-40B4-BE49-F238E27FC236}">
                <a16:creationId xmlns:a16="http://schemas.microsoft.com/office/drawing/2014/main" id="{5EC9E550-1F4F-40DA-A24D-43861D6037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9365" y="554608"/>
            <a:ext cx="8559538" cy="6124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insert into Graphs VALUES(1, '</a:t>
            </a:r>
            <a:r>
              <a:rPr lang="en-US" altLang="zh-TW" sz="1400" dirty="0" err="1">
                <a:ea typeface="新細明體" panose="02020500000000000000" pitchFamily="18" charset="-120"/>
              </a:rPr>
              <a:t>SampleGraph</a:t>
            </a:r>
            <a:r>
              <a:rPr lang="en-US" altLang="zh-TW" sz="1400" dirty="0">
                <a:ea typeface="新細明體" panose="02020500000000000000" pitchFamily="18" charset="-120"/>
              </a:rPr>
              <a:t>’);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Nodes</a:t>
            </a:r>
            <a:r>
              <a:rPr lang="fr-FR" altLang="zh-TW" sz="1400" dirty="0">
                <a:ea typeface="新細明體" panose="02020500000000000000" pitchFamily="18" charset="-120"/>
              </a:rPr>
              <a:t> VALUES(1, 't1', 11, 1);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Nodes</a:t>
            </a:r>
            <a:r>
              <a:rPr lang="fr-FR" altLang="zh-TW" sz="1400" dirty="0">
                <a:ea typeface="新細明體" panose="02020500000000000000" pitchFamily="18" charset="-120"/>
              </a:rPr>
              <a:t> VALUES(2, 't2', 3, 1);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Nodes</a:t>
            </a:r>
            <a:r>
              <a:rPr lang="fr-FR" altLang="zh-TW" sz="1400" dirty="0">
                <a:ea typeface="新細明體" panose="02020500000000000000" pitchFamily="18" charset="-120"/>
              </a:rPr>
              <a:t> VALUES(3, 't3', 2, 1);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Nodes</a:t>
            </a:r>
            <a:r>
              <a:rPr lang="fr-FR" altLang="zh-TW" sz="1400" dirty="0">
                <a:ea typeface="新細明體" panose="02020500000000000000" pitchFamily="18" charset="-120"/>
              </a:rPr>
              <a:t> VALUES(4, 't4', 6, 1);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Nodes</a:t>
            </a:r>
            <a:r>
              <a:rPr lang="fr-FR" altLang="zh-TW" sz="1400" dirty="0">
                <a:ea typeface="新細明體" panose="02020500000000000000" pitchFamily="18" charset="-120"/>
              </a:rPr>
              <a:t> VALUES(5, 't5', 21, 1);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Nodes</a:t>
            </a:r>
            <a:r>
              <a:rPr lang="fr-FR" altLang="zh-TW" sz="1400" dirty="0">
                <a:ea typeface="新細明體" panose="02020500000000000000" pitchFamily="18" charset="-120"/>
              </a:rPr>
              <a:t> VALUES(6, 't6', 2, 1);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Nodes</a:t>
            </a:r>
            <a:r>
              <a:rPr lang="fr-FR" altLang="zh-TW" sz="1400" dirty="0">
                <a:ea typeface="新細明體" panose="02020500000000000000" pitchFamily="18" charset="-120"/>
              </a:rPr>
              <a:t> VALUES(7, 't7', 6, 1);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Nodes</a:t>
            </a:r>
            <a:r>
              <a:rPr lang="fr-FR" altLang="zh-TW" sz="1400" dirty="0">
                <a:ea typeface="新細明體" panose="02020500000000000000" pitchFamily="18" charset="-120"/>
              </a:rPr>
              <a:t> VALUES(8, 't8', 13, 1);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Nodes</a:t>
            </a:r>
            <a:r>
              <a:rPr lang="fr-FR" altLang="zh-TW" sz="1400" dirty="0">
                <a:ea typeface="新細明體" panose="02020500000000000000" pitchFamily="18" charset="-120"/>
              </a:rPr>
              <a:t> VALUES(9, 't9', 3, 1);</a:t>
            </a:r>
          </a:p>
          <a:p>
            <a:pPr>
              <a:spcBef>
                <a:spcPct val="50000"/>
              </a:spcBef>
            </a:pPr>
            <a:r>
              <a:rPr lang="en-US" altLang="zh-TW" sz="1400" dirty="0">
                <a:ea typeface="新細明體" panose="02020500000000000000" pitchFamily="18" charset="-120"/>
              </a:rPr>
              <a:t>insert into Edges Values(1, 2, 3, 1);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Edges</a:t>
            </a:r>
            <a:r>
              <a:rPr lang="fr-FR" altLang="zh-TW" sz="1400" dirty="0">
                <a:ea typeface="新細明體" panose="02020500000000000000" pitchFamily="18" charset="-120"/>
              </a:rPr>
              <a:t> Values(2, 3, 7, 1);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Edges</a:t>
            </a:r>
            <a:r>
              <a:rPr lang="fr-FR" altLang="zh-TW" sz="1400" dirty="0">
                <a:ea typeface="新細明體" panose="02020500000000000000" pitchFamily="18" charset="-120"/>
              </a:rPr>
              <a:t> Values(3, 4, 13, 1);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Edges</a:t>
            </a:r>
            <a:r>
              <a:rPr lang="fr-FR" altLang="zh-TW" sz="1400" dirty="0">
                <a:ea typeface="新細明體" panose="02020500000000000000" pitchFamily="18" charset="-120"/>
              </a:rPr>
              <a:t> Values(1, 6, 5, 1);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Edges</a:t>
            </a:r>
            <a:r>
              <a:rPr lang="fr-FR" altLang="zh-TW" sz="1400" dirty="0">
                <a:ea typeface="新細明體" panose="02020500000000000000" pitchFamily="18" charset="-120"/>
              </a:rPr>
              <a:t> Values(5, 6, 9, 1);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Edges</a:t>
            </a:r>
            <a:r>
              <a:rPr lang="fr-FR" altLang="zh-TW" sz="1400" dirty="0">
                <a:ea typeface="新細明體" panose="02020500000000000000" pitchFamily="18" charset="-120"/>
              </a:rPr>
              <a:t> Values(6, 7, 2, 1);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Edges</a:t>
            </a:r>
            <a:r>
              <a:rPr lang="fr-FR" altLang="zh-TW" sz="1400" dirty="0">
                <a:ea typeface="新細明體" panose="02020500000000000000" pitchFamily="18" charset="-120"/>
              </a:rPr>
              <a:t> Values(6, 8, 9, 1);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Edges</a:t>
            </a:r>
            <a:r>
              <a:rPr lang="fr-FR" altLang="zh-TW" sz="1400" dirty="0">
                <a:ea typeface="新細明體" panose="02020500000000000000" pitchFamily="18" charset="-120"/>
              </a:rPr>
              <a:t> Values(7, 9, 11, 1);</a:t>
            </a:r>
          </a:p>
          <a:p>
            <a:pPr>
              <a:spcBef>
                <a:spcPct val="50000"/>
              </a:spcBef>
            </a:pPr>
            <a:r>
              <a:rPr lang="fr-FR" altLang="zh-TW" sz="1400" dirty="0">
                <a:ea typeface="新細明體" panose="02020500000000000000" pitchFamily="18" charset="-120"/>
              </a:rPr>
              <a:t>insert </a:t>
            </a:r>
            <a:r>
              <a:rPr lang="fr-FR" altLang="zh-TW" sz="1400" dirty="0" err="1">
                <a:ea typeface="新細明體" panose="02020500000000000000" pitchFamily="18" charset="-120"/>
              </a:rPr>
              <a:t>into</a:t>
            </a:r>
            <a:r>
              <a:rPr lang="fr-FR" altLang="zh-TW" sz="1400" dirty="0">
                <a:ea typeface="新細明體" panose="02020500000000000000" pitchFamily="18" charset="-120"/>
              </a:rPr>
              <a:t> </a:t>
            </a:r>
            <a:r>
              <a:rPr lang="fr-FR" altLang="zh-TW" sz="1400" dirty="0" err="1">
                <a:ea typeface="新細明體" panose="02020500000000000000" pitchFamily="18" charset="-120"/>
              </a:rPr>
              <a:t>Edges</a:t>
            </a:r>
            <a:r>
              <a:rPr lang="fr-FR" altLang="zh-TW" sz="1400" dirty="0">
                <a:ea typeface="新細明體" panose="02020500000000000000" pitchFamily="18" charset="-120"/>
              </a:rPr>
              <a:t> Values(8, 9, 5, 1);</a:t>
            </a:r>
            <a:endParaRPr lang="en-US" altLang="zh-TW" sz="14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DB62F2-A3E6-47B3-A2A5-676E8A67F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220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2718257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2">
            <a:extLst>
              <a:ext uri="{FF2B5EF4-FFF2-40B4-BE49-F238E27FC236}">
                <a16:creationId xmlns:a16="http://schemas.microsoft.com/office/drawing/2014/main" id="{E3BC478B-3AF9-4529-AFC2-04BC520E4586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27</a:t>
            </a:r>
          </a:p>
        </p:txBody>
      </p:sp>
      <p:sp>
        <p:nvSpPr>
          <p:cNvPr id="159748" name="Text Box 3">
            <a:extLst>
              <a:ext uri="{FF2B5EF4-FFF2-40B4-BE49-F238E27FC236}">
                <a16:creationId xmlns:a16="http://schemas.microsoft.com/office/drawing/2014/main" id="{5EC9E550-1F4F-40DA-A24D-43861D6037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all the entry nodes for graph with </a:t>
            </a:r>
            <a:r>
              <a:rPr lang="en-US" altLang="zh-TW" sz="3200" dirty="0" err="1">
                <a:ea typeface="新細明體" panose="02020500000000000000" pitchFamily="18" charset="-120"/>
              </a:rPr>
              <a:t>graphid</a:t>
            </a:r>
            <a:r>
              <a:rPr lang="en-US" altLang="zh-TW" sz="3200" dirty="0">
                <a:ea typeface="新細明體" panose="02020500000000000000" pitchFamily="18" charset="-120"/>
              </a:rPr>
              <a:t> = 1. 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DEE16195-4FEE-46C8-81B0-2C20384E9E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DB62F2-A3E6-47B3-A2A5-676E8A67F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221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54465444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Rectangle 2">
            <a:extLst>
              <a:ext uri="{FF2B5EF4-FFF2-40B4-BE49-F238E27FC236}">
                <a16:creationId xmlns:a16="http://schemas.microsoft.com/office/drawing/2014/main" id="{DB55E890-AD0F-4FCD-9CBD-35CE723C578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60772" name="Text Box 4">
            <a:extLst>
              <a:ext uri="{FF2B5EF4-FFF2-40B4-BE49-F238E27FC236}">
                <a16:creationId xmlns:a16="http://schemas.microsoft.com/office/drawing/2014/main" id="{ADABEBB5-8D1D-42BA-A5E4-0D3E62920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200400"/>
            <a:ext cx="7543800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N.nodeid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Nodes N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and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1 AND 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N has no parents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9E7FAF-FC73-4A7B-A9C6-8F81B09848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DACF43-350B-48AA-9270-FBE9944D3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222</a:t>
            </a:fld>
            <a:endParaRPr lang="en-US" altLang="zh-TW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Rectangle 2">
            <a:extLst>
              <a:ext uri="{FF2B5EF4-FFF2-40B4-BE49-F238E27FC236}">
                <a16:creationId xmlns:a16="http://schemas.microsoft.com/office/drawing/2014/main" id="{DB55E890-AD0F-4FCD-9CBD-35CE723C578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60772" name="Text Box 4">
            <a:extLst>
              <a:ext uri="{FF2B5EF4-FFF2-40B4-BE49-F238E27FC236}">
                <a16:creationId xmlns:a16="http://schemas.microsoft.com/office/drawing/2014/main" id="{ADABEBB5-8D1D-42BA-A5E4-0D3E62920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200400"/>
            <a:ext cx="7543800" cy="2246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N.nodeid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Nodes N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1 AND NOT EXISTS(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parentid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FROM Edges 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E.childid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N.nodeid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9E7FAF-FC73-4A7B-A9C6-8F81B09848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DACF43-350B-48AA-9270-FBE9944D3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223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65565125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Rectangle 2">
            <a:extLst>
              <a:ext uri="{FF2B5EF4-FFF2-40B4-BE49-F238E27FC236}">
                <a16:creationId xmlns:a16="http://schemas.microsoft.com/office/drawing/2014/main" id="{748276C7-554C-484C-BBAD-B6B66CE1664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28</a:t>
            </a:r>
          </a:p>
        </p:txBody>
      </p:sp>
      <p:sp>
        <p:nvSpPr>
          <p:cNvPr id="161796" name="Text Box 3">
            <a:extLst>
              <a:ext uri="{FF2B5EF4-FFF2-40B4-BE49-F238E27FC236}">
                <a16:creationId xmlns:a16="http://schemas.microsoft.com/office/drawing/2014/main" id="{EE28E018-D601-45A7-8E3A-67E7D8399D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all the entry nodes for graph named “1”.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4C7375-3A8E-4D67-AF94-D6052ED77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428BD1-FF2D-4EB3-9FC1-C4C7ECA85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224</a:t>
            </a:fld>
            <a:endParaRPr lang="en-US" altLang="zh-TW"/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Rectangle 2">
            <a:extLst>
              <a:ext uri="{FF2B5EF4-FFF2-40B4-BE49-F238E27FC236}">
                <a16:creationId xmlns:a16="http://schemas.microsoft.com/office/drawing/2014/main" id="{C2818DE4-6477-439D-98F9-9DE1F32F8185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62820" name="Text Box 4">
            <a:extLst>
              <a:ext uri="{FF2B5EF4-FFF2-40B4-BE49-F238E27FC236}">
                <a16:creationId xmlns:a16="http://schemas.microsoft.com/office/drawing/2014/main" id="{61956D6F-262A-4207-B6DF-627F238E5C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200400"/>
            <a:ext cx="7543800" cy="2862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N.nodeid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Nodes N, Graphs G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G.graphid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AND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G.graphname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‘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SampleGraph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' AND NOT EXISTS(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parentid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FROM Edges 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E.childid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=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N.nodeid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AND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N.graphid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A2734-7306-4072-9918-A49588F7B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88BD0A-ECC0-4F9B-9915-B21DA503C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225</a:t>
            </a:fld>
            <a:endParaRPr lang="en-US" altLang="zh-TW"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Rectangle 2">
            <a:extLst>
              <a:ext uri="{FF2B5EF4-FFF2-40B4-BE49-F238E27FC236}">
                <a16:creationId xmlns:a16="http://schemas.microsoft.com/office/drawing/2014/main" id="{4FE10DB2-7612-4869-BFD7-5C134384DB3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29</a:t>
            </a:r>
          </a:p>
        </p:txBody>
      </p:sp>
      <p:sp>
        <p:nvSpPr>
          <p:cNvPr id="163844" name="Text Box 3">
            <a:extLst>
              <a:ext uri="{FF2B5EF4-FFF2-40B4-BE49-F238E27FC236}">
                <a16:creationId xmlns:a16="http://schemas.microsoft.com/office/drawing/2014/main" id="{5F3D965C-39B1-4BE5-9AFC-8ADB80E91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all the fork nodes for graph with </a:t>
            </a:r>
            <a:r>
              <a:rPr lang="en-US" altLang="zh-TW" sz="3200" dirty="0" err="1">
                <a:ea typeface="新細明體" panose="02020500000000000000" pitchFamily="18" charset="-120"/>
              </a:rPr>
              <a:t>graphid</a:t>
            </a:r>
            <a:r>
              <a:rPr lang="en-US" altLang="zh-TW" sz="3200" dirty="0">
                <a:ea typeface="新細明體" panose="02020500000000000000" pitchFamily="18" charset="-120"/>
              </a:rPr>
              <a:t> = 1.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798DBF-0080-48B2-80F8-136BB34908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3FBF8F-48E3-46E0-A506-7E95CD564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226</a:t>
            </a:fld>
            <a:endParaRPr lang="en-US" altLang="zh-TW"/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Rectangle 2">
            <a:extLst>
              <a:ext uri="{FF2B5EF4-FFF2-40B4-BE49-F238E27FC236}">
                <a16:creationId xmlns:a16="http://schemas.microsoft.com/office/drawing/2014/main" id="{2B302D48-1022-4A27-93DF-EB39CCFE567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64868" name="Text Box 4">
            <a:extLst>
              <a:ext uri="{FF2B5EF4-FFF2-40B4-BE49-F238E27FC236}">
                <a16:creationId xmlns:a16="http://schemas.microsoft.com/office/drawing/2014/main" id="{2B488CAE-4351-4554-AE38-95FFC9EF5E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200400"/>
            <a:ext cx="7543800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N.nodeid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Nodes N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1 AND 2 &lt;= 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the number of children of N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C686AB-000F-4BC6-802B-8E8A265004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2D976B-868B-4291-B566-1EFEAB6FF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227</a:t>
            </a:fld>
            <a:endParaRPr lang="en-US" altLang="zh-TW"/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Rectangle 2">
            <a:extLst>
              <a:ext uri="{FF2B5EF4-FFF2-40B4-BE49-F238E27FC236}">
                <a16:creationId xmlns:a16="http://schemas.microsoft.com/office/drawing/2014/main" id="{2B302D48-1022-4A27-93DF-EB39CCFE567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64868" name="Text Box 4">
            <a:extLst>
              <a:ext uri="{FF2B5EF4-FFF2-40B4-BE49-F238E27FC236}">
                <a16:creationId xmlns:a16="http://schemas.microsoft.com/office/drawing/2014/main" id="{2B488CAE-4351-4554-AE38-95FFC9EF5E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200400"/>
            <a:ext cx="7543800" cy="22467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N.nodeid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Nodes N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1 AND 2 &lt;= 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select COUNT(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FROM Edges 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E.parentid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N.nodeid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AND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1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C686AB-000F-4BC6-802B-8E8A265004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2D976B-868B-4291-B566-1EFEAB6FF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228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96513413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Rectangle 2">
            <a:extLst>
              <a:ext uri="{FF2B5EF4-FFF2-40B4-BE49-F238E27FC236}">
                <a16:creationId xmlns:a16="http://schemas.microsoft.com/office/drawing/2014/main" id="{2B302D48-1022-4A27-93DF-EB39CCFE567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64868" name="Text Box 4">
            <a:extLst>
              <a:ext uri="{FF2B5EF4-FFF2-40B4-BE49-F238E27FC236}">
                <a16:creationId xmlns:a16="http://schemas.microsoft.com/office/drawing/2014/main" id="{2B488CAE-4351-4554-AE38-95FFC9EF5E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200400"/>
            <a:ext cx="7543800" cy="16312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E.parentid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Edges 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1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 BY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E.parentid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HAVING COUNT(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 &gt;= 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C686AB-000F-4BC6-802B-8E8A265004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2D976B-868B-4291-B566-1EFEAB6FF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229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59796167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Rectangle 2">
            <a:extLst>
              <a:ext uri="{FF2B5EF4-FFF2-40B4-BE49-F238E27FC236}">
                <a16:creationId xmlns:a16="http://schemas.microsoft.com/office/drawing/2014/main" id="{83608738-0331-42B9-92EC-756DA871A83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30</a:t>
            </a:r>
          </a:p>
        </p:txBody>
      </p:sp>
      <p:sp>
        <p:nvSpPr>
          <p:cNvPr id="165892" name="Text Box 3">
            <a:extLst>
              <a:ext uri="{FF2B5EF4-FFF2-40B4-BE49-F238E27FC236}">
                <a16:creationId xmlns:a16="http://schemas.microsoft.com/office/drawing/2014/main" id="{F8397C31-086E-455A-9555-A0649A9DD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all the join nodes for graph with </a:t>
            </a:r>
            <a:r>
              <a:rPr lang="en-US" altLang="zh-TW" sz="3200" dirty="0" err="1">
                <a:ea typeface="新細明體" panose="02020500000000000000" pitchFamily="18" charset="-120"/>
              </a:rPr>
              <a:t>graphid</a:t>
            </a:r>
            <a:r>
              <a:rPr lang="en-US" altLang="zh-TW" sz="3200" dirty="0">
                <a:ea typeface="新細明體" panose="02020500000000000000" pitchFamily="18" charset="-120"/>
              </a:rPr>
              <a:t> = 1.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01730C-0027-4658-A7B9-DB0881408F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B1CCA6B-E9A9-4A5F-AB98-750C5E81B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230</a:t>
            </a:fld>
            <a:endParaRPr lang="en-US" altLang="zh-TW"/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Rectangle 2">
            <a:extLst>
              <a:ext uri="{FF2B5EF4-FFF2-40B4-BE49-F238E27FC236}">
                <a16:creationId xmlns:a16="http://schemas.microsoft.com/office/drawing/2014/main" id="{160A7638-6181-4C5F-9F4D-912E8B46F43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66916" name="Text Box 4">
            <a:extLst>
              <a:ext uri="{FF2B5EF4-FFF2-40B4-BE49-F238E27FC236}">
                <a16:creationId xmlns:a16="http://schemas.microsoft.com/office/drawing/2014/main" id="{080E33C7-0240-44CE-93B2-845B770AC6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200400"/>
            <a:ext cx="7543800" cy="2246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N.nodeid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Nodes N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1 AND 2 &lt;= 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select COUNT(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parentid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FROM Edges 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E.childid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N.nodeid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AND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1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2EDAB3-1367-415B-BEA0-684E2692AD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AF8B5B2-02F1-4C12-AF78-B303E2099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231</a:t>
            </a:fld>
            <a:endParaRPr lang="en-US" altLang="zh-TW"/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Rectangle 2">
            <a:extLst>
              <a:ext uri="{FF2B5EF4-FFF2-40B4-BE49-F238E27FC236}">
                <a16:creationId xmlns:a16="http://schemas.microsoft.com/office/drawing/2014/main" id="{E19E0165-3EC0-4FE5-879D-0C7A3A5ED11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31</a:t>
            </a:r>
          </a:p>
        </p:txBody>
      </p:sp>
      <p:sp>
        <p:nvSpPr>
          <p:cNvPr id="167940" name="Text Box 3">
            <a:extLst>
              <a:ext uri="{FF2B5EF4-FFF2-40B4-BE49-F238E27FC236}">
                <a16:creationId xmlns:a16="http://schemas.microsoft.com/office/drawing/2014/main" id="{7BD214EF-975C-4FCC-A343-107BD468A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all the linear nodes for graph with </a:t>
            </a:r>
            <a:r>
              <a:rPr lang="en-US" altLang="zh-TW" sz="3200" dirty="0" err="1">
                <a:ea typeface="新細明體" panose="02020500000000000000" pitchFamily="18" charset="-120"/>
              </a:rPr>
              <a:t>graphid</a:t>
            </a:r>
            <a:r>
              <a:rPr lang="en-US" altLang="zh-TW" sz="3200" dirty="0">
                <a:ea typeface="新細明體" panose="02020500000000000000" pitchFamily="18" charset="-120"/>
              </a:rPr>
              <a:t> = 1.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14043D-250C-4DA2-8C2D-D7661AFA4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D2B4F1-FBC0-41CD-BC1E-F1B21F607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232</a:t>
            </a:fld>
            <a:endParaRPr lang="en-US" altLang="zh-TW"/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>
            <a:extLst>
              <a:ext uri="{FF2B5EF4-FFF2-40B4-BE49-F238E27FC236}">
                <a16:creationId xmlns:a16="http://schemas.microsoft.com/office/drawing/2014/main" id="{E25C75D3-1F80-4793-8299-FE4DD59C520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68964" name="Text Box 4">
            <a:extLst>
              <a:ext uri="{FF2B5EF4-FFF2-40B4-BE49-F238E27FC236}">
                <a16:creationId xmlns:a16="http://schemas.microsoft.com/office/drawing/2014/main" id="{63C6FFE2-5203-4472-A89A-FBCB21BE7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0100" y="3200400"/>
            <a:ext cx="7543800" cy="34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E1.parentid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Edges E1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E1.parentid IN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(        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   SELECT E2.childid         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   FROM Edges E2        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   GROUP BY E2.childid        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   HAVING COUNT(E2.parentid) = 1           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)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 BY E1.parentid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HAVING COUNT(E1.childid) = 1;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59F1D8-BAF3-40C4-9BBB-1C05C4C931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0FEFC0-F89D-4FCE-AEA2-2AB2A52A2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233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04644571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>
            <a:extLst>
              <a:ext uri="{FF2B5EF4-FFF2-40B4-BE49-F238E27FC236}">
                <a16:creationId xmlns:a16="http://schemas.microsoft.com/office/drawing/2014/main" id="{E25C75D3-1F80-4793-8299-FE4DD59C520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68964" name="Text Box 4">
            <a:extLst>
              <a:ext uri="{FF2B5EF4-FFF2-40B4-BE49-F238E27FC236}">
                <a16:creationId xmlns:a16="http://schemas.microsoft.com/office/drawing/2014/main" id="{63C6FFE2-5203-4472-A89A-FBCB21BE7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200400"/>
            <a:ext cx="7543800" cy="16312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N.nodeid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Nodes N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1 AND 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1 == number of parents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 AND</a:t>
            </a:r>
            <a:r>
              <a:rPr lang="en-US" altLang="zh-TW" dirty="0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1 == number of children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59F1D8-BAF3-40C4-9BBB-1C05C4C931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0FEFC0-F89D-4FCE-AEA2-2AB2A52A2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234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53670747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>
            <a:extLst>
              <a:ext uri="{FF2B5EF4-FFF2-40B4-BE49-F238E27FC236}">
                <a16:creationId xmlns:a16="http://schemas.microsoft.com/office/drawing/2014/main" id="{E25C75D3-1F80-4793-8299-FE4DD59C520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68964" name="Text Box 4">
            <a:extLst>
              <a:ext uri="{FF2B5EF4-FFF2-40B4-BE49-F238E27FC236}">
                <a16:creationId xmlns:a16="http://schemas.microsoft.com/office/drawing/2014/main" id="{63C6FFE2-5203-4472-A89A-FBCB21BE7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200400"/>
            <a:ext cx="7543800" cy="3478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N.nodeid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Nodes N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1 AND 1 = 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select COUNT(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parentid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FROM Edges 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E.childid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N.nodeid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 AND 1 = (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	select COUNT(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FROM Edges 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       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E.parentid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=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N.nodeid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59F1D8-BAF3-40C4-9BBB-1C05C4C931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0FEFC0-F89D-4FCE-AEA2-2AB2A52A2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235</a:t>
            </a:fld>
            <a:endParaRPr lang="en-US" altLang="zh-TW"/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Rectangle 2">
            <a:extLst>
              <a:ext uri="{FF2B5EF4-FFF2-40B4-BE49-F238E27FC236}">
                <a16:creationId xmlns:a16="http://schemas.microsoft.com/office/drawing/2014/main" id="{E5A574DE-881E-4C87-9E88-455B6A5340F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32</a:t>
            </a:r>
          </a:p>
        </p:txBody>
      </p:sp>
      <p:sp>
        <p:nvSpPr>
          <p:cNvPr id="169988" name="Text Box 3">
            <a:extLst>
              <a:ext uri="{FF2B5EF4-FFF2-40B4-BE49-F238E27FC236}">
                <a16:creationId xmlns:a16="http://schemas.microsoft.com/office/drawing/2014/main" id="{1088E595-C919-4C88-A177-2811EDE8B0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all the graphs whose total node weight is over 40.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F60015-6169-42E3-B4D1-8CB5F835E7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4B616D-1674-4942-825D-980CE7B77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236</a:t>
            </a:fld>
            <a:endParaRPr lang="en-US" altLang="zh-TW"/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Rectangle 2">
            <a:extLst>
              <a:ext uri="{FF2B5EF4-FFF2-40B4-BE49-F238E27FC236}">
                <a16:creationId xmlns:a16="http://schemas.microsoft.com/office/drawing/2014/main" id="{02F4036B-8C8E-45FD-8975-79176664A1C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71012" name="Text Box 4">
            <a:extLst>
              <a:ext uri="{FF2B5EF4-FFF2-40B4-BE49-F238E27FC236}">
                <a16:creationId xmlns:a16="http://schemas.microsoft.com/office/drawing/2014/main" id="{62E56055-34B8-4408-B6E9-C450C88B31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200400"/>
            <a:ext cx="75438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N.graphid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Nodes N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 BY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HAVING SUM(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 &gt; 40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65FA6B-1AD1-4A87-9E42-DD790453E0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84EFC93-111F-4615-97A5-265820274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237</a:t>
            </a:fld>
            <a:endParaRPr lang="en-US" altLang="zh-TW"/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>
            <a:extLst>
              <a:ext uri="{FF2B5EF4-FFF2-40B4-BE49-F238E27FC236}">
                <a16:creationId xmlns:a16="http://schemas.microsoft.com/office/drawing/2014/main" id="{420F95ED-9F1A-4A7F-BDDD-7452E9BFDDE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33</a:t>
            </a:r>
          </a:p>
        </p:txBody>
      </p:sp>
      <p:sp>
        <p:nvSpPr>
          <p:cNvPr id="172036" name="Text Box 3">
            <a:extLst>
              <a:ext uri="{FF2B5EF4-FFF2-40B4-BE49-F238E27FC236}">
                <a16:creationId xmlns:a16="http://schemas.microsoft.com/office/drawing/2014/main" id="{60F4EF3B-EF3F-4DDF-98B8-3473B7DEB2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all the graphs whose total edge weight is over 40.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A08D22-B1C3-4F81-9898-95EE5C3A8E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DAF352-DF4F-440B-9E22-DA778B3E8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238</a:t>
            </a:fld>
            <a:endParaRPr lang="en-US" altLang="zh-TW"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2">
            <a:extLst>
              <a:ext uri="{FF2B5EF4-FFF2-40B4-BE49-F238E27FC236}">
                <a16:creationId xmlns:a16="http://schemas.microsoft.com/office/drawing/2014/main" id="{8DD0DD28-30C5-4D2D-AAE8-1BCFDF282BB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73060" name="Text Box 4">
            <a:extLst>
              <a:ext uri="{FF2B5EF4-FFF2-40B4-BE49-F238E27FC236}">
                <a16:creationId xmlns:a16="http://schemas.microsoft.com/office/drawing/2014/main" id="{230EDFA2-8758-4784-9E56-5C70ABB263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200400"/>
            <a:ext cx="75438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E.graphid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Edges 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 BY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HAVING SUM(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 &gt; 40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FE63AA-5FA1-4F48-BFC2-F754220FE5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2DC21-D790-4156-8489-8CAB5D699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239</a:t>
            </a:fld>
            <a:endParaRPr lang="en-US" altLang="zh-TW"/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2">
            <a:extLst>
              <a:ext uri="{FF2B5EF4-FFF2-40B4-BE49-F238E27FC236}">
                <a16:creationId xmlns:a16="http://schemas.microsoft.com/office/drawing/2014/main" id="{8C6D52A3-1834-435E-8826-1E7E8B555051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34</a:t>
            </a:r>
          </a:p>
        </p:txBody>
      </p:sp>
      <p:sp>
        <p:nvSpPr>
          <p:cNvPr id="174084" name="Text Box 3">
            <a:extLst>
              <a:ext uri="{FF2B5EF4-FFF2-40B4-BE49-F238E27FC236}">
                <a16:creationId xmlns:a16="http://schemas.microsoft.com/office/drawing/2014/main" id="{47D03A94-0584-4EC5-90D9-A686550E04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57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all the graphs whose total node weight is over 40 and total edge weight is over 50.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B11DA8-F7ED-49F4-9065-23A1B5AD58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CB7179-CCF9-4C1E-9C23-7224863D0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240</a:t>
            </a:fld>
            <a:endParaRPr lang="en-US" altLang="zh-TW"/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>
            <a:extLst>
              <a:ext uri="{FF2B5EF4-FFF2-40B4-BE49-F238E27FC236}">
                <a16:creationId xmlns:a16="http://schemas.microsoft.com/office/drawing/2014/main" id="{7081EE9C-06F3-45E4-90C0-D8C7820BE52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75108" name="Text Box 4">
            <a:extLst>
              <a:ext uri="{FF2B5EF4-FFF2-40B4-BE49-F238E27FC236}">
                <a16:creationId xmlns:a16="http://schemas.microsoft.com/office/drawing/2014/main" id="{58F739B8-4F6B-4784-B508-14776A6C28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200400"/>
            <a:ext cx="7543800" cy="3170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(SELECT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N.graphid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Nodes N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 BY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HAVING SUM(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 &gt; 40 )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INTERSECT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(SELECT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E.graphid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Edges 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GRROUP BY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HAVING SUM(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 &gt; 50)</a:t>
            </a:r>
          </a:p>
          <a:p>
            <a:endParaRPr lang="en-US" altLang="zh-TW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C2706E-C3C6-4230-A7C4-5D0191FA0D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B6E46A-65A6-4E2A-A197-FFD59075C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241</a:t>
            </a:fld>
            <a:endParaRPr lang="en-US" altLang="zh-TW"/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>
            <a:extLst>
              <a:ext uri="{FF2B5EF4-FFF2-40B4-BE49-F238E27FC236}">
                <a16:creationId xmlns:a16="http://schemas.microsoft.com/office/drawing/2014/main" id="{7081EE9C-06F3-45E4-90C0-D8C7820BE52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75108" name="Text Box 4">
            <a:extLst>
              <a:ext uri="{FF2B5EF4-FFF2-40B4-BE49-F238E27FC236}">
                <a16:creationId xmlns:a16="http://schemas.microsoft.com/office/drawing/2014/main" id="{58F739B8-4F6B-4784-B508-14776A6C28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900" y="3200400"/>
            <a:ext cx="7543800" cy="2862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(SELECT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N.graphid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Nodes N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 BY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HAVING SUM(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 &gt; 40 ) and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IN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(SELECT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E.graphid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Edges 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GRROUP BY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HAVING SUM(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 &gt; 50)</a:t>
            </a:r>
          </a:p>
          <a:p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C2706E-C3C6-4230-A7C4-5D0191FA0D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B6E46A-65A6-4E2A-A197-FFD59075C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242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6368123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Rectangle 2">
            <a:extLst>
              <a:ext uri="{FF2B5EF4-FFF2-40B4-BE49-F238E27FC236}">
                <a16:creationId xmlns:a16="http://schemas.microsoft.com/office/drawing/2014/main" id="{D8B4BC14-49A3-469C-A882-07865E01EE6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35</a:t>
            </a:r>
          </a:p>
        </p:txBody>
      </p:sp>
      <p:sp>
        <p:nvSpPr>
          <p:cNvPr id="176132" name="Text Box 3">
            <a:extLst>
              <a:ext uri="{FF2B5EF4-FFF2-40B4-BE49-F238E27FC236}">
                <a16:creationId xmlns:a16="http://schemas.microsoft.com/office/drawing/2014/main" id="{FDCF0ECA-DC9E-4624-AF14-8EF2DC5064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all the graphs that have 5 entry nodes.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36AD35-7EB1-4B2A-A90C-D53A741597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524324-F653-4D79-B3E9-EF7C6CA83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243</a:t>
            </a:fld>
            <a:endParaRPr lang="en-US" altLang="zh-TW"/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Rectangle 2">
            <a:extLst>
              <a:ext uri="{FF2B5EF4-FFF2-40B4-BE49-F238E27FC236}">
                <a16:creationId xmlns:a16="http://schemas.microsoft.com/office/drawing/2014/main" id="{0B626A31-0D28-4C63-A085-68A8C235F4C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77156" name="Text Box 4">
            <a:extLst>
              <a:ext uri="{FF2B5EF4-FFF2-40B4-BE49-F238E27FC236}">
                <a16:creationId xmlns:a16="http://schemas.microsoft.com/office/drawing/2014/main" id="{ACAC3FCA-69BA-4EDF-B5A4-47D0C1B91D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2819400"/>
            <a:ext cx="7543800" cy="409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CREATE VIEW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entrynodes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 AS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*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Nodes N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NOT EXISTS(     // witness of no parents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E.parentid</a:t>
            </a:r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FROM Edges E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     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E.childid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</a:t>
            </a:r>
            <a:r>
              <a:rPr lang="en-US" altLang="zh-TW" dirty="0" err="1">
                <a:solidFill>
                  <a:srgbClr val="FF0000"/>
                </a:solidFill>
                <a:latin typeface="Century Gothic" panose="020B0502020202020204" pitchFamily="34" charset="0"/>
                <a:ea typeface="新細明體" panose="02020500000000000000" pitchFamily="18" charset="-120"/>
              </a:rPr>
              <a:t>N.nodeid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  <a:p>
            <a:endParaRPr lang="en-US" altLang="zh-TW" dirty="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entrynodes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 BY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HAVGING COUNT(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 = 5; // groups of size 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CC4AC7-AE28-4337-A5B4-A0CF6AF7B6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847CAB-97A0-4FDB-A2E7-BAB5A89AE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244</a:t>
            </a:fld>
            <a:endParaRPr lang="en-US" altLang="zh-TW"/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Rectangle 2">
            <a:extLst>
              <a:ext uri="{FF2B5EF4-FFF2-40B4-BE49-F238E27FC236}">
                <a16:creationId xmlns:a16="http://schemas.microsoft.com/office/drawing/2014/main" id="{601ED4AB-C04D-40CD-9A91-C1DD587A8A6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36</a:t>
            </a:r>
          </a:p>
        </p:txBody>
      </p:sp>
      <p:sp>
        <p:nvSpPr>
          <p:cNvPr id="178180" name="Text Box 3">
            <a:extLst>
              <a:ext uri="{FF2B5EF4-FFF2-40B4-BE49-F238E27FC236}">
                <a16:creationId xmlns:a16="http://schemas.microsoft.com/office/drawing/2014/main" id="{FAE08DCF-877C-45A4-A1EC-06ED2B4A37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57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Return all the grandchildren nodes of node named “T34” in graph with </a:t>
            </a:r>
            <a:r>
              <a:rPr lang="en-US" altLang="zh-TW" sz="3200" dirty="0" err="1">
                <a:ea typeface="新細明體" panose="02020500000000000000" pitchFamily="18" charset="-120"/>
              </a:rPr>
              <a:t>graphid</a:t>
            </a:r>
            <a:r>
              <a:rPr lang="en-US" altLang="zh-TW" sz="3200" dirty="0">
                <a:ea typeface="新細明體" panose="02020500000000000000" pitchFamily="18" charset="-120"/>
              </a:rPr>
              <a:t> of 1234.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98FF94-FE83-46D9-998E-071182A639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0DD5AD1-3B67-4DCE-8D43-518649ED0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245</a:t>
            </a:fld>
            <a:endParaRPr lang="en-US" altLang="zh-TW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Rectangle 2">
            <a:extLst>
              <a:ext uri="{FF2B5EF4-FFF2-40B4-BE49-F238E27FC236}">
                <a16:creationId xmlns:a16="http://schemas.microsoft.com/office/drawing/2014/main" id="{601ED4AB-C04D-40CD-9A91-C1DD587A8A6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36</a:t>
            </a:r>
          </a:p>
        </p:txBody>
      </p:sp>
      <p:sp>
        <p:nvSpPr>
          <p:cNvPr id="178180" name="Text Box 3">
            <a:extLst>
              <a:ext uri="{FF2B5EF4-FFF2-40B4-BE49-F238E27FC236}">
                <a16:creationId xmlns:a16="http://schemas.microsoft.com/office/drawing/2014/main" id="{FAE08DCF-877C-45A4-A1EC-06ED2B4A37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2554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Select </a:t>
            </a:r>
            <a:r>
              <a:rPr lang="en-US" altLang="zh-TW" sz="3200" dirty="0" err="1">
                <a:ea typeface="新細明體" panose="02020500000000000000" pitchFamily="18" charset="-120"/>
              </a:rPr>
              <a:t>nodeid</a:t>
            </a:r>
            <a:endParaRPr lang="en-US" altLang="zh-TW" sz="3200" dirty="0">
              <a:ea typeface="新細明體" panose="02020500000000000000" pitchFamily="18" charset="-120"/>
            </a:endParaRPr>
          </a:p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From Nodes</a:t>
            </a:r>
          </a:p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Where </a:t>
            </a:r>
            <a:r>
              <a:rPr lang="en-US" altLang="zh-TW" sz="3200" dirty="0" err="1">
                <a:ea typeface="新細明體" panose="02020500000000000000" pitchFamily="18" charset="-120"/>
              </a:rPr>
              <a:t>N.graphid</a:t>
            </a:r>
            <a:r>
              <a:rPr lang="en-US" altLang="zh-TW" sz="3200" dirty="0">
                <a:ea typeface="新細明體" panose="02020500000000000000" pitchFamily="18" charset="-120"/>
              </a:rPr>
              <a:t> = ‘1234 and </a:t>
            </a:r>
            <a:r>
              <a:rPr lang="en-US" altLang="zh-TW" sz="3200" dirty="0" err="1">
                <a:ea typeface="新細明體" panose="02020500000000000000" pitchFamily="18" charset="-120"/>
              </a:rPr>
              <a:t>nodename</a:t>
            </a:r>
            <a:r>
              <a:rPr lang="en-US" altLang="zh-TW" sz="3200" dirty="0">
                <a:ea typeface="新細明體" panose="02020500000000000000" pitchFamily="18" charset="-120"/>
              </a:rPr>
              <a:t> = ‘T34”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98FF94-FE83-46D9-998E-071182A639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0DD5AD1-3B67-4DCE-8D43-518649ED0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246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66939927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Rectangle 2">
            <a:extLst>
              <a:ext uri="{FF2B5EF4-FFF2-40B4-BE49-F238E27FC236}">
                <a16:creationId xmlns:a16="http://schemas.microsoft.com/office/drawing/2014/main" id="{51C89A05-3E27-45F0-B95E-D5237B057D9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79204" name="Text Box 4">
            <a:extLst>
              <a:ext uri="{FF2B5EF4-FFF2-40B4-BE49-F238E27FC236}">
                <a16:creationId xmlns:a16="http://schemas.microsoft.com/office/drawing/2014/main" id="{897FD6FB-5213-4276-A99B-A1D40768AB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3200400"/>
            <a:ext cx="7543800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E2.childid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 Nodes N, Edges E1, Edge E2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1234 AND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N.nodename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= ‘T34’ AND E1.parentid =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N.nodeid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 AND E1.childid = E2.parentid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735307-7417-4C8E-88DE-A56E4684B1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18E60A-0D60-4702-AC32-898C3ED24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247</a:t>
            </a:fld>
            <a:endParaRPr lang="en-US" altLang="zh-TW"/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416DE637-6BBF-458F-A809-3A275D7166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8931299"/>
              </p:ext>
            </p:extLst>
          </p:nvPr>
        </p:nvGraphicFramePr>
        <p:xfrm>
          <a:off x="685800" y="5193247"/>
          <a:ext cx="1707034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">
                  <a:extLst>
                    <a:ext uri="{9D8B030D-6E8A-4147-A177-3AD203B41FA5}">
                      <a16:colId xmlns:a16="http://schemas.microsoft.com/office/drawing/2014/main" val="4110018276"/>
                    </a:ext>
                  </a:extLst>
                </a:gridCol>
                <a:gridCol w="733502">
                  <a:extLst>
                    <a:ext uri="{9D8B030D-6E8A-4147-A177-3AD203B41FA5}">
                      <a16:colId xmlns:a16="http://schemas.microsoft.com/office/drawing/2014/main" val="3161648006"/>
                    </a:ext>
                  </a:extLst>
                </a:gridCol>
                <a:gridCol w="733502">
                  <a:extLst>
                    <a:ext uri="{9D8B030D-6E8A-4147-A177-3AD203B41FA5}">
                      <a16:colId xmlns:a16="http://schemas.microsoft.com/office/drawing/2014/main" val="4089645242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9508446"/>
                  </a:ext>
                </a:extLst>
              </a:tr>
              <a:tr h="26246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6996287"/>
                  </a:ext>
                </a:extLst>
              </a:tr>
              <a:tr h="26246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4842707"/>
                  </a:ext>
                </a:extLst>
              </a:tr>
            </a:tbl>
          </a:graphicData>
        </a:graphic>
      </p:graphicFrame>
      <p:graphicFrame>
        <p:nvGraphicFramePr>
          <p:cNvPr id="7" name="Table 3">
            <a:extLst>
              <a:ext uri="{FF2B5EF4-FFF2-40B4-BE49-F238E27FC236}">
                <a16:creationId xmlns:a16="http://schemas.microsoft.com/office/drawing/2014/main" id="{D391C96B-2819-4F38-9DC7-39DBD99B66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9610245"/>
              </p:ext>
            </p:extLst>
          </p:nvPr>
        </p:nvGraphicFramePr>
        <p:xfrm>
          <a:off x="3224563" y="5193247"/>
          <a:ext cx="2200506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3502">
                  <a:extLst>
                    <a:ext uri="{9D8B030D-6E8A-4147-A177-3AD203B41FA5}">
                      <a16:colId xmlns:a16="http://schemas.microsoft.com/office/drawing/2014/main" val="4110018276"/>
                    </a:ext>
                  </a:extLst>
                </a:gridCol>
                <a:gridCol w="733502">
                  <a:extLst>
                    <a:ext uri="{9D8B030D-6E8A-4147-A177-3AD203B41FA5}">
                      <a16:colId xmlns:a16="http://schemas.microsoft.com/office/drawing/2014/main" val="3161648006"/>
                    </a:ext>
                  </a:extLst>
                </a:gridCol>
                <a:gridCol w="733502">
                  <a:extLst>
                    <a:ext uri="{9D8B030D-6E8A-4147-A177-3AD203B41FA5}">
                      <a16:colId xmlns:a16="http://schemas.microsoft.com/office/drawing/2014/main" val="4089645242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9508446"/>
                  </a:ext>
                </a:extLst>
              </a:tr>
              <a:tr h="26246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6996287"/>
                  </a:ext>
                </a:extLst>
              </a:tr>
              <a:tr h="26246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4842707"/>
                  </a:ext>
                </a:extLst>
              </a:tr>
            </a:tbl>
          </a:graphicData>
        </a:graphic>
      </p:graphicFrame>
      <p:graphicFrame>
        <p:nvGraphicFramePr>
          <p:cNvPr id="8" name="Table 3">
            <a:extLst>
              <a:ext uri="{FF2B5EF4-FFF2-40B4-BE49-F238E27FC236}">
                <a16:creationId xmlns:a16="http://schemas.microsoft.com/office/drawing/2014/main" id="{E7B8D8BD-8281-460A-9C4F-F8F0BFE679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7252240"/>
              </p:ext>
            </p:extLst>
          </p:nvPr>
        </p:nvGraphicFramePr>
        <p:xfrm>
          <a:off x="6105294" y="5151120"/>
          <a:ext cx="2200506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3502">
                  <a:extLst>
                    <a:ext uri="{9D8B030D-6E8A-4147-A177-3AD203B41FA5}">
                      <a16:colId xmlns:a16="http://schemas.microsoft.com/office/drawing/2014/main" val="4110018276"/>
                    </a:ext>
                  </a:extLst>
                </a:gridCol>
                <a:gridCol w="733502">
                  <a:extLst>
                    <a:ext uri="{9D8B030D-6E8A-4147-A177-3AD203B41FA5}">
                      <a16:colId xmlns:a16="http://schemas.microsoft.com/office/drawing/2014/main" val="3161648006"/>
                    </a:ext>
                  </a:extLst>
                </a:gridCol>
                <a:gridCol w="733502">
                  <a:extLst>
                    <a:ext uri="{9D8B030D-6E8A-4147-A177-3AD203B41FA5}">
                      <a16:colId xmlns:a16="http://schemas.microsoft.com/office/drawing/2014/main" val="4089645242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9508446"/>
                  </a:ext>
                </a:extLst>
              </a:tr>
              <a:tr h="26246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6996287"/>
                  </a:ext>
                </a:extLst>
              </a:tr>
              <a:tr h="26246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4842707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701D17B-A23F-40D8-B809-52E6B54EEC70}"/>
              </a:ext>
            </a:extLst>
          </p:cNvPr>
          <p:cNvCxnSpPr>
            <a:cxnSpLocks/>
          </p:cNvCxnSpPr>
          <p:nvPr/>
        </p:nvCxnSpPr>
        <p:spPr bwMode="auto">
          <a:xfrm>
            <a:off x="2377065" y="5308476"/>
            <a:ext cx="847498" cy="8246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triangle"/>
            <a:tailEnd type="triangle"/>
          </a:ln>
          <a:effectLst/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DEC9E24-72F7-4416-98C7-ACB805914C2A}"/>
              </a:ext>
            </a:extLst>
          </p:cNvPr>
          <p:cNvCxnSpPr>
            <a:endCxn id="8" idx="1"/>
          </p:cNvCxnSpPr>
          <p:nvPr/>
        </p:nvCxnSpPr>
        <p:spPr bwMode="auto">
          <a:xfrm flipV="1">
            <a:off x="5596053" y="5699760"/>
            <a:ext cx="509241" cy="43341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triangle"/>
            <a:tailEnd type="triangle"/>
          </a:ln>
          <a:effectLst/>
        </p:spPr>
      </p:cxn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2">
            <a:extLst>
              <a:ext uri="{FF2B5EF4-FFF2-40B4-BE49-F238E27FC236}">
                <a16:creationId xmlns:a16="http://schemas.microsoft.com/office/drawing/2014/main" id="{1E8E63C8-828B-4B40-ACC9-4ACD22E88EC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37</a:t>
            </a:r>
          </a:p>
        </p:txBody>
      </p:sp>
      <p:sp>
        <p:nvSpPr>
          <p:cNvPr id="180228" name="Text Box 3">
            <a:extLst>
              <a:ext uri="{FF2B5EF4-FFF2-40B4-BE49-F238E27FC236}">
                <a16:creationId xmlns:a16="http://schemas.microsoft.com/office/drawing/2014/main" id="{9C65323A-DA66-45D4-8129-5B0D679079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3733800"/>
            <a:ext cx="6705600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TW" sz="3200" dirty="0">
                <a:ea typeface="新細明體" panose="02020500000000000000" pitchFamily="18" charset="-120"/>
              </a:rPr>
              <a:t>For each graph, return the total number of nodes and total number of edges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49D4D5-3082-4A0A-BBC8-DC09B812D2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4146351-12D6-45BF-A3F6-5D6E1D809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248</a:t>
            </a:fld>
            <a:endParaRPr lang="en-US" altLang="zh-TW"/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Solution</a:t>
            </a:r>
          </a:p>
        </p:txBody>
      </p:sp>
      <p:sp>
        <p:nvSpPr>
          <p:cNvPr id="181252" name="Text Box 4">
            <a:extLst>
              <a:ext uri="{FF2B5EF4-FFF2-40B4-BE49-F238E27FC236}">
                <a16:creationId xmlns:a16="http://schemas.microsoft.com/office/drawing/2014/main" id="{E7906DD1-7DC8-4BCF-852F-2DFDA317B3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2819400"/>
            <a:ext cx="7543800" cy="6124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CREATE VIEW V1(</a:t>
            </a:r>
            <a:r>
              <a:rPr lang="en-US" altLang="zh-TW" sz="12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, </a:t>
            </a:r>
            <a:r>
              <a:rPr lang="en-US" altLang="zh-TW" sz="12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totalnodes</a:t>
            </a:r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AS</a:t>
            </a:r>
          </a:p>
          <a:p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2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, COUNT(</a:t>
            </a:r>
            <a:r>
              <a:rPr lang="en-US" altLang="zh-TW" sz="12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nodeid</a:t>
            </a:r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) as </a:t>
            </a:r>
            <a:r>
              <a:rPr lang="en-US" altLang="zh-TW" sz="12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totalnodes</a:t>
            </a:r>
          </a:p>
          <a:p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Nodes N</a:t>
            </a:r>
          </a:p>
          <a:p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 BY </a:t>
            </a:r>
            <a:r>
              <a:rPr lang="en-US" altLang="zh-TW" sz="12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</a:p>
          <a:p>
            <a:endParaRPr lang="en-US" altLang="zh-TW" sz="1200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CREATE VIEW V2(</a:t>
            </a:r>
            <a:r>
              <a:rPr lang="en-US" altLang="zh-TW" sz="12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, </a:t>
            </a:r>
            <a:r>
              <a:rPr lang="en-US" altLang="zh-TW" sz="12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totaledges</a:t>
            </a:r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AS</a:t>
            </a:r>
          </a:p>
          <a:p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</a:t>
            </a:r>
            <a:r>
              <a:rPr lang="en-US" altLang="zh-TW" sz="12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, COUNT(*) as </a:t>
            </a:r>
            <a:r>
              <a:rPr lang="en-US" altLang="zh-TW" sz="12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totaledges</a:t>
            </a:r>
          </a:p>
          <a:p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Edges E</a:t>
            </a:r>
          </a:p>
          <a:p>
            <a:r>
              <a:rPr lang="en-US" altLang="zh-TW" sz="1200" dirty="0">
                <a:latin typeface="Century Gothic" panose="020B0502020202020204" pitchFamily="34" charset="0"/>
                <a:ea typeface="新細明體" panose="02020500000000000000" pitchFamily="18" charset="-120"/>
              </a:rPr>
              <a:t>GROUP BY </a:t>
            </a:r>
            <a:r>
              <a:rPr lang="en-US" altLang="zh-TW" sz="1200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</a:p>
          <a:p>
            <a:endParaRPr lang="en-US" altLang="zh-TW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CREATE VIEW V3(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totalnodes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latin typeface="Century Gothic" panose="020B0502020202020204" pitchFamily="34" charset="0"/>
                <a:ea typeface="新細明體" panose="02020500000000000000" pitchFamily="18" charset="-120"/>
              </a:rPr>
              <a:t>totaledges</a:t>
            </a:r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) AS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SELECT V1.graphid, V1.totalnodes, V2.totaledges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FROM V1, V2</a:t>
            </a:r>
          </a:p>
          <a:p>
            <a:r>
              <a:rPr lang="en-US" altLang="zh-TW" dirty="0">
                <a:latin typeface="Century Gothic" panose="020B0502020202020204" pitchFamily="34" charset="0"/>
                <a:ea typeface="新細明體" panose="02020500000000000000" pitchFamily="18" charset="-120"/>
              </a:rPr>
              <a:t>WHERE V1.graphid = V2.graphid</a:t>
            </a:r>
          </a:p>
          <a:p>
            <a:endParaRPr lang="en-US" altLang="zh-TW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endParaRPr lang="en-US" altLang="zh-TW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endParaRPr lang="en-US" altLang="zh-TW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endParaRPr lang="en-US" altLang="zh-TW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endParaRPr lang="en-US" altLang="zh-TW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endParaRPr lang="en-US" altLang="zh-TW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endParaRPr lang="en-US" altLang="zh-TW">
              <a:latin typeface="Century Gothic" panose="020B0502020202020204" pitchFamily="34" charset="0"/>
              <a:ea typeface="新細明體" panose="02020500000000000000" pitchFamily="18" charset="-120"/>
            </a:endParaRPr>
          </a:p>
          <a:p>
            <a:endParaRPr lang="en-US" altLang="zh-TW">
              <a:latin typeface="Century Gothic" panose="020B0502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6EC143-79AC-4C2D-95EC-6524E368B2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Graphs(</a:t>
            </a:r>
            <a:r>
              <a:rPr lang="en-US" altLang="zh-TW" u="sng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graphname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Nodes(</a:t>
            </a:r>
            <a:r>
              <a:rPr lang="en-US" altLang="zh-TW" u="sng" dirty="0" err="1">
                <a:ea typeface="新細明體" panose="02020500000000000000" pitchFamily="18" charset="-120"/>
              </a:rPr>
              <a:t>nodeid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nodename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nodeweight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pPr algn="ctr"/>
            <a:r>
              <a:rPr lang="en-US" altLang="zh-TW" dirty="0">
                <a:ea typeface="新細明體" panose="02020500000000000000" pitchFamily="18" charset="-120"/>
              </a:rPr>
              <a:t>Edges(</a:t>
            </a:r>
            <a:r>
              <a:rPr lang="en-US" altLang="zh-TW" u="sng" dirty="0" err="1">
                <a:ea typeface="新細明體" panose="02020500000000000000" pitchFamily="18" charset="-120"/>
              </a:rPr>
              <a:t>parentid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childid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edgeweight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graphid</a:t>
            </a:r>
            <a:r>
              <a:rPr lang="en-US" altLang="zh-TW" u="sng" dirty="0">
                <a:ea typeface="新細明體" panose="02020500000000000000" pitchFamily="18" charset="-120"/>
              </a:rPr>
              <a:t>)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C62C63-7153-4139-B4A6-66CCBC856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249</a:t>
            </a:fld>
            <a:endParaRPr lang="en-US" altLang="zh-TW"/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SQL Exercise 3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myid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myid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1A8D13-D7CF-48F8-AABC-210AE352A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250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02513281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38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76D1B935-B378-4AE2-A2BA-3287A967A7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95635"/>
            <a:ext cx="67056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</a:t>
            </a:r>
            <a:r>
              <a:rPr lang="en-US" sz="3200" dirty="0" err="1">
                <a:ea typeface="新細明體" panose="02020500000000000000" pitchFamily="18" charset="-120"/>
              </a:rPr>
              <a:t>userids</a:t>
            </a:r>
            <a:r>
              <a:rPr lang="en-US" sz="3200" dirty="0">
                <a:ea typeface="新細明體" panose="02020500000000000000" pitchFamily="18" charset="-120"/>
              </a:rPr>
              <a:t> of those users who have posted “excellent” reviews but never  “poor” reviews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B3BDC0-EAD4-4F36-ACF1-C91A7665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251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54616332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38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76D1B935-B378-4AE2-A2BA-3287A967A7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29700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(SELECT </a:t>
            </a:r>
            <a:r>
              <a:rPr lang="en-US" sz="1600" dirty="0" err="1">
                <a:ea typeface="新細明體" panose="02020500000000000000" pitchFamily="18" charset="-120"/>
              </a:rPr>
              <a:t>reviewerid</a:t>
            </a:r>
            <a:r>
              <a:rPr lang="en-US" sz="1600" dirty="0">
                <a:ea typeface="新細明體" panose="02020500000000000000" pitchFamily="18" charset="-120"/>
              </a:rPr>
              <a:t> 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FROM Reviews 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WHERE score = “Excellent”)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EXCEPT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(SELECT </a:t>
            </a:r>
            <a:r>
              <a:rPr lang="en-US" sz="1600" dirty="0" err="1">
                <a:ea typeface="新細明體" panose="02020500000000000000" pitchFamily="18" charset="-120"/>
              </a:rPr>
              <a:t>reviewerid</a:t>
            </a:r>
            <a:r>
              <a:rPr lang="en-US" sz="1600" dirty="0">
                <a:ea typeface="新細明體" panose="02020500000000000000" pitchFamily="18" charset="-120"/>
              </a:rPr>
              <a:t> 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FROM Reviews 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WHERE score = “Poor”)</a:t>
            </a:r>
          </a:p>
          <a:p>
            <a:pPr>
              <a:spcBef>
                <a:spcPct val="50000"/>
              </a:spcBef>
            </a:pPr>
            <a:endParaRPr lang="en-US" sz="18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EE2C17-DCD0-4D13-B0EB-38A2E28F0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252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86540349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39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76D1B935-B378-4AE2-A2BA-3287A967A7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95635"/>
            <a:ext cx="67056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</a:t>
            </a:r>
            <a:r>
              <a:rPr lang="en-US" sz="3200" dirty="0" err="1">
                <a:ea typeface="新細明體" panose="02020500000000000000" pitchFamily="18" charset="-120"/>
              </a:rPr>
              <a:t>jokeids</a:t>
            </a:r>
            <a:r>
              <a:rPr lang="en-US" sz="3200" dirty="0">
                <a:ea typeface="新細明體" panose="02020500000000000000" pitchFamily="18" charset="-120"/>
              </a:rPr>
              <a:t> of those jokes that have been reviewed by all users. 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69529D-BB2F-47C7-B861-0FFA1A1A5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253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75543031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39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76D1B935-B378-4AE2-A2BA-3287A967A7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3293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(SELECT </a:t>
            </a:r>
            <a:r>
              <a:rPr lang="en-US" sz="1600" dirty="0" err="1">
                <a:ea typeface="新細明體" panose="02020500000000000000" pitchFamily="18" charset="-120"/>
              </a:rPr>
              <a:t>jokeid</a:t>
            </a:r>
            <a:r>
              <a:rPr lang="en-US" sz="1600" dirty="0">
                <a:ea typeface="新細明體" panose="02020500000000000000" pitchFamily="18" charset="-120"/>
              </a:rPr>
              <a:t> 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FROM Jokes J1           // for each J1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WHERE NOT EXISTS(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      (SELECT </a:t>
            </a:r>
            <a:r>
              <a:rPr lang="en-US" sz="1600" dirty="0" err="1">
                <a:ea typeface="新細明體" panose="02020500000000000000" pitchFamily="18" charset="-120"/>
              </a:rPr>
              <a:t>userid</a:t>
            </a:r>
            <a:r>
              <a:rPr lang="en-US" sz="1600" dirty="0">
                <a:ea typeface="新細明體" panose="02020500000000000000" pitchFamily="18" charset="-120"/>
              </a:rPr>
              <a:t> FROM Users) // all users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       EXCEPT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      (SELECT </a:t>
            </a:r>
            <a:r>
              <a:rPr lang="en-US" sz="1600" dirty="0" err="1">
                <a:ea typeface="新細明體" panose="02020500000000000000" pitchFamily="18" charset="-120"/>
              </a:rPr>
              <a:t>reviewerid</a:t>
            </a:r>
            <a:r>
              <a:rPr lang="en-US" sz="1600" dirty="0">
                <a:ea typeface="新細明體" panose="02020500000000000000" pitchFamily="18" charset="-120"/>
              </a:rPr>
              <a:t>         // reviewers for J1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        FROM Reviews R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        WHERE </a:t>
            </a:r>
            <a:r>
              <a:rPr lang="en-US" sz="1600" dirty="0" err="1">
                <a:ea typeface="新細明體" panose="02020500000000000000" pitchFamily="18" charset="-120"/>
              </a:rPr>
              <a:t>R.jokeid</a:t>
            </a:r>
            <a:r>
              <a:rPr lang="en-US" sz="1600" dirty="0">
                <a:ea typeface="新細明體" panose="02020500000000000000" pitchFamily="18" charset="-120"/>
              </a:rPr>
              <a:t> = J1.jokeid)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4F9131-E3F9-4D62-A008-B892CF0C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254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56465284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39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76D1B935-B378-4AE2-A2BA-3287A967A7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980841"/>
            <a:ext cx="6705600" cy="144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SELECT </a:t>
            </a:r>
            <a:r>
              <a:rPr lang="en-US" sz="1600" dirty="0" err="1">
                <a:ea typeface="新細明體" panose="02020500000000000000" pitchFamily="18" charset="-120"/>
              </a:rPr>
              <a:t>jokeid</a:t>
            </a:r>
            <a:r>
              <a:rPr lang="en-US" sz="1600" dirty="0">
                <a:ea typeface="新細明體" panose="02020500000000000000" pitchFamily="18" charset="-120"/>
              </a:rPr>
              <a:t> 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FROM Reviews 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GROUP BY </a:t>
            </a:r>
            <a:r>
              <a:rPr lang="en-US" sz="1600" dirty="0" err="1">
                <a:ea typeface="新細明體" panose="02020500000000000000" pitchFamily="18" charset="-120"/>
              </a:rPr>
              <a:t>jokeid</a:t>
            </a:r>
            <a:endParaRPr lang="en-US" sz="1600" dirty="0">
              <a:ea typeface="新細明體" panose="02020500000000000000" pitchFamily="18" charset="-120"/>
            </a:endParaRP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HAVING COUNT(*) = (SELECT COUNT(*) FROM Users)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09D9A66-A8DB-4F35-8818-7D9B26213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255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99067602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40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76D1B935-B378-4AE2-A2BA-3287A967A7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95635"/>
            <a:ext cx="670560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</a:t>
            </a:r>
            <a:r>
              <a:rPr lang="en-US" sz="3200" dirty="0" err="1">
                <a:ea typeface="新細明體" panose="02020500000000000000" pitchFamily="18" charset="-120"/>
              </a:rPr>
              <a:t>jokeids</a:t>
            </a:r>
            <a:r>
              <a:rPr lang="en-US" sz="3200" dirty="0">
                <a:ea typeface="新細明體" panose="02020500000000000000" pitchFamily="18" charset="-120"/>
              </a:rPr>
              <a:t> of those jokes that ‘John Smith’ gives “excellent” reviews while ‘David Liu’ gives ‘poor’ reviews.</a:t>
            </a:r>
          </a:p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 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A31723-0C6A-47BA-B1CA-5AA3EA021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256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71005391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40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76D1B935-B378-4AE2-A2BA-3287A967A7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34163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(SELECT </a:t>
            </a:r>
            <a:r>
              <a:rPr lang="en-US" sz="1600" dirty="0" err="1">
                <a:ea typeface="新細明體" panose="02020500000000000000" pitchFamily="18" charset="-120"/>
              </a:rPr>
              <a:t>jokeid</a:t>
            </a:r>
            <a:r>
              <a:rPr lang="en-US" sz="1600" dirty="0">
                <a:ea typeface="新細明體" panose="02020500000000000000" pitchFamily="18" charset="-120"/>
              </a:rPr>
              <a:t> 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FROM Reviews R1, Users U1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WHERE R1.reviewerid = U1.userid  AND score = “Excellent” AND U1.name  = “John Smith”)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INTERSECT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(SELECT </a:t>
            </a:r>
            <a:r>
              <a:rPr lang="en-US" sz="1600" dirty="0" err="1">
                <a:ea typeface="新細明體" panose="02020500000000000000" pitchFamily="18" charset="-120"/>
              </a:rPr>
              <a:t>jokeid</a:t>
            </a:r>
            <a:r>
              <a:rPr lang="en-US" sz="1600" dirty="0">
                <a:ea typeface="新細明體" panose="02020500000000000000" pitchFamily="18" charset="-120"/>
              </a:rPr>
              <a:t> 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FROM Reviews R2, Users U2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WHERE R2.reviewerid = U2.userid AND score = “Poor” AND U2.name  = “David Liu”)</a:t>
            </a:r>
          </a:p>
          <a:p>
            <a:pPr>
              <a:spcBef>
                <a:spcPct val="50000"/>
              </a:spcBef>
            </a:pPr>
            <a:endParaRPr lang="en-US" sz="16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CE8D98-C5BC-4DE7-8D5F-93C15ABC1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257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26158641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41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76D1B935-B378-4AE2-A2BA-3287A967A7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95635"/>
            <a:ext cx="6705600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</a:t>
            </a:r>
            <a:r>
              <a:rPr lang="en-US" sz="3200" dirty="0" err="1">
                <a:ea typeface="新細明體" panose="02020500000000000000" pitchFamily="18" charset="-120"/>
              </a:rPr>
              <a:t>jokeids</a:t>
            </a:r>
            <a:r>
              <a:rPr lang="en-US" sz="3200" dirty="0">
                <a:ea typeface="新細明體" panose="02020500000000000000" pitchFamily="18" charset="-120"/>
              </a:rPr>
              <a:t> of those jokes that have been reviewed by both male and female users.</a:t>
            </a:r>
          </a:p>
          <a:p>
            <a:pPr>
              <a:spcBef>
                <a:spcPct val="50000"/>
              </a:spcBef>
            </a:pPr>
            <a:endParaRPr lang="en-US" sz="3200" dirty="0">
              <a:ea typeface="新細明體" panose="02020500000000000000" pitchFamily="18" charset="-120"/>
            </a:endParaRPr>
          </a:p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 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C3573C-7251-4102-ADE2-4524DE715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258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18024753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41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76D1B935-B378-4AE2-A2BA-3287A967A7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2923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(SELECT </a:t>
            </a:r>
            <a:r>
              <a:rPr lang="en-US" sz="1600" dirty="0" err="1">
                <a:ea typeface="新細明體" panose="02020500000000000000" pitchFamily="18" charset="-120"/>
              </a:rPr>
              <a:t>jokeid</a:t>
            </a:r>
            <a:r>
              <a:rPr lang="en-US" sz="1600" dirty="0">
                <a:ea typeface="新細明體" panose="02020500000000000000" pitchFamily="18" charset="-120"/>
              </a:rPr>
              <a:t> 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FROM Reviews R1, Users U1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WHERE R1.reviewerid = U1.authorid AND U1.gender = “M”)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INTERSECT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(SELECT </a:t>
            </a:r>
            <a:r>
              <a:rPr lang="en-US" sz="1600" dirty="0" err="1">
                <a:ea typeface="新細明體" panose="02020500000000000000" pitchFamily="18" charset="-120"/>
              </a:rPr>
              <a:t>jokeid</a:t>
            </a:r>
            <a:r>
              <a:rPr lang="en-US" sz="1600" dirty="0">
                <a:ea typeface="新細明體" panose="02020500000000000000" pitchFamily="18" charset="-120"/>
              </a:rPr>
              <a:t> 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FROM Reviews R2, Users U2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WHERE R2.reviewerid = U2.authorid AND U2.gender=“F”)</a:t>
            </a:r>
          </a:p>
          <a:p>
            <a:pPr>
              <a:spcBef>
                <a:spcPct val="50000"/>
              </a:spcBef>
            </a:pPr>
            <a:endParaRPr lang="en-US" sz="16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FBA350-65BB-4C2C-9576-2ACB60642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259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97089832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42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76D1B935-B378-4AE2-A2BA-3287A967A7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95635"/>
            <a:ext cx="6705600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</a:t>
            </a:r>
            <a:r>
              <a:rPr lang="en-US" sz="3200" dirty="0" err="1">
                <a:ea typeface="新細明體" panose="02020500000000000000" pitchFamily="18" charset="-120"/>
              </a:rPr>
              <a:t>jokeids</a:t>
            </a:r>
            <a:r>
              <a:rPr lang="en-US" sz="3200" dirty="0">
                <a:ea typeface="新細明體" panose="02020500000000000000" pitchFamily="18" charset="-120"/>
              </a:rPr>
              <a:t> of those jokes that have been reviewed by all users of age 20.</a:t>
            </a:r>
          </a:p>
          <a:p>
            <a:pPr>
              <a:spcBef>
                <a:spcPct val="50000"/>
              </a:spcBef>
            </a:pPr>
            <a:endParaRPr lang="en-US" sz="3200" dirty="0">
              <a:ea typeface="新細明體" panose="02020500000000000000" pitchFamily="18" charset="-120"/>
            </a:endParaRPr>
          </a:p>
          <a:p>
            <a:pPr>
              <a:spcBef>
                <a:spcPct val="50000"/>
              </a:spcBef>
            </a:pPr>
            <a:endParaRPr lang="en-US" sz="3200" dirty="0">
              <a:ea typeface="新細明體" panose="02020500000000000000" pitchFamily="18" charset="-120"/>
            </a:endParaRPr>
          </a:p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 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7A07BA-F185-4630-B11B-AF6A258DF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260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99636311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42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EC5A74C1-9596-4D28-8BE6-7791BA9C4F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3293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(SELECT </a:t>
            </a:r>
            <a:r>
              <a:rPr lang="en-US" sz="1600" dirty="0" err="1">
                <a:ea typeface="新細明體" panose="02020500000000000000" pitchFamily="18" charset="-120"/>
              </a:rPr>
              <a:t>jokeid</a:t>
            </a:r>
            <a:r>
              <a:rPr lang="en-US" sz="1600" dirty="0">
                <a:ea typeface="新細明體" panose="02020500000000000000" pitchFamily="18" charset="-120"/>
              </a:rPr>
              <a:t> 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FROM Jokes J1                       // for each J1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WHERE NOT EXISTS(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      (SELECT </a:t>
            </a:r>
            <a:r>
              <a:rPr lang="en-US" sz="1600" dirty="0" err="1">
                <a:ea typeface="新細明體" panose="02020500000000000000" pitchFamily="18" charset="-120"/>
              </a:rPr>
              <a:t>userid</a:t>
            </a:r>
            <a:r>
              <a:rPr lang="en-US" sz="1600" dirty="0">
                <a:ea typeface="新細明體" panose="02020500000000000000" pitchFamily="18" charset="-120"/>
              </a:rPr>
              <a:t> FROM Users WHERE age=20)  // all users of age 20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       EXCEPT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      (SELECT </a:t>
            </a:r>
            <a:r>
              <a:rPr lang="en-US" sz="1600" dirty="0" err="1">
                <a:ea typeface="新細明體" panose="02020500000000000000" pitchFamily="18" charset="-120"/>
              </a:rPr>
              <a:t>reviewerid</a:t>
            </a:r>
            <a:r>
              <a:rPr lang="en-US" sz="1600" dirty="0">
                <a:ea typeface="新細明體" panose="02020500000000000000" pitchFamily="18" charset="-120"/>
              </a:rPr>
              <a:t>                   // reviewers for J1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        FROM Reviews R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        WHERE </a:t>
            </a:r>
            <a:r>
              <a:rPr lang="en-US" sz="1600" dirty="0" err="1">
                <a:ea typeface="新細明體" panose="02020500000000000000" pitchFamily="18" charset="-120"/>
              </a:rPr>
              <a:t>R.jokeid</a:t>
            </a:r>
            <a:r>
              <a:rPr lang="en-US" sz="1600" dirty="0">
                <a:ea typeface="新細明體" panose="02020500000000000000" pitchFamily="18" charset="-120"/>
              </a:rPr>
              <a:t> = J1.jokeid)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BF0F74-1F8B-4B4B-84D0-1ABCB67F3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261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5754681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42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EC5A74C1-9596-4D28-8BE6-7791BA9C4F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(SELECT DISTINCT </a:t>
            </a:r>
            <a:r>
              <a:rPr lang="en-US" sz="1600" dirty="0" err="1">
                <a:ea typeface="新細明體" panose="02020500000000000000" pitchFamily="18" charset="-120"/>
              </a:rPr>
              <a:t>U.jokeid</a:t>
            </a:r>
            <a:r>
              <a:rPr lang="en-US" sz="1600" dirty="0">
                <a:ea typeface="新細明體" panose="02020500000000000000" pitchFamily="18" charset="-120"/>
              </a:rPr>
              <a:t> 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FROM Reviews R, Users U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WHERE </a:t>
            </a:r>
            <a:r>
              <a:rPr lang="en-US" sz="1600" dirty="0" err="1">
                <a:ea typeface="新細明體" panose="02020500000000000000" pitchFamily="18" charset="-120"/>
              </a:rPr>
              <a:t>R.reviewerid</a:t>
            </a:r>
            <a:r>
              <a:rPr lang="en-US" sz="1600" dirty="0">
                <a:ea typeface="新細明體" panose="02020500000000000000" pitchFamily="18" charset="-120"/>
              </a:rPr>
              <a:t> = </a:t>
            </a:r>
            <a:r>
              <a:rPr lang="en-US" sz="1600" dirty="0" err="1">
                <a:ea typeface="新細明體" panose="02020500000000000000" pitchFamily="18" charset="-120"/>
              </a:rPr>
              <a:t>U.userid</a:t>
            </a:r>
            <a:r>
              <a:rPr lang="en-US" sz="1600" dirty="0">
                <a:ea typeface="新細明體" panose="02020500000000000000" pitchFamily="18" charset="-120"/>
              </a:rPr>
              <a:t> AND </a:t>
            </a:r>
            <a:r>
              <a:rPr lang="en-US" sz="1600" dirty="0" err="1">
                <a:ea typeface="新細明體" panose="02020500000000000000" pitchFamily="18" charset="-120"/>
              </a:rPr>
              <a:t>U.age</a:t>
            </a:r>
            <a:r>
              <a:rPr lang="en-US" sz="1600" dirty="0">
                <a:ea typeface="新細明體" panose="02020500000000000000" pitchFamily="18" charset="-120"/>
              </a:rPr>
              <a:t> = 20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GROUP BY </a:t>
            </a:r>
            <a:r>
              <a:rPr lang="en-US" sz="1600" dirty="0" err="1">
                <a:ea typeface="新細明體" panose="02020500000000000000" pitchFamily="18" charset="-120"/>
              </a:rPr>
              <a:t>R.jokeid</a:t>
            </a:r>
            <a:endParaRPr lang="en-US" sz="1600" dirty="0">
              <a:ea typeface="新細明體" panose="02020500000000000000" pitchFamily="18" charset="-120"/>
            </a:endParaRPr>
          </a:p>
          <a:p>
            <a:pPr>
              <a:spcBef>
                <a:spcPct val="50000"/>
              </a:spcBef>
            </a:pPr>
            <a:r>
              <a:rPr lang="en-US" sz="1600" dirty="0">
                <a:solidFill>
                  <a:srgbClr val="FF0000"/>
                </a:solidFill>
                <a:ea typeface="新細明體" panose="02020500000000000000" pitchFamily="18" charset="-120"/>
              </a:rPr>
              <a:t>HAVING COUNT(*) </a:t>
            </a:r>
            <a:r>
              <a:rPr lang="en-US" sz="1600" dirty="0">
                <a:ea typeface="新細明體" panose="02020500000000000000" pitchFamily="18" charset="-120"/>
              </a:rPr>
              <a:t>= (SELECT COUNT(*) FROM Users where age = 20)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D9B43B-7019-4B59-983D-D10D50EB6BEF}"/>
              </a:ext>
            </a:extLst>
          </p:cNvPr>
          <p:cNvSpPr txBox="1"/>
          <p:nvPr/>
        </p:nvSpPr>
        <p:spPr>
          <a:xfrm>
            <a:off x="1520890" y="5915608"/>
            <a:ext cx="5103845" cy="40011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Witness-counting pattern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2A5239-67B0-4CC4-9F87-F3DCA2E36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262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60675977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43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76D1B935-B378-4AE2-A2BA-3287A967A7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95635"/>
            <a:ext cx="6705600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</a:t>
            </a:r>
            <a:r>
              <a:rPr lang="en-US" sz="3200" dirty="0" err="1">
                <a:ea typeface="新細明體" panose="02020500000000000000" pitchFamily="18" charset="-120"/>
              </a:rPr>
              <a:t>jokeids</a:t>
            </a:r>
            <a:r>
              <a:rPr lang="en-US" sz="3200" dirty="0">
                <a:ea typeface="新細明體" panose="02020500000000000000" pitchFamily="18" charset="-120"/>
              </a:rPr>
              <a:t> of those jokes that have been reviewed ONLY by users younger than 20 (not including 20).</a:t>
            </a:r>
          </a:p>
          <a:p>
            <a:pPr>
              <a:spcBef>
                <a:spcPct val="50000"/>
              </a:spcBef>
            </a:pPr>
            <a:endParaRPr lang="en-US" sz="3200" dirty="0">
              <a:ea typeface="新細明體" panose="02020500000000000000" pitchFamily="18" charset="-120"/>
            </a:endParaRPr>
          </a:p>
          <a:p>
            <a:pPr>
              <a:spcBef>
                <a:spcPct val="50000"/>
              </a:spcBef>
            </a:pPr>
            <a:endParaRPr lang="en-US" sz="3200" dirty="0">
              <a:ea typeface="新細明體" panose="02020500000000000000" pitchFamily="18" charset="-120"/>
            </a:endParaRPr>
          </a:p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 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E550018-430F-43D7-AC6B-9272E8053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263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89324450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43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EC5A74C1-9596-4D28-8BE6-7791BA9C4F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2923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(SELECT </a:t>
            </a:r>
            <a:r>
              <a:rPr lang="en-US" sz="1600" dirty="0" err="1">
                <a:ea typeface="新細明體" panose="02020500000000000000" pitchFamily="18" charset="-120"/>
              </a:rPr>
              <a:t>jokeid</a:t>
            </a:r>
            <a:r>
              <a:rPr lang="en-US" sz="1600" dirty="0">
                <a:ea typeface="新細明體" panose="02020500000000000000" pitchFamily="18" charset="-120"/>
              </a:rPr>
              <a:t> 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FROM Reviews R1, User U1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WHERE R1.reviewerid = U1.userid AND U1.age &lt; 20)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EXCEPT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(SELECT </a:t>
            </a:r>
            <a:r>
              <a:rPr lang="en-US" sz="1600" dirty="0" err="1">
                <a:ea typeface="新細明體" panose="02020500000000000000" pitchFamily="18" charset="-120"/>
              </a:rPr>
              <a:t>jokeid</a:t>
            </a:r>
            <a:r>
              <a:rPr lang="en-US" sz="1600" dirty="0">
                <a:ea typeface="新細明體" panose="02020500000000000000" pitchFamily="18" charset="-120"/>
              </a:rPr>
              <a:t> 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FROM Reviews R2, User U2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WHERE R2.reviewerid = U2.userid AND U2.age &gt;= 20)</a:t>
            </a:r>
          </a:p>
          <a:p>
            <a:pPr>
              <a:spcBef>
                <a:spcPct val="50000"/>
              </a:spcBef>
            </a:pPr>
            <a:endParaRPr lang="en-US" sz="16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BC3E39-3606-44DC-9E9A-46C516F7D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264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866678797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44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76D1B935-B378-4AE2-A2BA-3287A967A7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95635"/>
            <a:ext cx="6705600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</a:t>
            </a:r>
            <a:r>
              <a:rPr lang="en-US" sz="3200" dirty="0" err="1">
                <a:ea typeface="新細明體" panose="02020500000000000000" pitchFamily="18" charset="-120"/>
              </a:rPr>
              <a:t>userids</a:t>
            </a:r>
            <a:r>
              <a:rPr lang="en-US" sz="3200" dirty="0">
                <a:ea typeface="新細明體" panose="02020500000000000000" pitchFamily="18" charset="-120"/>
              </a:rPr>
              <a:t> of the users who posted the most number of jokes on 1/1/2019</a:t>
            </a:r>
          </a:p>
          <a:p>
            <a:pPr>
              <a:spcBef>
                <a:spcPct val="50000"/>
              </a:spcBef>
            </a:pPr>
            <a:endParaRPr lang="en-US" sz="3200" dirty="0">
              <a:ea typeface="新細明體" panose="02020500000000000000" pitchFamily="18" charset="-120"/>
            </a:endParaRPr>
          </a:p>
          <a:p>
            <a:pPr>
              <a:spcBef>
                <a:spcPct val="50000"/>
              </a:spcBef>
            </a:pPr>
            <a:endParaRPr lang="en-US" sz="3200" dirty="0">
              <a:ea typeface="新細明體" panose="02020500000000000000" pitchFamily="18" charset="-120"/>
            </a:endParaRPr>
          </a:p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 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9B1BD88-836D-464A-804B-DC63E58A8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265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78390406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44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EC5A74C1-9596-4D28-8BE6-7791BA9C4F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2923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CREATE VIEW </a:t>
            </a:r>
            <a:r>
              <a:rPr lang="en-US" sz="1600" dirty="0" err="1">
                <a:ea typeface="新細明體" panose="02020500000000000000" pitchFamily="18" charset="-120"/>
              </a:rPr>
              <a:t>JokeNum</a:t>
            </a:r>
            <a:r>
              <a:rPr lang="en-US" sz="1600" dirty="0">
                <a:ea typeface="新細明體" panose="02020500000000000000" pitchFamily="18" charset="-120"/>
              </a:rPr>
              <a:t>(</a:t>
            </a:r>
            <a:r>
              <a:rPr lang="en-US" sz="1600" dirty="0" err="1">
                <a:ea typeface="新細明體" panose="02020500000000000000" pitchFamily="18" charset="-120"/>
              </a:rPr>
              <a:t>authorid</a:t>
            </a:r>
            <a:r>
              <a:rPr lang="en-US" sz="1600" dirty="0">
                <a:ea typeface="新細明體" panose="02020500000000000000" pitchFamily="18" charset="-120"/>
              </a:rPr>
              <a:t>, num) AS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SELECT </a:t>
            </a:r>
            <a:r>
              <a:rPr lang="en-US" sz="1600" dirty="0" err="1">
                <a:ea typeface="新細明體" panose="02020500000000000000" pitchFamily="18" charset="-120"/>
              </a:rPr>
              <a:t>authorid</a:t>
            </a:r>
            <a:r>
              <a:rPr lang="en-US" sz="1600" dirty="0">
                <a:ea typeface="新細明體" panose="02020500000000000000" pitchFamily="18" charset="-120"/>
              </a:rPr>
              <a:t>, COUNT(*) AS num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FROM Jokes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WHERE </a:t>
            </a:r>
            <a:r>
              <a:rPr lang="en-US" sz="1600" dirty="0" err="1">
                <a:ea typeface="新細明體" panose="02020500000000000000" pitchFamily="18" charset="-120"/>
              </a:rPr>
              <a:t>postDay</a:t>
            </a:r>
            <a:r>
              <a:rPr lang="en-US" sz="1600" dirty="0">
                <a:ea typeface="新細明體" panose="02020500000000000000" pitchFamily="18" charset="-120"/>
              </a:rPr>
              <a:t> = ‘1/1/2019’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GROUP BY </a:t>
            </a:r>
            <a:r>
              <a:rPr lang="en-US" sz="1600" dirty="0" err="1">
                <a:ea typeface="新細明體" panose="02020500000000000000" pitchFamily="18" charset="-120"/>
              </a:rPr>
              <a:t>authorid</a:t>
            </a:r>
            <a:endParaRPr lang="en-US" sz="1600" dirty="0">
              <a:ea typeface="新細明體" panose="02020500000000000000" pitchFamily="18" charset="-120"/>
            </a:endParaRP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SELECT </a:t>
            </a:r>
            <a:r>
              <a:rPr lang="en-US" sz="1600" dirty="0" err="1">
                <a:ea typeface="新細明體" panose="02020500000000000000" pitchFamily="18" charset="-120"/>
              </a:rPr>
              <a:t>authorid</a:t>
            </a:r>
            <a:r>
              <a:rPr lang="en-US" sz="1600" dirty="0">
                <a:ea typeface="新細明體" panose="02020500000000000000" pitchFamily="18" charset="-120"/>
              </a:rPr>
              <a:t> 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FROM </a:t>
            </a:r>
            <a:r>
              <a:rPr lang="en-US" sz="1600" dirty="0" err="1">
                <a:ea typeface="新細明體" panose="02020500000000000000" pitchFamily="18" charset="-120"/>
              </a:rPr>
              <a:t>JokeNum</a:t>
            </a:r>
            <a:endParaRPr lang="en-US" sz="1600" dirty="0">
              <a:ea typeface="新細明體" panose="02020500000000000000" pitchFamily="18" charset="-120"/>
            </a:endParaRP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WHERE num = </a:t>
            </a:r>
            <a:r>
              <a:rPr lang="en-US" sz="1600" dirty="0">
                <a:solidFill>
                  <a:srgbClr val="00B0F0"/>
                </a:solidFill>
                <a:ea typeface="新細明體" panose="02020500000000000000" pitchFamily="18" charset="-120"/>
              </a:rPr>
              <a:t>SELECT MAX(num) FROM </a:t>
            </a:r>
            <a:r>
              <a:rPr lang="en-US" sz="1600" dirty="0" err="1">
                <a:solidFill>
                  <a:srgbClr val="00B0F0"/>
                </a:solidFill>
                <a:ea typeface="新細明體" panose="02020500000000000000" pitchFamily="18" charset="-120"/>
              </a:rPr>
              <a:t>JokeNum</a:t>
            </a:r>
            <a:endParaRPr lang="en-US" sz="1600" dirty="0">
              <a:solidFill>
                <a:srgbClr val="00B0F0"/>
              </a:solidFill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B9FED9-FD11-489E-B088-B9462FFC6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266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854865778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76D1B935-B378-4AE2-A2BA-3287A967A7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95635"/>
            <a:ext cx="6705600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an SQL view </a:t>
            </a:r>
            <a:r>
              <a:rPr lang="en-US" sz="3200" dirty="0" err="1">
                <a:ea typeface="新細明體" panose="02020500000000000000" pitchFamily="18" charset="-120"/>
              </a:rPr>
              <a:t>JokesNum</a:t>
            </a:r>
            <a:r>
              <a:rPr lang="en-US" sz="3200" dirty="0">
                <a:ea typeface="新細明體" panose="02020500000000000000" pitchFamily="18" charset="-120"/>
              </a:rPr>
              <a:t> that gives the number of jokes each user posts on each day</a:t>
            </a:r>
          </a:p>
          <a:p>
            <a:pPr>
              <a:spcBef>
                <a:spcPct val="50000"/>
              </a:spcBef>
            </a:pPr>
            <a:endParaRPr lang="en-US" sz="3200" dirty="0">
              <a:ea typeface="新細明體" panose="02020500000000000000" pitchFamily="18" charset="-120"/>
            </a:endParaRPr>
          </a:p>
          <a:p>
            <a:pPr>
              <a:spcBef>
                <a:spcPct val="50000"/>
              </a:spcBef>
            </a:pPr>
            <a:endParaRPr lang="en-US" sz="3200" dirty="0">
              <a:ea typeface="新細明體" panose="02020500000000000000" pitchFamily="18" charset="-120"/>
            </a:endParaRPr>
          </a:p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 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303554-22A1-4CF6-8FEE-A5882F342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267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8224925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144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CREATE VIEW </a:t>
            </a:r>
            <a:r>
              <a:rPr lang="en-US" sz="1600" dirty="0" err="1">
                <a:ea typeface="新細明體" panose="02020500000000000000" pitchFamily="18" charset="-120"/>
              </a:rPr>
              <a:t>JokeNum</a:t>
            </a:r>
            <a:r>
              <a:rPr lang="en-US" sz="1600" dirty="0">
                <a:ea typeface="新細明體" panose="02020500000000000000" pitchFamily="18" charset="-120"/>
              </a:rPr>
              <a:t>(</a:t>
            </a:r>
            <a:r>
              <a:rPr lang="en-US" sz="1600" dirty="0" err="1">
                <a:ea typeface="新細明體" panose="02020500000000000000" pitchFamily="18" charset="-120"/>
              </a:rPr>
              <a:t>authorid</a:t>
            </a:r>
            <a:r>
              <a:rPr lang="en-US" sz="1600" dirty="0">
                <a:ea typeface="新細明體" panose="02020500000000000000" pitchFamily="18" charset="-120"/>
              </a:rPr>
              <a:t>, </a:t>
            </a:r>
            <a:r>
              <a:rPr lang="en-US" sz="1600" dirty="0" err="1">
                <a:ea typeface="新細明體" panose="02020500000000000000" pitchFamily="18" charset="-120"/>
              </a:rPr>
              <a:t>postDay</a:t>
            </a:r>
            <a:r>
              <a:rPr lang="en-US" sz="1600" dirty="0">
                <a:ea typeface="新細明體" panose="02020500000000000000" pitchFamily="18" charset="-120"/>
              </a:rPr>
              <a:t>, num) AS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SELECT </a:t>
            </a:r>
            <a:r>
              <a:rPr lang="en-US" sz="1600" dirty="0" err="1">
                <a:ea typeface="新細明體" panose="02020500000000000000" pitchFamily="18" charset="-120"/>
              </a:rPr>
              <a:t>authorid</a:t>
            </a:r>
            <a:r>
              <a:rPr lang="en-US" sz="1600" dirty="0">
                <a:ea typeface="新細明體" panose="02020500000000000000" pitchFamily="18" charset="-120"/>
              </a:rPr>
              <a:t>, </a:t>
            </a:r>
            <a:r>
              <a:rPr lang="en-US" sz="1600" dirty="0" err="1">
                <a:ea typeface="新細明體" panose="02020500000000000000" pitchFamily="18" charset="-120"/>
              </a:rPr>
              <a:t>postDay</a:t>
            </a:r>
            <a:r>
              <a:rPr lang="en-US" sz="1600" dirty="0">
                <a:ea typeface="新細明體" panose="02020500000000000000" pitchFamily="18" charset="-120"/>
              </a:rPr>
              <a:t>, COUNT(*) AS num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FROM Jokes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GROUP BY </a:t>
            </a:r>
            <a:r>
              <a:rPr lang="en-US" sz="1600" dirty="0" err="1">
                <a:ea typeface="新細明體" panose="02020500000000000000" pitchFamily="18" charset="-120"/>
              </a:rPr>
              <a:t>authorid</a:t>
            </a:r>
            <a:r>
              <a:rPr lang="en-US" sz="1600" dirty="0">
                <a:ea typeface="新細明體" panose="02020500000000000000" pitchFamily="18" charset="-120"/>
              </a:rPr>
              <a:t>, </a:t>
            </a:r>
            <a:r>
              <a:rPr lang="en-US" sz="1600" dirty="0" err="1">
                <a:ea typeface="新細明體" panose="02020500000000000000" pitchFamily="18" charset="-120"/>
              </a:rPr>
              <a:t>postDay</a:t>
            </a:r>
            <a:endParaRPr lang="en-US" sz="16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636BE6-C456-47AF-BB71-8588A8262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268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04270580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46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Write an SQL CREATE ASSERTION statement to force the constraint “one user cannot post more than five jokes per day”. 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091687-7A0A-4234-8D43-DCBFC6B39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269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41661012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46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2554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CREATE ASSERTION </a:t>
            </a:r>
            <a:r>
              <a:rPr lang="en-US" sz="1600" dirty="0" err="1">
                <a:ea typeface="新細明體" panose="02020500000000000000" pitchFamily="18" charset="-120"/>
              </a:rPr>
              <a:t>NoMoreThenFive</a:t>
            </a:r>
            <a:endParaRPr lang="en-US" sz="1600" dirty="0">
              <a:ea typeface="新細明體" panose="02020500000000000000" pitchFamily="18" charset="-120"/>
            </a:endParaRP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CHECK NOT EXISTS(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    SELECT </a:t>
            </a:r>
            <a:r>
              <a:rPr lang="en-US" sz="1600" dirty="0" err="1">
                <a:ea typeface="新細明體" panose="02020500000000000000" pitchFamily="18" charset="-120"/>
              </a:rPr>
              <a:t>authorid</a:t>
            </a:r>
            <a:r>
              <a:rPr lang="en-US" sz="1600" dirty="0">
                <a:ea typeface="新細明體" panose="02020500000000000000" pitchFamily="18" charset="-120"/>
              </a:rPr>
              <a:t>, </a:t>
            </a:r>
            <a:r>
              <a:rPr lang="en-US" sz="1600" dirty="0" err="1">
                <a:ea typeface="新細明體" panose="02020500000000000000" pitchFamily="18" charset="-120"/>
              </a:rPr>
              <a:t>postDay</a:t>
            </a:r>
            <a:r>
              <a:rPr lang="en-US" sz="1600" dirty="0">
                <a:ea typeface="新細明體" panose="02020500000000000000" pitchFamily="18" charset="-120"/>
              </a:rPr>
              <a:t>, COUNT(*) AS num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    FROM Jokes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    GROUP BY </a:t>
            </a:r>
            <a:r>
              <a:rPr lang="en-US" sz="1600" dirty="0" err="1">
                <a:ea typeface="新細明體" panose="02020500000000000000" pitchFamily="18" charset="-120"/>
              </a:rPr>
              <a:t>authorid</a:t>
            </a:r>
            <a:r>
              <a:rPr lang="en-US" sz="1600" dirty="0">
                <a:ea typeface="新細明體" panose="02020500000000000000" pitchFamily="18" charset="-120"/>
              </a:rPr>
              <a:t>, </a:t>
            </a:r>
            <a:r>
              <a:rPr lang="en-US" sz="1600" dirty="0" err="1">
                <a:ea typeface="新細明體" panose="02020500000000000000" pitchFamily="18" charset="-120"/>
              </a:rPr>
              <a:t>postDay</a:t>
            </a:r>
            <a:endParaRPr lang="en-US" sz="1600" dirty="0">
              <a:ea typeface="新細明體" panose="02020500000000000000" pitchFamily="18" charset="-120"/>
            </a:endParaRP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     HAVING COUNT(*) &gt; 5</a:t>
            </a:r>
          </a:p>
          <a:p>
            <a:pPr>
              <a:spcBef>
                <a:spcPct val="50000"/>
              </a:spcBef>
            </a:pPr>
            <a:r>
              <a:rPr lang="en-US" sz="1600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97D4C50-DCDF-408D-8613-F5DF1235A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270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37034418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47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Write an SQL CREATE TRIGGER statement to force the constraint “a user cannot provide more than five reviews per day”.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F9C2CF4-47B2-4DD2-9BFE-9D73AD3A3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271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17226057"/>
      </p:ext>
    </p:extLst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47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CREATE TRIGGER </a:t>
            </a:r>
            <a:r>
              <a:rPr lang="en-US" sz="1600" dirty="0" err="1"/>
              <a:t>NoMoreThanFive</a:t>
            </a:r>
            <a:r>
              <a:rPr lang="en-US" sz="1600" dirty="0"/>
              <a:t> </a:t>
            </a:r>
          </a:p>
          <a:p>
            <a:pPr>
              <a:buNone/>
            </a:pPr>
            <a:r>
              <a:rPr lang="en-US" sz="1600" dirty="0"/>
              <a:t>BEFORE INSERT </a:t>
            </a:r>
          </a:p>
          <a:p>
            <a:pPr>
              <a:buNone/>
            </a:pPr>
            <a:r>
              <a:rPr lang="en-US" sz="1600" dirty="0"/>
              <a:t>ON Reviews</a:t>
            </a:r>
          </a:p>
          <a:p>
            <a:pPr>
              <a:buNone/>
            </a:pPr>
            <a:r>
              <a:rPr lang="en-US" sz="1600" dirty="0"/>
              <a:t>FOR EACH ROW </a:t>
            </a:r>
          </a:p>
          <a:p>
            <a:pPr>
              <a:buNone/>
            </a:pPr>
            <a:r>
              <a:rPr lang="en-US" sz="1600" dirty="0"/>
              <a:t>BEGIN </a:t>
            </a:r>
          </a:p>
          <a:p>
            <a:pPr>
              <a:buNone/>
            </a:pPr>
            <a:r>
              <a:rPr lang="en-US" sz="1600" dirty="0"/>
              <a:t>     IF ( 5 =  (SELECT count(*) from Reviews R </a:t>
            </a:r>
          </a:p>
          <a:p>
            <a:pPr>
              <a:buNone/>
            </a:pPr>
            <a:r>
              <a:rPr lang="en-US" sz="1600" dirty="0"/>
              <a:t>	         where </a:t>
            </a:r>
            <a:r>
              <a:rPr lang="en-US" sz="1600" dirty="0" err="1"/>
              <a:t>R.reviewerid</a:t>
            </a:r>
            <a:r>
              <a:rPr lang="en-US" sz="1600" dirty="0"/>
              <a:t> = </a:t>
            </a:r>
            <a:r>
              <a:rPr lang="en-US" sz="1600" dirty="0" err="1">
                <a:solidFill>
                  <a:srgbClr val="FF0000"/>
                </a:solidFill>
              </a:rPr>
              <a:t>NEW.reviewerid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AND 	DATE(</a:t>
            </a:r>
            <a:r>
              <a:rPr lang="en-US" sz="1600" dirty="0" err="1"/>
              <a:t>submitTime</a:t>
            </a:r>
            <a:r>
              <a:rPr lang="en-US" sz="1600" dirty="0"/>
              <a:t>) = </a:t>
            </a:r>
            <a:r>
              <a:rPr lang="en-US" sz="1600" dirty="0" err="1">
                <a:solidFill>
                  <a:srgbClr val="FF0000"/>
                </a:solidFill>
              </a:rPr>
              <a:t>NEW.submitTime</a:t>
            </a:r>
            <a:r>
              <a:rPr lang="en-US" sz="1600" dirty="0"/>
              <a:t>) )) THEN 	SIGNAL SQLSTATE '45000’; </a:t>
            </a:r>
          </a:p>
          <a:p>
            <a:pPr>
              <a:buNone/>
            </a:pPr>
            <a:r>
              <a:rPr lang="en-US" sz="1600" dirty="0"/>
              <a:t>     END IF;               // count how many jokes I already posted on the day I                  		// wanted to insert</a:t>
            </a:r>
          </a:p>
          <a:p>
            <a:pPr>
              <a:buNone/>
            </a:pPr>
            <a:r>
              <a:rPr lang="en-US" sz="1600" dirty="0"/>
              <a:t>END;	</a:t>
            </a:r>
            <a:endParaRPr lang="en-US" sz="16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12AB41-51EC-474E-81A2-5ADBC6FED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272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57519286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48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List the </a:t>
            </a:r>
            <a:r>
              <a:rPr lang="en-US" sz="3200" dirty="0" err="1">
                <a:ea typeface="新細明體" panose="02020500000000000000" pitchFamily="18" charset="-120"/>
              </a:rPr>
              <a:t>userids</a:t>
            </a:r>
            <a:r>
              <a:rPr lang="en-US" sz="3200" dirty="0">
                <a:ea typeface="新細明體" panose="02020500000000000000" pitchFamily="18" charset="-120"/>
              </a:rPr>
              <a:t> of the users who posted at least two jokes on the same day, one has a tag of “</a:t>
            </a:r>
            <a:r>
              <a:rPr lang="en-US" sz="3200" dirty="0" err="1">
                <a:ea typeface="新細明體" panose="02020500000000000000" pitchFamily="18" charset="-120"/>
              </a:rPr>
              <a:t>db</a:t>
            </a:r>
            <a:r>
              <a:rPr lang="en-US" sz="3200" dirty="0">
                <a:ea typeface="新細明體" panose="02020500000000000000" pitchFamily="18" charset="-120"/>
              </a:rPr>
              <a:t>” and the other has a tag of “</a:t>
            </a:r>
            <a:r>
              <a:rPr lang="en-US" sz="3200" dirty="0" err="1">
                <a:ea typeface="新細明體" panose="02020500000000000000" pitchFamily="18" charset="-120"/>
              </a:rPr>
              <a:t>sql</a:t>
            </a:r>
            <a:r>
              <a:rPr lang="en-US" sz="3200" dirty="0">
                <a:ea typeface="新細明體" panose="02020500000000000000" pitchFamily="18" charset="-120"/>
              </a:rPr>
              <a:t>”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5E86EE-8676-46FD-B719-F675406DF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273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56227091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48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authored,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SELECT J1.authorid</a:t>
            </a:r>
          </a:p>
          <a:p>
            <a:pPr>
              <a:buNone/>
            </a:pPr>
            <a:r>
              <a:rPr lang="en-US" sz="1600" dirty="0"/>
              <a:t>FROM </a:t>
            </a:r>
            <a:r>
              <a:rPr lang="en-US" sz="1600" dirty="0">
                <a:solidFill>
                  <a:srgbClr val="FF0000"/>
                </a:solidFill>
              </a:rPr>
              <a:t>Jokes J1, </a:t>
            </a:r>
            <a:r>
              <a:rPr lang="en-US" sz="1600" dirty="0" err="1">
                <a:solidFill>
                  <a:srgbClr val="FF0000"/>
                </a:solidFill>
              </a:rPr>
              <a:t>JokeTag</a:t>
            </a:r>
            <a:r>
              <a:rPr lang="en-US" sz="1600" dirty="0">
                <a:solidFill>
                  <a:srgbClr val="FF0000"/>
                </a:solidFill>
              </a:rPr>
              <a:t> T1</a:t>
            </a:r>
            <a:r>
              <a:rPr lang="en-US" sz="1600" dirty="0"/>
              <a:t>, </a:t>
            </a:r>
            <a:r>
              <a:rPr lang="en-US" sz="1600" dirty="0">
                <a:solidFill>
                  <a:srgbClr val="00B0F0"/>
                </a:solidFill>
              </a:rPr>
              <a:t>Jokes J2, </a:t>
            </a:r>
            <a:r>
              <a:rPr lang="en-US" sz="1600" dirty="0" err="1">
                <a:solidFill>
                  <a:srgbClr val="00B0F0"/>
                </a:solidFill>
              </a:rPr>
              <a:t>JokeTag</a:t>
            </a:r>
            <a:r>
              <a:rPr lang="en-US" sz="1600" dirty="0">
                <a:solidFill>
                  <a:srgbClr val="00B0F0"/>
                </a:solidFill>
              </a:rPr>
              <a:t> T2</a:t>
            </a:r>
          </a:p>
          <a:p>
            <a:pPr>
              <a:buNone/>
            </a:pPr>
            <a:r>
              <a:rPr lang="en-US" sz="1600" dirty="0"/>
              <a:t>WHERE </a:t>
            </a:r>
            <a:r>
              <a:rPr lang="en-US" sz="1600" dirty="0">
                <a:solidFill>
                  <a:srgbClr val="FF0000"/>
                </a:solidFill>
              </a:rPr>
              <a:t>J1.jokeid = T1.jokeid </a:t>
            </a:r>
            <a:r>
              <a:rPr lang="en-US" sz="1600" dirty="0"/>
              <a:t>AND </a:t>
            </a:r>
            <a:r>
              <a:rPr lang="en-US" sz="1600" dirty="0">
                <a:solidFill>
                  <a:srgbClr val="0070C0"/>
                </a:solidFill>
              </a:rPr>
              <a:t>J2.jokeid = T2.jokeid </a:t>
            </a:r>
          </a:p>
          <a:p>
            <a:pPr>
              <a:buNone/>
            </a:pPr>
            <a:r>
              <a:rPr lang="en-US" sz="1600" dirty="0"/>
              <a:t>            AND J1.authorid = J2.authorid</a:t>
            </a:r>
          </a:p>
          <a:p>
            <a:pPr>
              <a:buNone/>
            </a:pPr>
            <a:r>
              <a:rPr lang="en-US" sz="1600" dirty="0"/>
              <a:t>            AND J1.postDay = J2.postDay</a:t>
            </a:r>
          </a:p>
          <a:p>
            <a:pPr>
              <a:buNone/>
            </a:pPr>
            <a:r>
              <a:rPr lang="en-US" sz="1600" dirty="0"/>
              <a:t>            AND J1.jokeid &lt;&gt; J2.jokeid</a:t>
            </a:r>
          </a:p>
          <a:p>
            <a:pPr>
              <a:buNone/>
            </a:pPr>
            <a:r>
              <a:rPr lang="en-US" sz="1600" dirty="0"/>
              <a:t>            AND T1.tag = “</a:t>
            </a:r>
            <a:r>
              <a:rPr lang="en-US" sz="1600" dirty="0" err="1"/>
              <a:t>db</a:t>
            </a:r>
            <a:r>
              <a:rPr lang="en-US" sz="1600" dirty="0"/>
              <a:t>” AND T2.tag = “</a:t>
            </a:r>
            <a:r>
              <a:rPr lang="en-US" sz="1600" dirty="0" err="1"/>
              <a:t>sql</a:t>
            </a:r>
            <a:r>
              <a:rPr lang="en-US" sz="1600" dirty="0"/>
              <a:t>”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7D570D-DE06-4051-B462-1C6232410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274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33679024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49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List the </a:t>
            </a:r>
            <a:r>
              <a:rPr lang="en-US" sz="3200" dirty="0" err="1">
                <a:ea typeface="新細明體" panose="02020500000000000000" pitchFamily="18" charset="-120"/>
              </a:rPr>
              <a:t>jokeids</a:t>
            </a:r>
            <a:r>
              <a:rPr lang="en-US" sz="3200" dirty="0">
                <a:ea typeface="新細明體" panose="02020500000000000000" pitchFamily="18" charset="-120"/>
              </a:rPr>
              <a:t> of the jokes posted by “john” such that these jokes have some comments, but all these comments are either “excellent” or “good”.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0F0C57-8F33-4342-BBAF-F5DFC9649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275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73030718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49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35394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SELECT </a:t>
            </a:r>
            <a:r>
              <a:rPr lang="en-US" sz="1600" dirty="0" err="1"/>
              <a:t>J.jokeid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FROM Jokes J1, Users U1</a:t>
            </a:r>
          </a:p>
          <a:p>
            <a:pPr>
              <a:buNone/>
            </a:pPr>
            <a:r>
              <a:rPr lang="en-US" sz="1600" dirty="0"/>
              <a:t>WHERE J1.authorid = U1.userid and U1.name = “John” AND J1.jokeid IN</a:t>
            </a:r>
          </a:p>
          <a:p>
            <a:pPr>
              <a:buNone/>
            </a:pPr>
            <a:r>
              <a:rPr lang="en-US" sz="1600" dirty="0"/>
              <a:t> (        </a:t>
            </a:r>
            <a:r>
              <a:rPr lang="en-US" sz="1600" dirty="0">
                <a:solidFill>
                  <a:srgbClr val="FF0000"/>
                </a:solidFill>
              </a:rPr>
              <a:t>// jokes that have ONLY excellent or good reviews.</a:t>
            </a:r>
          </a:p>
          <a:p>
            <a:pPr>
              <a:buNone/>
            </a:pPr>
            <a:r>
              <a:rPr lang="en-US" sz="1600" dirty="0"/>
              <a:t>          (SELECT </a:t>
            </a:r>
            <a:r>
              <a:rPr lang="en-US" sz="1600" dirty="0" err="1"/>
              <a:t>jokeid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          FROM Reviews</a:t>
            </a:r>
          </a:p>
          <a:p>
            <a:pPr>
              <a:buNone/>
            </a:pPr>
            <a:r>
              <a:rPr lang="en-US" sz="1600" dirty="0"/>
              <a:t>          where score = “Excellent” OR score = “Good”)</a:t>
            </a:r>
          </a:p>
          <a:p>
            <a:pPr>
              <a:buNone/>
            </a:pPr>
            <a:r>
              <a:rPr lang="en-US" sz="1600" dirty="0"/>
              <a:t>          EXCEPT</a:t>
            </a:r>
          </a:p>
          <a:p>
            <a:pPr>
              <a:buNone/>
            </a:pPr>
            <a:r>
              <a:rPr lang="en-US" sz="1600" dirty="0"/>
              <a:t>          (SELECT </a:t>
            </a:r>
            <a:r>
              <a:rPr lang="en-US" sz="1600" dirty="0" err="1"/>
              <a:t>jokeid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          FROM Reviews</a:t>
            </a:r>
          </a:p>
          <a:p>
            <a:pPr>
              <a:buNone/>
            </a:pPr>
            <a:r>
              <a:rPr lang="en-US" sz="1600" dirty="0"/>
              <a:t>          where score &lt;&gt; “Excellent” AND score &lt;&gt; “Good”)</a:t>
            </a:r>
          </a:p>
          <a:p>
            <a:pPr>
              <a:buNone/>
            </a:pPr>
            <a:r>
              <a:rPr lang="en-US" sz="1600" dirty="0"/>
              <a:t>)</a:t>
            </a:r>
          </a:p>
          <a:p>
            <a:pPr>
              <a:buNone/>
            </a:pPr>
            <a:endParaRPr lang="en-US" sz="1600" dirty="0"/>
          </a:p>
          <a:p>
            <a:pPr>
              <a:buNone/>
            </a:pPr>
            <a:endParaRPr lang="en-US" sz="1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C76F1E-EB05-4580-A042-7CDE3488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276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62985037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49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List the </a:t>
            </a:r>
            <a:r>
              <a:rPr lang="en-US" sz="3200" dirty="0" err="1">
                <a:ea typeface="新細明體" panose="02020500000000000000" pitchFamily="18" charset="-120"/>
              </a:rPr>
              <a:t>userids</a:t>
            </a:r>
            <a:r>
              <a:rPr lang="en-US" sz="3200" dirty="0">
                <a:ea typeface="新細明體" panose="02020500000000000000" pitchFamily="18" charset="-120"/>
              </a:rPr>
              <a:t> of the authors who posted the most number of jokes since 3/1/2018 (inclusive).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8B02C1-4CD2-4617-8DFE-067BD4AB8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277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881790699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49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CREATE VIEW </a:t>
            </a:r>
            <a:r>
              <a:rPr lang="en-US" sz="1600" dirty="0" err="1"/>
              <a:t>jokeNum</a:t>
            </a:r>
            <a:r>
              <a:rPr lang="en-US" sz="1600" dirty="0"/>
              <a:t>(</a:t>
            </a:r>
            <a:r>
              <a:rPr lang="en-US" sz="1600" dirty="0" err="1"/>
              <a:t>authorid</a:t>
            </a:r>
            <a:r>
              <a:rPr lang="en-US" sz="1600" dirty="0"/>
              <a:t>, num) AS</a:t>
            </a:r>
          </a:p>
          <a:p>
            <a:pPr>
              <a:buNone/>
            </a:pPr>
            <a:r>
              <a:rPr lang="en-US" sz="1600" dirty="0"/>
              <a:t>SELECT </a:t>
            </a:r>
            <a:r>
              <a:rPr lang="en-US" sz="1600" dirty="0" err="1"/>
              <a:t>authorid</a:t>
            </a:r>
            <a:r>
              <a:rPr lang="en-US" sz="1600" dirty="0"/>
              <a:t>, COUNT(*)</a:t>
            </a:r>
          </a:p>
          <a:p>
            <a:pPr>
              <a:buNone/>
            </a:pPr>
            <a:r>
              <a:rPr lang="en-US" sz="1600" dirty="0"/>
              <a:t>FROM  Jokes</a:t>
            </a:r>
          </a:p>
          <a:p>
            <a:pPr>
              <a:buNone/>
            </a:pPr>
            <a:r>
              <a:rPr lang="en-US" sz="1600" dirty="0"/>
              <a:t>WHERE </a:t>
            </a:r>
            <a:r>
              <a:rPr lang="en-US" sz="1600" dirty="0" err="1"/>
              <a:t>postDay</a:t>
            </a:r>
            <a:r>
              <a:rPr lang="en-US" sz="1600" dirty="0"/>
              <a:t> &gt;= ‘3/1/2018’</a:t>
            </a:r>
          </a:p>
          <a:p>
            <a:pPr>
              <a:buNone/>
            </a:pPr>
            <a:r>
              <a:rPr lang="en-US" sz="1600" dirty="0"/>
              <a:t>GROUP BY </a:t>
            </a:r>
            <a:r>
              <a:rPr lang="en-US" sz="1600" dirty="0" err="1"/>
              <a:t>authorid</a:t>
            </a:r>
            <a:endParaRPr lang="en-US" sz="1600" dirty="0"/>
          </a:p>
          <a:p>
            <a:pPr>
              <a:buNone/>
            </a:pPr>
            <a:endParaRPr lang="en-US" sz="1600" dirty="0"/>
          </a:p>
          <a:p>
            <a:pPr>
              <a:buNone/>
            </a:pPr>
            <a:r>
              <a:rPr lang="en-US" sz="1600" dirty="0"/>
              <a:t>SELECT </a:t>
            </a:r>
            <a:r>
              <a:rPr lang="en-US" sz="1600" dirty="0" err="1"/>
              <a:t>authorid</a:t>
            </a:r>
            <a:r>
              <a:rPr lang="en-US" sz="1600" dirty="0"/>
              <a:t> </a:t>
            </a:r>
          </a:p>
          <a:p>
            <a:pPr>
              <a:buNone/>
            </a:pPr>
            <a:r>
              <a:rPr lang="en-US" sz="1600" dirty="0"/>
              <a:t>FROM </a:t>
            </a:r>
            <a:r>
              <a:rPr lang="en-US" sz="1600" dirty="0" err="1"/>
              <a:t>jokeNum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WHERE num =</a:t>
            </a:r>
          </a:p>
          <a:p>
            <a:pPr>
              <a:buNone/>
            </a:pPr>
            <a:r>
              <a:rPr lang="en-US" sz="1600" dirty="0">
                <a:solidFill>
                  <a:srgbClr val="FF0000"/>
                </a:solidFill>
              </a:rPr>
              <a:t>          (SELECT MAX(num) FROM </a:t>
            </a:r>
            <a:r>
              <a:rPr lang="en-US" sz="1600" dirty="0" err="1">
                <a:solidFill>
                  <a:srgbClr val="FF0000"/>
                </a:solidFill>
              </a:rPr>
              <a:t>jokeNum</a:t>
            </a:r>
            <a:r>
              <a:rPr lang="en-US" sz="1600" dirty="0">
                <a:solidFill>
                  <a:srgbClr val="FF0000"/>
                </a:solidFill>
              </a:rPr>
              <a:t>)</a:t>
            </a:r>
          </a:p>
          <a:p>
            <a:pPr>
              <a:buNone/>
            </a:pPr>
            <a:endParaRPr lang="en-US" sz="1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D5FD33-4A67-4A0D-8252-44F2D6418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278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350634840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50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List the </a:t>
            </a:r>
            <a:r>
              <a:rPr lang="en-US" sz="3200" dirty="0" err="1">
                <a:ea typeface="新細明體" panose="02020500000000000000" pitchFamily="18" charset="-120"/>
              </a:rPr>
              <a:t>userids</a:t>
            </a:r>
            <a:r>
              <a:rPr lang="en-US" sz="3200" dirty="0">
                <a:ea typeface="新細明體" panose="02020500000000000000" pitchFamily="18" charset="-120"/>
              </a:rPr>
              <a:t> of the users who are befriended by both “John” and “Kathy”.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035195-F3E0-4EFD-B990-97EF9DEA9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279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3502680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50 (Solution 1)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SELECT F1.friendid</a:t>
            </a:r>
          </a:p>
          <a:p>
            <a:pPr>
              <a:buNone/>
            </a:pPr>
            <a:r>
              <a:rPr lang="en-US" sz="1600" dirty="0"/>
              <a:t>FROM Users U1, </a:t>
            </a:r>
            <a:r>
              <a:rPr lang="en-US" sz="1600" dirty="0" err="1"/>
              <a:t>myFriends</a:t>
            </a:r>
            <a:r>
              <a:rPr lang="en-US" sz="1600" dirty="0"/>
              <a:t> F1, Users U2, </a:t>
            </a:r>
            <a:r>
              <a:rPr lang="en-US" sz="1600" dirty="0" err="1"/>
              <a:t>myFriends</a:t>
            </a:r>
            <a:r>
              <a:rPr lang="en-US" sz="1600" dirty="0"/>
              <a:t> F2</a:t>
            </a:r>
          </a:p>
          <a:p>
            <a:pPr>
              <a:buNone/>
            </a:pPr>
            <a:r>
              <a:rPr lang="en-US" sz="1600" dirty="0"/>
              <a:t>WHERE U1.userid = F1.myid AND U2.userid = F2.myid AND</a:t>
            </a:r>
          </a:p>
          <a:p>
            <a:pPr>
              <a:buNone/>
            </a:pPr>
            <a:r>
              <a:rPr lang="en-US" sz="1600" dirty="0"/>
              <a:t>               U1.name = “John” AND U2.name = “Kathy”</a:t>
            </a:r>
          </a:p>
          <a:p>
            <a:pPr>
              <a:buNone/>
            </a:pPr>
            <a:r>
              <a:rPr lang="en-US" sz="1600" dirty="0"/>
              <a:t>               AND F1.friendid = F2.friendid</a:t>
            </a:r>
          </a:p>
          <a:p>
            <a:pPr>
              <a:buNone/>
            </a:pPr>
            <a:endParaRPr lang="en-US" sz="1600" dirty="0"/>
          </a:p>
          <a:p>
            <a:pPr>
              <a:buNone/>
            </a:pPr>
            <a:endParaRPr lang="en-US" sz="1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506C70-D961-46A2-B1E8-120A21CCD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280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24203079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50 (Solution 2)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2554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(SELECT F1.friendid</a:t>
            </a:r>
          </a:p>
          <a:p>
            <a:pPr>
              <a:buNone/>
            </a:pPr>
            <a:r>
              <a:rPr lang="en-US" sz="1600" dirty="0"/>
              <a:t>FROM Users U1, </a:t>
            </a:r>
            <a:r>
              <a:rPr lang="en-US" sz="1600" dirty="0" err="1"/>
              <a:t>myFriends</a:t>
            </a:r>
            <a:r>
              <a:rPr lang="en-US" sz="1600" dirty="0"/>
              <a:t> F1</a:t>
            </a:r>
          </a:p>
          <a:p>
            <a:pPr>
              <a:buNone/>
            </a:pPr>
            <a:r>
              <a:rPr lang="en-US" sz="1600" dirty="0"/>
              <a:t>WHERE U1.userid = F1.myid AND U1.name = “John”)</a:t>
            </a:r>
          </a:p>
          <a:p>
            <a:pPr>
              <a:buNone/>
            </a:pPr>
            <a:r>
              <a:rPr lang="en-US" sz="1600" dirty="0"/>
              <a:t>INTERSECT</a:t>
            </a:r>
          </a:p>
          <a:p>
            <a:pPr>
              <a:buNone/>
            </a:pPr>
            <a:r>
              <a:rPr lang="en-US" sz="1600" dirty="0"/>
              <a:t>(SELECT F2.friendid</a:t>
            </a:r>
          </a:p>
          <a:p>
            <a:pPr>
              <a:buNone/>
            </a:pPr>
            <a:r>
              <a:rPr lang="en-US" sz="1600" dirty="0"/>
              <a:t>FROM Users U2, </a:t>
            </a:r>
            <a:r>
              <a:rPr lang="en-US" sz="1600" dirty="0" err="1"/>
              <a:t>myFriends</a:t>
            </a:r>
            <a:r>
              <a:rPr lang="en-US" sz="1600" dirty="0"/>
              <a:t> F2</a:t>
            </a:r>
          </a:p>
          <a:p>
            <a:pPr>
              <a:buNone/>
            </a:pPr>
            <a:r>
              <a:rPr lang="en-US" sz="1600" dirty="0"/>
              <a:t>WHERE U2.userid = F2.myid AND U2.name = “Kathy”)</a:t>
            </a:r>
          </a:p>
          <a:p>
            <a:pPr>
              <a:buNone/>
            </a:pPr>
            <a:endParaRPr lang="en-US" sz="1600" dirty="0"/>
          </a:p>
          <a:p>
            <a:pPr>
              <a:buNone/>
            </a:pPr>
            <a:endParaRPr lang="en-US" sz="1600" dirty="0"/>
          </a:p>
          <a:p>
            <a:pPr>
              <a:buNone/>
            </a:pPr>
            <a:endParaRPr lang="en-US" sz="1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0E5F1B-0BBF-475F-BC8F-C581DE9AF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281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82931165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51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List the </a:t>
            </a:r>
            <a:r>
              <a:rPr lang="en-US" sz="3200" dirty="0" err="1">
                <a:ea typeface="新細明體" panose="02020500000000000000" pitchFamily="18" charset="-120"/>
              </a:rPr>
              <a:t>userids</a:t>
            </a:r>
            <a:r>
              <a:rPr lang="en-US" sz="3200" dirty="0">
                <a:ea typeface="新細明體" panose="02020500000000000000" pitchFamily="18" charset="-120"/>
              </a:rPr>
              <a:t> of the authors who never posted any joke that has at least three “excellent” reviews. 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48CFBC-FB69-424D-A044-BB438563D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282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16349857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51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SELECT </a:t>
            </a:r>
            <a:r>
              <a:rPr lang="en-US" sz="1600" dirty="0" err="1"/>
              <a:t>userid</a:t>
            </a:r>
            <a:r>
              <a:rPr lang="en-US" sz="1600" dirty="0"/>
              <a:t> FROM Users </a:t>
            </a:r>
          </a:p>
          <a:p>
            <a:pPr>
              <a:buNone/>
            </a:pPr>
            <a:r>
              <a:rPr lang="en-US" sz="1600" dirty="0"/>
              <a:t>WHERE </a:t>
            </a:r>
            <a:r>
              <a:rPr lang="en-US" sz="1600" dirty="0" err="1"/>
              <a:t>userid</a:t>
            </a:r>
            <a:r>
              <a:rPr lang="en-US" sz="1600" dirty="0"/>
              <a:t> NOT IN(</a:t>
            </a:r>
          </a:p>
          <a:p>
            <a:pPr>
              <a:buNone/>
            </a:pPr>
            <a:r>
              <a:rPr lang="en-US" sz="1600" dirty="0"/>
              <a:t>      SELECT </a:t>
            </a:r>
            <a:r>
              <a:rPr lang="en-US" sz="1600" dirty="0" err="1"/>
              <a:t>authorid</a:t>
            </a:r>
            <a:r>
              <a:rPr lang="en-US" sz="1600" dirty="0"/>
              <a:t>             // </a:t>
            </a:r>
            <a:r>
              <a:rPr lang="en-US" sz="1600" dirty="0">
                <a:solidFill>
                  <a:srgbClr val="FF0000"/>
                </a:solidFill>
              </a:rPr>
              <a:t>authors that have posted a joke that has </a:t>
            </a:r>
          </a:p>
          <a:p>
            <a:pPr>
              <a:buNone/>
            </a:pPr>
            <a:r>
              <a:rPr lang="en-US" sz="1600" dirty="0"/>
              <a:t>       FROM Jokes                    // </a:t>
            </a:r>
            <a:r>
              <a:rPr lang="en-US" sz="1600" dirty="0">
                <a:solidFill>
                  <a:srgbClr val="FF0000"/>
                </a:solidFill>
              </a:rPr>
              <a:t>at least 3 excellent reviews</a:t>
            </a:r>
          </a:p>
          <a:p>
            <a:pPr>
              <a:buNone/>
            </a:pPr>
            <a:r>
              <a:rPr lang="en-US" sz="1600" dirty="0"/>
              <a:t>       WHERE </a:t>
            </a:r>
            <a:r>
              <a:rPr lang="en-US" sz="1600" dirty="0" err="1"/>
              <a:t>jokeid</a:t>
            </a:r>
            <a:r>
              <a:rPr lang="en-US" sz="1600" dirty="0"/>
              <a:t> IN (</a:t>
            </a:r>
          </a:p>
          <a:p>
            <a:pPr>
              <a:buNone/>
            </a:pPr>
            <a:r>
              <a:rPr lang="en-US" sz="1600" dirty="0"/>
              <a:t>              SELECT </a:t>
            </a:r>
            <a:r>
              <a:rPr lang="en-US" sz="1600" dirty="0" err="1"/>
              <a:t>jokeid</a:t>
            </a:r>
            <a:r>
              <a:rPr lang="en-US" sz="1600" dirty="0"/>
              <a:t>         // </a:t>
            </a:r>
            <a:r>
              <a:rPr lang="en-US" sz="1600" dirty="0">
                <a:solidFill>
                  <a:srgbClr val="FF0000"/>
                </a:solidFill>
              </a:rPr>
              <a:t>jokes that have at least 3 excellent reviews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              FROM  Reviews</a:t>
            </a:r>
          </a:p>
          <a:p>
            <a:pPr>
              <a:buNone/>
            </a:pPr>
            <a:r>
              <a:rPr lang="en-US" sz="1600" dirty="0"/>
              <a:t>             WHERE score=“EXCELLENT”</a:t>
            </a:r>
          </a:p>
          <a:p>
            <a:pPr>
              <a:buNone/>
            </a:pPr>
            <a:r>
              <a:rPr lang="en-US" sz="1600" dirty="0"/>
              <a:t>             GROUP BY </a:t>
            </a:r>
            <a:r>
              <a:rPr lang="en-US" sz="1600" dirty="0" err="1"/>
              <a:t>jokeid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             HAVING COUNT(*) &gt;=3</a:t>
            </a:r>
          </a:p>
          <a:p>
            <a:pPr>
              <a:buNone/>
            </a:pPr>
            <a:r>
              <a:rPr lang="en-US" sz="1600" dirty="0"/>
              <a:t>       )  </a:t>
            </a:r>
          </a:p>
          <a:p>
            <a:pPr>
              <a:buNone/>
            </a:pPr>
            <a:r>
              <a:rPr lang="en-US" sz="1600" dirty="0"/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EB76D4-272B-4511-8AA8-7E4393B63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283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5515084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52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 err="1">
                <a:ea typeface="新細明體" panose="02020500000000000000" pitchFamily="18" charset="-120"/>
              </a:rPr>
              <a:t>PositiveReviewers</a:t>
            </a:r>
            <a:r>
              <a:rPr lang="en-US" sz="3200" dirty="0">
                <a:ea typeface="新細明體" panose="02020500000000000000" pitchFamily="18" charset="-120"/>
              </a:rPr>
              <a:t>: List the </a:t>
            </a:r>
            <a:r>
              <a:rPr lang="en-US" sz="3200" dirty="0" err="1">
                <a:ea typeface="新細明體" panose="02020500000000000000" pitchFamily="18" charset="-120"/>
              </a:rPr>
              <a:t>userids</a:t>
            </a:r>
            <a:r>
              <a:rPr lang="en-US" sz="3200" dirty="0">
                <a:ea typeface="新細明體" panose="02020500000000000000" pitchFamily="18" charset="-120"/>
              </a:rPr>
              <a:t> of the reviewers who never posted a “poor” review. 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4362A2-D580-4FED-B365-D68D70399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284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40408466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52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SELECT </a:t>
            </a:r>
            <a:r>
              <a:rPr lang="en-US" sz="1600" dirty="0" err="1"/>
              <a:t>userid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FROM Users </a:t>
            </a:r>
          </a:p>
          <a:p>
            <a:pPr>
              <a:buNone/>
            </a:pPr>
            <a:r>
              <a:rPr lang="en-US" sz="1600" dirty="0"/>
              <a:t>WHERE </a:t>
            </a:r>
            <a:r>
              <a:rPr lang="en-US" sz="1600" dirty="0" err="1"/>
              <a:t>userid</a:t>
            </a:r>
            <a:r>
              <a:rPr lang="en-US" sz="1600" dirty="0"/>
              <a:t> NOT IN (</a:t>
            </a:r>
          </a:p>
          <a:p>
            <a:pPr>
              <a:buNone/>
            </a:pPr>
            <a:r>
              <a:rPr lang="en-US" sz="1600" dirty="0"/>
              <a:t>	SELECT </a:t>
            </a:r>
            <a:r>
              <a:rPr lang="en-US" sz="1600" dirty="0" err="1"/>
              <a:t>reviewerid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	FROM Reviews</a:t>
            </a:r>
          </a:p>
          <a:p>
            <a:pPr>
              <a:buNone/>
            </a:pPr>
            <a:r>
              <a:rPr lang="en-US" sz="1600" dirty="0"/>
              <a:t>	WHERE score = “Poor”</a:t>
            </a:r>
          </a:p>
          <a:p>
            <a:pPr>
              <a:buNone/>
            </a:pPr>
            <a:r>
              <a:rPr lang="en-US" sz="1600" dirty="0"/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1D56D5-819D-4E17-A0FB-B2CA421F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285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7185311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53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 err="1">
                <a:ea typeface="新細明體" panose="02020500000000000000" pitchFamily="18" charset="-120"/>
              </a:rPr>
              <a:t>NegativeReviewers</a:t>
            </a:r>
            <a:r>
              <a:rPr lang="en-US" sz="3200" dirty="0">
                <a:ea typeface="新細明體" panose="02020500000000000000" pitchFamily="18" charset="-120"/>
              </a:rPr>
              <a:t>: List the </a:t>
            </a:r>
            <a:r>
              <a:rPr lang="en-US" sz="3200" dirty="0" err="1">
                <a:ea typeface="新細明體" panose="02020500000000000000" pitchFamily="18" charset="-120"/>
              </a:rPr>
              <a:t>userids</a:t>
            </a:r>
            <a:r>
              <a:rPr lang="en-US" sz="3200" dirty="0">
                <a:ea typeface="新細明體" panose="02020500000000000000" pitchFamily="18" charset="-120"/>
              </a:rPr>
              <a:t> of the reviewers who posted some reviews and each of them is “poor”. 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C0DE8C-CA7A-44DF-8CD5-9C809A69C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286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8673619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53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SELECT </a:t>
            </a:r>
            <a:r>
              <a:rPr lang="en-US" sz="1600" dirty="0" err="1"/>
              <a:t>reviewerid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FROM Reviews</a:t>
            </a:r>
          </a:p>
          <a:p>
            <a:pPr>
              <a:buNone/>
            </a:pPr>
            <a:r>
              <a:rPr lang="en-US" sz="1600" dirty="0"/>
              <a:t>WHERE </a:t>
            </a:r>
            <a:r>
              <a:rPr lang="en-US" sz="1600" dirty="0" err="1"/>
              <a:t>reviewerid</a:t>
            </a:r>
            <a:r>
              <a:rPr lang="en-US" sz="1600" dirty="0"/>
              <a:t> NOT IN (</a:t>
            </a:r>
          </a:p>
          <a:p>
            <a:pPr>
              <a:buNone/>
            </a:pPr>
            <a:r>
              <a:rPr lang="en-US" sz="1600" dirty="0"/>
              <a:t>	SELECT </a:t>
            </a:r>
            <a:r>
              <a:rPr lang="en-US" sz="1600" dirty="0" err="1"/>
              <a:t>reviewerid</a:t>
            </a:r>
            <a:r>
              <a:rPr lang="en-US" sz="1600" dirty="0"/>
              <a:t>  // </a:t>
            </a:r>
            <a:r>
              <a:rPr lang="en-US" sz="1600" dirty="0">
                <a:solidFill>
                  <a:srgbClr val="FF0000"/>
                </a:solidFill>
              </a:rPr>
              <a:t>reviewers who ever posted any non-poor</a:t>
            </a:r>
          </a:p>
          <a:p>
            <a:pPr>
              <a:buNone/>
            </a:pPr>
            <a:r>
              <a:rPr lang="en-US" sz="1600" dirty="0"/>
              <a:t>	FROM Reviews         // </a:t>
            </a:r>
            <a:r>
              <a:rPr lang="en-US" sz="1600" dirty="0">
                <a:solidFill>
                  <a:srgbClr val="FF0000"/>
                </a:solidFill>
              </a:rPr>
              <a:t>reviews</a:t>
            </a:r>
          </a:p>
          <a:p>
            <a:pPr>
              <a:buNone/>
            </a:pPr>
            <a:r>
              <a:rPr lang="en-US" sz="1600" dirty="0"/>
              <a:t>	WHERE score &lt;&gt; “Poor”</a:t>
            </a:r>
          </a:p>
          <a:p>
            <a:pPr>
              <a:buNone/>
            </a:pPr>
            <a:r>
              <a:rPr lang="en-US" sz="1600" dirty="0"/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541CEB-D6D1-4AA3-B378-3C772C083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287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44063562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54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 err="1">
                <a:ea typeface="新細明體" panose="02020500000000000000" pitchFamily="18" charset="-120"/>
              </a:rPr>
              <a:t>GoodAuthors</a:t>
            </a:r>
            <a:r>
              <a:rPr lang="en-US" sz="3200" dirty="0">
                <a:ea typeface="新細明體" panose="02020500000000000000" pitchFamily="18" charset="-120"/>
              </a:rPr>
              <a:t>: List the </a:t>
            </a:r>
            <a:r>
              <a:rPr lang="en-US" sz="3200" dirty="0" err="1">
                <a:ea typeface="新細明體" panose="02020500000000000000" pitchFamily="18" charset="-120"/>
              </a:rPr>
              <a:t>userids</a:t>
            </a:r>
            <a:r>
              <a:rPr lang="en-US" sz="3200" dirty="0">
                <a:ea typeface="新細明體" panose="02020500000000000000" pitchFamily="18" charset="-120"/>
              </a:rPr>
              <a:t> of the authors  who posted some jokes, but none of them received a “poor” review.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1B2FA5-6B8F-4500-9C6D-39E1BEA5C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288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47320511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54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SELECT </a:t>
            </a:r>
            <a:r>
              <a:rPr lang="en-US" sz="1600" dirty="0" err="1"/>
              <a:t>authorid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FROM Jokes J</a:t>
            </a:r>
          </a:p>
          <a:p>
            <a:pPr>
              <a:buNone/>
            </a:pPr>
            <a:r>
              <a:rPr lang="en-US" sz="1600" dirty="0"/>
              <a:t>WHERE  NOT EXISTS(</a:t>
            </a:r>
          </a:p>
          <a:p>
            <a:pPr>
              <a:buNone/>
            </a:pPr>
            <a:r>
              <a:rPr lang="en-US" sz="1600" dirty="0"/>
              <a:t>	SELECT *  // </a:t>
            </a:r>
            <a:r>
              <a:rPr lang="en-US" sz="1600" dirty="0">
                <a:solidFill>
                  <a:srgbClr val="FF0000"/>
                </a:solidFill>
              </a:rPr>
              <a:t>poor review for J</a:t>
            </a:r>
          </a:p>
          <a:p>
            <a:pPr>
              <a:buNone/>
            </a:pPr>
            <a:r>
              <a:rPr lang="en-US" sz="1600" dirty="0"/>
              <a:t>	FROM Reviews  R</a:t>
            </a:r>
            <a:endParaRPr lang="en-US" sz="1600" dirty="0">
              <a:solidFill>
                <a:srgbClr val="FF0000"/>
              </a:solidFill>
            </a:endParaRPr>
          </a:p>
          <a:p>
            <a:pPr>
              <a:buNone/>
            </a:pPr>
            <a:r>
              <a:rPr lang="en-US" sz="1600" dirty="0"/>
              <a:t>	WHERE </a:t>
            </a:r>
            <a:r>
              <a:rPr lang="en-US" sz="1600" dirty="0" err="1"/>
              <a:t>R.jokeid</a:t>
            </a:r>
            <a:r>
              <a:rPr lang="en-US" sz="1600" dirty="0"/>
              <a:t> = </a:t>
            </a:r>
            <a:r>
              <a:rPr lang="en-US" sz="1600" dirty="0" err="1"/>
              <a:t>J.jokeid</a:t>
            </a:r>
            <a:r>
              <a:rPr lang="en-US" sz="1600" dirty="0"/>
              <a:t> AND </a:t>
            </a:r>
            <a:r>
              <a:rPr lang="en-US" sz="1600" dirty="0" err="1"/>
              <a:t>R.score</a:t>
            </a:r>
            <a:r>
              <a:rPr lang="en-US" sz="1600" dirty="0"/>
              <a:t> = “Poor”</a:t>
            </a:r>
          </a:p>
          <a:p>
            <a:pPr>
              <a:buNone/>
            </a:pPr>
            <a:r>
              <a:rPr lang="en-US" sz="1600" dirty="0"/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377D5F7-3BE8-49F4-BF81-B6170E30F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289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7828538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Collusion: List all user pairs &lt;A, B&gt; such that they always give each other “excellent” review for every single joke the other posted. 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09BB7A5-8ED2-425D-B729-F3627672B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290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85466228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55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3392" y="1629526"/>
            <a:ext cx="6705600" cy="550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SELECT U1.authorid, U2.authorid</a:t>
            </a:r>
          </a:p>
          <a:p>
            <a:pPr>
              <a:buNone/>
            </a:pPr>
            <a:r>
              <a:rPr lang="en-US" sz="1600" dirty="0"/>
              <a:t>FROM Jokes U1, Jokes U2</a:t>
            </a:r>
          </a:p>
          <a:p>
            <a:pPr>
              <a:buNone/>
            </a:pPr>
            <a:r>
              <a:rPr lang="en-US" sz="1600" dirty="0"/>
              <a:t>WHERE U1.authorid &lt; U2.authorid   AND  // to avoid duplicate </a:t>
            </a:r>
          </a:p>
          <a:p>
            <a:pPr>
              <a:buNone/>
            </a:pPr>
            <a:r>
              <a:rPr lang="en-US" sz="1600" dirty="0"/>
              <a:t>            (</a:t>
            </a:r>
            <a:r>
              <a:rPr lang="en-US" sz="1600" dirty="0">
                <a:solidFill>
                  <a:srgbClr val="FF0000"/>
                </a:solidFill>
              </a:rPr>
              <a:t>SELECT COUNT(*)         // </a:t>
            </a:r>
            <a:r>
              <a:rPr lang="en-US" sz="16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number of jokes by U1</a:t>
            </a:r>
          </a:p>
          <a:p>
            <a:pPr>
              <a:buNone/>
            </a:pPr>
            <a:r>
              <a:rPr lang="en-US" sz="1600" dirty="0">
                <a:solidFill>
                  <a:srgbClr val="FF0000"/>
                </a:solidFill>
              </a:rPr>
              <a:t>            FROM Jokes</a:t>
            </a:r>
          </a:p>
          <a:p>
            <a:pPr>
              <a:buNone/>
            </a:pPr>
            <a:r>
              <a:rPr lang="en-US" sz="1600" dirty="0">
                <a:solidFill>
                  <a:srgbClr val="FF0000"/>
                </a:solidFill>
              </a:rPr>
              <a:t>            WHERE </a:t>
            </a:r>
            <a:r>
              <a:rPr lang="en-US" sz="1600" dirty="0" err="1">
                <a:solidFill>
                  <a:srgbClr val="FF0000"/>
                </a:solidFill>
              </a:rPr>
              <a:t>authorid</a:t>
            </a:r>
            <a:r>
              <a:rPr lang="en-US" sz="1600" dirty="0">
                <a:solidFill>
                  <a:srgbClr val="FF0000"/>
                </a:solidFill>
              </a:rPr>
              <a:t> = U1.authorid</a:t>
            </a:r>
            <a:r>
              <a:rPr lang="en-US" sz="1600" dirty="0"/>
              <a:t>) = </a:t>
            </a:r>
          </a:p>
          <a:p>
            <a:pPr>
              <a:buNone/>
            </a:pPr>
            <a:r>
              <a:rPr lang="en-US" sz="1600" dirty="0"/>
              <a:t>             (</a:t>
            </a:r>
            <a:r>
              <a:rPr lang="en-US" sz="1600" dirty="0">
                <a:solidFill>
                  <a:srgbClr val="0070C0"/>
                </a:solidFill>
              </a:rPr>
              <a:t>SELECT COUNT(</a:t>
            </a:r>
            <a:r>
              <a:rPr lang="en-US" sz="1600" dirty="0" err="1">
                <a:solidFill>
                  <a:srgbClr val="0070C0"/>
                </a:solidFill>
              </a:rPr>
              <a:t>J.jokeid</a:t>
            </a:r>
            <a:r>
              <a:rPr lang="en-US" sz="1600" dirty="0">
                <a:solidFill>
                  <a:srgbClr val="0070C0"/>
                </a:solidFill>
              </a:rPr>
              <a:t>)   // </a:t>
            </a:r>
            <a:r>
              <a:rPr lang="en-US" sz="1600" dirty="0">
                <a:solidFill>
                  <a:schemeClr val="bg1">
                    <a:lumMod val="75000"/>
                  </a:schemeClr>
                </a:solidFill>
              </a:rPr>
              <a:t>number of excellent to U1 by U2</a:t>
            </a:r>
          </a:p>
          <a:p>
            <a:pPr>
              <a:buNone/>
            </a:pPr>
            <a:r>
              <a:rPr lang="en-US" sz="1600" dirty="0">
                <a:solidFill>
                  <a:srgbClr val="0070C0"/>
                </a:solidFill>
              </a:rPr>
              <a:t>             FROM Jokes J, Reviews R</a:t>
            </a:r>
          </a:p>
          <a:p>
            <a:pPr>
              <a:buNone/>
            </a:pPr>
            <a:r>
              <a:rPr lang="en-US" sz="1600" dirty="0">
                <a:solidFill>
                  <a:srgbClr val="0070C0"/>
                </a:solidFill>
              </a:rPr>
              <a:t>             WHERE  </a:t>
            </a:r>
            <a:r>
              <a:rPr lang="en-US" sz="1600" dirty="0" err="1">
                <a:solidFill>
                  <a:srgbClr val="0070C0"/>
                </a:solidFill>
              </a:rPr>
              <a:t>J.authorid</a:t>
            </a:r>
            <a:r>
              <a:rPr lang="en-US" sz="1600" dirty="0">
                <a:solidFill>
                  <a:srgbClr val="0070C0"/>
                </a:solidFill>
              </a:rPr>
              <a:t> = U1.authorid AND  </a:t>
            </a:r>
            <a:r>
              <a:rPr lang="en-US" sz="1600" dirty="0" err="1">
                <a:solidFill>
                  <a:srgbClr val="0070C0"/>
                </a:solidFill>
              </a:rPr>
              <a:t>J.jokeid</a:t>
            </a:r>
            <a:r>
              <a:rPr lang="en-US" sz="1600" dirty="0">
                <a:solidFill>
                  <a:srgbClr val="0070C0"/>
                </a:solidFill>
              </a:rPr>
              <a:t> = </a:t>
            </a:r>
            <a:r>
              <a:rPr lang="en-US" sz="1600" dirty="0" err="1">
                <a:solidFill>
                  <a:srgbClr val="0070C0"/>
                </a:solidFill>
              </a:rPr>
              <a:t>R.jokeid</a:t>
            </a:r>
            <a:r>
              <a:rPr lang="en-US" sz="1600" dirty="0">
                <a:solidFill>
                  <a:srgbClr val="0070C0"/>
                </a:solidFill>
              </a:rPr>
              <a:t> AND           	</a:t>
            </a:r>
            <a:r>
              <a:rPr lang="en-US" sz="1600" dirty="0" err="1">
                <a:solidFill>
                  <a:srgbClr val="0070C0"/>
                </a:solidFill>
              </a:rPr>
              <a:t>R.reviewerid</a:t>
            </a:r>
            <a:r>
              <a:rPr lang="en-US" sz="1600" dirty="0">
                <a:solidFill>
                  <a:srgbClr val="0070C0"/>
                </a:solidFill>
              </a:rPr>
              <a:t> = U2.authorid AND </a:t>
            </a:r>
            <a:r>
              <a:rPr lang="en-US" sz="1600" dirty="0" err="1">
                <a:solidFill>
                  <a:srgbClr val="0070C0"/>
                </a:solidFill>
              </a:rPr>
              <a:t>R.score</a:t>
            </a:r>
            <a:r>
              <a:rPr lang="en-US" sz="1600" dirty="0">
                <a:solidFill>
                  <a:srgbClr val="0070C0"/>
                </a:solidFill>
              </a:rPr>
              <a:t> = “Excellent”</a:t>
            </a:r>
            <a:r>
              <a:rPr lang="en-US" sz="1600" dirty="0"/>
              <a:t>) </a:t>
            </a:r>
          </a:p>
          <a:p>
            <a:pPr>
              <a:buNone/>
            </a:pPr>
            <a:r>
              <a:rPr lang="en-US" sz="1600" dirty="0"/>
              <a:t>                            AND</a:t>
            </a:r>
          </a:p>
          <a:p>
            <a:pPr>
              <a:buNone/>
            </a:pPr>
            <a:r>
              <a:rPr lang="en-US" sz="1600" dirty="0"/>
              <a:t>            (</a:t>
            </a:r>
            <a:r>
              <a:rPr lang="en-US" sz="1600" dirty="0">
                <a:solidFill>
                  <a:srgbClr val="FF0000"/>
                </a:solidFill>
              </a:rPr>
              <a:t>SELECT COUNT(*)         // 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number of jokes by U2</a:t>
            </a:r>
          </a:p>
          <a:p>
            <a:pPr>
              <a:buNone/>
            </a:pPr>
            <a:r>
              <a:rPr lang="en-US" sz="1600" dirty="0">
                <a:solidFill>
                  <a:srgbClr val="FF0000"/>
                </a:solidFill>
              </a:rPr>
              <a:t>            FROM Jokes</a:t>
            </a:r>
          </a:p>
          <a:p>
            <a:pPr>
              <a:buNone/>
            </a:pPr>
            <a:r>
              <a:rPr lang="en-US" sz="1600" dirty="0">
                <a:solidFill>
                  <a:srgbClr val="FF0000"/>
                </a:solidFill>
              </a:rPr>
              <a:t>            WHERE </a:t>
            </a:r>
            <a:r>
              <a:rPr lang="en-US" sz="1600" dirty="0" err="1">
                <a:solidFill>
                  <a:srgbClr val="FF0000"/>
                </a:solidFill>
              </a:rPr>
              <a:t>authorid</a:t>
            </a:r>
            <a:r>
              <a:rPr lang="en-US" sz="1600" dirty="0">
                <a:solidFill>
                  <a:srgbClr val="FF0000"/>
                </a:solidFill>
              </a:rPr>
              <a:t> = U2.authorid</a:t>
            </a:r>
            <a:r>
              <a:rPr lang="en-US" sz="1600" dirty="0"/>
              <a:t>) = </a:t>
            </a:r>
          </a:p>
          <a:p>
            <a:pPr>
              <a:buNone/>
            </a:pPr>
            <a:r>
              <a:rPr lang="en-US" sz="1600" dirty="0"/>
              <a:t>             (</a:t>
            </a:r>
            <a:r>
              <a:rPr lang="en-US" sz="1600" dirty="0">
                <a:solidFill>
                  <a:srgbClr val="0070C0"/>
                </a:solidFill>
              </a:rPr>
              <a:t>SELECT COUNT(J1.jokeid)   // 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number of excellent to U2 by U1</a:t>
            </a:r>
          </a:p>
          <a:p>
            <a:pPr>
              <a:buNone/>
            </a:pPr>
            <a:r>
              <a:rPr lang="en-US" sz="1600" dirty="0">
                <a:solidFill>
                  <a:srgbClr val="0070C0"/>
                </a:solidFill>
              </a:rPr>
              <a:t>             FROM Jokes J1, Reviews R1</a:t>
            </a:r>
          </a:p>
          <a:p>
            <a:pPr>
              <a:buNone/>
            </a:pPr>
            <a:r>
              <a:rPr lang="en-US" sz="1600" dirty="0">
                <a:solidFill>
                  <a:srgbClr val="0070C0"/>
                </a:solidFill>
              </a:rPr>
              <a:t>             WHERE  J1.authorid = U2.authorid AND  J1.jokeid = R1.jokeid AND           	R1.reviewerid = U1.authorid AND R1.score = “Excellent”</a:t>
            </a:r>
            <a:r>
              <a:rPr lang="en-US" sz="1600" dirty="0"/>
              <a:t>)</a:t>
            </a:r>
          </a:p>
          <a:p>
            <a:pPr>
              <a:buNone/>
            </a:pPr>
            <a:endParaRPr lang="en-US" sz="1600" dirty="0"/>
          </a:p>
          <a:p>
            <a:pPr>
              <a:buNone/>
            </a:pPr>
            <a:r>
              <a:rPr lang="en-US" sz="1600" dirty="0"/>
              <a:t>// assumption: each reviewer can only give at most only review to each joke</a:t>
            </a:r>
          </a:p>
          <a:p>
            <a:pPr>
              <a:buNone/>
            </a:pPr>
            <a:endParaRPr lang="en-US" sz="1600" dirty="0"/>
          </a:p>
          <a:p>
            <a:pPr>
              <a:buNone/>
            </a:pPr>
            <a:endParaRPr lang="en-US" sz="1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6945C9-3664-46FC-8370-63084CB6E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291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892269725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55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3392" y="1629526"/>
            <a:ext cx="6705600" cy="52629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SELECT U1.authorid, U2.authorid</a:t>
            </a:r>
          </a:p>
          <a:p>
            <a:pPr>
              <a:buNone/>
            </a:pPr>
            <a:r>
              <a:rPr lang="en-US" sz="1600" dirty="0"/>
              <a:t>FROM Jokes U1, Jokes U2</a:t>
            </a:r>
          </a:p>
          <a:p>
            <a:pPr>
              <a:buNone/>
            </a:pPr>
            <a:r>
              <a:rPr lang="en-US" sz="1600" dirty="0"/>
              <a:t>WHERE U1.authorid &lt; U2.authorid AND NOT EXISTS(</a:t>
            </a:r>
          </a:p>
          <a:p>
            <a:pPr>
              <a:buNone/>
            </a:pPr>
            <a:r>
              <a:rPr lang="en-US" sz="1600" dirty="0"/>
              <a:t>       SELECT </a:t>
            </a:r>
            <a:r>
              <a:rPr lang="en-US" sz="1600" dirty="0" err="1"/>
              <a:t>J.jokeid</a:t>
            </a:r>
            <a:r>
              <a:rPr lang="en-US" sz="1600" dirty="0"/>
              <a:t>   // any joke by U1 that U2 does not give a E?</a:t>
            </a:r>
          </a:p>
          <a:p>
            <a:pPr>
              <a:buNone/>
            </a:pPr>
            <a:r>
              <a:rPr lang="en-US" sz="1600" dirty="0"/>
              <a:t>       FROM Jokes J</a:t>
            </a:r>
          </a:p>
          <a:p>
            <a:pPr>
              <a:buNone/>
            </a:pPr>
            <a:r>
              <a:rPr lang="en-US" sz="1600" dirty="0"/>
              <a:t>       WHERE </a:t>
            </a:r>
            <a:r>
              <a:rPr lang="en-US" sz="1600" dirty="0" err="1"/>
              <a:t>J.authorid</a:t>
            </a:r>
            <a:r>
              <a:rPr lang="en-US" sz="1600" dirty="0"/>
              <a:t> = U1.authorid AND </a:t>
            </a:r>
            <a:r>
              <a:rPr lang="en-US" sz="1600" dirty="0" err="1"/>
              <a:t>J.jokeid</a:t>
            </a:r>
            <a:r>
              <a:rPr lang="en-US" sz="1600" dirty="0"/>
              <a:t> NOT IN</a:t>
            </a:r>
          </a:p>
          <a:p>
            <a:pPr>
              <a:buNone/>
            </a:pPr>
            <a:r>
              <a:rPr lang="en-US" sz="1600" dirty="0"/>
              <a:t>             (SELECT </a:t>
            </a:r>
            <a:r>
              <a:rPr lang="en-US" sz="1600" dirty="0" err="1"/>
              <a:t>jokeid</a:t>
            </a:r>
            <a:r>
              <a:rPr lang="en-US" sz="1600" dirty="0"/>
              <a:t> FROM Reviews R </a:t>
            </a:r>
          </a:p>
          <a:p>
            <a:pPr>
              <a:buNone/>
            </a:pPr>
            <a:r>
              <a:rPr lang="en-US" sz="1600" dirty="0"/>
              <a:t>               WHERE </a:t>
            </a:r>
            <a:r>
              <a:rPr lang="en-US" sz="1600" dirty="0" err="1"/>
              <a:t>R.reviewerid</a:t>
            </a:r>
            <a:r>
              <a:rPr lang="en-US" sz="1600" dirty="0"/>
              <a:t> = U2.authorid and </a:t>
            </a:r>
            <a:r>
              <a:rPr lang="en-US" sz="1600" dirty="0" err="1"/>
              <a:t>R.score</a:t>
            </a:r>
            <a:r>
              <a:rPr lang="en-US" sz="1600" dirty="0"/>
              <a:t> = ‘Excellent’)</a:t>
            </a:r>
          </a:p>
          <a:p>
            <a:pPr>
              <a:buNone/>
            </a:pPr>
            <a:r>
              <a:rPr lang="en-US" sz="1600" dirty="0"/>
              <a:t>)  AND  NOT EXISTS(</a:t>
            </a:r>
          </a:p>
          <a:p>
            <a:pPr>
              <a:buNone/>
            </a:pPr>
            <a:r>
              <a:rPr lang="en-US" sz="1600" dirty="0"/>
              <a:t>       SELECT </a:t>
            </a:r>
            <a:r>
              <a:rPr lang="en-US" sz="1600" dirty="0" err="1"/>
              <a:t>J.jokeid</a:t>
            </a:r>
            <a:r>
              <a:rPr lang="en-US" sz="1600" dirty="0"/>
              <a:t>   // any joke by U2 that U1 does not give a E?</a:t>
            </a:r>
          </a:p>
          <a:p>
            <a:pPr>
              <a:buNone/>
            </a:pPr>
            <a:r>
              <a:rPr lang="en-US" sz="1600" dirty="0"/>
              <a:t>       FROM Jokes J</a:t>
            </a:r>
          </a:p>
          <a:p>
            <a:pPr>
              <a:buNone/>
            </a:pPr>
            <a:r>
              <a:rPr lang="en-US" sz="1600" dirty="0"/>
              <a:t>       WHERE </a:t>
            </a:r>
            <a:r>
              <a:rPr lang="en-US" sz="1600" dirty="0" err="1"/>
              <a:t>J.authorid</a:t>
            </a:r>
            <a:r>
              <a:rPr lang="en-US" sz="1600" dirty="0"/>
              <a:t> = U2.authorid AND </a:t>
            </a:r>
            <a:r>
              <a:rPr lang="en-US" sz="1600" dirty="0" err="1"/>
              <a:t>J.jokeid</a:t>
            </a:r>
            <a:r>
              <a:rPr lang="en-US" sz="1600" dirty="0"/>
              <a:t> NOT IN</a:t>
            </a:r>
          </a:p>
          <a:p>
            <a:pPr>
              <a:buNone/>
            </a:pPr>
            <a:r>
              <a:rPr lang="en-US" sz="1600" dirty="0"/>
              <a:t>             (SELECT </a:t>
            </a:r>
            <a:r>
              <a:rPr lang="en-US" sz="1600" dirty="0" err="1"/>
              <a:t>jokeid</a:t>
            </a:r>
            <a:r>
              <a:rPr lang="en-US" sz="1600" dirty="0"/>
              <a:t> FROM Reviews R </a:t>
            </a:r>
          </a:p>
          <a:p>
            <a:pPr>
              <a:buNone/>
            </a:pPr>
            <a:r>
              <a:rPr lang="en-US" sz="1600" dirty="0"/>
              <a:t>               WHERE </a:t>
            </a:r>
            <a:r>
              <a:rPr lang="en-US" sz="1600" dirty="0" err="1"/>
              <a:t>R.reviewerid</a:t>
            </a:r>
            <a:r>
              <a:rPr lang="en-US" sz="1600" dirty="0"/>
              <a:t> = U1.authorid and </a:t>
            </a:r>
            <a:r>
              <a:rPr lang="en-US" sz="1600" dirty="0" err="1"/>
              <a:t>R.score</a:t>
            </a:r>
            <a:r>
              <a:rPr lang="en-US" sz="1600" dirty="0"/>
              <a:t> = ‘Excellent’)       </a:t>
            </a:r>
          </a:p>
          <a:p>
            <a:pPr>
              <a:buNone/>
            </a:pPr>
            <a:r>
              <a:rPr lang="en-US" sz="1600" dirty="0"/>
              <a:t>)</a:t>
            </a:r>
          </a:p>
          <a:p>
            <a:pPr>
              <a:buNone/>
            </a:pPr>
            <a:r>
              <a:rPr lang="en-US" sz="1600" dirty="0"/>
              <a:t>        </a:t>
            </a:r>
          </a:p>
          <a:p>
            <a:pPr>
              <a:buNone/>
            </a:pPr>
            <a:endParaRPr lang="en-US" sz="1600" dirty="0"/>
          </a:p>
          <a:p>
            <a:pPr>
              <a:buNone/>
            </a:pPr>
            <a:endParaRPr lang="en-US" sz="1600" dirty="0"/>
          </a:p>
          <a:p>
            <a:pPr>
              <a:buNone/>
            </a:pPr>
            <a:r>
              <a:rPr lang="en-US" sz="1600" dirty="0"/>
              <a:t>// assumption: each reviewer can only give at most only review to each joke</a:t>
            </a:r>
          </a:p>
          <a:p>
            <a:pPr>
              <a:buNone/>
            </a:pPr>
            <a:endParaRPr lang="en-US" sz="1600" dirty="0"/>
          </a:p>
          <a:p>
            <a:pPr>
              <a:buNone/>
            </a:pPr>
            <a:endParaRPr lang="en-US" sz="1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5F2DD3-4DB7-45F0-B483-605D74166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292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23818520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56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</a:t>
            </a:r>
            <a:r>
              <a:rPr lang="en-US" sz="3200" dirty="0" err="1">
                <a:ea typeface="新細明體" panose="02020500000000000000" pitchFamily="18" charset="-120"/>
              </a:rPr>
              <a:t>jokeids</a:t>
            </a:r>
            <a:r>
              <a:rPr lang="en-US" sz="3200" dirty="0">
                <a:ea typeface="新細明體" panose="02020500000000000000" pitchFamily="18" charset="-120"/>
              </a:rPr>
              <a:t> of those jokes that are posted by users who are banned now.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23B842-C7EB-43FB-ABFA-E2D2BD518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293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53248061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56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SELECT </a:t>
            </a:r>
            <a:r>
              <a:rPr lang="en-US" sz="1600" dirty="0" err="1"/>
              <a:t>jokeid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FROM Jokes</a:t>
            </a:r>
          </a:p>
          <a:p>
            <a:pPr>
              <a:buNone/>
            </a:pPr>
            <a:r>
              <a:rPr lang="en-US" sz="1600" dirty="0"/>
              <a:t>WHERE  </a:t>
            </a:r>
            <a:r>
              <a:rPr lang="en-US" sz="1600" dirty="0" err="1"/>
              <a:t>authorid</a:t>
            </a:r>
            <a:r>
              <a:rPr lang="en-US" sz="1600" dirty="0"/>
              <a:t> IN (</a:t>
            </a:r>
          </a:p>
          <a:p>
            <a:pPr>
              <a:buNone/>
            </a:pPr>
            <a:r>
              <a:rPr lang="en-US" sz="1600" dirty="0"/>
              <a:t>	SELECT </a:t>
            </a:r>
            <a:r>
              <a:rPr lang="en-US" sz="1600" dirty="0" err="1"/>
              <a:t>userid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                  FROM Users</a:t>
            </a:r>
          </a:p>
          <a:p>
            <a:pPr>
              <a:buNone/>
            </a:pPr>
            <a:r>
              <a:rPr lang="en-US" sz="1600" dirty="0"/>
              <a:t>	WHERE banned = True</a:t>
            </a:r>
          </a:p>
          <a:p>
            <a:pPr>
              <a:buNone/>
            </a:pPr>
            <a:r>
              <a:rPr lang="en-US" sz="1600" dirty="0"/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77C41B9-4D9E-4C00-9EE4-E344B1DC6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294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12752051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57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</a:t>
            </a:r>
            <a:r>
              <a:rPr lang="en-US" sz="3200" dirty="0" err="1">
                <a:ea typeface="新細明體" panose="02020500000000000000" pitchFamily="18" charset="-120"/>
              </a:rPr>
              <a:t>jokeids</a:t>
            </a:r>
            <a:r>
              <a:rPr lang="en-US" sz="3200" dirty="0">
                <a:ea typeface="新細明體" panose="02020500000000000000" pitchFamily="18" charset="-120"/>
              </a:rPr>
              <a:t> of those jokes that contain a comment that is given by a user who is banned now.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780479-7313-465A-84C4-82B738FCB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295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65881646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57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SELECT </a:t>
            </a:r>
            <a:r>
              <a:rPr lang="en-US" sz="1600" dirty="0" err="1"/>
              <a:t>jokeid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FROM Reviews</a:t>
            </a:r>
          </a:p>
          <a:p>
            <a:pPr>
              <a:buNone/>
            </a:pPr>
            <a:r>
              <a:rPr lang="en-US" sz="1600" dirty="0"/>
              <a:t>WHERE  </a:t>
            </a:r>
            <a:r>
              <a:rPr lang="en-US" sz="1600" dirty="0" err="1"/>
              <a:t>reviewerid</a:t>
            </a:r>
            <a:r>
              <a:rPr lang="en-US" sz="1600" dirty="0"/>
              <a:t> IN (</a:t>
            </a:r>
          </a:p>
          <a:p>
            <a:pPr>
              <a:buNone/>
            </a:pPr>
            <a:r>
              <a:rPr lang="en-US" sz="1600" dirty="0"/>
              <a:t>	SELECT </a:t>
            </a:r>
            <a:r>
              <a:rPr lang="en-US" sz="1600" dirty="0" err="1"/>
              <a:t>userid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                  FROM Users</a:t>
            </a:r>
          </a:p>
          <a:p>
            <a:pPr>
              <a:buNone/>
            </a:pPr>
            <a:r>
              <a:rPr lang="en-US" sz="1600" dirty="0"/>
              <a:t>	WHERE banned = True</a:t>
            </a:r>
          </a:p>
          <a:p>
            <a:pPr>
              <a:buNone/>
            </a:pPr>
            <a:r>
              <a:rPr lang="en-US" sz="1600" dirty="0"/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5252C7-AEE9-4EE0-8198-DCAF323E5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296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64553196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58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</a:t>
            </a:r>
            <a:r>
              <a:rPr lang="en-US" sz="3200" dirty="0" err="1">
                <a:ea typeface="新細明體" panose="02020500000000000000" pitchFamily="18" charset="-120"/>
              </a:rPr>
              <a:t>jokeids</a:t>
            </a:r>
            <a:r>
              <a:rPr lang="en-US" sz="3200" dirty="0">
                <a:ea typeface="新細明體" panose="02020500000000000000" pitchFamily="18" charset="-120"/>
              </a:rPr>
              <a:t> of those jokes, each comment of which is given by a user who is banned now.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DB459B-AE07-4ADE-9E43-954A32322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297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6835602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58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SELECT </a:t>
            </a:r>
            <a:r>
              <a:rPr lang="en-US" sz="1600" dirty="0" err="1"/>
              <a:t>jokeid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FROM Reviews R1</a:t>
            </a:r>
          </a:p>
          <a:p>
            <a:pPr>
              <a:buNone/>
            </a:pPr>
            <a:r>
              <a:rPr lang="en-US" sz="1600" dirty="0"/>
              <a:t>WHERE NOT EXISTS (</a:t>
            </a:r>
          </a:p>
          <a:p>
            <a:pPr>
              <a:buNone/>
            </a:pPr>
            <a:r>
              <a:rPr lang="en-US" sz="1600" dirty="0"/>
              <a:t>         SELECT *</a:t>
            </a:r>
          </a:p>
          <a:p>
            <a:pPr>
              <a:buNone/>
            </a:pPr>
            <a:r>
              <a:rPr lang="en-US" sz="1600" dirty="0"/>
              <a:t>         FROM Reviews R2, Users U</a:t>
            </a:r>
          </a:p>
          <a:p>
            <a:pPr>
              <a:buNone/>
            </a:pPr>
            <a:r>
              <a:rPr lang="en-US" sz="1600" dirty="0"/>
              <a:t>         WHERE R2.reviewerid = </a:t>
            </a:r>
            <a:r>
              <a:rPr lang="en-US" sz="1600" dirty="0" err="1"/>
              <a:t>U.userid</a:t>
            </a:r>
            <a:r>
              <a:rPr lang="en-US" sz="1600" dirty="0"/>
              <a:t>  AND</a:t>
            </a:r>
          </a:p>
          <a:p>
            <a:pPr>
              <a:buNone/>
            </a:pPr>
            <a:r>
              <a:rPr lang="en-US" sz="1600" dirty="0"/>
              <a:t>                        </a:t>
            </a:r>
            <a:r>
              <a:rPr lang="en-US" sz="1600" dirty="0" err="1"/>
              <a:t>U.banned</a:t>
            </a:r>
            <a:r>
              <a:rPr lang="en-US" sz="1600" dirty="0"/>
              <a:t> = False AND </a:t>
            </a:r>
          </a:p>
          <a:p>
            <a:pPr>
              <a:buNone/>
            </a:pPr>
            <a:r>
              <a:rPr lang="en-US" sz="1600" dirty="0"/>
              <a:t>                        R2.jokeid = R1.jokeid</a:t>
            </a:r>
          </a:p>
          <a:p>
            <a:pPr>
              <a:buNone/>
            </a:pPr>
            <a:r>
              <a:rPr lang="en-US" sz="1600" dirty="0"/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1B38D9-0142-4600-9F1B-89110642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298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02042154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59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</a:t>
            </a:r>
            <a:r>
              <a:rPr lang="en-US" sz="3200" dirty="0" err="1">
                <a:ea typeface="新細明體" panose="02020500000000000000" pitchFamily="18" charset="-120"/>
              </a:rPr>
              <a:t>jokeids</a:t>
            </a:r>
            <a:r>
              <a:rPr lang="en-US" sz="3200" dirty="0">
                <a:ea typeface="新細明體" panose="02020500000000000000" pitchFamily="18" charset="-120"/>
              </a:rPr>
              <a:t> of all the jokes that have no tags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F220D99-0F7F-4DEA-9369-F83E3DF97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299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89709073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59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3293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SELECT </a:t>
            </a:r>
            <a:r>
              <a:rPr lang="en-US" sz="1600" dirty="0" err="1"/>
              <a:t>jokeid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FROM Jokes J</a:t>
            </a:r>
          </a:p>
          <a:p>
            <a:pPr>
              <a:buNone/>
            </a:pPr>
            <a:r>
              <a:rPr lang="en-US" sz="1600" dirty="0"/>
              <a:t>WHERE NOT EXISTS (</a:t>
            </a:r>
          </a:p>
          <a:p>
            <a:pPr>
              <a:buNone/>
            </a:pPr>
            <a:r>
              <a:rPr lang="en-US" sz="1600" dirty="0"/>
              <a:t>                  SELECT *</a:t>
            </a:r>
          </a:p>
          <a:p>
            <a:pPr>
              <a:buNone/>
            </a:pPr>
            <a:r>
              <a:rPr lang="en-US" sz="1600" dirty="0"/>
              <a:t>                  FROM </a:t>
            </a:r>
            <a:r>
              <a:rPr lang="en-US" sz="1600" dirty="0" err="1"/>
              <a:t>JokeTag</a:t>
            </a:r>
            <a:r>
              <a:rPr lang="en-US" sz="1600" dirty="0"/>
              <a:t> T</a:t>
            </a:r>
          </a:p>
          <a:p>
            <a:pPr>
              <a:buNone/>
            </a:pPr>
            <a:r>
              <a:rPr lang="en-US" sz="1600" dirty="0"/>
              <a:t>                  WHERE </a:t>
            </a:r>
            <a:r>
              <a:rPr lang="en-US" sz="1600" dirty="0" err="1"/>
              <a:t>T.jokeid</a:t>
            </a:r>
            <a:r>
              <a:rPr lang="en-US" sz="1600" dirty="0"/>
              <a:t> = </a:t>
            </a:r>
            <a:r>
              <a:rPr lang="en-US" sz="1600" dirty="0" err="1"/>
              <a:t>J.jokeid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)</a:t>
            </a:r>
          </a:p>
          <a:p>
            <a:pPr>
              <a:buNone/>
            </a:pPr>
            <a:endParaRPr lang="en-US" sz="1600" dirty="0"/>
          </a:p>
          <a:p>
            <a:pPr>
              <a:buNone/>
            </a:pPr>
            <a:r>
              <a:rPr lang="en-US" sz="1600" dirty="0"/>
              <a:t>OR</a:t>
            </a:r>
          </a:p>
          <a:p>
            <a:pPr>
              <a:buNone/>
            </a:pPr>
            <a:r>
              <a:rPr lang="en-US" sz="1600" dirty="0"/>
              <a:t>SELECT </a:t>
            </a:r>
            <a:r>
              <a:rPr lang="en-US" sz="1600" dirty="0" err="1"/>
              <a:t>jokeid</a:t>
            </a:r>
            <a:r>
              <a:rPr lang="en-US" sz="1600" dirty="0"/>
              <a:t> FROM Jokes</a:t>
            </a:r>
          </a:p>
          <a:p>
            <a:pPr>
              <a:buNone/>
            </a:pPr>
            <a:r>
              <a:rPr lang="en-US" sz="1600" dirty="0"/>
              <a:t>EXCEPT</a:t>
            </a:r>
          </a:p>
          <a:p>
            <a:pPr>
              <a:buNone/>
            </a:pPr>
            <a:r>
              <a:rPr lang="en-US" sz="1600" dirty="0"/>
              <a:t>SELECT </a:t>
            </a:r>
            <a:r>
              <a:rPr lang="en-US" sz="1600" dirty="0" err="1"/>
              <a:t>jokeid</a:t>
            </a:r>
            <a:r>
              <a:rPr lang="en-US" sz="1600" dirty="0"/>
              <a:t> FROM </a:t>
            </a:r>
            <a:r>
              <a:rPr lang="en-US" sz="1600" dirty="0" err="1"/>
              <a:t>JokeTag</a:t>
            </a:r>
            <a:endParaRPr lang="en-US" sz="1600" dirty="0"/>
          </a:p>
          <a:p>
            <a:pPr>
              <a:buNone/>
            </a:pPr>
            <a:endParaRPr lang="en-US" sz="1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F1CCDE-7559-4969-A7C2-9790FFEB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300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59221957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60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</a:t>
            </a:r>
            <a:r>
              <a:rPr lang="en-US" sz="3200" dirty="0" err="1">
                <a:ea typeface="新細明體" panose="02020500000000000000" pitchFamily="18" charset="-120"/>
              </a:rPr>
              <a:t>jokeids</a:t>
            </a:r>
            <a:r>
              <a:rPr lang="en-US" sz="3200" dirty="0">
                <a:ea typeface="新細明體" panose="02020500000000000000" pitchFamily="18" charset="-120"/>
              </a:rPr>
              <a:t> of the jokes that have both tags of “database” and “</a:t>
            </a:r>
            <a:r>
              <a:rPr lang="en-US" sz="3200" dirty="0" err="1">
                <a:ea typeface="新細明體" panose="02020500000000000000" pitchFamily="18" charset="-120"/>
              </a:rPr>
              <a:t>sql</a:t>
            </a:r>
            <a:r>
              <a:rPr lang="en-US" sz="3200" dirty="0">
                <a:ea typeface="新細明體" panose="02020500000000000000" pitchFamily="18" charset="-120"/>
              </a:rPr>
              <a:t>”.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A9BD36-9181-4A2C-95DE-D636F10BE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301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88904301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60 (Solution 1)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(SELECT </a:t>
            </a:r>
            <a:r>
              <a:rPr lang="en-US" sz="1600" dirty="0" err="1"/>
              <a:t>jokeid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FROM </a:t>
            </a:r>
            <a:r>
              <a:rPr lang="en-US" sz="1600" dirty="0" err="1"/>
              <a:t>JokeTags</a:t>
            </a:r>
            <a:r>
              <a:rPr lang="en-US" sz="1600" dirty="0"/>
              <a:t> T</a:t>
            </a:r>
          </a:p>
          <a:p>
            <a:pPr>
              <a:buNone/>
            </a:pPr>
            <a:r>
              <a:rPr lang="en-US" sz="1600" dirty="0"/>
              <a:t>WHERE </a:t>
            </a:r>
            <a:r>
              <a:rPr lang="en-US" sz="1600" dirty="0" err="1"/>
              <a:t>t.tag</a:t>
            </a:r>
            <a:r>
              <a:rPr lang="en-US" sz="1600" dirty="0"/>
              <a:t> = ‘database’</a:t>
            </a:r>
          </a:p>
          <a:p>
            <a:pPr>
              <a:buNone/>
            </a:pPr>
            <a:r>
              <a:rPr lang="en-US" sz="1600" dirty="0"/>
              <a:t>INTERSECT</a:t>
            </a:r>
          </a:p>
          <a:p>
            <a:pPr>
              <a:buNone/>
            </a:pPr>
            <a:r>
              <a:rPr lang="en-US" sz="1600" dirty="0"/>
              <a:t>(SELECT </a:t>
            </a:r>
            <a:r>
              <a:rPr lang="en-US" sz="1600" dirty="0" err="1"/>
              <a:t>jokeid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FROM </a:t>
            </a:r>
            <a:r>
              <a:rPr lang="en-US" sz="1600" dirty="0" err="1"/>
              <a:t>JokeTag</a:t>
            </a:r>
            <a:r>
              <a:rPr lang="en-US" sz="1600" dirty="0"/>
              <a:t> T</a:t>
            </a:r>
          </a:p>
          <a:p>
            <a:pPr>
              <a:buNone/>
            </a:pPr>
            <a:r>
              <a:rPr lang="en-US" sz="1600" dirty="0"/>
              <a:t>WHERE </a:t>
            </a:r>
            <a:r>
              <a:rPr lang="en-US" sz="1600" dirty="0" err="1"/>
              <a:t>T.tag</a:t>
            </a:r>
            <a:r>
              <a:rPr lang="en-US" sz="1600" dirty="0"/>
              <a:t> = ‘</a:t>
            </a:r>
            <a:r>
              <a:rPr lang="en-US" sz="1600" dirty="0" err="1"/>
              <a:t>sql</a:t>
            </a:r>
            <a:r>
              <a:rPr lang="en-US" sz="1600" dirty="0"/>
              <a:t>’</a:t>
            </a:r>
          </a:p>
          <a:p>
            <a:pPr>
              <a:buNone/>
            </a:pPr>
            <a:r>
              <a:rPr lang="en-US" sz="1600" dirty="0"/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2A7CF8-46D3-457F-AE9D-4BED5B585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302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77952389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60 (Solution 2)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(SELECT </a:t>
            </a:r>
            <a:r>
              <a:rPr lang="en-US" sz="1600" dirty="0" err="1"/>
              <a:t>jokeid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FROM </a:t>
            </a:r>
            <a:r>
              <a:rPr lang="en-US" sz="1600" dirty="0" err="1"/>
              <a:t>JokeTags</a:t>
            </a:r>
            <a:r>
              <a:rPr lang="en-US" sz="1600" dirty="0"/>
              <a:t> T</a:t>
            </a:r>
          </a:p>
          <a:p>
            <a:pPr>
              <a:buNone/>
            </a:pPr>
            <a:r>
              <a:rPr lang="en-US" sz="1600" dirty="0"/>
              <a:t>WHERE </a:t>
            </a:r>
            <a:r>
              <a:rPr lang="en-US" sz="1600" dirty="0" err="1"/>
              <a:t>t.tag</a:t>
            </a:r>
            <a:r>
              <a:rPr lang="en-US" sz="1600" dirty="0"/>
              <a:t> = ‘database’ AND </a:t>
            </a:r>
            <a:r>
              <a:rPr lang="en-US" sz="1600" dirty="0" err="1"/>
              <a:t>jokeid</a:t>
            </a:r>
            <a:r>
              <a:rPr lang="en-US" sz="1600" dirty="0"/>
              <a:t> IN </a:t>
            </a:r>
          </a:p>
          <a:p>
            <a:pPr>
              <a:buNone/>
            </a:pPr>
            <a:r>
              <a:rPr lang="en-US" sz="1600" dirty="0"/>
              <a:t>(SELECT </a:t>
            </a:r>
            <a:r>
              <a:rPr lang="en-US" sz="1600" dirty="0" err="1"/>
              <a:t>jokeid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FROM </a:t>
            </a:r>
            <a:r>
              <a:rPr lang="en-US" sz="1600" dirty="0" err="1"/>
              <a:t>JokeTag</a:t>
            </a:r>
            <a:r>
              <a:rPr lang="en-US" sz="1600" dirty="0"/>
              <a:t> T</a:t>
            </a:r>
          </a:p>
          <a:p>
            <a:pPr>
              <a:buNone/>
            </a:pPr>
            <a:r>
              <a:rPr lang="en-US" sz="1600" dirty="0"/>
              <a:t>WHERE </a:t>
            </a:r>
            <a:r>
              <a:rPr lang="en-US" sz="1600" dirty="0" err="1"/>
              <a:t>T.tag</a:t>
            </a:r>
            <a:r>
              <a:rPr lang="en-US" sz="1600" dirty="0"/>
              <a:t> = ‘</a:t>
            </a:r>
            <a:r>
              <a:rPr lang="en-US" sz="1600" dirty="0" err="1"/>
              <a:t>sql</a:t>
            </a:r>
            <a:r>
              <a:rPr lang="en-US" sz="1600" dirty="0"/>
              <a:t>’</a:t>
            </a:r>
          </a:p>
          <a:p>
            <a:pPr>
              <a:buNone/>
            </a:pPr>
            <a:r>
              <a:rPr lang="en-US" sz="1600" dirty="0"/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5605C0-D6FD-4247-9CC4-07E6F3562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303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08374036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61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</a:t>
            </a:r>
            <a:r>
              <a:rPr lang="en-US" sz="3200" dirty="0" err="1">
                <a:ea typeface="新細明體" panose="02020500000000000000" pitchFamily="18" charset="-120"/>
              </a:rPr>
              <a:t>userids</a:t>
            </a:r>
            <a:r>
              <a:rPr lang="en-US" sz="3200" dirty="0">
                <a:ea typeface="新細明體" panose="02020500000000000000" pitchFamily="18" charset="-120"/>
              </a:rPr>
              <a:t> of those female users who never posted any jokes but gave some comments to some jokes.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CDA5A8-0267-48B5-9A1A-88DD0EF87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304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170320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61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((SELECT </a:t>
            </a:r>
            <a:r>
              <a:rPr lang="en-US" sz="1600" dirty="0" err="1"/>
              <a:t>userid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FROM Users U</a:t>
            </a:r>
          </a:p>
          <a:p>
            <a:pPr>
              <a:buNone/>
            </a:pPr>
            <a:r>
              <a:rPr lang="en-US" sz="1600" dirty="0"/>
              <a:t>WHERE </a:t>
            </a:r>
            <a:r>
              <a:rPr lang="en-US" sz="1600" dirty="0" err="1"/>
              <a:t>U.gender</a:t>
            </a:r>
            <a:r>
              <a:rPr lang="en-US" sz="1600" dirty="0"/>
              <a:t> = ‘F’)</a:t>
            </a:r>
          </a:p>
          <a:p>
            <a:pPr>
              <a:buNone/>
            </a:pPr>
            <a:r>
              <a:rPr lang="en-US" sz="1600" dirty="0"/>
              <a:t>EXCEPT</a:t>
            </a:r>
          </a:p>
          <a:p>
            <a:pPr>
              <a:buNone/>
            </a:pPr>
            <a:r>
              <a:rPr lang="en-US" sz="1600" dirty="0"/>
              <a:t>(SELECT authored</a:t>
            </a:r>
          </a:p>
          <a:p>
            <a:pPr>
              <a:buNone/>
            </a:pPr>
            <a:r>
              <a:rPr lang="en-US" sz="1600" dirty="0"/>
              <a:t>FROM Jokes)) INTERSECT</a:t>
            </a:r>
          </a:p>
          <a:p>
            <a:pPr>
              <a:buNone/>
            </a:pPr>
            <a:r>
              <a:rPr lang="en-US" sz="1600" dirty="0"/>
              <a:t>(SELECT </a:t>
            </a:r>
            <a:r>
              <a:rPr lang="en-US" sz="1600" dirty="0" err="1"/>
              <a:t>reviewerid</a:t>
            </a:r>
            <a:r>
              <a:rPr lang="en-US" sz="1600" dirty="0"/>
              <a:t> FROM Reviews)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B13EA2-5075-40AC-A85F-993EE9186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305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41217474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62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</a:t>
            </a:r>
            <a:r>
              <a:rPr lang="en-US" sz="3200" dirty="0" err="1">
                <a:ea typeface="新細明體" panose="02020500000000000000" pitchFamily="18" charset="-120"/>
              </a:rPr>
              <a:t>userids</a:t>
            </a:r>
            <a:r>
              <a:rPr lang="en-US" sz="3200" dirty="0">
                <a:ea typeface="新細明體" panose="02020500000000000000" pitchFamily="18" charset="-120"/>
              </a:rPr>
              <a:t> of those male users who only posted jokes but never gave any comments.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2B2060-93BC-41F7-BBDE-AC60A74E7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306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02801707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62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((SELECT </a:t>
            </a:r>
            <a:r>
              <a:rPr lang="en-US" sz="1600" dirty="0" err="1"/>
              <a:t>userid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FROM Users U</a:t>
            </a:r>
          </a:p>
          <a:p>
            <a:pPr>
              <a:buNone/>
            </a:pPr>
            <a:r>
              <a:rPr lang="en-US" sz="1600" dirty="0"/>
              <a:t>WHERE </a:t>
            </a:r>
            <a:r>
              <a:rPr lang="en-US" sz="1600" dirty="0" err="1"/>
              <a:t>U.gender</a:t>
            </a:r>
            <a:r>
              <a:rPr lang="en-US" sz="1600" dirty="0"/>
              <a:t> = ‘M’)</a:t>
            </a:r>
          </a:p>
          <a:p>
            <a:pPr>
              <a:buNone/>
            </a:pPr>
            <a:r>
              <a:rPr lang="en-US" sz="1600" dirty="0"/>
              <a:t>INTERSECT</a:t>
            </a:r>
          </a:p>
          <a:p>
            <a:pPr>
              <a:buNone/>
            </a:pPr>
            <a:r>
              <a:rPr lang="en-US" sz="1600" dirty="0"/>
              <a:t>(SELECT authored</a:t>
            </a:r>
          </a:p>
          <a:p>
            <a:pPr>
              <a:buNone/>
            </a:pPr>
            <a:r>
              <a:rPr lang="en-US" sz="1600" dirty="0"/>
              <a:t>FROM Jokes)) EXCEPT</a:t>
            </a:r>
          </a:p>
          <a:p>
            <a:pPr>
              <a:buNone/>
            </a:pPr>
            <a:r>
              <a:rPr lang="en-US" sz="1600" dirty="0"/>
              <a:t>(SELECT </a:t>
            </a:r>
            <a:r>
              <a:rPr lang="en-US" sz="1600" dirty="0" err="1"/>
              <a:t>reviewerid</a:t>
            </a:r>
            <a:r>
              <a:rPr lang="en-US" sz="1600" dirty="0"/>
              <a:t> FROM Reviews)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A8D4F3-0F76-41C3-9376-902F4468D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307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94819770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63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Write an UPDATE </a:t>
            </a:r>
            <a:r>
              <a:rPr lang="en-US" sz="3200" dirty="0" err="1">
                <a:ea typeface="新細明體" panose="02020500000000000000" pitchFamily="18" charset="-120"/>
              </a:rPr>
              <a:t>stmt</a:t>
            </a:r>
            <a:r>
              <a:rPr lang="en-US" sz="3200" dirty="0">
                <a:ea typeface="新細明體" panose="02020500000000000000" pitchFamily="18" charset="-120"/>
              </a:rPr>
              <a:t> to ban the users who neither posted any jokes nor gave any comments.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70B308-963D-43C1-9D17-4B113A299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308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75050374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63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UPDATE Users</a:t>
            </a:r>
          </a:p>
          <a:p>
            <a:pPr>
              <a:buNone/>
            </a:pPr>
            <a:r>
              <a:rPr lang="en-US" sz="1600" dirty="0"/>
              <a:t>SET banned = True</a:t>
            </a:r>
          </a:p>
          <a:p>
            <a:pPr>
              <a:buNone/>
            </a:pPr>
            <a:r>
              <a:rPr lang="en-US" sz="1600" dirty="0"/>
              <a:t>WHERE </a:t>
            </a:r>
            <a:r>
              <a:rPr lang="en-US" sz="1600" dirty="0" err="1"/>
              <a:t>userid</a:t>
            </a:r>
            <a:r>
              <a:rPr lang="en-US" sz="1600" dirty="0"/>
              <a:t> NOT IN (SELECT authored FROM Jokes) AND </a:t>
            </a:r>
          </a:p>
          <a:p>
            <a:pPr>
              <a:buNone/>
            </a:pPr>
            <a:r>
              <a:rPr lang="en-US" sz="1600" dirty="0"/>
              <a:t>                </a:t>
            </a:r>
            <a:r>
              <a:rPr lang="en-US" sz="1600" dirty="0" err="1"/>
              <a:t>userid</a:t>
            </a:r>
            <a:r>
              <a:rPr lang="en-US" sz="1600" dirty="0"/>
              <a:t> NOT IN (SELECT </a:t>
            </a:r>
            <a:r>
              <a:rPr lang="en-US" sz="1600" dirty="0" err="1"/>
              <a:t>reviewerid</a:t>
            </a:r>
            <a:r>
              <a:rPr lang="en-US" sz="1600" dirty="0"/>
              <a:t> FROM Reviews)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3870F4-D23A-4C62-9ED9-088760FE4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309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48474684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64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Write a DELETE </a:t>
            </a:r>
            <a:r>
              <a:rPr lang="en-US" sz="3200" dirty="0" err="1">
                <a:ea typeface="新細明體" panose="02020500000000000000" pitchFamily="18" charset="-120"/>
              </a:rPr>
              <a:t>stmt</a:t>
            </a:r>
            <a:r>
              <a:rPr lang="en-US" sz="3200" dirty="0">
                <a:ea typeface="新細明體" panose="02020500000000000000" pitchFamily="18" charset="-120"/>
              </a:rPr>
              <a:t> to delete all the users who posted at least 10 empty jokes – those jokes that have no description.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A3ED8C-EC2D-4459-BB3A-84F8EC2DF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310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08187741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64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DELETE FROM Users</a:t>
            </a:r>
          </a:p>
          <a:p>
            <a:pPr>
              <a:buNone/>
            </a:pPr>
            <a:r>
              <a:rPr lang="en-US" sz="1600" dirty="0"/>
              <a:t>WHERE </a:t>
            </a:r>
            <a:r>
              <a:rPr lang="en-US" sz="1600" dirty="0" err="1"/>
              <a:t>userid</a:t>
            </a:r>
            <a:r>
              <a:rPr lang="en-US" sz="1600" dirty="0"/>
              <a:t> IN (</a:t>
            </a:r>
          </a:p>
          <a:p>
            <a:pPr>
              <a:buNone/>
            </a:pPr>
            <a:r>
              <a:rPr lang="en-US" sz="1600" dirty="0"/>
              <a:t>         // a white list of authors who posted at least 10 white jokes</a:t>
            </a:r>
          </a:p>
          <a:p>
            <a:pPr>
              <a:buNone/>
            </a:pPr>
            <a:r>
              <a:rPr lang="en-US" sz="1600" dirty="0"/>
              <a:t>          SELECT </a:t>
            </a:r>
            <a:r>
              <a:rPr lang="en-US" sz="1600" dirty="0" err="1"/>
              <a:t>authorid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           FROM Jokes J</a:t>
            </a:r>
          </a:p>
          <a:p>
            <a:pPr>
              <a:buNone/>
            </a:pPr>
            <a:r>
              <a:rPr lang="en-US" sz="1600" dirty="0"/>
              <a:t>           WHERE </a:t>
            </a:r>
            <a:r>
              <a:rPr lang="en-US" sz="1600" dirty="0" err="1"/>
              <a:t>J.desc</a:t>
            </a:r>
            <a:r>
              <a:rPr lang="en-US" sz="1600" dirty="0"/>
              <a:t> IS NULL</a:t>
            </a:r>
          </a:p>
          <a:p>
            <a:pPr>
              <a:buNone/>
            </a:pPr>
            <a:r>
              <a:rPr lang="en-US" sz="1600" dirty="0"/>
              <a:t>            GROUP BY </a:t>
            </a:r>
            <a:r>
              <a:rPr lang="en-US" sz="1600" dirty="0" err="1"/>
              <a:t>authorid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             HAVING COUNT(*)&gt;=10</a:t>
            </a:r>
          </a:p>
          <a:p>
            <a:pPr>
              <a:buNone/>
            </a:pPr>
            <a:r>
              <a:rPr lang="en-US" sz="1600" dirty="0"/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7D8027-203A-44BF-BD05-9C433FE21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311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335855358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ED11732-DAC1-4567-BFF9-24D4B7B70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</a:t>
            </a:r>
            <a:r>
              <a:rPr lang="en-US" sz="3200" dirty="0" err="1">
                <a:ea typeface="新細明體" panose="02020500000000000000" pitchFamily="18" charset="-120"/>
              </a:rPr>
              <a:t>userids</a:t>
            </a:r>
            <a:r>
              <a:rPr lang="en-US" sz="3200" dirty="0">
                <a:ea typeface="新細明體" panose="02020500000000000000" pitchFamily="18" charset="-120"/>
              </a:rPr>
              <a:t> of the users who have posted some jokes as well as some comments to some jokes.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B1C600-31E0-4717-AC8E-20A7F4E40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312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07178200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193899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Users(</a:t>
            </a:r>
            <a:r>
              <a:rPr lang="en-US" altLang="zh-TW" u="sng" dirty="0" err="1">
                <a:ea typeface="新細明體" panose="02020500000000000000" pitchFamily="18" charset="-120"/>
              </a:rPr>
              <a:t>userid</a:t>
            </a:r>
            <a:r>
              <a:rPr lang="en-US" altLang="zh-TW" dirty="0">
                <a:ea typeface="新細明體" panose="02020500000000000000" pitchFamily="18" charset="-120"/>
              </a:rPr>
              <a:t>, name, gender, age, banned)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myFriends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friendid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Jokes(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, title, desc, </a:t>
            </a:r>
            <a:r>
              <a:rPr lang="en-US" altLang="zh-TW" dirty="0" err="1">
                <a:ea typeface="新細明體" panose="02020500000000000000" pitchFamily="18" charset="-120"/>
              </a:rPr>
              <a:t>authorid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postDay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JokeTag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tag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 err="1">
                <a:ea typeface="新細明體" panose="02020500000000000000" pitchFamily="18" charset="-120"/>
              </a:rPr>
              <a:t>myFavoriteJokes</a:t>
            </a:r>
            <a:r>
              <a:rPr lang="en-US" altLang="zh-TW" dirty="0">
                <a:ea typeface="新細明體" panose="02020500000000000000" pitchFamily="18" charset="-120"/>
              </a:rPr>
              <a:t>(</a:t>
            </a:r>
            <a:r>
              <a:rPr lang="en-US" altLang="zh-TW" dirty="0" err="1">
                <a:ea typeface="新細明體" panose="02020500000000000000" pitchFamily="18" charset="-120"/>
              </a:rPr>
              <a:t>myid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jokeid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Reviews(</a:t>
            </a:r>
            <a:r>
              <a:rPr lang="en-US" altLang="zh-TW" u="sng" dirty="0" err="1">
                <a:ea typeface="新細明體" panose="02020500000000000000" pitchFamily="18" charset="-120"/>
              </a:rPr>
              <a:t>jokeid</a:t>
            </a:r>
            <a:r>
              <a:rPr lang="en-US" altLang="zh-TW" u="sng" dirty="0">
                <a:ea typeface="新細明體" panose="02020500000000000000" pitchFamily="18" charset="-120"/>
              </a:rPr>
              <a:t>, </a:t>
            </a:r>
            <a:r>
              <a:rPr lang="en-US" altLang="zh-TW" u="sng" dirty="0" err="1">
                <a:ea typeface="新細明體" panose="02020500000000000000" pitchFamily="18" charset="-120"/>
              </a:rPr>
              <a:t>reviewerid</a:t>
            </a:r>
            <a:r>
              <a:rPr lang="en-US" altLang="zh-TW" dirty="0">
                <a:ea typeface="新細明體" panose="02020500000000000000" pitchFamily="18" charset="-120"/>
              </a:rPr>
              <a:t>, score, comment, </a:t>
            </a:r>
            <a:r>
              <a:rPr lang="en-US" altLang="zh-TW" dirty="0" err="1">
                <a:ea typeface="新細明體" panose="02020500000000000000" pitchFamily="18" charset="-120"/>
              </a:rPr>
              <a:t>submitTime</a:t>
            </a:r>
            <a:r>
              <a:rPr lang="en-US" altLang="zh-TW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CF683DEA-9B11-46F9-94EB-ED8C945E0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3691592"/>
            <a:ext cx="6705600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1600" dirty="0"/>
              <a:t>Solution 1:</a:t>
            </a:r>
          </a:p>
          <a:p>
            <a:pPr>
              <a:buNone/>
            </a:pPr>
            <a:r>
              <a:rPr lang="en-US" sz="1600" dirty="0"/>
              <a:t>(SELECT </a:t>
            </a:r>
            <a:r>
              <a:rPr lang="en-US" sz="1600" dirty="0" err="1"/>
              <a:t>authorid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FROM Jokes)</a:t>
            </a:r>
          </a:p>
          <a:p>
            <a:pPr>
              <a:buNone/>
            </a:pPr>
            <a:r>
              <a:rPr lang="en-US" sz="1600" dirty="0"/>
              <a:t>INTERSECT </a:t>
            </a:r>
          </a:p>
          <a:p>
            <a:pPr>
              <a:buNone/>
            </a:pPr>
            <a:r>
              <a:rPr lang="en-US" sz="1600" dirty="0"/>
              <a:t>(SELECT </a:t>
            </a:r>
            <a:r>
              <a:rPr lang="en-US" sz="1600" dirty="0" err="1"/>
              <a:t>reviewerid</a:t>
            </a:r>
            <a:r>
              <a:rPr lang="en-US" sz="1600" dirty="0"/>
              <a:t> </a:t>
            </a:r>
          </a:p>
          <a:p>
            <a:pPr>
              <a:buNone/>
            </a:pPr>
            <a:r>
              <a:rPr lang="en-US" sz="1600" dirty="0"/>
              <a:t>FROM Reviews)</a:t>
            </a:r>
          </a:p>
          <a:p>
            <a:pPr>
              <a:buNone/>
            </a:pPr>
            <a:endParaRPr lang="en-US" sz="1600" dirty="0"/>
          </a:p>
          <a:p>
            <a:pPr>
              <a:buNone/>
            </a:pPr>
            <a:r>
              <a:rPr lang="en-US" sz="1600" dirty="0"/>
              <a:t>Solution 2: </a:t>
            </a:r>
          </a:p>
          <a:p>
            <a:pPr>
              <a:buNone/>
            </a:pPr>
            <a:r>
              <a:rPr lang="en-US" sz="1600" dirty="0"/>
              <a:t>SELECT </a:t>
            </a:r>
            <a:r>
              <a:rPr lang="en-US" sz="1600" dirty="0" err="1"/>
              <a:t>authorid</a:t>
            </a:r>
            <a:endParaRPr lang="en-US" sz="1600" dirty="0"/>
          </a:p>
          <a:p>
            <a:pPr>
              <a:buNone/>
            </a:pPr>
            <a:r>
              <a:rPr lang="en-US" sz="1600" dirty="0"/>
              <a:t>FROM Jokes</a:t>
            </a:r>
          </a:p>
          <a:p>
            <a:pPr>
              <a:buNone/>
            </a:pPr>
            <a:r>
              <a:rPr lang="en-US" sz="1600" dirty="0"/>
              <a:t>WHERE </a:t>
            </a:r>
            <a:r>
              <a:rPr lang="en-US" sz="1600" dirty="0" err="1"/>
              <a:t>authorid</a:t>
            </a:r>
            <a:r>
              <a:rPr lang="en-US" sz="1600" dirty="0"/>
              <a:t> IN (</a:t>
            </a:r>
          </a:p>
          <a:p>
            <a:pPr>
              <a:buNone/>
            </a:pPr>
            <a:r>
              <a:rPr lang="en-US" sz="1600" dirty="0"/>
              <a:t>(SELECT </a:t>
            </a:r>
            <a:r>
              <a:rPr lang="en-US" sz="1600" dirty="0" err="1"/>
              <a:t>reviewerid</a:t>
            </a:r>
            <a:r>
              <a:rPr lang="en-US" sz="1600" dirty="0"/>
              <a:t> FROM Reviews)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157239-8154-4DFB-B7F1-E7DEB5C16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313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10955531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40011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Employees(</a:t>
            </a:r>
            <a:r>
              <a:rPr lang="en-US" altLang="zh-TW" u="sng" dirty="0">
                <a:ea typeface="新細明體" panose="02020500000000000000" pitchFamily="18" charset="-120"/>
              </a:rPr>
              <a:t>id</a:t>
            </a:r>
            <a:r>
              <a:rPr lang="en-US" altLang="zh-TW" dirty="0">
                <a:ea typeface="新細明體" panose="02020500000000000000" pitchFamily="18" charset="-120"/>
              </a:rPr>
              <a:t>, company, salary)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0EFE469-6D1D-4A73-BDA0-26FCF7E6DA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6455342"/>
              </p:ext>
            </p:extLst>
          </p:nvPr>
        </p:nvGraphicFramePr>
        <p:xfrm>
          <a:off x="1447800" y="2339392"/>
          <a:ext cx="6096000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102730138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15707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516910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Salary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555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40979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35,000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79565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23,000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8269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3255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1296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43,000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722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469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4187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45,000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4065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78,000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7192941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8F0413-491E-4F5A-B96E-BCFFA9C3D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314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22381251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40011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Employees(</a:t>
            </a:r>
            <a:r>
              <a:rPr lang="en-US" altLang="zh-TW" u="sng" dirty="0">
                <a:ea typeface="新細明體" panose="02020500000000000000" pitchFamily="18" charset="-120"/>
              </a:rPr>
              <a:t>id</a:t>
            </a:r>
            <a:r>
              <a:rPr lang="en-US" altLang="zh-TW" dirty="0">
                <a:ea typeface="新細明體" panose="02020500000000000000" pitchFamily="18" charset="-120"/>
              </a:rPr>
              <a:t>, company, salary)</a:t>
            </a:r>
          </a:p>
        </p:txBody>
      </p:sp>
      <p:sp>
        <p:nvSpPr>
          <p:cNvPr id="7" name="Text Box 3">
            <a:extLst>
              <a:ext uri="{FF2B5EF4-FFF2-40B4-BE49-F238E27FC236}">
                <a16:creationId xmlns:a16="http://schemas.microsoft.com/office/drawing/2014/main" id="{83626E68-B108-4BEA-A752-EA2D107F4B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id of the employee whose salary ranks the third in all employees. 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5E8B7D-C950-4928-8F9D-FF5485102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315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92267936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40011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Employees(</a:t>
            </a:r>
            <a:r>
              <a:rPr lang="en-US" altLang="zh-TW" u="sng" dirty="0">
                <a:ea typeface="新細明體" panose="02020500000000000000" pitchFamily="18" charset="-120"/>
              </a:rPr>
              <a:t>id</a:t>
            </a:r>
            <a:r>
              <a:rPr lang="en-US" altLang="zh-TW" dirty="0">
                <a:ea typeface="新細明體" panose="02020500000000000000" pitchFamily="18" charset="-120"/>
              </a:rPr>
              <a:t>, company, salary)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14873231-7009-46FC-8D9E-D614C5CB7A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2669504"/>
            <a:ext cx="6705600" cy="22467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2800" dirty="0"/>
              <a:t>SELECT E1.id, E1.company, E1.salary </a:t>
            </a:r>
          </a:p>
          <a:p>
            <a:pPr>
              <a:buNone/>
            </a:pPr>
            <a:r>
              <a:rPr lang="en-US" sz="2800" dirty="0"/>
              <a:t>FROM Employees E1, Employees E2</a:t>
            </a:r>
          </a:p>
          <a:p>
            <a:pPr>
              <a:buNone/>
            </a:pPr>
            <a:r>
              <a:rPr lang="en-US" sz="2800" dirty="0"/>
              <a:t>WHERE E1.salary &lt;= E2.salary</a:t>
            </a:r>
          </a:p>
          <a:p>
            <a:pPr>
              <a:buNone/>
            </a:pPr>
            <a:r>
              <a:rPr lang="en-US" sz="2800" dirty="0"/>
              <a:t>GROUP BY E1.id</a:t>
            </a:r>
          </a:p>
          <a:p>
            <a:pPr>
              <a:buNone/>
            </a:pPr>
            <a:r>
              <a:rPr lang="en-US" sz="2800" dirty="0"/>
              <a:t>HAVING COUNT(*) = 3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EDA506-F353-4878-9695-019ECDB91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316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67471155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40011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Employees(</a:t>
            </a:r>
            <a:r>
              <a:rPr lang="en-US" altLang="zh-TW" u="sng" dirty="0">
                <a:ea typeface="新細明體" panose="02020500000000000000" pitchFamily="18" charset="-120"/>
              </a:rPr>
              <a:t>id</a:t>
            </a:r>
            <a:r>
              <a:rPr lang="en-US" altLang="zh-TW" dirty="0">
                <a:ea typeface="新細明體" panose="02020500000000000000" pitchFamily="18" charset="-120"/>
              </a:rPr>
              <a:t>, company, salary)</a:t>
            </a:r>
          </a:p>
        </p:txBody>
      </p:sp>
      <p:sp>
        <p:nvSpPr>
          <p:cNvPr id="7" name="Text Box 3">
            <a:extLst>
              <a:ext uri="{FF2B5EF4-FFF2-40B4-BE49-F238E27FC236}">
                <a16:creationId xmlns:a16="http://schemas.microsoft.com/office/drawing/2014/main" id="{83626E68-B108-4BEA-A752-EA2D107F4B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For each company, return the id of the employee whose salary ranks the third in his/her own company.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7F89C7-5F01-4E1C-B2D4-27DBAAF3F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317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73216810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40011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Employees(</a:t>
            </a:r>
            <a:r>
              <a:rPr lang="en-US" altLang="zh-TW" u="sng" dirty="0">
                <a:ea typeface="新細明體" panose="02020500000000000000" pitchFamily="18" charset="-120"/>
              </a:rPr>
              <a:t>id</a:t>
            </a:r>
            <a:r>
              <a:rPr lang="en-US" altLang="zh-TW" dirty="0">
                <a:ea typeface="新細明體" panose="02020500000000000000" pitchFamily="18" charset="-120"/>
              </a:rPr>
              <a:t>, company, salary)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14873231-7009-46FC-8D9E-D614C5CB7A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2669504"/>
            <a:ext cx="6705600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2800" dirty="0"/>
              <a:t>SELECT E1.id, E1.company, E1.salary</a:t>
            </a:r>
          </a:p>
          <a:p>
            <a:pPr>
              <a:buNone/>
            </a:pPr>
            <a:r>
              <a:rPr lang="en-US" sz="2800" dirty="0"/>
              <a:t>FROM Employees E1, Employees E2</a:t>
            </a:r>
          </a:p>
          <a:p>
            <a:pPr>
              <a:buNone/>
            </a:pPr>
            <a:r>
              <a:rPr lang="en-US" sz="2800" dirty="0"/>
              <a:t>WHERE E1.salary &lt;= E2.salary AND E1.company = E2.company</a:t>
            </a:r>
          </a:p>
          <a:p>
            <a:pPr>
              <a:buNone/>
            </a:pPr>
            <a:r>
              <a:rPr lang="en-US" sz="2800" dirty="0"/>
              <a:t>GROUP BY E1.id, E1.company</a:t>
            </a:r>
          </a:p>
          <a:p>
            <a:pPr>
              <a:buNone/>
            </a:pPr>
            <a:r>
              <a:rPr lang="en-US" sz="2800" dirty="0"/>
              <a:t>HAVING COUNT(*) = 3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9574E3E-9492-4EA4-A489-4FE3EAA05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318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93690035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40011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Employees(</a:t>
            </a:r>
            <a:r>
              <a:rPr lang="en-US" altLang="zh-TW" u="sng" dirty="0">
                <a:ea typeface="新細明體" panose="02020500000000000000" pitchFamily="18" charset="-120"/>
              </a:rPr>
              <a:t>id</a:t>
            </a:r>
            <a:r>
              <a:rPr lang="en-US" altLang="zh-TW" dirty="0">
                <a:ea typeface="新細明體" panose="02020500000000000000" pitchFamily="18" charset="-120"/>
              </a:rPr>
              <a:t>, company, salary)</a:t>
            </a:r>
          </a:p>
        </p:txBody>
      </p:sp>
      <p:sp>
        <p:nvSpPr>
          <p:cNvPr id="7" name="Text Box 3">
            <a:extLst>
              <a:ext uri="{FF2B5EF4-FFF2-40B4-BE49-F238E27FC236}">
                <a16:creationId xmlns:a16="http://schemas.microsoft.com/office/drawing/2014/main" id="{83626E68-B108-4BEA-A752-EA2D107F4B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Return the ids of the employees whose salaries rank from 3</a:t>
            </a:r>
            <a:r>
              <a:rPr lang="en-US" sz="3200" baseline="30000" dirty="0">
                <a:ea typeface="新細明體" panose="02020500000000000000" pitchFamily="18" charset="-120"/>
              </a:rPr>
              <a:t>rd</a:t>
            </a:r>
            <a:r>
              <a:rPr lang="en-US" sz="3200" dirty="0">
                <a:ea typeface="新細明體" panose="02020500000000000000" pitchFamily="18" charset="-120"/>
              </a:rPr>
              <a:t> to 7th in all employees. 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E3D183-68FC-42C0-B379-607EE0D67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319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5272251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40011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Employees(</a:t>
            </a:r>
            <a:r>
              <a:rPr lang="en-US" altLang="zh-TW" u="sng" dirty="0">
                <a:ea typeface="新細明體" panose="02020500000000000000" pitchFamily="18" charset="-120"/>
              </a:rPr>
              <a:t>id</a:t>
            </a:r>
            <a:r>
              <a:rPr lang="en-US" altLang="zh-TW" dirty="0">
                <a:ea typeface="新細明體" panose="02020500000000000000" pitchFamily="18" charset="-120"/>
              </a:rPr>
              <a:t>, company, salary)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14873231-7009-46FC-8D9E-D614C5CB7A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2669504"/>
            <a:ext cx="6705600" cy="22467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2800" dirty="0"/>
              <a:t>SELECT E1.id, E1.company, E1.salary </a:t>
            </a:r>
          </a:p>
          <a:p>
            <a:pPr>
              <a:buNone/>
            </a:pPr>
            <a:r>
              <a:rPr lang="en-US" sz="2800" dirty="0"/>
              <a:t>FROM Employees E1, Employees E2</a:t>
            </a:r>
          </a:p>
          <a:p>
            <a:pPr>
              <a:buNone/>
            </a:pPr>
            <a:r>
              <a:rPr lang="en-US" sz="2800" dirty="0"/>
              <a:t>WHERE E1.salary &lt;= E2.salary</a:t>
            </a:r>
          </a:p>
          <a:p>
            <a:pPr>
              <a:buNone/>
            </a:pPr>
            <a:r>
              <a:rPr lang="en-US" sz="2800" dirty="0"/>
              <a:t>GROUP BY E1.id</a:t>
            </a:r>
          </a:p>
          <a:p>
            <a:pPr>
              <a:buNone/>
            </a:pPr>
            <a:r>
              <a:rPr lang="en-US" sz="2800" dirty="0"/>
              <a:t>HAVING COUNT(*) BETWEEN [3,7]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B222D56-8B16-441B-AAE1-1A07638CA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320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08047676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40011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Employees(</a:t>
            </a:r>
            <a:r>
              <a:rPr lang="en-US" altLang="zh-TW" u="sng" dirty="0">
                <a:ea typeface="新細明體" panose="02020500000000000000" pitchFamily="18" charset="-120"/>
              </a:rPr>
              <a:t>id</a:t>
            </a:r>
            <a:r>
              <a:rPr lang="en-US" altLang="zh-TW" dirty="0">
                <a:ea typeface="新細明體" panose="02020500000000000000" pitchFamily="18" charset="-120"/>
              </a:rPr>
              <a:t>, company, salary)</a:t>
            </a:r>
          </a:p>
        </p:txBody>
      </p:sp>
      <p:sp>
        <p:nvSpPr>
          <p:cNvPr id="7" name="Text Box 3">
            <a:extLst>
              <a:ext uri="{FF2B5EF4-FFF2-40B4-BE49-F238E27FC236}">
                <a16:creationId xmlns:a16="http://schemas.microsoft.com/office/drawing/2014/main" id="{83626E68-B108-4BEA-A752-EA2D107F4B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4248982"/>
            <a:ext cx="748315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For each company, return the ids of the employees whose salaries rank from 3</a:t>
            </a:r>
            <a:r>
              <a:rPr lang="en-US" sz="3200" baseline="30000" dirty="0">
                <a:ea typeface="新細明體" panose="02020500000000000000" pitchFamily="18" charset="-120"/>
              </a:rPr>
              <a:t>rd</a:t>
            </a:r>
            <a:r>
              <a:rPr lang="en-US" sz="3200" dirty="0">
                <a:ea typeface="新細明體" panose="02020500000000000000" pitchFamily="18" charset="-120"/>
              </a:rPr>
              <a:t> to 7th in their own companies.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2B6939-0E34-43D7-BEB1-7F38E8D04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321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14080950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40011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Employees(</a:t>
            </a:r>
            <a:r>
              <a:rPr lang="en-US" altLang="zh-TW" u="sng" dirty="0">
                <a:ea typeface="新細明體" panose="02020500000000000000" pitchFamily="18" charset="-120"/>
              </a:rPr>
              <a:t>id</a:t>
            </a:r>
            <a:r>
              <a:rPr lang="en-US" altLang="zh-TW" dirty="0">
                <a:ea typeface="新細明體" panose="02020500000000000000" pitchFamily="18" charset="-120"/>
              </a:rPr>
              <a:t>, company, salary)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14873231-7009-46FC-8D9E-D614C5CB7A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2669504"/>
            <a:ext cx="6705600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sz="2800" dirty="0"/>
              <a:t>SELECT E1.id, E1.company, E1.salary</a:t>
            </a:r>
          </a:p>
          <a:p>
            <a:pPr>
              <a:buNone/>
            </a:pPr>
            <a:r>
              <a:rPr lang="en-US" sz="2800" dirty="0"/>
              <a:t>FROM Employees E1, Employees E2</a:t>
            </a:r>
          </a:p>
          <a:p>
            <a:pPr>
              <a:buNone/>
            </a:pPr>
            <a:r>
              <a:rPr lang="en-US" sz="2800" dirty="0"/>
              <a:t>WHERE E1.salary &lt;= E2.salary AND E1.company = E2.company</a:t>
            </a:r>
          </a:p>
          <a:p>
            <a:pPr>
              <a:buNone/>
            </a:pPr>
            <a:r>
              <a:rPr lang="en-US" sz="2800" dirty="0"/>
              <a:t>GROUP BY E1.id, E1.company</a:t>
            </a:r>
          </a:p>
          <a:p>
            <a:pPr>
              <a:buNone/>
            </a:pPr>
            <a:r>
              <a:rPr lang="en-US" sz="2800" dirty="0"/>
              <a:t>HAVING COUNT(*) BETWEEN [3,7]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06669D-288B-4270-8CB9-FD00388EA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322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49990419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40011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Employees(</a:t>
            </a:r>
            <a:r>
              <a:rPr lang="en-US" altLang="zh-TW" u="sng" dirty="0">
                <a:ea typeface="新細明體" panose="02020500000000000000" pitchFamily="18" charset="-120"/>
              </a:rPr>
              <a:t>id</a:t>
            </a:r>
            <a:r>
              <a:rPr lang="en-US" altLang="zh-TW" dirty="0">
                <a:ea typeface="新細明體" panose="02020500000000000000" pitchFamily="18" charset="-120"/>
              </a:rPr>
              <a:t>, company, salary)</a:t>
            </a:r>
          </a:p>
        </p:txBody>
      </p:sp>
      <p:sp>
        <p:nvSpPr>
          <p:cNvPr id="7" name="Text Box 3">
            <a:extLst>
              <a:ext uri="{FF2B5EF4-FFF2-40B4-BE49-F238E27FC236}">
                <a16:creationId xmlns:a16="http://schemas.microsoft.com/office/drawing/2014/main" id="{83626E68-B108-4BEA-A752-EA2D107F4B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1425" y="3222615"/>
            <a:ext cx="7483151" cy="2554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Choose the company which has at least 2 employees whose salary is in the top 10 in all employees and none of its employees have salary in the bottom 10 in all employees. 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BC7BDB-0780-4179-B807-837258BAE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323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94433815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40011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Employees(</a:t>
            </a:r>
            <a:r>
              <a:rPr lang="en-US" altLang="zh-TW" u="sng" dirty="0">
                <a:ea typeface="新細明體" panose="02020500000000000000" pitchFamily="18" charset="-120"/>
              </a:rPr>
              <a:t>id</a:t>
            </a:r>
            <a:r>
              <a:rPr lang="en-US" altLang="zh-TW" dirty="0">
                <a:ea typeface="新細明體" panose="02020500000000000000" pitchFamily="18" charset="-120"/>
              </a:rPr>
              <a:t>, company, salary)</a:t>
            </a:r>
          </a:p>
        </p:txBody>
      </p:sp>
      <p:sp>
        <p:nvSpPr>
          <p:cNvPr id="7" name="Text Box 3">
            <a:extLst>
              <a:ext uri="{FF2B5EF4-FFF2-40B4-BE49-F238E27FC236}">
                <a16:creationId xmlns:a16="http://schemas.microsoft.com/office/drawing/2014/main" id="{83626E68-B108-4BEA-A752-EA2D107F4B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1425" y="3222615"/>
            <a:ext cx="7483151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3200" dirty="0">
                <a:ea typeface="新細明體" panose="02020500000000000000" pitchFamily="18" charset="-120"/>
              </a:rPr>
              <a:t>Choose the company </a:t>
            </a:r>
            <a:r>
              <a:rPr lang="en-US" altLang="zh-CN" sz="3200" dirty="0">
                <a:ea typeface="新細明體" panose="02020500000000000000" pitchFamily="18" charset="-120"/>
              </a:rPr>
              <a:t>whose average salary is higher than its median salary.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951834-0DA8-4540-94B9-3242AACFC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324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05933352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40011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Employees(</a:t>
            </a:r>
            <a:r>
              <a:rPr lang="en-US" altLang="zh-TW" u="sng" dirty="0">
                <a:ea typeface="新細明體" panose="02020500000000000000" pitchFamily="18" charset="-120"/>
              </a:rPr>
              <a:t>id</a:t>
            </a:r>
            <a:r>
              <a:rPr lang="en-US" altLang="zh-TW" dirty="0">
                <a:ea typeface="新細明體" panose="02020500000000000000" pitchFamily="18" charset="-120"/>
              </a:rPr>
              <a:t>, company, salary)</a:t>
            </a:r>
          </a:p>
        </p:txBody>
      </p:sp>
      <p:sp>
        <p:nvSpPr>
          <p:cNvPr id="7" name="Text Box 3">
            <a:extLst>
              <a:ext uri="{FF2B5EF4-FFF2-40B4-BE49-F238E27FC236}">
                <a16:creationId xmlns:a16="http://schemas.microsoft.com/office/drawing/2014/main" id="{83626E68-B108-4BEA-A752-EA2D107F4B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1425" y="3222615"/>
            <a:ext cx="7483151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zh-CN" sz="3200" dirty="0">
                <a:ea typeface="新細明體" panose="02020500000000000000" pitchFamily="18" charset="-120"/>
              </a:rPr>
              <a:t>Return the median salary of all the employees.</a:t>
            </a:r>
            <a:endParaRPr lang="en-US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3691F86-C1A4-4850-B883-60EA6DB7E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325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6362792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65</a:t>
            </a:r>
          </a:p>
        </p:txBody>
      </p:sp>
      <p:sp>
        <p:nvSpPr>
          <p:cNvPr id="181251" name="TextBox 4">
            <a:extLst>
              <a:ext uri="{FF2B5EF4-FFF2-40B4-BE49-F238E27FC236}">
                <a16:creationId xmlns:a16="http://schemas.microsoft.com/office/drawing/2014/main" id="{F1DFA2F4-F994-408F-8FCB-82D4650D8F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752600"/>
            <a:ext cx="6400800" cy="40011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dirty="0">
                <a:ea typeface="新細明體" panose="02020500000000000000" pitchFamily="18" charset="-120"/>
              </a:rPr>
              <a:t>Employees(</a:t>
            </a:r>
            <a:r>
              <a:rPr lang="en-US" altLang="zh-TW" u="sng" dirty="0">
                <a:ea typeface="新細明體" panose="02020500000000000000" pitchFamily="18" charset="-120"/>
              </a:rPr>
              <a:t>id</a:t>
            </a:r>
            <a:r>
              <a:rPr lang="en-US" altLang="zh-TW" dirty="0">
                <a:ea typeface="新細明體" panose="02020500000000000000" pitchFamily="18" charset="-120"/>
              </a:rPr>
              <a:t>, company, salary)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14873231-7009-46FC-8D9E-D614C5CB7A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0714" y="2152710"/>
            <a:ext cx="6705600" cy="50167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None/>
            </a:pPr>
            <a:r>
              <a:rPr lang="en-US" dirty="0"/>
              <a:t>SELECT AVG(</a:t>
            </a:r>
            <a:r>
              <a:rPr lang="en-US" altLang="zh-CN" dirty="0"/>
              <a:t>salary</a:t>
            </a:r>
            <a:r>
              <a:rPr lang="zh-CN" altLang="en-US" dirty="0"/>
              <a:t>）</a:t>
            </a:r>
            <a:endParaRPr lang="en-US" altLang="zh-CN" dirty="0"/>
          </a:p>
          <a:p>
            <a:pPr>
              <a:buNone/>
            </a:pPr>
            <a:r>
              <a:rPr lang="en-US" altLang="zh-CN" dirty="0"/>
              <a:t>FROM</a:t>
            </a:r>
            <a:endParaRPr lang="en-US" dirty="0"/>
          </a:p>
          <a:p>
            <a:pPr>
              <a:buNone/>
            </a:pPr>
            <a:r>
              <a:rPr lang="en-US" dirty="0"/>
              <a:t>              </a:t>
            </a:r>
            <a:r>
              <a:rPr lang="zh-CN" altLang="en-US" dirty="0"/>
              <a:t>（</a:t>
            </a:r>
            <a:r>
              <a:rPr lang="en-US" dirty="0"/>
              <a:t>SELECT E1.salary</a:t>
            </a:r>
          </a:p>
          <a:p>
            <a:pPr>
              <a:buNone/>
            </a:pPr>
            <a:r>
              <a:rPr lang="en-US" dirty="0"/>
              <a:t>	FROM Employees E1</a:t>
            </a:r>
          </a:p>
          <a:p>
            <a:pPr>
              <a:buNone/>
            </a:pPr>
            <a:r>
              <a:rPr lang="en-US" dirty="0"/>
              <a:t>	WHERE (SELECT COUNT(*) FROM Employee E2 	WHERE E2.salary &gt;= </a:t>
            </a:r>
            <a:r>
              <a:rPr lang="en-US" dirty="0">
                <a:solidFill>
                  <a:srgbClr val="FF0000"/>
                </a:solidFill>
              </a:rPr>
              <a:t>E1.salary</a:t>
            </a:r>
            <a:r>
              <a:rPr lang="en-US" dirty="0"/>
              <a:t>) &gt;= 0.5*</a:t>
            </a:r>
            <a:r>
              <a:rPr lang="zh-CN" altLang="en-US" dirty="0"/>
              <a:t>（</a:t>
            </a:r>
            <a:r>
              <a:rPr lang="en-US" dirty="0"/>
              <a:t>SELECT 	COUNT(*) FROM Employee)</a:t>
            </a:r>
            <a:r>
              <a:rPr lang="en-US" altLang="zh-CN" dirty="0"/>
              <a:t>+1</a:t>
            </a:r>
            <a:r>
              <a:rPr lang="zh-CN" altLang="en-US" dirty="0"/>
              <a:t>）</a:t>
            </a:r>
            <a:endParaRPr lang="en-US" altLang="zh-CN" dirty="0"/>
          </a:p>
          <a:p>
            <a:pPr>
              <a:buNone/>
            </a:pPr>
            <a:r>
              <a:rPr lang="en-US" altLang="zh-CN" dirty="0"/>
              <a:t>	INTERSECT</a:t>
            </a:r>
            <a:endParaRPr lang="en-US" dirty="0"/>
          </a:p>
          <a:p>
            <a:pPr>
              <a:buNone/>
            </a:pPr>
            <a:r>
              <a:rPr lang="en-US" dirty="0"/>
              <a:t>	SELECT E1.salary</a:t>
            </a:r>
          </a:p>
          <a:p>
            <a:pPr>
              <a:buNone/>
            </a:pPr>
            <a:r>
              <a:rPr lang="en-US" dirty="0"/>
              <a:t>	FROM Employees E1</a:t>
            </a:r>
          </a:p>
          <a:p>
            <a:pPr>
              <a:buNone/>
            </a:pPr>
            <a:r>
              <a:rPr lang="en-US" dirty="0"/>
              <a:t>	WHERE</a:t>
            </a:r>
          </a:p>
          <a:p>
            <a:pPr>
              <a:buNone/>
            </a:pPr>
            <a:r>
              <a:rPr lang="en-US" dirty="0"/>
              <a:t>	(SELECT COUNT(*) FROM Employee E2 WHERE 	E2.salary &lt;= </a:t>
            </a:r>
            <a:r>
              <a:rPr lang="en-US" dirty="0">
                <a:solidFill>
                  <a:srgbClr val="FF0000"/>
                </a:solidFill>
              </a:rPr>
              <a:t>E1.salary</a:t>
            </a:r>
            <a:r>
              <a:rPr lang="en-US" dirty="0"/>
              <a:t>) &gt;= 0.5*SELECT COUNT(*) 	FROM Employee</a:t>
            </a:r>
            <a:r>
              <a:rPr lang="en-US" altLang="zh-CN" dirty="0"/>
              <a:t>+1</a:t>
            </a:r>
            <a:r>
              <a:rPr lang="zh-CN" altLang="en-US" dirty="0"/>
              <a:t>）</a:t>
            </a:r>
            <a:r>
              <a:rPr lang="en-US" altLang="zh-CN" dirty="0"/>
              <a:t>Sal</a:t>
            </a: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2B3504-5F5D-4F1B-8119-B9895DF50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326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49819036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66</a:t>
            </a:r>
            <a:br>
              <a:rPr lang="en-US" altLang="zh-TW" dirty="0">
                <a:ea typeface="新細明體" panose="02020500000000000000" pitchFamily="18" charset="-120"/>
              </a:rPr>
            </a:br>
            <a:endParaRPr lang="en-US" altLang="zh-TW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2B3504-5F5D-4F1B-8119-B9895DF50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327</a:t>
            </a:fld>
            <a:endParaRPr lang="en-US" altLang="zh-TW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AD496-DF13-5EFB-793B-109DC5120D9D}"/>
              </a:ext>
            </a:extLst>
          </p:cNvPr>
          <p:cNvSpPr txBox="1"/>
          <p:nvPr/>
        </p:nvSpPr>
        <p:spPr>
          <a:xfrm>
            <a:off x="1491615" y="2051685"/>
            <a:ext cx="6400800" cy="2246769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CREATE TABLE eat(</a:t>
            </a:r>
          </a:p>
          <a:p>
            <a:r>
              <a:rPr lang="en-US" dirty="0"/>
              <a:t> </a:t>
            </a:r>
            <a:r>
              <a:rPr lang="en-US" dirty="0" err="1"/>
              <a:t>ssn</a:t>
            </a:r>
            <a:r>
              <a:rPr lang="en-US" dirty="0"/>
              <a:t> INTEGER,</a:t>
            </a:r>
          </a:p>
          <a:p>
            <a:r>
              <a:rPr lang="en-US" dirty="0"/>
              <a:t>food VARCHAR(20), </a:t>
            </a:r>
          </a:p>
          <a:p>
            <a:r>
              <a:rPr lang="en-US" dirty="0"/>
              <a:t>day DATE,</a:t>
            </a:r>
          </a:p>
          <a:p>
            <a:r>
              <a:rPr lang="en-US" dirty="0"/>
              <a:t>PRIMARY KEY(</a:t>
            </a:r>
            <a:r>
              <a:rPr lang="en-US" dirty="0" err="1"/>
              <a:t>ssn</a:t>
            </a:r>
            <a:r>
              <a:rPr lang="en-US" dirty="0"/>
              <a:t>, food, day)</a:t>
            </a:r>
          </a:p>
          <a:p>
            <a:r>
              <a:rPr lang="en-US" dirty="0"/>
              <a:t>);</a:t>
            </a: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0522229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66</a:t>
            </a:r>
            <a:br>
              <a:rPr lang="en-US" altLang="zh-TW" dirty="0">
                <a:ea typeface="新細明體" panose="02020500000000000000" pitchFamily="18" charset="-120"/>
              </a:rPr>
            </a:br>
            <a:endParaRPr lang="en-US" altLang="zh-TW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2B3504-5F5D-4F1B-8119-B9895DF50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328</a:t>
            </a:fld>
            <a:endParaRPr lang="en-US" altLang="zh-TW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AD496-DF13-5EFB-793B-109DC5120D9D}"/>
              </a:ext>
            </a:extLst>
          </p:cNvPr>
          <p:cNvSpPr txBox="1"/>
          <p:nvPr/>
        </p:nvSpPr>
        <p:spPr>
          <a:xfrm>
            <a:off x="1491615" y="2051685"/>
            <a:ext cx="6400800" cy="4093428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Delete from eat;</a:t>
            </a:r>
          </a:p>
          <a:p>
            <a:r>
              <a:rPr lang="en-US" dirty="0"/>
              <a:t>INSERT INTO eat</a:t>
            </a:r>
          </a:p>
          <a:p>
            <a:r>
              <a:rPr lang="en-US" dirty="0"/>
              <a:t>VALUES (111, 'apple', '2023-10-10'),</a:t>
            </a:r>
          </a:p>
          <a:p>
            <a:r>
              <a:rPr lang="en-US" dirty="0"/>
              <a:t>(222, 'pineapple', '2023-10-12'),</a:t>
            </a:r>
          </a:p>
          <a:p>
            <a:r>
              <a:rPr lang="en-US" dirty="0"/>
              <a:t>(333, 'cherry', '2023-10-11'),</a:t>
            </a:r>
          </a:p>
          <a:p>
            <a:r>
              <a:rPr lang="en-US" dirty="0"/>
              <a:t>(333, 'apple', '2023-10-11'),</a:t>
            </a:r>
          </a:p>
          <a:p>
            <a:r>
              <a:rPr lang="en-US" dirty="0"/>
              <a:t>(111, 'cherry', '2023-10-11'),</a:t>
            </a:r>
          </a:p>
          <a:p>
            <a:r>
              <a:rPr lang="en-US" dirty="0"/>
              <a:t>(222, 'cherry', '2023-10-11'),</a:t>
            </a:r>
          </a:p>
          <a:p>
            <a:r>
              <a:rPr lang="en-US" dirty="0"/>
              <a:t>(222, 'apple', '2023-10-11'),</a:t>
            </a:r>
          </a:p>
          <a:p>
            <a:r>
              <a:rPr lang="en-US" dirty="0"/>
              <a:t>(111, 'pineapple', '2013-10-11'), </a:t>
            </a:r>
          </a:p>
          <a:p>
            <a:r>
              <a:rPr lang="en-US" dirty="0"/>
              <a:t>(111, 'pears', '2023-10-10'),</a:t>
            </a:r>
          </a:p>
          <a:p>
            <a:r>
              <a:rPr lang="en-US" dirty="0"/>
              <a:t>(111, 'apple', '2023-10-12'),</a:t>
            </a:r>
          </a:p>
          <a:p>
            <a:r>
              <a:rPr lang="en-US" dirty="0"/>
              <a:t>(222, 'cheery', '2023-10-12');</a:t>
            </a:r>
          </a:p>
        </p:txBody>
      </p:sp>
    </p:spTree>
    <p:extLst>
      <p:ext uri="{BB962C8B-B14F-4D97-AF65-F5344CB8AC3E}">
        <p14:creationId xmlns:p14="http://schemas.microsoft.com/office/powerpoint/2010/main" val="3509153159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66</a:t>
            </a:r>
            <a:br>
              <a:rPr lang="en-US" altLang="zh-TW" dirty="0">
                <a:ea typeface="新細明體" panose="02020500000000000000" pitchFamily="18" charset="-120"/>
              </a:rPr>
            </a:br>
            <a:endParaRPr lang="en-US" altLang="zh-TW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2B3504-5F5D-4F1B-8119-B9895DF50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329</a:t>
            </a:fld>
            <a:endParaRPr lang="en-US" altLang="zh-TW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AD496-DF13-5EFB-793B-109DC5120D9D}"/>
              </a:ext>
            </a:extLst>
          </p:cNvPr>
          <p:cNvSpPr txBox="1"/>
          <p:nvPr/>
        </p:nvSpPr>
        <p:spPr>
          <a:xfrm>
            <a:off x="1491615" y="2051685"/>
            <a:ext cx="6400800" cy="2246769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endParaRPr lang="en-US" dirty="0"/>
          </a:p>
          <a:p>
            <a:r>
              <a:rPr lang="en-US" dirty="0"/>
              <a:t>Return those dates when 111 eat at least two foods.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select distinct e1.day</a:t>
            </a:r>
          </a:p>
          <a:p>
            <a:r>
              <a:rPr lang="en-US" dirty="0"/>
              <a:t>FROM eat e1, eat e2</a:t>
            </a:r>
          </a:p>
          <a:p>
            <a:r>
              <a:rPr lang="en-US" dirty="0"/>
              <a:t>WHERE e1.ssn = 111 and e2.ssn = 111 AND e1.day = e2.day AND e1.food &lt;&gt; e2.food</a:t>
            </a:r>
          </a:p>
        </p:txBody>
      </p:sp>
    </p:spTree>
    <p:extLst>
      <p:ext uri="{BB962C8B-B14F-4D97-AF65-F5344CB8AC3E}">
        <p14:creationId xmlns:p14="http://schemas.microsoft.com/office/powerpoint/2010/main" val="2184104006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66</a:t>
            </a:r>
            <a:br>
              <a:rPr lang="en-US" altLang="zh-TW" dirty="0">
                <a:ea typeface="新細明體" panose="02020500000000000000" pitchFamily="18" charset="-120"/>
              </a:rPr>
            </a:br>
            <a:endParaRPr lang="en-US" altLang="zh-TW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2B3504-5F5D-4F1B-8119-B9895DF50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330</a:t>
            </a:fld>
            <a:endParaRPr lang="en-US" altLang="zh-TW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AD496-DF13-5EFB-793B-109DC5120D9D}"/>
              </a:ext>
            </a:extLst>
          </p:cNvPr>
          <p:cNvSpPr txBox="1"/>
          <p:nvPr/>
        </p:nvSpPr>
        <p:spPr>
          <a:xfrm>
            <a:off x="1491615" y="2051685"/>
            <a:ext cx="6400800" cy="2554545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endParaRPr lang="en-US" dirty="0"/>
          </a:p>
          <a:p>
            <a:r>
              <a:rPr lang="en-US" dirty="0"/>
              <a:t>Return those foods that are eaten by at least two different people on the same day.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select distinct e1.food</a:t>
            </a:r>
          </a:p>
          <a:p>
            <a:r>
              <a:rPr lang="en-US" dirty="0"/>
              <a:t>FROM eat e1, eat e2</a:t>
            </a:r>
          </a:p>
          <a:p>
            <a:r>
              <a:rPr lang="en-US" dirty="0"/>
              <a:t>WHERE e1.food = e2.food AND e1.day = e2.day AND e1.ssn &lt;&gt; e2.ssn</a:t>
            </a:r>
          </a:p>
        </p:txBody>
      </p:sp>
    </p:spTree>
    <p:extLst>
      <p:ext uri="{BB962C8B-B14F-4D97-AF65-F5344CB8AC3E}">
        <p14:creationId xmlns:p14="http://schemas.microsoft.com/office/powerpoint/2010/main" val="1163092804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66</a:t>
            </a:r>
            <a:br>
              <a:rPr lang="en-US" altLang="zh-TW" dirty="0">
                <a:ea typeface="新細明體" panose="02020500000000000000" pitchFamily="18" charset="-120"/>
              </a:rPr>
            </a:br>
            <a:endParaRPr lang="en-US" altLang="zh-TW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2B3504-5F5D-4F1B-8119-B9895DF50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331</a:t>
            </a:fld>
            <a:endParaRPr lang="en-US" altLang="zh-TW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AD496-DF13-5EFB-793B-109DC5120D9D}"/>
              </a:ext>
            </a:extLst>
          </p:cNvPr>
          <p:cNvSpPr txBox="1"/>
          <p:nvPr/>
        </p:nvSpPr>
        <p:spPr>
          <a:xfrm>
            <a:off x="1491615" y="2051685"/>
            <a:ext cx="6400800" cy="2554545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endParaRPr lang="en-US" dirty="0"/>
          </a:p>
          <a:p>
            <a:r>
              <a:rPr lang="en-US" dirty="0"/>
              <a:t>Return those people who have eaten the same food on at least two different days.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select distinct e1.ssn</a:t>
            </a:r>
          </a:p>
          <a:p>
            <a:r>
              <a:rPr lang="en-US" dirty="0"/>
              <a:t>FROM eat e1, eat e2</a:t>
            </a:r>
          </a:p>
          <a:p>
            <a:r>
              <a:rPr lang="en-US" dirty="0"/>
              <a:t>WHERE e1.food = e2.food AND e1.day &lt;&gt; e2.day AND e1.ssn = e2.ssn</a:t>
            </a:r>
          </a:p>
        </p:txBody>
      </p:sp>
    </p:spTree>
    <p:extLst>
      <p:ext uri="{BB962C8B-B14F-4D97-AF65-F5344CB8AC3E}">
        <p14:creationId xmlns:p14="http://schemas.microsoft.com/office/powerpoint/2010/main" val="3675381355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C29509C5-9AC2-4BF6-9D04-F12A3A306FD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Query 66</a:t>
            </a:r>
            <a:br>
              <a:rPr lang="en-US" altLang="zh-TW" dirty="0">
                <a:ea typeface="新細明體" panose="02020500000000000000" pitchFamily="18" charset="-120"/>
              </a:rPr>
            </a:br>
            <a:endParaRPr lang="en-US" altLang="zh-TW" dirty="0">
              <a:ea typeface="新細明體" panose="02020500000000000000" pitchFamily="18" charset="-12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2B3504-5F5D-4F1B-8119-B9895DF50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44F7D-F2A9-47DF-AF03-DD8A31F9F388}" type="slidenum">
              <a:rPr lang="en-US" altLang="zh-TW" smtClean="0"/>
              <a:pPr/>
              <a:t>332</a:t>
            </a:fld>
            <a:endParaRPr lang="en-US" altLang="zh-TW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AD496-DF13-5EFB-793B-109DC5120D9D}"/>
              </a:ext>
            </a:extLst>
          </p:cNvPr>
          <p:cNvSpPr txBox="1"/>
          <p:nvPr/>
        </p:nvSpPr>
        <p:spPr>
          <a:xfrm>
            <a:off x="1491615" y="2051685"/>
            <a:ext cx="6400800" cy="193899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endParaRPr lang="en-US" dirty="0"/>
          </a:p>
          <a:p>
            <a:r>
              <a:rPr lang="en-US" dirty="0"/>
              <a:t>On which days, apple are eaten by at least two people. </a:t>
            </a:r>
            <a:br>
              <a:rPr lang="en-US" dirty="0"/>
            </a:br>
            <a:r>
              <a:rPr lang="en-US" dirty="0"/>
              <a:t>select distinct e1.day</a:t>
            </a:r>
          </a:p>
          <a:p>
            <a:r>
              <a:rPr lang="en-US" dirty="0"/>
              <a:t>FROM eat e1, eat e2</a:t>
            </a:r>
          </a:p>
          <a:p>
            <a:r>
              <a:rPr lang="en-US" dirty="0"/>
              <a:t>WHERE e1.food = 'apple' AND e2.food = 'apple' AND e1.day = e2.day AND e1.ssn &lt;&gt; e2.ssn</a:t>
            </a:r>
          </a:p>
        </p:txBody>
      </p:sp>
    </p:spTree>
    <p:extLst>
      <p:ext uri="{BB962C8B-B14F-4D97-AF65-F5344CB8AC3E}">
        <p14:creationId xmlns:p14="http://schemas.microsoft.com/office/powerpoint/2010/main" val="4091328847"/>
      </p:ext>
    </p:extLst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  <a:txDef>
      <a:spPr>
        <a:solidFill>
          <a:srgbClr val="FFFFFF"/>
        </a:solidFill>
      </a:spPr>
      <a:bodyPr wrap="square" rtlCol="0">
        <a:spAutoFit/>
      </a:bodyPr>
      <a:lstStyle>
        <a:defPPr algn="ctr">
          <a:defRPr dirty="0"/>
        </a:defPPr>
      </a:lstStyle>
    </a:tx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Office\Templates\Blank Presentation.pot</Template>
  <TotalTime>4023</TotalTime>
  <Words>19534</Words>
  <Application>Microsoft Office PowerPoint</Application>
  <PresentationFormat>On-screen Show (4:3)</PresentationFormat>
  <Paragraphs>3481</Paragraphs>
  <Slides>332</Slides>
  <Notes>332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332</vt:i4>
      </vt:variant>
    </vt:vector>
  </HeadingPairs>
  <TitlesOfParts>
    <vt:vector size="342" baseType="lpstr">
      <vt:lpstr>新細明體</vt:lpstr>
      <vt:lpstr>宋体</vt:lpstr>
      <vt:lpstr>Arial</vt:lpstr>
      <vt:lpstr>Arial Narrow</vt:lpstr>
      <vt:lpstr>Century Gothic</vt:lpstr>
      <vt:lpstr>Comic Sans MS</vt:lpstr>
      <vt:lpstr>Symbol</vt:lpstr>
      <vt:lpstr>Times New Roman</vt:lpstr>
      <vt:lpstr>Wingdings</vt:lpstr>
      <vt:lpstr>Blank Presentation</vt:lpstr>
      <vt:lpstr>Chapter 5</vt:lpstr>
      <vt:lpstr>Father of Relational Model  Edgar F. Codd (1923-2003) </vt:lpstr>
      <vt:lpstr>Relational Query Languages</vt:lpstr>
      <vt:lpstr>What is an Algebra?</vt:lpstr>
      <vt:lpstr>Relational Algebra</vt:lpstr>
      <vt:lpstr>The Role of Relational Algebra in a DBMS</vt:lpstr>
      <vt:lpstr>Select Operator</vt:lpstr>
      <vt:lpstr>Selection Condition</vt:lpstr>
      <vt:lpstr>Selection Condition - Examples</vt:lpstr>
      <vt:lpstr>Project Operator</vt:lpstr>
      <vt:lpstr>Project Operator</vt:lpstr>
      <vt:lpstr>Expressions</vt:lpstr>
      <vt:lpstr>Set Operators</vt:lpstr>
      <vt:lpstr>Intersection </vt:lpstr>
      <vt:lpstr>Union </vt:lpstr>
      <vt:lpstr>Set Difference -</vt:lpstr>
      <vt:lpstr>Set Difference -</vt:lpstr>
      <vt:lpstr>Union Compatible Relations</vt:lpstr>
      <vt:lpstr>Example</vt:lpstr>
      <vt:lpstr>Cartesian Product</vt:lpstr>
      <vt:lpstr>Renaming</vt:lpstr>
      <vt:lpstr>Example</vt:lpstr>
      <vt:lpstr> Derived Operation: Join</vt:lpstr>
      <vt:lpstr>Join and Renaming</vt:lpstr>
      <vt:lpstr>Theta Join – Example </vt:lpstr>
      <vt:lpstr>Equijoin  - Example</vt:lpstr>
      <vt:lpstr>Difference between Theta Join and Equijoin</vt:lpstr>
      <vt:lpstr>Natural Join</vt:lpstr>
      <vt:lpstr>Natural Join (cont’d)</vt:lpstr>
      <vt:lpstr>Natural Join Example</vt:lpstr>
      <vt:lpstr>PowerPoint Presentation</vt:lpstr>
      <vt:lpstr>Division</vt:lpstr>
      <vt:lpstr>Recap of arithmetic division</vt:lpstr>
      <vt:lpstr>Recap of Cartesian Product</vt:lpstr>
      <vt:lpstr>Division (con’t)</vt:lpstr>
      <vt:lpstr>PowerPoint Presentation</vt:lpstr>
      <vt:lpstr>PowerPoint Presentation</vt:lpstr>
      <vt:lpstr>Division (cont’d)</vt:lpstr>
      <vt:lpstr>PowerPoint Presentation</vt:lpstr>
      <vt:lpstr>Division – Example 1</vt:lpstr>
      <vt:lpstr>PowerPoint Presentation</vt:lpstr>
      <vt:lpstr>PowerPoint Presentation</vt:lpstr>
      <vt:lpstr>Schema for Student Registration System</vt:lpstr>
      <vt:lpstr>Query Sublanguage of SQL</vt:lpstr>
      <vt:lpstr>Join Queries</vt:lpstr>
      <vt:lpstr>Correspondence Between SQL and Relational Algebra</vt:lpstr>
      <vt:lpstr>Self-join Queries</vt:lpstr>
      <vt:lpstr>Duplicates</vt:lpstr>
      <vt:lpstr>Use of Expressions</vt:lpstr>
      <vt:lpstr>Set Operators</vt:lpstr>
      <vt:lpstr>Nested Queries</vt:lpstr>
      <vt:lpstr>Correlated Nested Queries </vt:lpstr>
      <vt:lpstr>Correlated Nested Queries </vt:lpstr>
      <vt:lpstr>Correlated Nested Queries (con’t)</vt:lpstr>
      <vt:lpstr>Division in SQL</vt:lpstr>
      <vt:lpstr>Division in SQL</vt:lpstr>
      <vt:lpstr>Division Solution Sketch (1)</vt:lpstr>
      <vt:lpstr>Division Solution Sketch (1)</vt:lpstr>
      <vt:lpstr>PowerPoint Presentation</vt:lpstr>
      <vt:lpstr>Division – SQL Solution in details</vt:lpstr>
      <vt:lpstr>Division – SQL Solution in details</vt:lpstr>
      <vt:lpstr>Aggregates</vt:lpstr>
      <vt:lpstr>Aggregates (cont’d)</vt:lpstr>
      <vt:lpstr>Grouping</vt:lpstr>
      <vt:lpstr>GROUP BY</vt:lpstr>
      <vt:lpstr>GROUP BY - Example</vt:lpstr>
      <vt:lpstr>Each group is aggregated into one row</vt:lpstr>
      <vt:lpstr>PowerPoint Presentation</vt:lpstr>
      <vt:lpstr>HAVING Clause</vt:lpstr>
      <vt:lpstr>Where condition and Having conditions</vt:lpstr>
      <vt:lpstr>Evaluation of GroupBy with Having</vt:lpstr>
      <vt:lpstr>Example</vt:lpstr>
      <vt:lpstr>Aggregates: Proper and Improper Usage</vt:lpstr>
      <vt:lpstr>Common Mistake</vt:lpstr>
      <vt:lpstr>ORDER BY Clause</vt:lpstr>
      <vt:lpstr>Query Evaluation with GROUP BY, HAVING, ORDER BY</vt:lpstr>
      <vt:lpstr>Views</vt:lpstr>
      <vt:lpstr>View – Example 1</vt:lpstr>
      <vt:lpstr>PowerPoint Presentation</vt:lpstr>
      <vt:lpstr>View - Example 2</vt:lpstr>
      <vt:lpstr>View – Example 3</vt:lpstr>
      <vt:lpstr>View – Example 4</vt:lpstr>
      <vt:lpstr>View – Example 5</vt:lpstr>
      <vt:lpstr>View - Substitution</vt:lpstr>
      <vt:lpstr>View Benefits</vt:lpstr>
      <vt:lpstr>Views – Limiting Visibility</vt:lpstr>
      <vt:lpstr>View Benefits (cont’d)</vt:lpstr>
      <vt:lpstr>Nulls</vt:lpstr>
      <vt:lpstr>Nulls (cont’d)</vt:lpstr>
      <vt:lpstr>The complete truth table</vt:lpstr>
      <vt:lpstr>Modifying Tables – Insert</vt:lpstr>
      <vt:lpstr>Bulk Insertion</vt:lpstr>
      <vt:lpstr>Modifying Tables – Delete </vt:lpstr>
      <vt:lpstr>Modifying Data - Update</vt:lpstr>
      <vt:lpstr>Updating Views</vt:lpstr>
      <vt:lpstr>Updating Views - Problem 1</vt:lpstr>
      <vt:lpstr>Updating Views - Problem 2</vt:lpstr>
      <vt:lpstr>Updating Views - Problem 3</vt:lpstr>
      <vt:lpstr>Updating Views - Problem 3 (cont’d) </vt:lpstr>
      <vt:lpstr>Updating Views – Restrictions</vt:lpstr>
      <vt:lpstr>Relational Algebra and SQL Exercises</vt:lpstr>
      <vt:lpstr>Relational Algebra and SQL Exercises</vt:lpstr>
      <vt:lpstr>Relational Algebra and SQL Exercises</vt:lpstr>
      <vt:lpstr>Relational Algebra and SQL Exercises</vt:lpstr>
      <vt:lpstr>Relational Algebra and SQL Exercises</vt:lpstr>
      <vt:lpstr>Relational Algebra and SQL Exercises</vt:lpstr>
      <vt:lpstr>Relational Algebra and SQL Exercises</vt:lpstr>
      <vt:lpstr>Query Patterns</vt:lpstr>
      <vt:lpstr>Query Patterns</vt:lpstr>
      <vt:lpstr>Query 1</vt:lpstr>
      <vt:lpstr>Double Circle Pattern</vt:lpstr>
      <vt:lpstr>Relational Algebra Solution</vt:lpstr>
      <vt:lpstr>SQL  Solution</vt:lpstr>
      <vt:lpstr>Simulate Except</vt:lpstr>
      <vt:lpstr>What does it mean by NOT IN</vt:lpstr>
      <vt:lpstr>Query 2</vt:lpstr>
      <vt:lpstr>Double Circle Pattern</vt:lpstr>
      <vt:lpstr>Relational Algebra Solution</vt:lpstr>
      <vt:lpstr>SQL  Solution</vt:lpstr>
      <vt:lpstr>Similate INTERSECT</vt:lpstr>
      <vt:lpstr>LHRH Pattern</vt:lpstr>
      <vt:lpstr>SQL  Solution</vt:lpstr>
      <vt:lpstr>Common mistake</vt:lpstr>
      <vt:lpstr>Query 3</vt:lpstr>
      <vt:lpstr>Negation Pattern</vt:lpstr>
      <vt:lpstr>Relational Algebra Solution</vt:lpstr>
      <vt:lpstr>SQL  Solution</vt:lpstr>
      <vt:lpstr>Simulate Except</vt:lpstr>
      <vt:lpstr>Query 4</vt:lpstr>
      <vt:lpstr>LHRH Pattern</vt:lpstr>
      <vt:lpstr>Relational Algebra Solution</vt:lpstr>
      <vt:lpstr>SQL  Solution</vt:lpstr>
      <vt:lpstr>Query 5</vt:lpstr>
      <vt:lpstr>Double Circle Pattern</vt:lpstr>
      <vt:lpstr>Relational Algebra Solution 2</vt:lpstr>
      <vt:lpstr>Relational Algebra Solution 3</vt:lpstr>
      <vt:lpstr>Relational Algebra Solution 4</vt:lpstr>
      <vt:lpstr>SQL  Solution</vt:lpstr>
      <vt:lpstr>SQL  Solution</vt:lpstr>
      <vt:lpstr>Query 6</vt:lpstr>
      <vt:lpstr>Negation Pattern</vt:lpstr>
      <vt:lpstr>Relational Algebra Solution</vt:lpstr>
      <vt:lpstr>SQL  Solution</vt:lpstr>
      <vt:lpstr>SQL  Solution</vt:lpstr>
      <vt:lpstr>Query 7</vt:lpstr>
      <vt:lpstr>LHRH Pattern</vt:lpstr>
      <vt:lpstr>Relational Algebra Solution</vt:lpstr>
      <vt:lpstr>SQL  Solution</vt:lpstr>
      <vt:lpstr>Query 8</vt:lpstr>
      <vt:lpstr>PowerPoint Presentation</vt:lpstr>
      <vt:lpstr>SQL  Solution</vt:lpstr>
      <vt:lpstr>Query 9</vt:lpstr>
      <vt:lpstr>SQL  Solution</vt:lpstr>
      <vt:lpstr>Query 10</vt:lpstr>
      <vt:lpstr>Relational Algebra Solution</vt:lpstr>
      <vt:lpstr>SQL  Solution</vt:lpstr>
      <vt:lpstr>Query 11</vt:lpstr>
      <vt:lpstr>Relational Algebra Solution</vt:lpstr>
      <vt:lpstr>SQL  Solution</vt:lpstr>
      <vt:lpstr>Query 12</vt:lpstr>
      <vt:lpstr>SQL  Solution</vt:lpstr>
      <vt:lpstr>SQL  Solution</vt:lpstr>
      <vt:lpstr>Query 13</vt:lpstr>
      <vt:lpstr>SQL  Solution</vt:lpstr>
      <vt:lpstr>Query 14</vt:lpstr>
      <vt:lpstr>SQL  Solution</vt:lpstr>
      <vt:lpstr>Query 15</vt:lpstr>
      <vt:lpstr>SQL  Solution</vt:lpstr>
      <vt:lpstr>Query 16</vt:lpstr>
      <vt:lpstr>SQL  Solution</vt:lpstr>
      <vt:lpstr>SQL  Solution</vt:lpstr>
      <vt:lpstr>Query 17</vt:lpstr>
      <vt:lpstr>Relational Algebra Solution</vt:lpstr>
      <vt:lpstr>SQL  Solution</vt:lpstr>
      <vt:lpstr>Query 18</vt:lpstr>
      <vt:lpstr>SQL  Solution</vt:lpstr>
      <vt:lpstr>Query 19</vt:lpstr>
      <vt:lpstr>SQL  Solution</vt:lpstr>
      <vt:lpstr>Query 20</vt:lpstr>
      <vt:lpstr>SQL  Solution</vt:lpstr>
      <vt:lpstr>SQL  Solution</vt:lpstr>
      <vt:lpstr>Query 21</vt:lpstr>
      <vt:lpstr>SQL  Solution</vt:lpstr>
      <vt:lpstr>SQL  Solution</vt:lpstr>
      <vt:lpstr>Query 22</vt:lpstr>
      <vt:lpstr>Query 22</vt:lpstr>
      <vt:lpstr> Meaning of IN</vt:lpstr>
      <vt:lpstr>SQL  Solution 1</vt:lpstr>
      <vt:lpstr>SQL  Solution 2</vt:lpstr>
      <vt:lpstr>SQL  Solution 3</vt:lpstr>
      <vt:lpstr>SQL  Solution 3</vt:lpstr>
      <vt:lpstr>Meaning of NOT EXISTS</vt:lpstr>
      <vt:lpstr>SQL  Solution 4</vt:lpstr>
      <vt:lpstr>Query 23</vt:lpstr>
      <vt:lpstr>SQL  Solution 1</vt:lpstr>
      <vt:lpstr>SQL  Solution 2</vt:lpstr>
      <vt:lpstr>SQL  Solution 2</vt:lpstr>
      <vt:lpstr>SQL  Solution 3</vt:lpstr>
      <vt:lpstr>Query 24</vt:lpstr>
      <vt:lpstr>Relational Algebra Solution</vt:lpstr>
      <vt:lpstr>SQL  Solution</vt:lpstr>
      <vt:lpstr>NO witness | all witness</vt:lpstr>
      <vt:lpstr>Query 25</vt:lpstr>
      <vt:lpstr>Double Circle Pattern</vt:lpstr>
      <vt:lpstr>SQL  Solution 1</vt:lpstr>
      <vt:lpstr>Negation Pattern</vt:lpstr>
      <vt:lpstr>SQL  Solution 2</vt:lpstr>
      <vt:lpstr>Relational Algebra Solution</vt:lpstr>
      <vt:lpstr>SQL  Solution 3</vt:lpstr>
      <vt:lpstr>Common Mistake</vt:lpstr>
      <vt:lpstr>Query 25</vt:lpstr>
      <vt:lpstr>Change the Taught table</vt:lpstr>
      <vt:lpstr>Relational Algebra Solution</vt:lpstr>
      <vt:lpstr>SQL  Solution 1</vt:lpstr>
      <vt:lpstr>SQL  Solution 2</vt:lpstr>
      <vt:lpstr>PowerPoint Presentation</vt:lpstr>
      <vt:lpstr>Query 27</vt:lpstr>
      <vt:lpstr>A graph example</vt:lpstr>
      <vt:lpstr>PowerPoint Presentation</vt:lpstr>
      <vt:lpstr>PowerPoint Presentation</vt:lpstr>
      <vt:lpstr>Query 27</vt:lpstr>
      <vt:lpstr>SQL Solution</vt:lpstr>
      <vt:lpstr>SQL Solution</vt:lpstr>
      <vt:lpstr>Query 28</vt:lpstr>
      <vt:lpstr>SQL Solution</vt:lpstr>
      <vt:lpstr>Query 29</vt:lpstr>
      <vt:lpstr>SQL Solution</vt:lpstr>
      <vt:lpstr>SQL Solution</vt:lpstr>
      <vt:lpstr>SQL Solution</vt:lpstr>
      <vt:lpstr>Query 30</vt:lpstr>
      <vt:lpstr>SQL Solution</vt:lpstr>
      <vt:lpstr>Query 31</vt:lpstr>
      <vt:lpstr>SQL Solution</vt:lpstr>
      <vt:lpstr>SQL Solution</vt:lpstr>
      <vt:lpstr>SQL Solution</vt:lpstr>
      <vt:lpstr>Query 32</vt:lpstr>
      <vt:lpstr>SQL Solution</vt:lpstr>
      <vt:lpstr>Query 33</vt:lpstr>
      <vt:lpstr>SQL Solution</vt:lpstr>
      <vt:lpstr>Query 34</vt:lpstr>
      <vt:lpstr>SQL Solution</vt:lpstr>
      <vt:lpstr>SQL Solution</vt:lpstr>
      <vt:lpstr>Query 35</vt:lpstr>
      <vt:lpstr>SQL Solution</vt:lpstr>
      <vt:lpstr>Query 36</vt:lpstr>
      <vt:lpstr>Query 36</vt:lpstr>
      <vt:lpstr>SQL Solution</vt:lpstr>
      <vt:lpstr>Query 37</vt:lpstr>
      <vt:lpstr>SQL Solution</vt:lpstr>
      <vt:lpstr>SQL Exercise 3</vt:lpstr>
      <vt:lpstr>Query 38</vt:lpstr>
      <vt:lpstr>Query 38</vt:lpstr>
      <vt:lpstr>Query 39</vt:lpstr>
      <vt:lpstr>Query 39</vt:lpstr>
      <vt:lpstr>Query 39</vt:lpstr>
      <vt:lpstr>Query 40</vt:lpstr>
      <vt:lpstr>Query 40</vt:lpstr>
      <vt:lpstr>Query 41</vt:lpstr>
      <vt:lpstr>Query 41</vt:lpstr>
      <vt:lpstr>Query 42</vt:lpstr>
      <vt:lpstr>Query 42</vt:lpstr>
      <vt:lpstr>Query 42</vt:lpstr>
      <vt:lpstr>Query 43</vt:lpstr>
      <vt:lpstr>Query 43</vt:lpstr>
      <vt:lpstr>Query 44</vt:lpstr>
      <vt:lpstr>Query 44</vt:lpstr>
      <vt:lpstr>Query 45</vt:lpstr>
      <vt:lpstr>Query 45</vt:lpstr>
      <vt:lpstr>Query 46</vt:lpstr>
      <vt:lpstr>Query 46</vt:lpstr>
      <vt:lpstr>Query 47</vt:lpstr>
      <vt:lpstr>Query 47</vt:lpstr>
      <vt:lpstr>Query 48</vt:lpstr>
      <vt:lpstr>Query 48</vt:lpstr>
      <vt:lpstr>Query 49</vt:lpstr>
      <vt:lpstr>Query 49</vt:lpstr>
      <vt:lpstr>Query 49</vt:lpstr>
      <vt:lpstr>Query 49</vt:lpstr>
      <vt:lpstr>Query 50</vt:lpstr>
      <vt:lpstr>Query 50 (Solution 1)</vt:lpstr>
      <vt:lpstr>Query 50 (Solution 2)</vt:lpstr>
      <vt:lpstr>Query 51</vt:lpstr>
      <vt:lpstr>Query 51</vt:lpstr>
      <vt:lpstr>Query 52</vt:lpstr>
      <vt:lpstr>Query 52</vt:lpstr>
      <vt:lpstr>Query 53</vt:lpstr>
      <vt:lpstr>Query 53</vt:lpstr>
      <vt:lpstr>Query 54</vt:lpstr>
      <vt:lpstr>Query 54</vt:lpstr>
      <vt:lpstr>Query 55</vt:lpstr>
      <vt:lpstr>Query 55</vt:lpstr>
      <vt:lpstr>Query 55</vt:lpstr>
      <vt:lpstr>Query 56</vt:lpstr>
      <vt:lpstr>Query 56</vt:lpstr>
      <vt:lpstr>Query 57</vt:lpstr>
      <vt:lpstr>Query 57</vt:lpstr>
      <vt:lpstr>Query 58</vt:lpstr>
      <vt:lpstr>Query 58</vt:lpstr>
      <vt:lpstr>Query 59</vt:lpstr>
      <vt:lpstr>Query 59</vt:lpstr>
      <vt:lpstr>Query 60</vt:lpstr>
      <vt:lpstr>Query 60 (Solution 1)</vt:lpstr>
      <vt:lpstr>Query 60 (Solution 2)</vt:lpstr>
      <vt:lpstr>Query 61</vt:lpstr>
      <vt:lpstr>Query 61</vt:lpstr>
      <vt:lpstr>Query 62</vt:lpstr>
      <vt:lpstr>Query 62</vt:lpstr>
      <vt:lpstr>Query 63</vt:lpstr>
      <vt:lpstr>Query 63</vt:lpstr>
      <vt:lpstr>Query 64</vt:lpstr>
      <vt:lpstr>Query 64</vt:lpstr>
      <vt:lpstr>Query 65</vt:lpstr>
      <vt:lpstr>Query 65</vt:lpstr>
      <vt:lpstr>Query 65</vt:lpstr>
      <vt:lpstr>Query 65</vt:lpstr>
      <vt:lpstr>Query 65</vt:lpstr>
      <vt:lpstr>Query 65</vt:lpstr>
      <vt:lpstr>Query 65</vt:lpstr>
      <vt:lpstr>Query 65</vt:lpstr>
      <vt:lpstr>Query 65</vt:lpstr>
      <vt:lpstr>Query 65</vt:lpstr>
      <vt:lpstr>Query 65</vt:lpstr>
      <vt:lpstr>Query 65</vt:lpstr>
      <vt:lpstr>Query 65</vt:lpstr>
      <vt:lpstr>Query 65</vt:lpstr>
      <vt:lpstr>Query 65</vt:lpstr>
      <vt:lpstr>Query 66 </vt:lpstr>
      <vt:lpstr>Query 66 </vt:lpstr>
      <vt:lpstr>Query 66 </vt:lpstr>
      <vt:lpstr>Query 66 </vt:lpstr>
      <vt:lpstr>Query 66 </vt:lpstr>
      <vt:lpstr>Query 66 </vt:lpstr>
    </vt:vector>
  </TitlesOfParts>
  <Company> 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Relational Algebra and SQL</dc:title>
  <dc:creator>ARTHUR  BERNSTEIN</dc:creator>
  <cp:lastModifiedBy>Shiyong Lu</cp:lastModifiedBy>
  <cp:revision>527</cp:revision>
  <cp:lastPrinted>1980-01-05T02:56:28Z</cp:lastPrinted>
  <dcterms:created xsi:type="dcterms:W3CDTF">1980-01-04T06:48:56Z</dcterms:created>
  <dcterms:modified xsi:type="dcterms:W3CDTF">2025-11-05T21:39:16Z</dcterms:modified>
</cp:coreProperties>
</file>